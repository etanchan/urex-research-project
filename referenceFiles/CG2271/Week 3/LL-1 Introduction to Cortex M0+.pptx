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9" r:id="rId1"/>
    <p:sldMasterId id="2147483707" r:id="rId2"/>
    <p:sldMasterId id="2147483720" r:id="rId3"/>
  </p:sldMasterIdLst>
  <p:notesMasterIdLst>
    <p:notesMasterId r:id="rId15"/>
  </p:notesMasterIdLst>
  <p:sldIdLst>
    <p:sldId id="256" r:id="rId4"/>
    <p:sldId id="263" r:id="rId5"/>
    <p:sldId id="296" r:id="rId6"/>
    <p:sldId id="314" r:id="rId7"/>
    <p:sldId id="319" r:id="rId8"/>
    <p:sldId id="309" r:id="rId9"/>
    <p:sldId id="310" r:id="rId10"/>
    <p:sldId id="311" r:id="rId11"/>
    <p:sldId id="313" r:id="rId12"/>
    <p:sldId id="336" r:id="rId13"/>
    <p:sldId id="337" r:id="rId14"/>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03" autoAdjust="0"/>
    <p:restoredTop sz="94700"/>
  </p:normalViewPr>
  <p:slideViewPr>
    <p:cSldViewPr>
      <p:cViewPr varScale="1">
        <p:scale>
          <a:sx n="77" d="100"/>
          <a:sy n="77" d="100"/>
        </p:scale>
        <p:origin x="20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346"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a:defRPr sz="1300"/>
            </a:lvl1pPr>
          </a:lstStyle>
          <a:p>
            <a:endParaRPr lang="en-US" altLang="en-US"/>
          </a:p>
        </p:txBody>
      </p:sp>
      <p:sp>
        <p:nvSpPr>
          <p:cNvPr id="57347"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a:defRPr sz="1300"/>
            </a:lvl1pPr>
          </a:lstStyle>
          <a:p>
            <a:endParaRPr lang="en-US" altLang="en-US"/>
          </a:p>
        </p:txBody>
      </p:sp>
      <p:sp>
        <p:nvSpPr>
          <p:cNvPr id="57348"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7349"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7350"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defTabSz="990600">
              <a:defRPr sz="1300"/>
            </a:lvl1pPr>
          </a:lstStyle>
          <a:p>
            <a:endParaRPr lang="en-US" altLang="en-US"/>
          </a:p>
        </p:txBody>
      </p:sp>
      <p:sp>
        <p:nvSpPr>
          <p:cNvPr id="57351"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defRPr sz="1300"/>
            </a:lvl1pPr>
          </a:lstStyle>
          <a:p>
            <a:fld id="{77077CC8-28D7-419B-AFB3-DD18205363D6}" type="slidenum">
              <a:rPr lang="en-US" altLang="en-US"/>
              <a:pPr/>
              <a:t>‹#›</a:t>
            </a:fld>
            <a:endParaRPr lang="en-US" altLang="en-US"/>
          </a:p>
        </p:txBody>
      </p:sp>
    </p:spTree>
    <p:extLst>
      <p:ext uri="{BB962C8B-B14F-4D97-AF65-F5344CB8AC3E}">
        <p14:creationId xmlns:p14="http://schemas.microsoft.com/office/powerpoint/2010/main" val="2543401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1190625" y="698500"/>
            <a:ext cx="4543425" cy="3408363"/>
          </a:xfrm>
          <a:ln/>
        </p:spPr>
      </p:sp>
      <p:sp>
        <p:nvSpPr>
          <p:cNvPr id="31747" name="Notes Placeholder 2"/>
          <p:cNvSpPr>
            <a:spLocks noGrp="1"/>
          </p:cNvSpPr>
          <p:nvPr>
            <p:ph type="body" idx="1"/>
          </p:nvPr>
        </p:nvSpPr>
        <p:spPr>
          <a:noFill/>
        </p:spPr>
        <p:txBody>
          <a:bodyPr/>
          <a:lstStyle/>
          <a:p>
            <a:endParaRPr lang="en-US"/>
          </a:p>
        </p:txBody>
      </p:sp>
      <p:sp>
        <p:nvSpPr>
          <p:cNvPr id="31748" name="Slide Number Placeholder 3"/>
          <p:cNvSpPr>
            <a:spLocks noGrp="1"/>
          </p:cNvSpPr>
          <p:nvPr>
            <p:ph type="sldNum" sz="quarter" idx="5"/>
          </p:nvPr>
        </p:nvSpPr>
        <p:spPr>
          <a:noFill/>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90E86F46-080D-4750-BCA2-F86C3E9459A8}" type="slidenum">
              <a:rPr lang="en-US" sz="1200" smtClean="0"/>
              <a:pPr/>
              <a:t>2</a:t>
            </a:fld>
            <a:endParaRPr lang="en-US" sz="1200"/>
          </a:p>
        </p:txBody>
      </p:sp>
    </p:spTree>
    <p:extLst>
      <p:ext uri="{BB962C8B-B14F-4D97-AF65-F5344CB8AC3E}">
        <p14:creationId xmlns:p14="http://schemas.microsoft.com/office/powerpoint/2010/main" val="2871922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fld id="{7EA65F2F-8105-44AB-B823-0D665C1E1D8B}" type="slidenum">
              <a:rPr lang="en-US" sz="1200" smtClean="0"/>
              <a:pPr/>
              <a:t>3</a:t>
            </a:fld>
            <a:endParaRPr lang="en-US" sz="1200"/>
          </a:p>
        </p:txBody>
      </p:sp>
      <p:sp>
        <p:nvSpPr>
          <p:cNvPr id="30723" name="Rectangle 2"/>
          <p:cNvSpPr>
            <a:spLocks noGrp="1" noRot="1" noChangeAspect="1" noChangeArrowheads="1" noTextEdit="1"/>
          </p:cNvSpPr>
          <p:nvPr>
            <p:ph type="sldImg"/>
          </p:nvPr>
        </p:nvSpPr>
        <p:spPr>
          <a:xfrm>
            <a:off x="1190625" y="698500"/>
            <a:ext cx="4543425" cy="3408363"/>
          </a:xfrm>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4131416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r>
              <a:rPr lang="en-US" dirty="0"/>
              <a:t>The Cortex-M0+ core contains </a:t>
            </a:r>
            <a:r>
              <a:rPr lang="en-US" baseline="0" dirty="0"/>
              <a:t>many components. At the center of the Cortex-M0+ Processor is the processor core, which communicates with memory to get instructions and access data. Memory is not shown on this diagram, but is connected via the AHB-Lite interface. The bus matrix shares the memory bus among multiple possible readers and writers. An optional memory protection unit enables the system to restrict a task to using only a limited region of memory, limiting the effects of bugs. Interrupts come to the processor core through the Nested Vectored Interrupt Controller (NVIC), which prioritizes and filters them as needed. The optional Wakeup Interrupt Controller cuts power consumption by letting the NVIC and the rest of the processor go to a low-power sleep mode and waking them up if an interrupt is requested.  Several modules provide debug support, including downloading code to the MCU’s memory, setting breakpoints to control program execution, and tracing the sequence of instructions actually executed.</a:t>
            </a:r>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4</a:t>
            </a:fld>
            <a:endParaRPr lang="en-US"/>
          </a:p>
        </p:txBody>
      </p:sp>
    </p:spTree>
    <p:extLst>
      <p:ext uri="{BB962C8B-B14F-4D97-AF65-F5344CB8AC3E}">
        <p14:creationId xmlns:p14="http://schemas.microsoft.com/office/powerpoint/2010/main" val="31778905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5</a:t>
            </a:fld>
            <a:endParaRPr lang="en-US"/>
          </a:p>
        </p:txBody>
      </p:sp>
    </p:spTree>
    <p:extLst>
      <p:ext uri="{BB962C8B-B14F-4D97-AF65-F5344CB8AC3E}">
        <p14:creationId xmlns:p14="http://schemas.microsoft.com/office/powerpoint/2010/main" val="3234741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r>
              <a:rPr lang="en-US" dirty="0"/>
              <a:t>The ARM programmer’s model (or Instruction Set</a:t>
            </a:r>
            <a:r>
              <a:rPr lang="en-US" baseline="0" dirty="0"/>
              <a:t> Architecture) features multiple 32-bit registers.  Some of them are for general use, while others are specialized.</a:t>
            </a:r>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6</a:t>
            </a:fld>
            <a:endParaRPr lang="en-US"/>
          </a:p>
        </p:txBody>
      </p:sp>
    </p:spTree>
    <p:extLst>
      <p:ext uri="{BB962C8B-B14F-4D97-AF65-F5344CB8AC3E}">
        <p14:creationId xmlns:p14="http://schemas.microsoft.com/office/powerpoint/2010/main" val="4259658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7</a:t>
            </a:fld>
            <a:endParaRPr lang="en-US"/>
          </a:p>
        </p:txBody>
      </p:sp>
    </p:spTree>
    <p:extLst>
      <p:ext uri="{BB962C8B-B14F-4D97-AF65-F5344CB8AC3E}">
        <p14:creationId xmlns:p14="http://schemas.microsoft.com/office/powerpoint/2010/main" val="2661895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8</a:t>
            </a:fld>
            <a:endParaRPr lang="en-US"/>
          </a:p>
        </p:txBody>
      </p:sp>
    </p:spTree>
    <p:extLst>
      <p:ext uri="{BB962C8B-B14F-4D97-AF65-F5344CB8AC3E}">
        <p14:creationId xmlns:p14="http://schemas.microsoft.com/office/powerpoint/2010/main" val="2661895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r>
              <a:rPr lang="en-US" dirty="0"/>
              <a:t>The ARM ISA has a 32-bit address space, allowing up to 2</a:t>
            </a:r>
            <a:r>
              <a:rPr lang="en-US" baseline="30000" dirty="0"/>
              <a:t>32</a:t>
            </a:r>
            <a:r>
              <a:rPr lang="en-US" dirty="0"/>
              <a:t> bytes of data to be addressed. This address space is divided into various regions for different uses. In</a:t>
            </a:r>
            <a:r>
              <a:rPr lang="en-US" baseline="0" dirty="0"/>
              <a:t> the KL25Z128VLK4, 128 KB of Flash ROM is located in the bottom of the code memory at addresses 0x0000_0000 to 0x0001_FFFF. 16 KB of read/write memory (called SRAM, static RAM) is located straddling the Code and SRAM regions, from 0x1FFF_F000 to 0x1FFF_FFFF (Code region) and 0x2000_0000 to 0x2000_2FFF (SRAM region). </a:t>
            </a:r>
          </a:p>
          <a:p>
            <a:endParaRPr lang="en-US" baseline="0" dirty="0"/>
          </a:p>
          <a:p>
            <a:r>
              <a:rPr lang="en-US" baseline="0" dirty="0"/>
              <a:t>Additional space is reserved for other purposes, including peripherals and external RAM.</a:t>
            </a:r>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9</a:t>
            </a:fld>
            <a:endParaRPr lang="en-US"/>
          </a:p>
        </p:txBody>
      </p:sp>
    </p:spTree>
    <p:extLst>
      <p:ext uri="{BB962C8B-B14F-4D97-AF65-F5344CB8AC3E}">
        <p14:creationId xmlns:p14="http://schemas.microsoft.com/office/powerpoint/2010/main" val="262620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r>
              <a:rPr lang="en-US" dirty="0"/>
              <a:t>When storing a </a:t>
            </a:r>
            <a:r>
              <a:rPr lang="en-US" dirty="0" err="1"/>
              <a:t>multibyte</a:t>
            </a:r>
            <a:r>
              <a:rPr lang="en-US" baseline="0" dirty="0"/>
              <a:t> value in memory, which end is stored first? The little end (LSB) or the big end (MSB)?</a:t>
            </a:r>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10</a:t>
            </a:fld>
            <a:endParaRPr lang="en-US"/>
          </a:p>
        </p:txBody>
      </p:sp>
    </p:spTree>
    <p:extLst>
      <p:ext uri="{BB962C8B-B14F-4D97-AF65-F5344CB8AC3E}">
        <p14:creationId xmlns:p14="http://schemas.microsoft.com/office/powerpoint/2010/main" val="678258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90625" y="698500"/>
            <a:ext cx="4543425" cy="340836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DB0F4A08-B38C-4C8D-A219-621B1EE2CEB5}" type="slidenum">
              <a:rPr lang="en-US" smtClean="0"/>
              <a:pPr>
                <a:defRPr/>
              </a:pPr>
              <a:t>11</a:t>
            </a:fld>
            <a:endParaRPr lang="en-US"/>
          </a:p>
        </p:txBody>
      </p:sp>
    </p:spTree>
    <p:extLst>
      <p:ext uri="{BB962C8B-B14F-4D97-AF65-F5344CB8AC3E}">
        <p14:creationId xmlns:p14="http://schemas.microsoft.com/office/powerpoint/2010/main" val="6782587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6866" name="Rectangle 2"/>
          <p:cNvSpPr>
            <a:spLocks noGrp="1" noChangeArrowheads="1"/>
          </p:cNvSpPr>
          <p:nvPr>
            <p:ph type="ctrTitle"/>
          </p:nvPr>
        </p:nvSpPr>
        <p:spPr>
          <a:xfrm>
            <a:off x="914400" y="1524000"/>
            <a:ext cx="7623175" cy="1752600"/>
          </a:xfrm>
        </p:spPr>
        <p:txBody>
          <a:bodyPr/>
          <a:lstStyle>
            <a:lvl1pPr>
              <a:defRPr sz="5000"/>
            </a:lvl1pPr>
          </a:lstStyle>
          <a:p>
            <a:pPr lvl="0"/>
            <a:r>
              <a:rPr lang="en-US" altLang="en-US" noProof="0"/>
              <a:t>Click to edit Master title style</a:t>
            </a:r>
          </a:p>
        </p:txBody>
      </p:sp>
      <p:sp>
        <p:nvSpPr>
          <p:cNvPr id="36867"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36868" name="Freeform 4"/>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6869" name="Line 5"/>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6F0D8D79-08E0-48CA-9203-A37DB9B01E0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2066833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E740D621-3521-4C00-9508-D1BF9CF0F093}"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1934130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457200" y="12192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48200" y="12192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Slide Number Placeholder 4"/>
          <p:cNvSpPr>
            <a:spLocks noGrp="1"/>
          </p:cNvSpPr>
          <p:nvPr>
            <p:ph type="sldNum" sz="quarter" idx="10"/>
          </p:nvPr>
        </p:nvSpPr>
        <p:spPr/>
        <p:txBody>
          <a:bodyPr/>
          <a:lstStyle>
            <a:lvl1pPr>
              <a:defRPr/>
            </a:lvl1pPr>
          </a:lstStyle>
          <a:p>
            <a:fld id="{C80D4CE2-6DBC-47F2-BC92-D26F595DC398}"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394201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Slide Number Placeholder 6"/>
          <p:cNvSpPr>
            <a:spLocks noGrp="1"/>
          </p:cNvSpPr>
          <p:nvPr>
            <p:ph type="sldNum" sz="quarter" idx="10"/>
          </p:nvPr>
        </p:nvSpPr>
        <p:spPr/>
        <p:txBody>
          <a:bodyPr/>
          <a:lstStyle>
            <a:lvl1pPr>
              <a:defRPr/>
            </a:lvl1pPr>
          </a:lstStyle>
          <a:p>
            <a:fld id="{A094941A-1381-426D-8678-8110645A465C}" type="slidenum">
              <a:rPr lang="en-US" altLang="en-US"/>
              <a:pPr/>
              <a:t>‹#›</a:t>
            </a:fld>
            <a:endParaRPr lang="en-US" altLang="en-US"/>
          </a:p>
        </p:txBody>
      </p:sp>
      <p:sp>
        <p:nvSpPr>
          <p:cNvPr id="8" name="Footer Placeholder 7"/>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17038065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14584971-4E7E-49CD-A58B-4D6798B16E9E}" type="slidenum">
              <a:rPr lang="en-US" altLang="en-US"/>
              <a:pPr/>
              <a:t>‹#›</a:t>
            </a:fld>
            <a:endParaRPr lang="en-US" altLang="en-US"/>
          </a:p>
        </p:txBody>
      </p:sp>
      <p:sp>
        <p:nvSpPr>
          <p:cNvPr id="4" name="Footer Placeholder 3"/>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40824104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31B1802-8301-4F2A-8DDB-CE880733FF80}" type="slidenum">
              <a:rPr lang="en-US" altLang="en-US"/>
              <a:pPr/>
              <a:t>‹#›</a:t>
            </a:fld>
            <a:endParaRPr lang="en-US" altLang="en-US"/>
          </a:p>
        </p:txBody>
      </p:sp>
      <p:sp>
        <p:nvSpPr>
          <p:cNvPr id="3" name="Footer Placeholder 2"/>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6791040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E1C0C41C-3BFF-4F00-9103-6A74971BCA1A}"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26312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4E13FA90-484E-4DE3-B424-C392F04A17A7}" type="slidenum">
              <a:rPr lang="en-US" altLang="en-US"/>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421362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353736A7-1CF8-489E-892E-251703C596F5}"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480392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600"/>
            <a:ext cx="2057400" cy="6324600"/>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457200" y="2286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98DB63F7-3E41-4A34-957B-2A3C4747AE5E}" type="slidenum">
              <a:rPr lang="en-US" altLang="en-US"/>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1632308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914400" y="1524000"/>
            <a:ext cx="7623175" cy="1752600"/>
          </a:xfrm>
        </p:spPr>
        <p:txBody>
          <a:bodyPr/>
          <a:lstStyle>
            <a:lvl1pPr>
              <a:defRPr sz="5000"/>
            </a:lvl1pPr>
          </a:lstStyle>
          <a:p>
            <a:pPr lvl="0"/>
            <a:r>
              <a:rPr lang="en-US" altLang="en-US" noProof="0"/>
              <a:t>Click to edit Master title style</a:t>
            </a:r>
          </a:p>
        </p:txBody>
      </p:sp>
      <p:sp>
        <p:nvSpPr>
          <p:cNvPr id="8195"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pPr lvl="0"/>
            <a:r>
              <a:rPr lang="en-US" altLang="en-US" noProof="0"/>
              <a:t>Click to edit Master subtitle style</a:t>
            </a:r>
          </a:p>
        </p:txBody>
      </p:sp>
      <p:sp>
        <p:nvSpPr>
          <p:cNvPr id="8196" name="Freeform 4"/>
          <p:cNvSpPr>
            <a:spLocks noChangeArrowheads="1"/>
          </p:cNvSpPr>
          <p:nvPr/>
        </p:nvSpPr>
        <p:spPr bwMode="auto">
          <a:xfrm>
            <a:off x="609600" y="1219200"/>
            <a:ext cx="7924800" cy="9144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8197" name="Line 5"/>
          <p:cNvSpPr>
            <a:spLocks noChangeShapeType="1"/>
          </p:cNvSpPr>
          <p:nvPr/>
        </p:nvSpPr>
        <p:spPr bwMode="auto">
          <a:xfrm>
            <a:off x="1981200" y="3962400"/>
            <a:ext cx="6511925"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8198" name="Rectangle 6"/>
          <p:cNvSpPr>
            <a:spLocks noChangeArrowheads="1"/>
          </p:cNvSpPr>
          <p:nvPr/>
        </p:nvSpPr>
        <p:spPr bwMode="auto">
          <a:xfrm>
            <a:off x="86106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gn="r"/>
            <a:fld id="{2B9BC0BA-7162-46C8-A117-543B5FF937FE}" type="slidenum">
              <a:rPr lang="en-US" altLang="en-US" sz="1400" b="1">
                <a:latin typeface="Garamond" pitchFamily="18" charset="0"/>
              </a:rPr>
              <a:pPr algn="r"/>
              <a:t>‹#›</a:t>
            </a:fld>
            <a:endParaRPr lang="en-US" altLang="en-US" sz="1400" b="1">
              <a:latin typeface="Garamond" pitchFamily="18" charset="0"/>
            </a:endParaRPr>
          </a:p>
        </p:txBody>
      </p:sp>
    </p:spTree>
    <p:extLst>
      <p:ext uri="{BB962C8B-B14F-4D97-AF65-F5344CB8AC3E}">
        <p14:creationId xmlns:p14="http://schemas.microsoft.com/office/powerpoint/2010/main" val="1376959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E4B16682-6FB4-4344-B037-3C8A3CEB850D}"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SG" altLang="en-US"/>
              <a:t>CG2271 Lab Lecture 1</a:t>
            </a:r>
            <a:endParaRPr lang="en-US" altLang="en-US"/>
          </a:p>
        </p:txBody>
      </p:sp>
    </p:spTree>
    <p:extLst>
      <p:ext uri="{BB962C8B-B14F-4D97-AF65-F5344CB8AC3E}">
        <p14:creationId xmlns:p14="http://schemas.microsoft.com/office/powerpoint/2010/main" val="5191515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SG"/>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p:txBody>
          <a:bodyPr/>
          <a:lstStyle>
            <a:lvl1pPr>
              <a:defRPr/>
            </a:lvl1pPr>
          </a:lstStyle>
          <a:p>
            <a:fld id="{3E6DC585-B3F4-4B1B-8C67-9C227CDAE85B}"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324474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457200" y="990600"/>
            <a:ext cx="40386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4648200" y="990600"/>
            <a:ext cx="40386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Slide Number Placeholder 4"/>
          <p:cNvSpPr>
            <a:spLocks noGrp="1"/>
          </p:cNvSpPr>
          <p:nvPr>
            <p:ph type="sldNum" sz="quarter" idx="10"/>
          </p:nvPr>
        </p:nvSpPr>
        <p:spPr/>
        <p:txBody>
          <a:bodyPr/>
          <a:lstStyle>
            <a:lvl1pPr>
              <a:defRPr/>
            </a:lvl1pPr>
          </a:lstStyle>
          <a:p>
            <a:fld id="{5688B9D5-0321-4243-8ED9-54D29AAF37EC}"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3909611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Slide Number Placeholder 6"/>
          <p:cNvSpPr>
            <a:spLocks noGrp="1"/>
          </p:cNvSpPr>
          <p:nvPr>
            <p:ph type="sldNum" sz="quarter" idx="10"/>
          </p:nvPr>
        </p:nvSpPr>
        <p:spPr/>
        <p:txBody>
          <a:bodyPr/>
          <a:lstStyle>
            <a:lvl1pPr>
              <a:defRPr/>
            </a:lvl1pPr>
          </a:lstStyle>
          <a:p>
            <a:fld id="{5A48AF77-D65C-4E9E-B478-17E3FD86D810}" type="slidenum">
              <a:rPr lang="en-US" altLang="en-US" smtClean="0"/>
              <a:pPr/>
              <a:t>‹#›</a:t>
            </a:fld>
            <a:endParaRPr lang="en-US" altLang="en-US"/>
          </a:p>
        </p:txBody>
      </p:sp>
      <p:sp>
        <p:nvSpPr>
          <p:cNvPr id="8" name="Footer Placeholder 7"/>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1046275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Slide Number Placeholder 2"/>
          <p:cNvSpPr>
            <a:spLocks noGrp="1"/>
          </p:cNvSpPr>
          <p:nvPr>
            <p:ph type="sldNum" sz="quarter" idx="10"/>
          </p:nvPr>
        </p:nvSpPr>
        <p:spPr/>
        <p:txBody>
          <a:bodyPr/>
          <a:lstStyle>
            <a:lvl1pPr>
              <a:defRPr/>
            </a:lvl1pPr>
          </a:lstStyle>
          <a:p>
            <a:fld id="{D878A42F-32DF-4555-A3D9-B208AC03E8B9}" type="slidenum">
              <a:rPr lang="en-US" altLang="en-US" smtClean="0"/>
              <a:pPr/>
              <a:t>‹#›</a:t>
            </a:fld>
            <a:endParaRPr lang="en-US" altLang="en-US"/>
          </a:p>
        </p:txBody>
      </p:sp>
      <p:sp>
        <p:nvSpPr>
          <p:cNvPr id="4" name="Footer Placeholder 3"/>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893632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C2D7119-D0B9-434A-965E-B7C4A460BE32}" type="slidenum">
              <a:rPr lang="en-US" altLang="en-US" smtClean="0"/>
              <a:pPr/>
              <a:t>‹#›</a:t>
            </a:fld>
            <a:endParaRPr lang="en-US" altLang="en-US"/>
          </a:p>
        </p:txBody>
      </p:sp>
      <p:sp>
        <p:nvSpPr>
          <p:cNvPr id="3" name="Footer Placeholder 2"/>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458946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SG"/>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9D56026C-F7A5-4BDA-898E-B00A800C5FF8}"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2713829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SG"/>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SG"/>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p:txBody>
          <a:bodyPr/>
          <a:lstStyle>
            <a:lvl1pPr>
              <a:defRPr/>
            </a:lvl1pPr>
          </a:lstStyle>
          <a:p>
            <a:fld id="{6A67EED0-2586-40FE-805F-5628AC864DAF}" type="slidenum">
              <a:rPr lang="en-US" altLang="en-US" smtClean="0"/>
              <a:pPr/>
              <a:t>‹#›</a:t>
            </a:fld>
            <a:endParaRPr lang="en-US" altLang="en-US"/>
          </a:p>
        </p:txBody>
      </p:sp>
      <p:sp>
        <p:nvSpPr>
          <p:cNvPr id="6" name="Footer Placeholder 5"/>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36967220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C97E0452-540F-4E7F-8F1B-B48A49509A51}"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11744609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6199187"/>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457200" y="277813"/>
            <a:ext cx="6019800" cy="61991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Slide Number Placeholder 3"/>
          <p:cNvSpPr>
            <a:spLocks noGrp="1"/>
          </p:cNvSpPr>
          <p:nvPr>
            <p:ph type="sldNum" sz="quarter" idx="10"/>
          </p:nvPr>
        </p:nvSpPr>
        <p:spPr/>
        <p:txBody>
          <a:bodyPr/>
          <a:lstStyle>
            <a:lvl1pPr>
              <a:defRPr/>
            </a:lvl1pPr>
          </a:lstStyle>
          <a:p>
            <a:fld id="{E1ED2E85-14B5-41B8-BB68-5CCA814DB1A7}" type="slidenum">
              <a:rPr lang="en-US" altLang="en-US" smtClean="0"/>
              <a:pPr/>
              <a:t>‹#›</a:t>
            </a:fld>
            <a:endParaRPr lang="en-US" altLang="en-US"/>
          </a:p>
        </p:txBody>
      </p:sp>
      <p:sp>
        <p:nvSpPr>
          <p:cNvPr id="5" name="Footer Placeholder 4"/>
          <p:cNvSpPr>
            <a:spLocks noGrp="1"/>
          </p:cNvSpPr>
          <p:nvPr>
            <p:ph type="ftr" sz="quarter" idx="11"/>
          </p:nvPr>
        </p:nvSpPr>
        <p:spPr/>
        <p:txBody>
          <a:bodyPr/>
          <a:lstStyle>
            <a:lvl1pPr>
              <a:defRPr/>
            </a:lvl1pPr>
          </a:lstStyle>
          <a:p>
            <a:r>
              <a:rPr lang="en-US" altLang="en-US"/>
              <a:t>CG2271 Lab Lecture 1</a:t>
            </a:r>
          </a:p>
        </p:txBody>
      </p:sp>
    </p:spTree>
    <p:extLst>
      <p:ext uri="{BB962C8B-B14F-4D97-AF65-F5344CB8AC3E}">
        <p14:creationId xmlns:p14="http://schemas.microsoft.com/office/powerpoint/2010/main" val="4083494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712787"/>
          </a:xfrm>
        </p:spPr>
        <p:txBody>
          <a:bodyPr/>
          <a:lstStyle/>
          <a:p>
            <a:r>
              <a:rPr lang="en-US"/>
              <a:t>Click to edit Master title style</a:t>
            </a:r>
            <a:endParaRPr lang="en-SG"/>
          </a:p>
        </p:txBody>
      </p:sp>
      <p:sp>
        <p:nvSpPr>
          <p:cNvPr id="3" name="Table Placeholder 2"/>
          <p:cNvSpPr>
            <a:spLocks noGrp="1"/>
          </p:cNvSpPr>
          <p:nvPr>
            <p:ph type="tbl" idx="1"/>
          </p:nvPr>
        </p:nvSpPr>
        <p:spPr>
          <a:xfrm>
            <a:off x="457200" y="990600"/>
            <a:ext cx="8229600" cy="5486400"/>
          </a:xfrm>
        </p:spPr>
        <p:txBody>
          <a:bodyPr/>
          <a:lstStyle/>
          <a:p>
            <a:r>
              <a:rPr lang="en-US"/>
              <a:t>Click icon to add table</a:t>
            </a:r>
            <a:endParaRPr lang="en-SG"/>
          </a:p>
        </p:txBody>
      </p:sp>
      <p:sp>
        <p:nvSpPr>
          <p:cNvPr id="4" name="Slide Number Placeholder 3"/>
          <p:cNvSpPr>
            <a:spLocks noGrp="1"/>
          </p:cNvSpPr>
          <p:nvPr>
            <p:ph type="sldNum" sz="quarter" idx="10"/>
          </p:nvPr>
        </p:nvSpPr>
        <p:spPr>
          <a:xfrm>
            <a:off x="8610600" y="6400800"/>
            <a:ext cx="533400" cy="457200"/>
          </a:xfrm>
        </p:spPr>
        <p:txBody>
          <a:bodyPr/>
          <a:lstStyle>
            <a:lvl1pPr>
              <a:defRPr/>
            </a:lvl1pPr>
          </a:lstStyle>
          <a:p>
            <a:fld id="{9D4C96A0-4412-4C95-B2BA-559D798589E5}" type="slidenum">
              <a:rPr lang="en-US" altLang="en-US" smtClean="0"/>
              <a:pPr/>
              <a:t>‹#›</a:t>
            </a:fld>
            <a:endParaRPr lang="en-US" altLang="en-US"/>
          </a:p>
        </p:txBody>
      </p:sp>
      <p:sp>
        <p:nvSpPr>
          <p:cNvPr id="5" name="Footer Placeholder 4"/>
          <p:cNvSpPr>
            <a:spLocks noGrp="1"/>
          </p:cNvSpPr>
          <p:nvPr>
            <p:ph type="ftr" sz="quarter" idx="11"/>
          </p:nvPr>
        </p:nvSpPr>
        <p:spPr>
          <a:xfrm>
            <a:off x="609600" y="6521450"/>
            <a:ext cx="4495800" cy="228600"/>
          </a:xfrm>
        </p:spPr>
        <p:txBody>
          <a:bodyPr/>
          <a:lstStyle>
            <a:lvl1pPr>
              <a:defRPr/>
            </a:lvl1pPr>
          </a:lstStyle>
          <a:p>
            <a:r>
              <a:rPr lang="en-US" altLang="en-US"/>
              <a:t>CG2271 Lab Lecture 1</a:t>
            </a:r>
          </a:p>
        </p:txBody>
      </p:sp>
    </p:spTree>
    <p:extLst>
      <p:ext uri="{BB962C8B-B14F-4D97-AF65-F5344CB8AC3E}">
        <p14:creationId xmlns:p14="http://schemas.microsoft.com/office/powerpoint/2010/main" val="13253950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en-US"/>
              <a:t>CG2271 Lab Lecture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30011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86358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en-US"/>
              <a:t>Click to edit Master title style</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9132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64124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33845" y="2507551"/>
            <a:ext cx="3867150"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7551"/>
            <a:ext cx="3886201" cy="3680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CG2271 Lab Lecture 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008877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CG2271 Lab Lecture 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28841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CG2271 Lab Lecture 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195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en-US"/>
              <a:t>Click to edit Master title style</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856840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CG2271 Lab Lecture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32888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25634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CG2271 Lab Lecture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2453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bwMode="auto">
          <a:xfrm>
            <a:off x="457200" y="228600"/>
            <a:ext cx="8229600" cy="788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5843" name="Rectangle 3"/>
          <p:cNvSpPr>
            <a:spLocks noGrp="1" noChangeArrowheads="1"/>
          </p:cNvSpPr>
          <p:nvPr>
            <p:ph type="body" idx="1"/>
          </p:nvPr>
        </p:nvSpPr>
        <p:spPr bwMode="auto">
          <a:xfrm>
            <a:off x="457200" y="1219200"/>
            <a:ext cx="82296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5844" name="Freeform 4"/>
          <p:cNvSpPr>
            <a:spLocks noChangeArrowheads="1"/>
          </p:cNvSpPr>
          <p:nvPr/>
        </p:nvSpPr>
        <p:spPr bwMode="auto">
          <a:xfrm>
            <a:off x="381000" y="15240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35845" name="Line 5"/>
          <p:cNvSpPr>
            <a:spLocks noChangeShapeType="1"/>
          </p:cNvSpPr>
          <p:nvPr/>
        </p:nvSpPr>
        <p:spPr bwMode="auto">
          <a:xfrm>
            <a:off x="457200" y="66294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35846" name="Rectangle 6"/>
          <p:cNvSpPr>
            <a:spLocks noGrp="1" noChangeArrowheads="1"/>
          </p:cNvSpPr>
          <p:nvPr>
            <p:ph type="sldNum" sz="quarter" idx="4"/>
          </p:nvPr>
        </p:nvSpPr>
        <p:spPr bwMode="auto">
          <a:xfrm>
            <a:off x="8686800" y="6629400"/>
            <a:ext cx="4572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50000"/>
              </a:lnSpc>
              <a:defRPr sz="1400"/>
            </a:lvl1pPr>
          </a:lstStyle>
          <a:p>
            <a:fld id="{340BAAAD-52D6-4FB3-AB55-71C64A1E2A0A}" type="slidenum">
              <a:rPr lang="en-US" altLang="en-US"/>
              <a:pPr/>
              <a:t>‹#›</a:t>
            </a:fld>
            <a:endParaRPr lang="en-US" altLang="en-US"/>
          </a:p>
        </p:txBody>
      </p:sp>
      <p:sp>
        <p:nvSpPr>
          <p:cNvPr id="35847" name="Rectangle 7"/>
          <p:cNvSpPr>
            <a:spLocks noGrp="1" noChangeArrowheads="1"/>
          </p:cNvSpPr>
          <p:nvPr>
            <p:ph type="ftr" sz="quarter" idx="3"/>
          </p:nvPr>
        </p:nvSpPr>
        <p:spPr bwMode="auto">
          <a:xfrm>
            <a:off x="533400" y="6553200"/>
            <a:ext cx="1905000" cy="152400"/>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defRPr sz="800">
                <a:solidFill>
                  <a:schemeClr val="tx2"/>
                </a:solidFill>
                <a:latin typeface="Arial Black" pitchFamily="34" charset="0"/>
              </a:defRPr>
            </a:lvl1pPr>
          </a:lstStyle>
          <a:p>
            <a:r>
              <a:rPr lang="en-US" altLang="en-US"/>
              <a:t>CG2271 Lab Lecture 1</a:t>
            </a:r>
          </a:p>
        </p:txBody>
      </p:sp>
    </p:spTree>
  </p:cSld>
  <p:clrMap bg1="lt1" tx1="dk1" bg2="lt2" tx2="dk2" accent1="accent1" accent2="accent2" accent3="accent3" accent4="accent4" accent5="accent5" accent6="accent6" hlink="hlink" folHlink="folHlink"/>
  <p:sldLayoutIdLst>
    <p:sldLayoutId id="2147483680"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l" rtl="0" fontAlgn="base">
        <a:spcBef>
          <a:spcPct val="0"/>
        </a:spcBef>
        <a:spcAft>
          <a:spcPct val="0"/>
        </a:spcAft>
        <a:defRPr sz="4200">
          <a:solidFill>
            <a:schemeClr val="tx2"/>
          </a:solidFill>
          <a:latin typeface="+mj-lt"/>
          <a:ea typeface="+mj-ea"/>
          <a:cs typeface="+mj-cs"/>
        </a:defRPr>
      </a:lvl1pPr>
      <a:lvl2pPr algn="l" rtl="0" fontAlgn="base">
        <a:spcBef>
          <a:spcPct val="0"/>
        </a:spcBef>
        <a:spcAft>
          <a:spcPct val="0"/>
        </a:spcAft>
        <a:defRPr sz="4200">
          <a:solidFill>
            <a:schemeClr val="tx2"/>
          </a:solidFill>
          <a:latin typeface="Garamond" pitchFamily="18" charset="0"/>
          <a:cs typeface="Arial" charset="0"/>
        </a:defRPr>
      </a:lvl2pPr>
      <a:lvl3pPr algn="l" rtl="0" fontAlgn="base">
        <a:spcBef>
          <a:spcPct val="0"/>
        </a:spcBef>
        <a:spcAft>
          <a:spcPct val="0"/>
        </a:spcAft>
        <a:defRPr sz="4200">
          <a:solidFill>
            <a:schemeClr val="tx2"/>
          </a:solidFill>
          <a:latin typeface="Garamond" pitchFamily="18" charset="0"/>
          <a:cs typeface="Arial" charset="0"/>
        </a:defRPr>
      </a:lvl3pPr>
      <a:lvl4pPr algn="l" rtl="0" fontAlgn="base">
        <a:spcBef>
          <a:spcPct val="0"/>
        </a:spcBef>
        <a:spcAft>
          <a:spcPct val="0"/>
        </a:spcAft>
        <a:defRPr sz="4200">
          <a:solidFill>
            <a:schemeClr val="tx2"/>
          </a:solidFill>
          <a:latin typeface="Garamond" pitchFamily="18" charset="0"/>
          <a:cs typeface="Arial" charset="0"/>
        </a:defRPr>
      </a:lvl4pPr>
      <a:lvl5pPr algn="l" rtl="0" fontAlgn="base">
        <a:spcBef>
          <a:spcPct val="0"/>
        </a:spcBef>
        <a:spcAft>
          <a:spcPct val="0"/>
        </a:spcAft>
        <a:defRPr sz="4200">
          <a:solidFill>
            <a:schemeClr val="tx2"/>
          </a:solidFill>
          <a:latin typeface="Garamond" pitchFamily="18" charset="0"/>
          <a:cs typeface="Arial" charset="0"/>
        </a:defRPr>
      </a:lvl5pPr>
      <a:lvl6pPr marL="457200" algn="l" rtl="0" fontAlgn="base">
        <a:spcBef>
          <a:spcPct val="0"/>
        </a:spcBef>
        <a:spcAft>
          <a:spcPct val="0"/>
        </a:spcAft>
        <a:defRPr sz="4200">
          <a:solidFill>
            <a:schemeClr val="tx2"/>
          </a:solidFill>
          <a:latin typeface="Garamond" pitchFamily="18" charset="0"/>
          <a:cs typeface="Arial" charset="0"/>
        </a:defRPr>
      </a:lvl6pPr>
      <a:lvl7pPr marL="914400" algn="l" rtl="0" fontAlgn="base">
        <a:spcBef>
          <a:spcPct val="0"/>
        </a:spcBef>
        <a:spcAft>
          <a:spcPct val="0"/>
        </a:spcAft>
        <a:defRPr sz="4200">
          <a:solidFill>
            <a:schemeClr val="tx2"/>
          </a:solidFill>
          <a:latin typeface="Garamond" pitchFamily="18" charset="0"/>
          <a:cs typeface="Arial" charset="0"/>
        </a:defRPr>
      </a:lvl7pPr>
      <a:lvl8pPr marL="1371600" algn="l" rtl="0" fontAlgn="base">
        <a:spcBef>
          <a:spcPct val="0"/>
        </a:spcBef>
        <a:spcAft>
          <a:spcPct val="0"/>
        </a:spcAft>
        <a:defRPr sz="4200">
          <a:solidFill>
            <a:schemeClr val="tx2"/>
          </a:solidFill>
          <a:latin typeface="Garamond" pitchFamily="18" charset="0"/>
          <a:cs typeface="Arial" charset="0"/>
        </a:defRPr>
      </a:lvl8pPr>
      <a:lvl9pPr marL="1828800" algn="l" rtl="0" fontAlgn="base">
        <a:spcBef>
          <a:spcPct val="0"/>
        </a:spcBef>
        <a:spcAft>
          <a:spcPct val="0"/>
        </a:spcAft>
        <a:defRPr sz="4200">
          <a:solidFill>
            <a:schemeClr val="tx2"/>
          </a:solidFill>
          <a:latin typeface="Garamond" pitchFamily="18" charset="0"/>
          <a:cs typeface="Arial" charset="0"/>
        </a:defRPr>
      </a:lvl9pPr>
    </p:titleStyle>
    <p:bodyStyle>
      <a:lvl1pPr marL="342900" indent="-342900" algn="l" rtl="0" fontAlgn="base">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fontAlgn="base">
        <a:spcBef>
          <a:spcPct val="20000"/>
        </a:spcBef>
        <a:spcAft>
          <a:spcPct val="0"/>
        </a:spcAft>
        <a:buClr>
          <a:schemeClr val="accent2"/>
        </a:buClr>
        <a:buSzPct val="60000"/>
        <a:buFont typeface="Wingdings" pitchFamily="2" charset="2"/>
        <a:buChar char="q"/>
        <a:defRPr sz="2600">
          <a:solidFill>
            <a:schemeClr val="tx1"/>
          </a:solidFill>
          <a:latin typeface="+mn-lt"/>
          <a:cs typeface="+mn-cs"/>
        </a:defRPr>
      </a:lvl2pPr>
      <a:lvl3pPr marL="1022350" indent="-350838" algn="l" rtl="0" fontAlgn="base">
        <a:spcBef>
          <a:spcPct val="20000"/>
        </a:spcBef>
        <a:spcAft>
          <a:spcPct val="0"/>
        </a:spcAft>
        <a:buClr>
          <a:schemeClr val="accent1"/>
        </a:buClr>
        <a:buSzPct val="65000"/>
        <a:buFont typeface="Wingdings" pitchFamily="2" charset="2"/>
        <a:buChar char="n"/>
        <a:defRPr sz="2200">
          <a:solidFill>
            <a:schemeClr val="tx1"/>
          </a:solidFill>
          <a:latin typeface="+mn-lt"/>
          <a:cs typeface="+mn-cs"/>
        </a:defRPr>
      </a:lvl3pPr>
      <a:lvl4pPr marL="1339850" indent="-315913" algn="l" rtl="0" fontAlgn="base">
        <a:spcBef>
          <a:spcPct val="20000"/>
        </a:spcBef>
        <a:spcAft>
          <a:spcPct val="0"/>
        </a:spcAft>
        <a:buClr>
          <a:schemeClr val="accent2"/>
        </a:buClr>
        <a:buSzPct val="70000"/>
        <a:buFont typeface="Wingdings" pitchFamily="2" charset="2"/>
        <a:buChar char="q"/>
        <a:defRPr sz="2000">
          <a:solidFill>
            <a:schemeClr val="tx1"/>
          </a:solidFill>
          <a:latin typeface="+mn-lt"/>
          <a:cs typeface="+mn-cs"/>
        </a:defRPr>
      </a:lvl4pPr>
      <a:lvl5pPr marL="16811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7813"/>
            <a:ext cx="8229600" cy="712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7171" name="Rectangle 3"/>
          <p:cNvSpPr>
            <a:spLocks noGrp="1" noChangeArrowheads="1"/>
          </p:cNvSpPr>
          <p:nvPr>
            <p:ph type="body" idx="1"/>
          </p:nvPr>
        </p:nvSpPr>
        <p:spPr bwMode="auto">
          <a:xfrm>
            <a:off x="457200" y="990600"/>
            <a:ext cx="82296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172" name="Rectangle 4"/>
          <p:cNvSpPr>
            <a:spLocks noGrp="1" noChangeArrowheads="1"/>
          </p:cNvSpPr>
          <p:nvPr>
            <p:ph type="sldNum" sz="quarter" idx="4"/>
          </p:nvPr>
        </p:nvSpPr>
        <p:spPr bwMode="auto">
          <a:xfrm>
            <a:off x="86106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800" b="1" i="1">
                <a:solidFill>
                  <a:srgbClr val="C00000"/>
                </a:solidFill>
                <a:latin typeface="+mn-lt"/>
              </a:defRPr>
            </a:lvl1pPr>
          </a:lstStyle>
          <a:p>
            <a:fld id="{340BAAAD-52D6-4FB3-AB55-71C64A1E2A0A}" type="slidenum">
              <a:rPr lang="en-US" altLang="en-US" smtClean="0"/>
              <a:pPr/>
              <a:t>‹#›</a:t>
            </a:fld>
            <a:endParaRPr lang="en-US" altLang="en-US"/>
          </a:p>
        </p:txBody>
      </p:sp>
      <p:sp>
        <p:nvSpPr>
          <p:cNvPr id="7173" name="Freeform 5"/>
          <p:cNvSpPr>
            <a:spLocks noChangeArrowheads="1"/>
          </p:cNvSpPr>
          <p:nvPr/>
        </p:nvSpPr>
        <p:spPr bwMode="auto">
          <a:xfrm>
            <a:off x="381000" y="228600"/>
            <a:ext cx="8229600" cy="609600"/>
          </a:xfrm>
          <a:custGeom>
            <a:avLst/>
            <a:gdLst>
              <a:gd name="T0" fmla="*/ 0 w 1000"/>
              <a:gd name="T1" fmla="*/ 1000 h 1000"/>
              <a:gd name="T2" fmla="*/ 0 w 1000"/>
              <a:gd name="T3" fmla="*/ 0 h 1000"/>
              <a:gd name="T4" fmla="*/ 1000 w 1000"/>
              <a:gd name="T5" fmla="*/ 0 h 1000"/>
            </a:gdLst>
            <a:ahLst/>
            <a:cxnLst>
              <a:cxn ang="0">
                <a:pos x="T0" y="T1"/>
              </a:cxn>
              <a:cxn ang="0">
                <a:pos x="T2" y="T3"/>
              </a:cxn>
              <a:cxn ang="0">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SG"/>
          </a:p>
        </p:txBody>
      </p:sp>
      <p:sp>
        <p:nvSpPr>
          <p:cNvPr id="7174" name="Line 6"/>
          <p:cNvSpPr>
            <a:spLocks noChangeShapeType="1"/>
          </p:cNvSpPr>
          <p:nvPr/>
        </p:nvSpPr>
        <p:spPr bwMode="auto">
          <a:xfrm>
            <a:off x="457200" y="6629400"/>
            <a:ext cx="8229600" cy="0"/>
          </a:xfrm>
          <a:prstGeom prst="line">
            <a:avLst/>
          </a:prstGeom>
          <a:noFill/>
          <a:ln w="19050">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SG"/>
          </a:p>
        </p:txBody>
      </p:sp>
      <p:sp>
        <p:nvSpPr>
          <p:cNvPr id="7175" name="Rectangle 7"/>
          <p:cNvSpPr>
            <a:spLocks noGrp="1" noChangeArrowheads="1"/>
          </p:cNvSpPr>
          <p:nvPr>
            <p:ph type="ftr" sz="quarter" idx="3"/>
          </p:nvPr>
        </p:nvSpPr>
        <p:spPr bwMode="auto">
          <a:xfrm>
            <a:off x="609600" y="6521450"/>
            <a:ext cx="2209800" cy="228600"/>
          </a:xfrm>
          <a:prstGeom prst="rect">
            <a:avLst/>
          </a:prstGeom>
          <a:solidFill>
            <a:schemeClr val="bg1">
              <a:alpha val="80000"/>
            </a:scheme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mj-lt"/>
              </a:defRPr>
            </a:lvl1pPr>
          </a:lstStyle>
          <a:p>
            <a:r>
              <a:rPr lang="en-US" altLang="en-US"/>
              <a:t>CG2271 Lab Lecture 1</a:t>
            </a:r>
          </a:p>
        </p:txBody>
      </p:sp>
    </p:spTree>
    <p:extLst>
      <p:ext uri="{BB962C8B-B14F-4D97-AF65-F5344CB8AC3E}">
        <p14:creationId xmlns:p14="http://schemas.microsoft.com/office/powerpoint/2010/main" val="344398442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hf hdr="0" dt="0"/>
  <p:txStyles>
    <p:titleStyle>
      <a:lvl1pPr algn="l" rtl="0" eaLnBrk="1" fontAlgn="base" hangingPunct="1">
        <a:spcBef>
          <a:spcPct val="0"/>
        </a:spcBef>
        <a:spcAft>
          <a:spcPct val="0"/>
        </a:spcAft>
        <a:defRPr sz="4200">
          <a:solidFill>
            <a:schemeClr val="tx2"/>
          </a:solidFill>
          <a:latin typeface="+mj-lt"/>
          <a:ea typeface="+mj-ea"/>
          <a:cs typeface="+mj-cs"/>
        </a:defRPr>
      </a:lvl1pPr>
      <a:lvl2pPr algn="l" rtl="0" eaLnBrk="1" fontAlgn="base" hangingPunct="1">
        <a:spcBef>
          <a:spcPct val="0"/>
        </a:spcBef>
        <a:spcAft>
          <a:spcPct val="0"/>
        </a:spcAft>
        <a:defRPr sz="4200">
          <a:solidFill>
            <a:schemeClr val="tx2"/>
          </a:solidFill>
          <a:latin typeface="Garamond" pitchFamily="18" charset="0"/>
        </a:defRPr>
      </a:lvl2pPr>
      <a:lvl3pPr algn="l" rtl="0" eaLnBrk="1" fontAlgn="base" hangingPunct="1">
        <a:spcBef>
          <a:spcPct val="0"/>
        </a:spcBef>
        <a:spcAft>
          <a:spcPct val="0"/>
        </a:spcAft>
        <a:defRPr sz="4200">
          <a:solidFill>
            <a:schemeClr val="tx2"/>
          </a:solidFill>
          <a:latin typeface="Garamond" pitchFamily="18" charset="0"/>
        </a:defRPr>
      </a:lvl3pPr>
      <a:lvl4pPr algn="l" rtl="0" eaLnBrk="1" fontAlgn="base" hangingPunct="1">
        <a:spcBef>
          <a:spcPct val="0"/>
        </a:spcBef>
        <a:spcAft>
          <a:spcPct val="0"/>
        </a:spcAft>
        <a:defRPr sz="4200">
          <a:solidFill>
            <a:schemeClr val="tx2"/>
          </a:solidFill>
          <a:latin typeface="Garamond" pitchFamily="18" charset="0"/>
        </a:defRPr>
      </a:lvl4pPr>
      <a:lvl5pPr algn="l" rtl="0" eaLnBrk="1" fontAlgn="base" hangingPunct="1">
        <a:spcBef>
          <a:spcPct val="0"/>
        </a:spcBef>
        <a:spcAft>
          <a:spcPct val="0"/>
        </a:spcAft>
        <a:defRPr sz="4200">
          <a:solidFill>
            <a:schemeClr val="tx2"/>
          </a:solidFill>
          <a:latin typeface="Garamond" pitchFamily="18" charset="0"/>
        </a:defRPr>
      </a:lvl5pPr>
      <a:lvl6pPr marL="457200" algn="l" rtl="0" eaLnBrk="1" fontAlgn="base" hangingPunct="1">
        <a:spcBef>
          <a:spcPct val="0"/>
        </a:spcBef>
        <a:spcAft>
          <a:spcPct val="0"/>
        </a:spcAft>
        <a:defRPr sz="4200">
          <a:solidFill>
            <a:schemeClr val="tx2"/>
          </a:solidFill>
          <a:latin typeface="Garamond" pitchFamily="18" charset="0"/>
        </a:defRPr>
      </a:lvl6pPr>
      <a:lvl7pPr marL="914400" algn="l" rtl="0" eaLnBrk="1" fontAlgn="base" hangingPunct="1">
        <a:spcBef>
          <a:spcPct val="0"/>
        </a:spcBef>
        <a:spcAft>
          <a:spcPct val="0"/>
        </a:spcAft>
        <a:defRPr sz="4200">
          <a:solidFill>
            <a:schemeClr val="tx2"/>
          </a:solidFill>
          <a:latin typeface="Garamond" pitchFamily="18" charset="0"/>
        </a:defRPr>
      </a:lvl7pPr>
      <a:lvl8pPr marL="1371600" algn="l" rtl="0" eaLnBrk="1" fontAlgn="base" hangingPunct="1">
        <a:spcBef>
          <a:spcPct val="0"/>
        </a:spcBef>
        <a:spcAft>
          <a:spcPct val="0"/>
        </a:spcAft>
        <a:defRPr sz="4200">
          <a:solidFill>
            <a:schemeClr val="tx2"/>
          </a:solidFill>
          <a:latin typeface="Garamond" pitchFamily="18" charset="0"/>
        </a:defRPr>
      </a:lvl8pPr>
      <a:lvl9pPr marL="1828800" algn="l" rtl="0" eaLnBrk="1" fontAlgn="base" hangingPunct="1">
        <a:spcBef>
          <a:spcPct val="0"/>
        </a:spcBef>
        <a:spcAft>
          <a:spcPct val="0"/>
        </a:spcAft>
        <a:defRPr sz="4200">
          <a:solidFill>
            <a:schemeClr val="tx2"/>
          </a:solidFill>
          <a:latin typeface="Garamond" pitchFamily="18" charset="0"/>
        </a:defRPr>
      </a:lvl9pPr>
    </p:titleStyle>
    <p:bodyStyle>
      <a:lvl1pPr marL="342900" indent="-342900" algn="l" rtl="0" eaLnBrk="1" fontAlgn="base" hangingPunct="1">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1" fontAlgn="base" hangingPunct="1">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1" fontAlgn="base" hangingPunct="1">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1" fontAlgn="base" hangingPunct="1">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r>
              <a:rPr lang="en-US"/>
              <a:t>CG2271 Lab Lecture 1</a:t>
            </a:r>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82091218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ltLang="en-US" b="1" dirty="0">
                <a:solidFill>
                  <a:srgbClr val="C00000"/>
                </a:solidFill>
              </a:rPr>
              <a:t>CG2271 Real Time Operating Systems</a:t>
            </a:r>
          </a:p>
        </p:txBody>
      </p:sp>
      <p:sp>
        <p:nvSpPr>
          <p:cNvPr id="2051" name="Rectangle 3"/>
          <p:cNvSpPr>
            <a:spLocks noGrp="1" noChangeArrowheads="1"/>
          </p:cNvSpPr>
          <p:nvPr>
            <p:ph type="subTitle" idx="1"/>
          </p:nvPr>
        </p:nvSpPr>
        <p:spPr/>
        <p:txBody>
          <a:bodyPr/>
          <a:lstStyle/>
          <a:p>
            <a:pPr algn="ctr"/>
            <a:r>
              <a:rPr lang="en-US" altLang="en-US" b="1" dirty="0">
                <a:solidFill>
                  <a:srgbClr val="660066"/>
                </a:solidFill>
              </a:rPr>
              <a:t>Lab Lecture 1</a:t>
            </a:r>
          </a:p>
          <a:p>
            <a:pPr algn="ctr"/>
            <a:r>
              <a:rPr lang="en-US" altLang="en-US" b="1" dirty="0">
                <a:solidFill>
                  <a:srgbClr val="660066"/>
                </a:solidFill>
              </a:rPr>
              <a:t>Introduction to the Cortex M0+ Microcontroller</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a:t>Overview</a:t>
            </a:r>
          </a:p>
        </p:txBody>
      </p:sp>
      <p:sp>
        <p:nvSpPr>
          <p:cNvPr id="3075" name="Content Placeholder 2"/>
          <p:cNvSpPr>
            <a:spLocks noGrp="1"/>
          </p:cNvSpPr>
          <p:nvPr>
            <p:ph idx="1"/>
          </p:nvPr>
        </p:nvSpPr>
        <p:spPr>
          <a:xfrm>
            <a:off x="233364" y="1542313"/>
            <a:ext cx="8910637" cy="4068764"/>
          </a:xfrm>
        </p:spPr>
        <p:txBody>
          <a:bodyPr/>
          <a:lstStyle/>
          <a:p>
            <a:r>
              <a:rPr lang="en-US" dirty="0"/>
              <a:t>Cortex-M0+ Processor Core Registers </a:t>
            </a:r>
          </a:p>
          <a:p>
            <a:endParaRPr lang="en-US" dirty="0"/>
          </a:p>
          <a:p>
            <a:r>
              <a:rPr lang="en-US" dirty="0"/>
              <a:t>Memory System and Addressing</a:t>
            </a:r>
          </a:p>
          <a:p>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3" name="Footer Placeholder 2">
            <a:extLst>
              <a:ext uri="{FF2B5EF4-FFF2-40B4-BE49-F238E27FC236}">
                <a16:creationId xmlns:a16="http://schemas.microsoft.com/office/drawing/2014/main" id="{705858CB-5122-CE16-1643-AD1857B48DF9}"/>
              </a:ext>
            </a:extLst>
          </p:cNvPr>
          <p:cNvSpPr>
            <a:spLocks noGrp="1"/>
          </p:cNvSpPr>
          <p:nvPr>
            <p:ph type="ftr" sz="quarter" idx="11"/>
          </p:nvPr>
        </p:nvSpPr>
        <p:spPr/>
        <p:txBody>
          <a:bodyPr/>
          <a:lstStyle/>
          <a:p>
            <a:r>
              <a:rPr lang="en-SG" altLang="en-US"/>
              <a:t>CG2271 Lab Lecture 1</a:t>
            </a:r>
            <a:endParaRPr lang="en-US" altLang="en-US"/>
          </a:p>
        </p:txBody>
      </p:sp>
      <p:sp>
        <p:nvSpPr>
          <p:cNvPr id="5" name="Slide Number Placeholder 4">
            <a:extLst>
              <a:ext uri="{FF2B5EF4-FFF2-40B4-BE49-F238E27FC236}">
                <a16:creationId xmlns:a16="http://schemas.microsoft.com/office/drawing/2014/main" id="{2C80E1A1-F9BD-D9F7-EA10-9B4969FDB837}"/>
              </a:ext>
            </a:extLst>
          </p:cNvPr>
          <p:cNvSpPr>
            <a:spLocks noGrp="1"/>
          </p:cNvSpPr>
          <p:nvPr>
            <p:ph type="sldNum" sz="quarter" idx="10"/>
          </p:nvPr>
        </p:nvSpPr>
        <p:spPr/>
        <p:txBody>
          <a:bodyPr/>
          <a:lstStyle/>
          <a:p>
            <a:fld id="{E4B16682-6FB4-4344-B037-3C8A3CEB850D}"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nvPr>
        </p:nvSpPr>
        <p:spPr/>
        <p:txBody>
          <a:bodyPr>
            <a:normAutofit fontScale="90000"/>
          </a:bodyPr>
          <a:lstStyle/>
          <a:p>
            <a:pPr>
              <a:defRPr/>
            </a:pPr>
            <a:r>
              <a:rPr lang="en-US"/>
              <a:t>Microcontroller vs. Microprocessor</a:t>
            </a:r>
          </a:p>
        </p:txBody>
      </p:sp>
      <p:sp>
        <p:nvSpPr>
          <p:cNvPr id="4099" name="Rectangle 3"/>
          <p:cNvSpPr>
            <a:spLocks noGrp="1" noChangeArrowheads="1"/>
          </p:cNvSpPr>
          <p:nvPr>
            <p:ph idx="1"/>
          </p:nvPr>
        </p:nvSpPr>
        <p:spPr>
          <a:xfrm>
            <a:off x="152400" y="1485140"/>
            <a:ext cx="4800600" cy="4991860"/>
          </a:xfrm>
        </p:spPr>
        <p:txBody>
          <a:bodyPr/>
          <a:lstStyle/>
          <a:p>
            <a:r>
              <a:rPr lang="en-US" dirty="0"/>
              <a:t>Both have a CPU core to execute instructions</a:t>
            </a:r>
          </a:p>
          <a:p>
            <a:r>
              <a:rPr lang="en-US" dirty="0"/>
              <a:t>Microcontroller has peripherals for embedded interfacing and control</a:t>
            </a:r>
          </a:p>
          <a:p>
            <a:pPr lvl="1"/>
            <a:r>
              <a:rPr lang="en-US" dirty="0"/>
              <a:t>Analog</a:t>
            </a:r>
          </a:p>
          <a:p>
            <a:pPr lvl="1"/>
            <a:r>
              <a:rPr lang="en-US" dirty="0"/>
              <a:t>Timers</a:t>
            </a:r>
          </a:p>
          <a:p>
            <a:pPr lvl="1"/>
            <a:r>
              <a:rPr lang="en-US" dirty="0"/>
              <a:t>Digital I/O</a:t>
            </a:r>
          </a:p>
          <a:p>
            <a:pPr lvl="1"/>
            <a:r>
              <a:rPr lang="en-US" dirty="0"/>
              <a:t>…</a:t>
            </a:r>
          </a:p>
        </p:txBody>
      </p:sp>
      <p:grpSp>
        <p:nvGrpSpPr>
          <p:cNvPr id="3" name="Group 2"/>
          <p:cNvGrpSpPr/>
          <p:nvPr/>
        </p:nvGrpSpPr>
        <p:grpSpPr>
          <a:xfrm>
            <a:off x="5105400" y="1551535"/>
            <a:ext cx="3297146" cy="3149152"/>
            <a:chOff x="3428998" y="926690"/>
            <a:chExt cx="5514976" cy="590591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999" y="926690"/>
              <a:ext cx="5514975" cy="59059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bwMode="auto">
            <a:xfrm>
              <a:off x="3428998" y="930319"/>
              <a:ext cx="1600201" cy="2574882"/>
            </a:xfrm>
            <a:prstGeom prst="rect">
              <a:avLst/>
            </a:prstGeom>
            <a:noFill/>
            <a:ln w="28575" cap="flat" cmpd="sng" algn="ctr">
              <a:solidFill>
                <a:schemeClr val="accent1"/>
              </a:solidFill>
              <a:prstDash val="dash"/>
              <a:round/>
              <a:headEnd type="none" w="med" len="med"/>
              <a:tailEnd type="none" w="med" len="med"/>
            </a:ln>
            <a:effectLst/>
          </p:spPr>
          <p:txBody>
            <a:bodyPr vert="horz" wrap="square" lIns="68607" tIns="34303" rIns="68607" bIns="34303" numCol="1" rtlCol="0" anchor="t" anchorCtr="0" compatLnSpc="1">
              <a:prstTxWarp prst="textNoShape">
                <a:avLst/>
              </a:prstTxWarp>
            </a:bodyPr>
            <a:lstStyle/>
            <a:p>
              <a:pPr defTabSz="686074" eaLnBrk="0" hangingPunct="0"/>
              <a:endParaRPr lang="en-US" sz="1801">
                <a:latin typeface="Times New Roman" pitchFamily="18" charset="0"/>
              </a:endParaRPr>
            </a:p>
          </p:txBody>
        </p:sp>
      </p:grpSp>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4" name="Footer Placeholder 3">
            <a:extLst>
              <a:ext uri="{FF2B5EF4-FFF2-40B4-BE49-F238E27FC236}">
                <a16:creationId xmlns:a16="http://schemas.microsoft.com/office/drawing/2014/main" id="{146FCDD1-FFBB-6E53-F438-B320D1E35DE0}"/>
              </a:ext>
            </a:extLst>
          </p:cNvPr>
          <p:cNvSpPr>
            <a:spLocks noGrp="1"/>
          </p:cNvSpPr>
          <p:nvPr>
            <p:ph type="ftr" sz="quarter" idx="11"/>
          </p:nvPr>
        </p:nvSpPr>
        <p:spPr/>
        <p:txBody>
          <a:bodyPr/>
          <a:lstStyle/>
          <a:p>
            <a:r>
              <a:rPr lang="en-SG" altLang="en-US"/>
              <a:t>CG2271 Lab Lecture 1</a:t>
            </a:r>
            <a:endParaRPr lang="en-US" altLang="en-US"/>
          </a:p>
        </p:txBody>
      </p:sp>
      <p:sp>
        <p:nvSpPr>
          <p:cNvPr id="5" name="Slide Number Placeholder 4">
            <a:extLst>
              <a:ext uri="{FF2B5EF4-FFF2-40B4-BE49-F238E27FC236}">
                <a16:creationId xmlns:a16="http://schemas.microsoft.com/office/drawing/2014/main" id="{2DCB5ADA-A18A-AC03-8441-BE10FFABAA00}"/>
              </a:ext>
            </a:extLst>
          </p:cNvPr>
          <p:cNvSpPr>
            <a:spLocks noGrp="1"/>
          </p:cNvSpPr>
          <p:nvPr>
            <p:ph type="sldNum" sz="quarter" idx="10"/>
          </p:nvPr>
        </p:nvSpPr>
        <p:spPr/>
        <p:txBody>
          <a:bodyPr/>
          <a:lstStyle/>
          <a:p>
            <a:fld id="{E4B16682-6FB4-4344-B037-3C8A3CEB850D}" type="slidenum">
              <a:rPr lang="en-US" altLang="en-US" smtClean="0"/>
              <a:pPr/>
              <a:t>3</a:t>
            </a:fld>
            <a:endParaRPr lang="en-US" altLang="en-US"/>
          </a:p>
        </p:txBody>
      </p:sp>
    </p:spTree>
    <p:extLst>
      <p:ext uri="{BB962C8B-B14F-4D97-AF65-F5344CB8AC3E}">
        <p14:creationId xmlns:p14="http://schemas.microsoft.com/office/powerpoint/2010/main" val="2542215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Cortex-M0+ Core</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6005" y="1542313"/>
            <a:ext cx="6517646" cy="380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3" name="Footer Placeholder 2">
            <a:extLst>
              <a:ext uri="{FF2B5EF4-FFF2-40B4-BE49-F238E27FC236}">
                <a16:creationId xmlns:a16="http://schemas.microsoft.com/office/drawing/2014/main" id="{0A095830-A15E-F6DB-36F7-9DDA4E2473B0}"/>
              </a:ext>
            </a:extLst>
          </p:cNvPr>
          <p:cNvSpPr>
            <a:spLocks noGrp="1"/>
          </p:cNvSpPr>
          <p:nvPr>
            <p:ph type="ftr" sz="quarter" idx="11"/>
          </p:nvPr>
        </p:nvSpPr>
        <p:spPr/>
        <p:txBody>
          <a:bodyPr/>
          <a:lstStyle/>
          <a:p>
            <a:r>
              <a:rPr lang="en-SG" altLang="en-US"/>
              <a:t>CG2271 Lab Lecture 1</a:t>
            </a:r>
            <a:endParaRPr lang="en-US" altLang="en-US"/>
          </a:p>
        </p:txBody>
      </p:sp>
      <p:sp>
        <p:nvSpPr>
          <p:cNvPr id="4" name="Slide Number Placeholder 3">
            <a:extLst>
              <a:ext uri="{FF2B5EF4-FFF2-40B4-BE49-F238E27FC236}">
                <a16:creationId xmlns:a16="http://schemas.microsoft.com/office/drawing/2014/main" id="{EB4A0AC3-472C-88FD-A002-0AEFF7A736EF}"/>
              </a:ext>
            </a:extLst>
          </p:cNvPr>
          <p:cNvSpPr>
            <a:spLocks noGrp="1"/>
          </p:cNvSpPr>
          <p:nvPr>
            <p:ph type="sldNum" sz="quarter" idx="10"/>
          </p:nvPr>
        </p:nvSpPr>
        <p:spPr/>
        <p:txBody>
          <a:bodyPr/>
          <a:lstStyle/>
          <a:p>
            <a:fld id="{E4B16682-6FB4-4344-B037-3C8A3CEB850D}" type="slidenum">
              <a:rPr lang="en-US" altLang="en-US" smtClean="0"/>
              <a:pPr/>
              <a:t>4</a:t>
            </a:fld>
            <a:endParaRPr lang="en-US" altLang="en-US"/>
          </a:p>
        </p:txBody>
      </p:sp>
    </p:spTree>
    <p:extLst>
      <p:ext uri="{BB962C8B-B14F-4D97-AF65-F5344CB8AC3E}">
        <p14:creationId xmlns:p14="http://schemas.microsoft.com/office/powerpoint/2010/main" val="110497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Architectures and Memory Speed</a:t>
            </a:r>
          </a:p>
        </p:txBody>
      </p:sp>
      <p:sp>
        <p:nvSpPr>
          <p:cNvPr id="3" name="Content Placeholder 2"/>
          <p:cNvSpPr>
            <a:spLocks noGrp="1"/>
          </p:cNvSpPr>
          <p:nvPr>
            <p:ph idx="1"/>
          </p:nvPr>
        </p:nvSpPr>
        <p:spPr>
          <a:xfrm>
            <a:off x="228600" y="1143001"/>
            <a:ext cx="8839201" cy="5437186"/>
          </a:xfrm>
        </p:spPr>
        <p:txBody>
          <a:bodyPr/>
          <a:lstStyle/>
          <a:p>
            <a:r>
              <a:rPr lang="en-US" sz="2400" dirty="0"/>
              <a:t>Load/Store Architecture</a:t>
            </a:r>
          </a:p>
          <a:p>
            <a:pPr lvl="1"/>
            <a:r>
              <a:rPr lang="en-US" sz="2000" dirty="0"/>
              <a:t>Developed to simplify CPU design and improve performance</a:t>
            </a:r>
          </a:p>
          <a:p>
            <a:pPr lvl="5"/>
            <a:r>
              <a:rPr lang="en-US" sz="1100" i="1" dirty="0"/>
              <a:t>Memory wall</a:t>
            </a:r>
            <a:r>
              <a:rPr lang="en-US" sz="1100" dirty="0"/>
              <a:t>: CPUs keep getting faster than memory</a:t>
            </a:r>
          </a:p>
          <a:p>
            <a:pPr lvl="5"/>
            <a:r>
              <a:rPr lang="en-US" sz="1100" dirty="0"/>
              <a:t>Memory accesses slow down CPU, limit compiler optimizations </a:t>
            </a:r>
          </a:p>
          <a:p>
            <a:pPr lvl="5"/>
            <a:r>
              <a:rPr lang="en-US" sz="1100" dirty="0"/>
              <a:t>Change instruction set to make most instructions </a:t>
            </a:r>
            <a:r>
              <a:rPr lang="en-US" sz="1100" i="1" dirty="0"/>
              <a:t>independent</a:t>
            </a:r>
            <a:r>
              <a:rPr lang="en-US" sz="1100" dirty="0"/>
              <a:t> of memory</a:t>
            </a:r>
          </a:p>
          <a:p>
            <a:pPr lvl="1"/>
            <a:r>
              <a:rPr lang="en-US" sz="2000" dirty="0"/>
              <a:t>Data processing instructions can access registers only</a:t>
            </a:r>
          </a:p>
          <a:p>
            <a:pPr marL="985041" lvl="2" indent="-257278">
              <a:buFont typeface="+mj-lt"/>
              <a:buAutoNum type="arabicPeriod"/>
            </a:pPr>
            <a:r>
              <a:rPr lang="en-US" sz="1100" dirty="0"/>
              <a:t>Load data into the registers </a:t>
            </a:r>
          </a:p>
          <a:p>
            <a:pPr marL="985041" lvl="2" indent="-257278">
              <a:buFont typeface="+mj-lt"/>
              <a:buAutoNum type="arabicPeriod"/>
            </a:pPr>
            <a:r>
              <a:rPr lang="en-US" sz="1100" dirty="0"/>
              <a:t>Process the data</a:t>
            </a:r>
          </a:p>
          <a:p>
            <a:pPr marL="985041" lvl="2" indent="-257278">
              <a:buFont typeface="+mj-lt"/>
              <a:buAutoNum type="arabicPeriod"/>
            </a:pPr>
            <a:r>
              <a:rPr lang="en-US" sz="1100" dirty="0"/>
              <a:t>Store results back into memory</a:t>
            </a:r>
          </a:p>
          <a:p>
            <a:pPr lvl="1"/>
            <a:r>
              <a:rPr lang="en-US" sz="2000" dirty="0"/>
              <a:t>More effective when more registers are available</a:t>
            </a:r>
          </a:p>
          <a:p>
            <a:pPr lvl="1"/>
            <a:endParaRPr lang="en-US" sz="2000" dirty="0"/>
          </a:p>
          <a:p>
            <a:r>
              <a:rPr lang="en-US" sz="2400" dirty="0"/>
              <a:t>Register/Memory Architecture</a:t>
            </a:r>
          </a:p>
          <a:p>
            <a:pPr lvl="1"/>
            <a:r>
              <a:rPr lang="en-US" sz="2000" dirty="0"/>
              <a:t>Data processing instructions can access memory or registers</a:t>
            </a:r>
          </a:p>
          <a:p>
            <a:pPr lvl="1"/>
            <a:r>
              <a:rPr lang="en-US" sz="2000" dirty="0"/>
              <a:t>Memory wall is not very high at lower CPU speeds (e.g. under 50 MHz)</a:t>
            </a:r>
          </a:p>
          <a:p>
            <a:endParaRPr lang="en-US" sz="2400" dirty="0"/>
          </a:p>
          <a:p>
            <a:endParaRPr lang="en-US" sz="24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5" name="Footer Placeholder 4">
            <a:extLst>
              <a:ext uri="{FF2B5EF4-FFF2-40B4-BE49-F238E27FC236}">
                <a16:creationId xmlns:a16="http://schemas.microsoft.com/office/drawing/2014/main" id="{6E272FED-5ED6-9383-A186-C0D4CFCD3ADA}"/>
              </a:ext>
            </a:extLst>
          </p:cNvPr>
          <p:cNvSpPr>
            <a:spLocks noGrp="1"/>
          </p:cNvSpPr>
          <p:nvPr>
            <p:ph type="ftr" sz="quarter" idx="11"/>
          </p:nvPr>
        </p:nvSpPr>
        <p:spPr/>
        <p:txBody>
          <a:bodyPr/>
          <a:lstStyle/>
          <a:p>
            <a:r>
              <a:rPr lang="en-SG" altLang="en-US"/>
              <a:t>CG2271 Lab Lecture 1</a:t>
            </a:r>
            <a:endParaRPr lang="en-US" altLang="en-US"/>
          </a:p>
        </p:txBody>
      </p:sp>
      <p:sp>
        <p:nvSpPr>
          <p:cNvPr id="6" name="Slide Number Placeholder 5">
            <a:extLst>
              <a:ext uri="{FF2B5EF4-FFF2-40B4-BE49-F238E27FC236}">
                <a16:creationId xmlns:a16="http://schemas.microsoft.com/office/drawing/2014/main" id="{16AFC61B-DFB7-165E-86AA-595FB1022DB6}"/>
              </a:ext>
            </a:extLst>
          </p:cNvPr>
          <p:cNvSpPr>
            <a:spLocks noGrp="1"/>
          </p:cNvSpPr>
          <p:nvPr>
            <p:ph type="sldNum" sz="quarter" idx="10"/>
          </p:nvPr>
        </p:nvSpPr>
        <p:spPr/>
        <p:txBody>
          <a:bodyPr/>
          <a:lstStyle/>
          <a:p>
            <a:fld id="{E4B16682-6FB4-4344-B037-3C8A3CEB850D}" type="slidenum">
              <a:rPr lang="en-US" altLang="en-US" smtClean="0"/>
              <a:pPr/>
              <a:t>5</a:t>
            </a:fld>
            <a:endParaRPr lang="en-US" altLang="en-US"/>
          </a:p>
        </p:txBody>
      </p:sp>
    </p:spTree>
    <p:extLst>
      <p:ext uri="{BB962C8B-B14F-4D97-AF65-F5344CB8AC3E}">
        <p14:creationId xmlns:p14="http://schemas.microsoft.com/office/powerpoint/2010/main" val="2498360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ARM Processor Core Registers</a:t>
            </a:r>
          </a:p>
        </p:txBody>
      </p:sp>
      <p:sp>
        <p:nvSpPr>
          <p:cNvPr id="3" name="Content Placeholder 2"/>
          <p:cNvSpPr>
            <a:spLocks noGrp="1"/>
          </p:cNvSpPr>
          <p:nvPr>
            <p:ph idx="1"/>
          </p:nvPr>
        </p:nvSpPr>
        <p:spPr/>
        <p:txBody>
          <a:bodyPr/>
          <a:lstStyle/>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8832" y="1504577"/>
            <a:ext cx="6117440" cy="398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4" name="Footer Placeholder 3">
            <a:extLst>
              <a:ext uri="{FF2B5EF4-FFF2-40B4-BE49-F238E27FC236}">
                <a16:creationId xmlns:a16="http://schemas.microsoft.com/office/drawing/2014/main" id="{D4295D2B-A315-9C3B-7BB2-7AA969EA7888}"/>
              </a:ext>
            </a:extLst>
          </p:cNvPr>
          <p:cNvSpPr>
            <a:spLocks noGrp="1"/>
          </p:cNvSpPr>
          <p:nvPr>
            <p:ph type="ftr" sz="quarter" idx="11"/>
          </p:nvPr>
        </p:nvSpPr>
        <p:spPr/>
        <p:txBody>
          <a:bodyPr/>
          <a:lstStyle/>
          <a:p>
            <a:r>
              <a:rPr lang="en-SG" altLang="en-US"/>
              <a:t>CG2271 Lab Lecture 1</a:t>
            </a:r>
            <a:endParaRPr lang="en-US" altLang="en-US"/>
          </a:p>
        </p:txBody>
      </p:sp>
      <p:sp>
        <p:nvSpPr>
          <p:cNvPr id="6" name="Slide Number Placeholder 5">
            <a:extLst>
              <a:ext uri="{FF2B5EF4-FFF2-40B4-BE49-F238E27FC236}">
                <a16:creationId xmlns:a16="http://schemas.microsoft.com/office/drawing/2014/main" id="{B4274E8A-BAFD-5AC4-1969-F7EC56FEB1DA}"/>
              </a:ext>
            </a:extLst>
          </p:cNvPr>
          <p:cNvSpPr>
            <a:spLocks noGrp="1"/>
          </p:cNvSpPr>
          <p:nvPr>
            <p:ph type="sldNum" sz="quarter" idx="10"/>
          </p:nvPr>
        </p:nvSpPr>
        <p:spPr/>
        <p:txBody>
          <a:bodyPr/>
          <a:lstStyle/>
          <a:p>
            <a:fld id="{E4B16682-6FB4-4344-B037-3C8A3CEB850D}" type="slidenum">
              <a:rPr lang="en-US" altLang="en-US" smtClean="0"/>
              <a:pPr/>
              <a:t>6</a:t>
            </a:fld>
            <a:endParaRPr lang="en-US" altLang="en-US"/>
          </a:p>
        </p:txBody>
      </p:sp>
    </p:spTree>
    <p:extLst>
      <p:ext uri="{BB962C8B-B14F-4D97-AF65-F5344CB8AC3E}">
        <p14:creationId xmlns:p14="http://schemas.microsoft.com/office/powerpoint/2010/main" val="1375494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1" dirty="0"/>
              <a:t>ARM Processor Core Registers (32 bits each)</a:t>
            </a:r>
          </a:p>
        </p:txBody>
      </p:sp>
      <p:sp>
        <p:nvSpPr>
          <p:cNvPr id="3" name="Content Placeholder 2"/>
          <p:cNvSpPr>
            <a:spLocks noGrp="1"/>
          </p:cNvSpPr>
          <p:nvPr>
            <p:ph idx="1"/>
          </p:nvPr>
        </p:nvSpPr>
        <p:spPr>
          <a:xfrm>
            <a:off x="218893" y="987287"/>
            <a:ext cx="8370249" cy="3511372"/>
          </a:xfrm>
        </p:spPr>
        <p:txBody>
          <a:bodyPr/>
          <a:lstStyle/>
          <a:p>
            <a:r>
              <a:rPr lang="en-US" sz="2800" dirty="0"/>
              <a:t>R0-R12 - General purpose registers for data processing</a:t>
            </a:r>
          </a:p>
          <a:p>
            <a:r>
              <a:rPr lang="en-US" sz="2800" dirty="0"/>
              <a:t>SP - Stack pointer (R13)</a:t>
            </a:r>
          </a:p>
          <a:p>
            <a:pPr lvl="1"/>
            <a:r>
              <a:rPr lang="en-US" sz="2400" dirty="0"/>
              <a:t>Can refer to one of two SPs</a:t>
            </a:r>
          </a:p>
          <a:p>
            <a:pPr lvl="5"/>
            <a:r>
              <a:rPr lang="en-US" sz="1200" dirty="0"/>
              <a:t>Main Stack Pointer (MSP)</a:t>
            </a:r>
          </a:p>
          <a:p>
            <a:pPr lvl="5"/>
            <a:r>
              <a:rPr lang="en-US" sz="1200" dirty="0"/>
              <a:t>Process Stack Pointer (PSP)</a:t>
            </a:r>
          </a:p>
          <a:p>
            <a:pPr lvl="1"/>
            <a:r>
              <a:rPr lang="en-US" sz="2400" dirty="0"/>
              <a:t>Uses MSP initially, and whenever in Handler mode</a:t>
            </a:r>
          </a:p>
          <a:p>
            <a:pPr lvl="1"/>
            <a:r>
              <a:rPr lang="en-US" sz="2400" dirty="0"/>
              <a:t>When in Thread mode, can select either MSP or PSP using SPSEL flag in CONTROL register.</a:t>
            </a:r>
          </a:p>
          <a:p>
            <a:r>
              <a:rPr lang="en-US" sz="2800" dirty="0"/>
              <a:t>LR - Link Register (R14)</a:t>
            </a:r>
          </a:p>
          <a:p>
            <a:pPr lvl="1"/>
            <a:r>
              <a:rPr lang="en-US" sz="2400" dirty="0"/>
              <a:t>Holds return address when called with Branch &amp; Link instruction (B&amp;L)</a:t>
            </a:r>
          </a:p>
          <a:p>
            <a:r>
              <a:rPr lang="en-US" sz="2800" dirty="0"/>
              <a:t>PC - program counter (R15)</a:t>
            </a:r>
          </a:p>
          <a:p>
            <a:endParaRPr lang="en-US" sz="2800"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5" name="Footer Placeholder 4">
            <a:extLst>
              <a:ext uri="{FF2B5EF4-FFF2-40B4-BE49-F238E27FC236}">
                <a16:creationId xmlns:a16="http://schemas.microsoft.com/office/drawing/2014/main" id="{CD083C61-326A-0A4B-243F-016880045B3F}"/>
              </a:ext>
            </a:extLst>
          </p:cNvPr>
          <p:cNvSpPr>
            <a:spLocks noGrp="1"/>
          </p:cNvSpPr>
          <p:nvPr>
            <p:ph type="ftr" sz="quarter" idx="11"/>
          </p:nvPr>
        </p:nvSpPr>
        <p:spPr/>
        <p:txBody>
          <a:bodyPr/>
          <a:lstStyle/>
          <a:p>
            <a:r>
              <a:rPr lang="en-SG" altLang="en-US"/>
              <a:t>CG2271 Lab Lecture 1</a:t>
            </a:r>
            <a:endParaRPr lang="en-US" altLang="en-US"/>
          </a:p>
        </p:txBody>
      </p:sp>
      <p:sp>
        <p:nvSpPr>
          <p:cNvPr id="6" name="Slide Number Placeholder 5">
            <a:extLst>
              <a:ext uri="{FF2B5EF4-FFF2-40B4-BE49-F238E27FC236}">
                <a16:creationId xmlns:a16="http://schemas.microsoft.com/office/drawing/2014/main" id="{34B7BBFD-31B0-34F4-8E2D-307847988AFD}"/>
              </a:ext>
            </a:extLst>
          </p:cNvPr>
          <p:cNvSpPr>
            <a:spLocks noGrp="1"/>
          </p:cNvSpPr>
          <p:nvPr>
            <p:ph type="sldNum" sz="quarter" idx="10"/>
          </p:nvPr>
        </p:nvSpPr>
        <p:spPr/>
        <p:txBody>
          <a:bodyPr/>
          <a:lstStyle/>
          <a:p>
            <a:fld id="{E4B16682-6FB4-4344-B037-3C8A3CEB850D}" type="slidenum">
              <a:rPr lang="en-US" altLang="en-US" smtClean="0"/>
              <a:pPr/>
              <a:t>7</a:t>
            </a:fld>
            <a:endParaRPr lang="en-US" altLang="en-US"/>
          </a:p>
        </p:txBody>
      </p:sp>
    </p:spTree>
    <p:extLst>
      <p:ext uri="{BB962C8B-B14F-4D97-AF65-F5344CB8AC3E}">
        <p14:creationId xmlns:p14="http://schemas.microsoft.com/office/powerpoint/2010/main" val="2274742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ARM Processor Core Registers</a:t>
            </a:r>
          </a:p>
        </p:txBody>
      </p:sp>
      <p:sp>
        <p:nvSpPr>
          <p:cNvPr id="3" name="Content Placeholder 2"/>
          <p:cNvSpPr>
            <a:spLocks noGrp="1"/>
          </p:cNvSpPr>
          <p:nvPr>
            <p:ph idx="1"/>
          </p:nvPr>
        </p:nvSpPr>
        <p:spPr>
          <a:xfrm>
            <a:off x="228600" y="3257483"/>
            <a:ext cx="8839201" cy="2744272"/>
          </a:xfrm>
        </p:spPr>
        <p:txBody>
          <a:bodyPr/>
          <a:lstStyle/>
          <a:p>
            <a:r>
              <a:rPr lang="en-US" dirty="0"/>
              <a:t>Program Status Register (PSR) is three views of same register</a:t>
            </a:r>
          </a:p>
          <a:p>
            <a:pPr lvl="1"/>
            <a:r>
              <a:rPr lang="en-US" dirty="0"/>
              <a:t>Application PSR (APSR)</a:t>
            </a:r>
          </a:p>
          <a:p>
            <a:pPr lvl="5"/>
            <a:r>
              <a:rPr lang="en-US" sz="1351" dirty="0"/>
              <a:t>Condition code flag bits Negative, Zero, </a:t>
            </a:r>
            <a:r>
              <a:rPr lang="en-US" sz="1351" dirty="0" err="1"/>
              <a:t>oVerflow</a:t>
            </a:r>
            <a:r>
              <a:rPr lang="en-US" sz="1351" dirty="0"/>
              <a:t>, Carry</a:t>
            </a:r>
          </a:p>
          <a:p>
            <a:pPr lvl="1"/>
            <a:r>
              <a:rPr lang="en-US" dirty="0"/>
              <a:t>Interrupt PSR (IPSR)</a:t>
            </a:r>
          </a:p>
          <a:p>
            <a:pPr lvl="5"/>
            <a:r>
              <a:rPr lang="en-US" sz="1351" dirty="0"/>
              <a:t>Holds exception number of currently executing ISR</a:t>
            </a:r>
            <a:endParaRPr lang="en-US" sz="1200" dirty="0"/>
          </a:p>
          <a:p>
            <a:pPr lvl="1"/>
            <a:r>
              <a:rPr lang="en-US" dirty="0"/>
              <a:t>Execution PSR (EPSR)</a:t>
            </a:r>
          </a:p>
          <a:p>
            <a:pPr lvl="5"/>
            <a:r>
              <a:rPr lang="en-US" sz="1351" dirty="0"/>
              <a:t>Thumb state</a:t>
            </a:r>
          </a:p>
          <a:p>
            <a:endParaRPr 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7315" y="1542313"/>
            <a:ext cx="6689163" cy="1642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4" name="Footer Placeholder 3">
            <a:extLst>
              <a:ext uri="{FF2B5EF4-FFF2-40B4-BE49-F238E27FC236}">
                <a16:creationId xmlns:a16="http://schemas.microsoft.com/office/drawing/2014/main" id="{C3E4B833-5C4D-53DD-CC87-650ED9803410}"/>
              </a:ext>
            </a:extLst>
          </p:cNvPr>
          <p:cNvSpPr>
            <a:spLocks noGrp="1"/>
          </p:cNvSpPr>
          <p:nvPr>
            <p:ph type="ftr" sz="quarter" idx="11"/>
          </p:nvPr>
        </p:nvSpPr>
        <p:spPr/>
        <p:txBody>
          <a:bodyPr/>
          <a:lstStyle/>
          <a:p>
            <a:r>
              <a:rPr lang="en-SG" altLang="en-US"/>
              <a:t>CG2271 Lab Lecture 1</a:t>
            </a:r>
            <a:endParaRPr lang="en-US" altLang="en-US"/>
          </a:p>
        </p:txBody>
      </p:sp>
      <p:sp>
        <p:nvSpPr>
          <p:cNvPr id="6" name="Slide Number Placeholder 5">
            <a:extLst>
              <a:ext uri="{FF2B5EF4-FFF2-40B4-BE49-F238E27FC236}">
                <a16:creationId xmlns:a16="http://schemas.microsoft.com/office/drawing/2014/main" id="{30FEDB1A-EE03-A1D2-1762-ED86FEAB908F}"/>
              </a:ext>
            </a:extLst>
          </p:cNvPr>
          <p:cNvSpPr>
            <a:spLocks noGrp="1"/>
          </p:cNvSpPr>
          <p:nvPr>
            <p:ph type="sldNum" sz="quarter" idx="10"/>
          </p:nvPr>
        </p:nvSpPr>
        <p:spPr/>
        <p:txBody>
          <a:bodyPr/>
          <a:lstStyle/>
          <a:p>
            <a:fld id="{E4B16682-6FB4-4344-B037-3C8A3CEB850D}" type="slidenum">
              <a:rPr lang="en-US" altLang="en-US" smtClean="0"/>
              <a:pPr/>
              <a:t>8</a:t>
            </a:fld>
            <a:endParaRPr lang="en-US" altLang="en-US"/>
          </a:p>
        </p:txBody>
      </p:sp>
    </p:spTree>
    <p:extLst>
      <p:ext uri="{BB962C8B-B14F-4D97-AF65-F5344CB8AC3E}">
        <p14:creationId xmlns:p14="http://schemas.microsoft.com/office/powerpoint/2010/main" val="3600135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Memory Maps For Cortex M0+ and MCU</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799" y="1479218"/>
            <a:ext cx="1943859" cy="4065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7090493" y="5324442"/>
            <a:ext cx="1140056" cy="300210"/>
          </a:xfrm>
          <a:prstGeom prst="rect">
            <a:avLst/>
          </a:prstGeom>
          <a:noFill/>
          <a:ln>
            <a:noFill/>
          </a:ln>
        </p:spPr>
        <p:txBody>
          <a:bodyPr wrap="none" rtlCol="0">
            <a:spAutoFit/>
          </a:bodyPr>
          <a:lstStyle/>
          <a:p>
            <a:pPr algn="ctr"/>
            <a:r>
              <a:rPr lang="en-US" sz="1351" dirty="0">
                <a:latin typeface="Calibri" pitchFamily="34" charset="0"/>
              </a:rPr>
              <a:t>0x0000_0000</a:t>
            </a:r>
          </a:p>
        </p:txBody>
      </p:sp>
      <p:sp>
        <p:nvSpPr>
          <p:cNvPr id="8" name="TextBox 7"/>
          <p:cNvSpPr txBox="1"/>
          <p:nvPr/>
        </p:nvSpPr>
        <p:spPr>
          <a:xfrm>
            <a:off x="7106523" y="3870924"/>
            <a:ext cx="1107996" cy="300210"/>
          </a:xfrm>
          <a:prstGeom prst="rect">
            <a:avLst/>
          </a:prstGeom>
          <a:noFill/>
          <a:ln>
            <a:noFill/>
          </a:ln>
        </p:spPr>
        <p:txBody>
          <a:bodyPr wrap="none" rtlCol="0">
            <a:spAutoFit/>
          </a:bodyPr>
          <a:lstStyle/>
          <a:p>
            <a:pPr algn="ctr"/>
            <a:r>
              <a:rPr lang="en-US" sz="1351" dirty="0">
                <a:latin typeface="Calibri" pitchFamily="34" charset="0"/>
              </a:rPr>
              <a:t>0x0001_FFFF</a:t>
            </a:r>
          </a:p>
        </p:txBody>
      </p:sp>
      <p:sp>
        <p:nvSpPr>
          <p:cNvPr id="5" name="Rectangle 4"/>
          <p:cNvSpPr/>
          <p:nvPr/>
        </p:nvSpPr>
        <p:spPr bwMode="auto">
          <a:xfrm>
            <a:off x="5149921" y="2042838"/>
            <a:ext cx="1640194" cy="1043129"/>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68607" tIns="34303" rIns="68607" bIns="34303" numCol="1" rtlCol="0" anchor="ctr" anchorCtr="1" compatLnSpc="1">
            <a:prstTxWarp prst="textNoShape">
              <a:avLst/>
            </a:prstTxWarp>
          </a:bodyPr>
          <a:lstStyle/>
          <a:p>
            <a:pPr algn="ctr" defTabSz="686074" eaLnBrk="0" hangingPunct="0"/>
            <a:r>
              <a:rPr lang="en-US" sz="1501" dirty="0">
                <a:latin typeface="Calibri" pitchFamily="34" charset="0"/>
              </a:rPr>
              <a:t>16 KB SRAM</a:t>
            </a:r>
          </a:p>
        </p:txBody>
      </p:sp>
      <p:sp>
        <p:nvSpPr>
          <p:cNvPr id="10" name="Rectangle 9"/>
          <p:cNvSpPr/>
          <p:nvPr/>
        </p:nvSpPr>
        <p:spPr bwMode="auto">
          <a:xfrm>
            <a:off x="5149921" y="4009479"/>
            <a:ext cx="1640194" cy="1494122"/>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68607" tIns="34303" rIns="68607" bIns="34303" numCol="1" rtlCol="0" anchor="ctr" anchorCtr="1" compatLnSpc="1">
            <a:prstTxWarp prst="textNoShape">
              <a:avLst/>
            </a:prstTxWarp>
          </a:bodyPr>
          <a:lstStyle/>
          <a:p>
            <a:pPr algn="ctr" defTabSz="686074" eaLnBrk="0" hangingPunct="0"/>
            <a:r>
              <a:rPr lang="en-US" sz="1501" dirty="0">
                <a:latin typeface="Calibri" pitchFamily="34" charset="0"/>
              </a:rPr>
              <a:t>128KB Flash</a:t>
            </a:r>
          </a:p>
        </p:txBody>
      </p:sp>
      <p:sp>
        <p:nvSpPr>
          <p:cNvPr id="11" name="TextBox 10"/>
          <p:cNvSpPr txBox="1"/>
          <p:nvPr/>
        </p:nvSpPr>
        <p:spPr>
          <a:xfrm>
            <a:off x="7090493" y="2628588"/>
            <a:ext cx="1140056" cy="300210"/>
          </a:xfrm>
          <a:prstGeom prst="rect">
            <a:avLst/>
          </a:prstGeom>
          <a:noFill/>
          <a:ln>
            <a:noFill/>
          </a:ln>
        </p:spPr>
        <p:txBody>
          <a:bodyPr wrap="none" rtlCol="0">
            <a:spAutoFit/>
          </a:bodyPr>
          <a:lstStyle/>
          <a:p>
            <a:pPr algn="ctr"/>
            <a:r>
              <a:rPr lang="en-US" sz="1351" dirty="0">
                <a:latin typeface="Calibri" pitchFamily="34" charset="0"/>
              </a:rPr>
              <a:t>0x2000_0000</a:t>
            </a:r>
          </a:p>
        </p:txBody>
      </p:sp>
      <p:sp>
        <p:nvSpPr>
          <p:cNvPr id="12" name="TextBox 11"/>
          <p:cNvSpPr txBox="1"/>
          <p:nvPr/>
        </p:nvSpPr>
        <p:spPr>
          <a:xfrm>
            <a:off x="7102516" y="1885347"/>
            <a:ext cx="1116011" cy="300210"/>
          </a:xfrm>
          <a:prstGeom prst="rect">
            <a:avLst/>
          </a:prstGeom>
          <a:noFill/>
          <a:ln>
            <a:noFill/>
          </a:ln>
        </p:spPr>
        <p:txBody>
          <a:bodyPr wrap="none" rtlCol="0">
            <a:spAutoFit/>
          </a:bodyPr>
          <a:lstStyle/>
          <a:p>
            <a:pPr algn="ctr"/>
            <a:r>
              <a:rPr lang="en-US" sz="1351" dirty="0">
                <a:latin typeface="Calibri" pitchFamily="34" charset="0"/>
              </a:rPr>
              <a:t>0x2000_2FFF</a:t>
            </a:r>
          </a:p>
        </p:txBody>
      </p:sp>
      <p:sp>
        <p:nvSpPr>
          <p:cNvPr id="13" name="TextBox 12"/>
          <p:cNvSpPr txBox="1"/>
          <p:nvPr/>
        </p:nvSpPr>
        <p:spPr>
          <a:xfrm>
            <a:off x="7106523" y="2923204"/>
            <a:ext cx="1107996" cy="300210"/>
          </a:xfrm>
          <a:prstGeom prst="rect">
            <a:avLst/>
          </a:prstGeom>
          <a:noFill/>
          <a:ln>
            <a:noFill/>
          </a:ln>
        </p:spPr>
        <p:txBody>
          <a:bodyPr wrap="none" rtlCol="0">
            <a:spAutoFit/>
          </a:bodyPr>
          <a:lstStyle/>
          <a:p>
            <a:pPr algn="ctr"/>
            <a:r>
              <a:rPr lang="en-US" sz="1351" dirty="0">
                <a:latin typeface="Calibri" pitchFamily="34" charset="0"/>
              </a:rPr>
              <a:t>0x1FFF_F000</a:t>
            </a:r>
          </a:p>
        </p:txBody>
      </p:sp>
      <p:cxnSp>
        <p:nvCxnSpPr>
          <p:cNvPr id="14" name="Straight Connector 13"/>
          <p:cNvCxnSpPr/>
          <p:nvPr/>
        </p:nvCxnSpPr>
        <p:spPr bwMode="auto">
          <a:xfrm>
            <a:off x="5149921" y="2800104"/>
            <a:ext cx="1640194" cy="0"/>
          </a:xfrm>
          <a:prstGeom prst="line">
            <a:avLst/>
          </a:prstGeom>
          <a:solidFill>
            <a:schemeClr val="accent1"/>
          </a:solidFill>
          <a:ln w="9525"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Box 15"/>
          <p:cNvSpPr txBox="1"/>
          <p:nvPr/>
        </p:nvSpPr>
        <p:spPr>
          <a:xfrm>
            <a:off x="3694414" y="2237136"/>
            <a:ext cx="1192955" cy="300210"/>
          </a:xfrm>
          <a:prstGeom prst="rect">
            <a:avLst/>
          </a:prstGeom>
          <a:noFill/>
          <a:ln>
            <a:noFill/>
          </a:ln>
        </p:spPr>
        <p:txBody>
          <a:bodyPr wrap="none" rtlCol="0">
            <a:spAutoFit/>
          </a:bodyPr>
          <a:lstStyle/>
          <a:p>
            <a:pPr algn="ctr"/>
            <a:r>
              <a:rPr lang="en-US" sz="1351" dirty="0">
                <a:latin typeface="Calibri" pitchFamily="34" charset="0"/>
              </a:rPr>
              <a:t>SRAM_U (3/4)</a:t>
            </a:r>
          </a:p>
        </p:txBody>
      </p:sp>
      <p:sp>
        <p:nvSpPr>
          <p:cNvPr id="17" name="TextBox 16"/>
          <p:cNvSpPr txBox="1"/>
          <p:nvPr/>
        </p:nvSpPr>
        <p:spPr>
          <a:xfrm>
            <a:off x="3691149" y="2808859"/>
            <a:ext cx="1154483" cy="300210"/>
          </a:xfrm>
          <a:prstGeom prst="rect">
            <a:avLst/>
          </a:prstGeom>
          <a:noFill/>
          <a:ln>
            <a:noFill/>
          </a:ln>
        </p:spPr>
        <p:txBody>
          <a:bodyPr wrap="none" rtlCol="0">
            <a:spAutoFit/>
          </a:bodyPr>
          <a:lstStyle/>
          <a:p>
            <a:pPr algn="ctr"/>
            <a:r>
              <a:rPr lang="en-US" sz="1351" dirty="0">
                <a:latin typeface="Calibri" pitchFamily="34" charset="0"/>
              </a:rPr>
              <a:t>SRAM_L (1/4)</a:t>
            </a:r>
          </a:p>
        </p:txBody>
      </p:sp>
      <p:sp>
        <p:nvSpPr>
          <p:cNvPr id="18" name="TextBox 17"/>
          <p:cNvSpPr txBox="1"/>
          <p:nvPr/>
        </p:nvSpPr>
        <p:spPr>
          <a:xfrm>
            <a:off x="5418426" y="1551068"/>
            <a:ext cx="1217000" cy="300210"/>
          </a:xfrm>
          <a:prstGeom prst="rect">
            <a:avLst/>
          </a:prstGeom>
          <a:noFill/>
          <a:ln>
            <a:noFill/>
          </a:ln>
        </p:spPr>
        <p:txBody>
          <a:bodyPr wrap="none" rtlCol="0">
            <a:spAutoFit/>
          </a:bodyPr>
          <a:lstStyle/>
          <a:p>
            <a:pPr algn="ctr"/>
            <a:r>
              <a:rPr lang="en-US" sz="1351" dirty="0">
                <a:latin typeface="Calibri" pitchFamily="34" charset="0"/>
              </a:rPr>
              <a:t>KL25Z128VLK4</a:t>
            </a:r>
          </a:p>
        </p:txBody>
      </p:sp>
      <p:cxnSp>
        <p:nvCxnSpPr>
          <p:cNvPr id="19" name="Straight Connector 18"/>
          <p:cNvCxnSpPr/>
          <p:nvPr/>
        </p:nvCxnSpPr>
        <p:spPr bwMode="auto">
          <a:xfrm>
            <a:off x="3124200" y="5618719"/>
            <a:ext cx="2025721" cy="0"/>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Straight Connector 20"/>
          <p:cNvCxnSpPr/>
          <p:nvPr/>
        </p:nvCxnSpPr>
        <p:spPr bwMode="auto">
          <a:xfrm flipV="1">
            <a:off x="2133601" y="2808859"/>
            <a:ext cx="3016321" cy="2163794"/>
          </a:xfrm>
          <a:prstGeom prst="line">
            <a:avLst/>
          </a:pr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3" name="Footer Placeholder 2">
            <a:extLst>
              <a:ext uri="{FF2B5EF4-FFF2-40B4-BE49-F238E27FC236}">
                <a16:creationId xmlns:a16="http://schemas.microsoft.com/office/drawing/2014/main" id="{D06C1E84-CE2C-1F5B-E439-353D197D9A6D}"/>
              </a:ext>
            </a:extLst>
          </p:cNvPr>
          <p:cNvSpPr>
            <a:spLocks noGrp="1"/>
          </p:cNvSpPr>
          <p:nvPr>
            <p:ph type="ftr" sz="quarter" idx="11"/>
          </p:nvPr>
        </p:nvSpPr>
        <p:spPr/>
        <p:txBody>
          <a:bodyPr/>
          <a:lstStyle/>
          <a:p>
            <a:r>
              <a:rPr lang="en-SG" altLang="en-US"/>
              <a:t>CG2271 Lab Lecture 1</a:t>
            </a:r>
            <a:endParaRPr lang="en-US" altLang="en-US"/>
          </a:p>
        </p:txBody>
      </p:sp>
      <p:sp>
        <p:nvSpPr>
          <p:cNvPr id="4" name="Slide Number Placeholder 3">
            <a:extLst>
              <a:ext uri="{FF2B5EF4-FFF2-40B4-BE49-F238E27FC236}">
                <a16:creationId xmlns:a16="http://schemas.microsoft.com/office/drawing/2014/main" id="{2E9095B9-3598-CC3D-5B90-A8210DA4DF4A}"/>
              </a:ext>
            </a:extLst>
          </p:cNvPr>
          <p:cNvSpPr>
            <a:spLocks noGrp="1"/>
          </p:cNvSpPr>
          <p:nvPr>
            <p:ph type="sldNum" sz="quarter" idx="10"/>
          </p:nvPr>
        </p:nvSpPr>
        <p:spPr/>
        <p:txBody>
          <a:bodyPr/>
          <a:lstStyle/>
          <a:p>
            <a:fld id="{E4B16682-6FB4-4344-B037-3C8A3CEB850D}" type="slidenum">
              <a:rPr lang="en-US" altLang="en-US" smtClean="0"/>
              <a:pPr/>
              <a:t>9</a:t>
            </a:fld>
            <a:endParaRPr lang="en-US" altLang="en-US"/>
          </a:p>
        </p:txBody>
      </p:sp>
    </p:spTree>
    <p:extLst>
      <p:ext uri="{BB962C8B-B14F-4D97-AF65-F5344CB8AC3E}">
        <p14:creationId xmlns:p14="http://schemas.microsoft.com/office/powerpoint/2010/main" val="8509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Endianness</a:t>
            </a:r>
            <a:endParaRPr lang="en-US" dirty="0"/>
          </a:p>
        </p:txBody>
      </p:sp>
      <p:sp>
        <p:nvSpPr>
          <p:cNvPr id="3" name="Content Placeholder 2"/>
          <p:cNvSpPr>
            <a:spLocks noGrp="1"/>
          </p:cNvSpPr>
          <p:nvPr>
            <p:ph idx="1"/>
          </p:nvPr>
        </p:nvSpPr>
        <p:spPr>
          <a:xfrm>
            <a:off x="228600" y="1599485"/>
            <a:ext cx="3505200" cy="4402270"/>
          </a:xfrm>
        </p:spPr>
        <p:txBody>
          <a:bodyPr/>
          <a:lstStyle/>
          <a:p>
            <a:r>
              <a:rPr lang="en-US" sz="1801" dirty="0"/>
              <a:t>For a multi-byte value, in what order are the bytes stored?</a:t>
            </a:r>
          </a:p>
          <a:p>
            <a:endParaRPr lang="en-US" sz="1801" dirty="0"/>
          </a:p>
          <a:p>
            <a:r>
              <a:rPr lang="en-US" sz="1801" dirty="0"/>
              <a:t>Little-Endian: Start with least-significant byte</a:t>
            </a:r>
          </a:p>
          <a:p>
            <a:endParaRPr lang="en-US" sz="1801" dirty="0"/>
          </a:p>
          <a:p>
            <a:r>
              <a:rPr lang="en-US" sz="1801" dirty="0"/>
              <a:t>Big-Endian: Start with most-significant byte</a:t>
            </a:r>
          </a:p>
          <a:p>
            <a:pPr lvl="1"/>
            <a:endParaRPr lang="en-US" sz="1351" dirty="0"/>
          </a:p>
        </p:txBody>
      </p:sp>
      <p:grpSp>
        <p:nvGrpSpPr>
          <p:cNvPr id="7" name="Group 6"/>
          <p:cNvGrpSpPr/>
          <p:nvPr/>
        </p:nvGrpSpPr>
        <p:grpSpPr>
          <a:xfrm>
            <a:off x="4052457" y="1485142"/>
            <a:ext cx="4644776" cy="4116407"/>
            <a:chOff x="4405177" y="838201"/>
            <a:chExt cx="7274259" cy="5486399"/>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5177" y="3758670"/>
              <a:ext cx="7274259" cy="25659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 name="Group 4"/>
            <p:cNvGrpSpPr/>
            <p:nvPr/>
          </p:nvGrpSpPr>
          <p:grpSpPr>
            <a:xfrm>
              <a:off x="4468654" y="838201"/>
              <a:ext cx="7109222" cy="2598395"/>
              <a:chOff x="4468654" y="838201"/>
              <a:chExt cx="7109222" cy="2598395"/>
            </a:xfrm>
          </p:grpSpPr>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8654" y="838201"/>
                <a:ext cx="7109222" cy="25983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bwMode="auto">
              <a:xfrm flipV="1">
                <a:off x="4874895" y="2057400"/>
                <a:ext cx="2640568" cy="1066800"/>
              </a:xfrm>
              <a:prstGeom prst="straightConnector1">
                <a:avLst/>
              </a:prstGeom>
              <a:solidFill>
                <a:schemeClr val="accent1"/>
              </a:solidFill>
              <a:ln w="57150"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 name="Straight Arrow Connector 8"/>
            <p:cNvCxnSpPr/>
            <p:nvPr/>
          </p:nvCxnSpPr>
          <p:spPr bwMode="auto">
            <a:xfrm flipV="1">
              <a:off x="4570214" y="4810126"/>
              <a:ext cx="3148370" cy="219075"/>
            </a:xfrm>
            <a:prstGeom prst="straightConnector1">
              <a:avLst/>
            </a:prstGeom>
            <a:solidFill>
              <a:schemeClr val="accent1"/>
            </a:solidFill>
            <a:ln w="57150" cap="flat" cmpd="sng" algn="ctr">
              <a:solidFill>
                <a:schemeClr val="accent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4" name="Footer Placeholder 3">
            <a:extLst>
              <a:ext uri="{FF2B5EF4-FFF2-40B4-BE49-F238E27FC236}">
                <a16:creationId xmlns:a16="http://schemas.microsoft.com/office/drawing/2014/main" id="{7F2D76B9-578A-1DFE-CD15-2CC3CF6FC854}"/>
              </a:ext>
            </a:extLst>
          </p:cNvPr>
          <p:cNvSpPr>
            <a:spLocks noGrp="1"/>
          </p:cNvSpPr>
          <p:nvPr>
            <p:ph type="ftr" sz="quarter" idx="11"/>
          </p:nvPr>
        </p:nvSpPr>
        <p:spPr/>
        <p:txBody>
          <a:bodyPr/>
          <a:lstStyle/>
          <a:p>
            <a:r>
              <a:rPr lang="en-SG" altLang="en-US"/>
              <a:t>CG2271 Lab Lecture 1</a:t>
            </a:r>
            <a:endParaRPr lang="en-US" altLang="en-US"/>
          </a:p>
        </p:txBody>
      </p:sp>
      <p:sp>
        <p:nvSpPr>
          <p:cNvPr id="8" name="Slide Number Placeholder 7">
            <a:extLst>
              <a:ext uri="{FF2B5EF4-FFF2-40B4-BE49-F238E27FC236}">
                <a16:creationId xmlns:a16="http://schemas.microsoft.com/office/drawing/2014/main" id="{D6635B04-DA8F-41D7-4DAC-8E651471DB75}"/>
              </a:ext>
            </a:extLst>
          </p:cNvPr>
          <p:cNvSpPr>
            <a:spLocks noGrp="1"/>
          </p:cNvSpPr>
          <p:nvPr>
            <p:ph type="sldNum" sz="quarter" idx="10"/>
          </p:nvPr>
        </p:nvSpPr>
        <p:spPr/>
        <p:txBody>
          <a:bodyPr/>
          <a:lstStyle/>
          <a:p>
            <a:fld id="{E4B16682-6FB4-4344-B037-3C8A3CEB850D}" type="slidenum">
              <a:rPr lang="en-US" altLang="en-US" smtClean="0"/>
              <a:pPr/>
              <a:t>10</a:t>
            </a:fld>
            <a:endParaRPr lang="en-US" altLang="en-US"/>
          </a:p>
        </p:txBody>
      </p:sp>
    </p:spTree>
    <p:extLst>
      <p:ext uri="{BB962C8B-B14F-4D97-AF65-F5344CB8AC3E}">
        <p14:creationId xmlns:p14="http://schemas.microsoft.com/office/powerpoint/2010/main" val="2320809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ARMv6-M </a:t>
            </a:r>
            <a:r>
              <a:rPr lang="en-US" dirty="0" err="1"/>
              <a:t>Endianness</a:t>
            </a:r>
            <a:endParaRPr lang="en-US" dirty="0"/>
          </a:p>
        </p:txBody>
      </p:sp>
      <p:sp>
        <p:nvSpPr>
          <p:cNvPr id="3" name="Content Placeholder 2"/>
          <p:cNvSpPr>
            <a:spLocks noGrp="1"/>
          </p:cNvSpPr>
          <p:nvPr>
            <p:ph idx="1"/>
          </p:nvPr>
        </p:nvSpPr>
        <p:spPr>
          <a:xfrm>
            <a:off x="228600" y="1599485"/>
            <a:ext cx="8153400" cy="4402270"/>
          </a:xfrm>
        </p:spPr>
        <p:txBody>
          <a:bodyPr/>
          <a:lstStyle/>
          <a:p>
            <a:r>
              <a:rPr lang="en-US" dirty="0"/>
              <a:t>Instructions are always little-endian</a:t>
            </a:r>
          </a:p>
          <a:p>
            <a:endParaRPr lang="en-US" dirty="0"/>
          </a:p>
          <a:p>
            <a:r>
              <a:rPr lang="en-US" dirty="0"/>
              <a:t>Loads and stores to Private Peripheral Bus are always little-endian</a:t>
            </a:r>
          </a:p>
          <a:p>
            <a:endParaRPr lang="en-US" dirty="0"/>
          </a:p>
          <a:p>
            <a:r>
              <a:rPr lang="en-US" dirty="0"/>
              <a:t>Data: Depends on implementation, or from reset configuration</a:t>
            </a:r>
          </a:p>
          <a:p>
            <a:pPr lvl="1"/>
            <a:r>
              <a:rPr lang="en-US" dirty="0"/>
              <a:t>Kinetis processors are little-endian</a:t>
            </a:r>
          </a:p>
          <a:p>
            <a:endParaRPr lang="en-US"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50835" y="856245"/>
            <a:ext cx="783211" cy="1036249"/>
          </a:xfrm>
          <a:prstGeom prst="rect">
            <a:avLst/>
          </a:prstGeom>
        </p:spPr>
      </p:pic>
      <p:sp>
        <p:nvSpPr>
          <p:cNvPr id="5" name="Footer Placeholder 4">
            <a:extLst>
              <a:ext uri="{FF2B5EF4-FFF2-40B4-BE49-F238E27FC236}">
                <a16:creationId xmlns:a16="http://schemas.microsoft.com/office/drawing/2014/main" id="{7551B483-FB9E-C181-7CF6-F42CDB5141E9}"/>
              </a:ext>
            </a:extLst>
          </p:cNvPr>
          <p:cNvSpPr>
            <a:spLocks noGrp="1"/>
          </p:cNvSpPr>
          <p:nvPr>
            <p:ph type="ftr" sz="quarter" idx="11"/>
          </p:nvPr>
        </p:nvSpPr>
        <p:spPr/>
        <p:txBody>
          <a:bodyPr/>
          <a:lstStyle/>
          <a:p>
            <a:r>
              <a:rPr lang="en-SG" altLang="en-US"/>
              <a:t>CG2271 Lab Lecture 1</a:t>
            </a:r>
            <a:endParaRPr lang="en-US" altLang="en-US"/>
          </a:p>
        </p:txBody>
      </p:sp>
      <p:sp>
        <p:nvSpPr>
          <p:cNvPr id="6" name="Slide Number Placeholder 5">
            <a:extLst>
              <a:ext uri="{FF2B5EF4-FFF2-40B4-BE49-F238E27FC236}">
                <a16:creationId xmlns:a16="http://schemas.microsoft.com/office/drawing/2014/main" id="{D280189E-4BE9-A2D3-A92F-D6F10280BB4E}"/>
              </a:ext>
            </a:extLst>
          </p:cNvPr>
          <p:cNvSpPr>
            <a:spLocks noGrp="1"/>
          </p:cNvSpPr>
          <p:nvPr>
            <p:ph type="sldNum" sz="quarter" idx="10"/>
          </p:nvPr>
        </p:nvSpPr>
        <p:spPr/>
        <p:txBody>
          <a:bodyPr/>
          <a:lstStyle/>
          <a:p>
            <a:fld id="{E4B16682-6FB4-4344-B037-3C8A3CEB850D}" type="slidenum">
              <a:rPr lang="en-US" altLang="en-US" smtClean="0"/>
              <a:pPr/>
              <a:t>11</a:t>
            </a:fld>
            <a:endParaRPr lang="en-US" altLang="en-US"/>
          </a:p>
        </p:txBody>
      </p:sp>
    </p:spTree>
    <p:extLst>
      <p:ext uri="{BB962C8B-B14F-4D97-AF65-F5344CB8AC3E}">
        <p14:creationId xmlns:p14="http://schemas.microsoft.com/office/powerpoint/2010/main" val="2423719657"/>
      </p:ext>
    </p:extLst>
  </p:cSld>
  <p:clrMapOvr>
    <a:masterClrMapping/>
  </p:clrMapOvr>
</p:sld>
</file>

<file path=ppt/theme/theme1.xml><?xml version="1.0" encoding="utf-8"?>
<a:theme xmlns:a="http://schemas.openxmlformats.org/drawingml/2006/main" name="L1 - Basic of C++">
  <a:themeElements>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fontScheme name="L1 - Basic of C++">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1 - Basic of C++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L1 - Basic of C++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L1 - Basic of C++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L1 - Basic of C++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L1 - Basic of C++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L1 - Basic of C++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L1 - Basic of C++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dg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2301</TotalTime>
  <Words>808</Words>
  <Application>Microsoft Office PowerPoint</Application>
  <PresentationFormat>On-screen Show (4:3)</PresentationFormat>
  <Paragraphs>110</Paragraphs>
  <Slides>11</Slides>
  <Notes>10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11</vt:i4>
      </vt:variant>
    </vt:vector>
  </HeadingPairs>
  <TitlesOfParts>
    <vt:vector size="22" baseType="lpstr">
      <vt:lpstr>Arial</vt:lpstr>
      <vt:lpstr>Arial Black</vt:lpstr>
      <vt:lpstr>Calibri</vt:lpstr>
      <vt:lpstr>Calibri Light</vt:lpstr>
      <vt:lpstr>Garamond</vt:lpstr>
      <vt:lpstr>Times New Roman</vt:lpstr>
      <vt:lpstr>Wingdings</vt:lpstr>
      <vt:lpstr>Wingdings 2</vt:lpstr>
      <vt:lpstr>L1 - Basic of C++</vt:lpstr>
      <vt:lpstr>Edge</vt:lpstr>
      <vt:lpstr>HDOfficeLightV0</vt:lpstr>
      <vt:lpstr>CG2271 Real Time Operating Systems</vt:lpstr>
      <vt:lpstr>Overview</vt:lpstr>
      <vt:lpstr>Microcontroller vs. Microprocessor</vt:lpstr>
      <vt:lpstr>Cortex-M0+ Core</vt:lpstr>
      <vt:lpstr>Architectures and Memory Speed</vt:lpstr>
      <vt:lpstr>ARM Processor Core Registers</vt:lpstr>
      <vt:lpstr>ARM Processor Core Registers (32 bits each)</vt:lpstr>
      <vt:lpstr>ARM Processor Core Registers</vt:lpstr>
      <vt:lpstr>Memory Maps For Cortex M0+ and MCU</vt:lpstr>
      <vt:lpstr>Endianness</vt:lpstr>
      <vt:lpstr>ARMv6-M Endianness</vt:lpstr>
    </vt:vector>
  </TitlesOfParts>
  <Company>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Soo Yuen Jien</dc:creator>
  <cp:lastModifiedBy>Colin Tan</cp:lastModifiedBy>
  <cp:revision>76</cp:revision>
  <dcterms:created xsi:type="dcterms:W3CDTF">2009-01-07T10:53:41Z</dcterms:created>
  <dcterms:modified xsi:type="dcterms:W3CDTF">2025-06-16T02:55:53Z</dcterms:modified>
</cp:coreProperties>
</file>