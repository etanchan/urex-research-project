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6"/>
  </p:notesMasterIdLst>
  <p:sldIdLst>
    <p:sldId id="256" r:id="rId2"/>
    <p:sldId id="257" r:id="rId3"/>
    <p:sldId id="347" r:id="rId4"/>
    <p:sldId id="348" r:id="rId5"/>
    <p:sldId id="358" r:id="rId6"/>
    <p:sldId id="350" r:id="rId7"/>
    <p:sldId id="313" r:id="rId8"/>
    <p:sldId id="261" r:id="rId9"/>
    <p:sldId id="314" r:id="rId10"/>
    <p:sldId id="315" r:id="rId11"/>
    <p:sldId id="316" r:id="rId12"/>
    <p:sldId id="322" r:id="rId13"/>
    <p:sldId id="324" r:id="rId14"/>
    <p:sldId id="325" r:id="rId15"/>
    <p:sldId id="329" r:id="rId16"/>
    <p:sldId id="320" r:id="rId17"/>
    <p:sldId id="275" r:id="rId18"/>
    <p:sldId id="330" r:id="rId19"/>
    <p:sldId id="331" r:id="rId20"/>
    <p:sldId id="276" r:id="rId21"/>
    <p:sldId id="332" r:id="rId22"/>
    <p:sldId id="333" r:id="rId23"/>
    <p:sldId id="277" r:id="rId24"/>
    <p:sldId id="334" r:id="rId25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5"/>
        <p:sld r:id="rId24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660066"/>
    <a:srgbClr val="0033CC"/>
    <a:srgbClr val="003300"/>
    <a:srgbClr val="F8F8F8"/>
    <a:srgbClr val="F3EADE"/>
    <a:srgbClr val="FFFFFF"/>
    <a:srgbClr val="008000"/>
    <a:srgbClr val="0000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8" autoAdjust="0"/>
    <p:restoredTop sz="92986" autoAdjust="0"/>
  </p:normalViewPr>
  <p:slideViewPr>
    <p:cSldViewPr>
      <p:cViewPr>
        <p:scale>
          <a:sx n="96" d="100"/>
          <a:sy n="96" d="100"/>
        </p:scale>
        <p:origin x="-20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A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87-4A2F-AD78-B53E55410308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B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Sheet1!$C$4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87-4A2F-AD78-B53E55410308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C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Sheet1!$C$5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87-4A2F-AD78-B53E5541030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5251712"/>
        <c:axId val="185253248"/>
      </c:barChart>
      <c:catAx>
        <c:axId val="18525171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85253248"/>
        <c:crosses val="autoZero"/>
        <c:auto val="1"/>
        <c:lblAlgn val="ctr"/>
        <c:lblOffset val="100"/>
        <c:noMultiLvlLbl val="0"/>
      </c:catAx>
      <c:valAx>
        <c:axId val="18525324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85251712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Sheet1!$B$17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Sheet1!$C$17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FF-4684-8416-15A2C499F999}"/>
            </c:ext>
          </c:extLst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B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Sheet1!$C$18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FF-4684-8416-15A2C499F999}"/>
            </c:ext>
          </c:extLst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Sheet1!$C$19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FF-4684-8416-15A2C499F99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4798208"/>
        <c:axId val="184812288"/>
      </c:barChart>
      <c:catAx>
        <c:axId val="18479820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84812288"/>
        <c:crosses val="autoZero"/>
        <c:auto val="1"/>
        <c:lblAlgn val="ctr"/>
        <c:lblOffset val="100"/>
        <c:noMultiLvlLbl val="0"/>
      </c:catAx>
      <c:valAx>
        <c:axId val="184812288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84798208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Sheet1!$B$30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40000"/>
                <a:lumOff val="6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Sheet1!$C$30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16-44A5-ABBB-9FC83BADFCB3}"/>
            </c:ext>
          </c:extLst>
        </c:ser>
        <c:ser>
          <c:idx val="1"/>
          <c:order val="1"/>
          <c:tx>
            <c:strRef>
              <c:f>Sheet1!$B$31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4E8542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Sheet1!$C$31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16-44A5-ABBB-9FC83BADFCB3}"/>
            </c:ext>
          </c:extLst>
        </c:ser>
        <c:ser>
          <c:idx val="2"/>
          <c:order val="2"/>
          <c:tx>
            <c:strRef>
              <c:f>Sheet1!$B$32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9F2936">
                <a:lumMod val="60000"/>
                <a:lumOff val="4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16-44A5-ABBB-9FC83BADFCB3}"/>
            </c:ext>
          </c:extLst>
        </c:ser>
        <c:ser>
          <c:idx val="3"/>
          <c:order val="3"/>
          <c:tx>
            <c:strRef>
              <c:f>Sheet1!$B$33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B587C">
                <a:lumMod val="40000"/>
                <a:lumOff val="60000"/>
              </a:srgbClr>
            </a:solidFill>
            <a:ln w="19050">
              <a:solidFill>
                <a:sysClr val="windowText" lastClr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800" b="1"/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</c:f>
              <c:strCache>
                <c:ptCount val="1"/>
                <c:pt idx="0">
                  <c:v>Schedule</c:v>
                </c:pt>
              </c:strCache>
            </c:strRef>
          </c:cat>
          <c:val>
            <c:numRef>
              <c:f>Sheet1!$C$33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16-44A5-ABBB-9FC83BADFCB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011328"/>
        <c:axId val="5012864"/>
      </c:barChart>
      <c:catAx>
        <c:axId val="501132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5012864"/>
        <c:crosses val="autoZero"/>
        <c:auto val="1"/>
        <c:lblAlgn val="ctr"/>
        <c:lblOffset val="100"/>
        <c:noMultiLvlLbl val="0"/>
      </c:catAx>
      <c:valAx>
        <c:axId val="501286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Schedule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5011328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52003E-E78A-4C67-815E-C009305A1227}" type="doc">
      <dgm:prSet loTypeId="urn:microsoft.com/office/officeart/2005/8/layout/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D053F8BE-390B-495B-BF31-4F04607A3270}">
      <dgm:prSet phldrT="[Text]" custT="1"/>
      <dgm:spPr/>
      <dgm:t>
        <a:bodyPr/>
        <a:lstStyle/>
        <a:p>
          <a:r>
            <a:rPr lang="en-US" altLang="en-US" sz="2400" b="1"/>
            <a:t>CPU-Activity: </a:t>
          </a:r>
          <a:endParaRPr lang="en-SG" sz="2400" b="1" dirty="0"/>
        </a:p>
      </dgm:t>
    </dgm:pt>
    <dgm:pt modelId="{C75E2987-E9B4-4812-800D-6C6D66609C70}" type="parTrans" cxnId="{1C046C5C-CC48-43A8-9EE9-FF70D2F48895}">
      <dgm:prSet/>
      <dgm:spPr/>
      <dgm:t>
        <a:bodyPr/>
        <a:lstStyle/>
        <a:p>
          <a:endParaRPr lang="en-SG"/>
        </a:p>
      </dgm:t>
    </dgm:pt>
    <dgm:pt modelId="{E30FAD28-ABD7-461A-9709-42CC0E23FB6A}" type="sibTrans" cxnId="{1C046C5C-CC48-43A8-9EE9-FF70D2F48895}">
      <dgm:prSet/>
      <dgm:spPr/>
      <dgm:t>
        <a:bodyPr/>
        <a:lstStyle/>
        <a:p>
          <a:endParaRPr lang="en-SG"/>
        </a:p>
      </dgm:t>
    </dgm:pt>
    <dgm:pt modelId="{46D3344D-5AD7-4BA6-BB7E-E213E7258940}">
      <dgm:prSet/>
      <dgm:spPr/>
      <dgm:t>
        <a:bodyPr/>
        <a:lstStyle/>
        <a:p>
          <a:r>
            <a:rPr lang="en-US" altLang="en-US" dirty="0"/>
            <a:t>Computation</a:t>
          </a:r>
        </a:p>
      </dgm:t>
    </dgm:pt>
    <dgm:pt modelId="{C3E526C6-BFB4-45DA-B0FA-3B354258718E}" type="parTrans" cxnId="{EB6CF8BE-6923-4387-9870-9B05A0F33104}">
      <dgm:prSet/>
      <dgm:spPr/>
      <dgm:t>
        <a:bodyPr/>
        <a:lstStyle/>
        <a:p>
          <a:endParaRPr lang="en-SG"/>
        </a:p>
      </dgm:t>
    </dgm:pt>
    <dgm:pt modelId="{44E03022-1721-446C-B410-7B1CF548AC57}" type="sibTrans" cxnId="{EB6CF8BE-6923-4387-9870-9B05A0F33104}">
      <dgm:prSet/>
      <dgm:spPr/>
      <dgm:t>
        <a:bodyPr/>
        <a:lstStyle/>
        <a:p>
          <a:endParaRPr lang="en-SG"/>
        </a:p>
      </dgm:t>
    </dgm:pt>
    <dgm:pt modelId="{D73C8E74-9FA9-4869-9C17-FB1737B9B90C}">
      <dgm:prSet/>
      <dgm:spPr/>
      <dgm:t>
        <a:bodyPr/>
        <a:lstStyle/>
        <a:p>
          <a:r>
            <a:rPr lang="en-US" altLang="en-US"/>
            <a:t>E.g. Number crunching</a:t>
          </a:r>
          <a:endParaRPr lang="en-US" altLang="en-US" dirty="0"/>
        </a:p>
      </dgm:t>
    </dgm:pt>
    <dgm:pt modelId="{C3FBEE5C-8446-4CF4-923B-7B8BD3DA473A}" type="parTrans" cxnId="{9C0DA1AE-3CD6-4F81-8398-07274D857603}">
      <dgm:prSet/>
      <dgm:spPr/>
      <dgm:t>
        <a:bodyPr/>
        <a:lstStyle/>
        <a:p>
          <a:endParaRPr lang="en-SG"/>
        </a:p>
      </dgm:t>
    </dgm:pt>
    <dgm:pt modelId="{CAB9C85C-A0DA-410A-8EDF-21E4B57D9815}" type="sibTrans" cxnId="{9C0DA1AE-3CD6-4F81-8398-07274D857603}">
      <dgm:prSet/>
      <dgm:spPr/>
      <dgm:t>
        <a:bodyPr/>
        <a:lstStyle/>
        <a:p>
          <a:endParaRPr lang="en-SG"/>
        </a:p>
      </dgm:t>
    </dgm:pt>
    <dgm:pt modelId="{7C7E4305-93AE-44CE-A973-A97A59DEB35D}">
      <dgm:prSet/>
      <dgm:spPr/>
      <dgm:t>
        <a:bodyPr/>
        <a:lstStyle/>
        <a:p>
          <a:r>
            <a:rPr lang="en-US" altLang="en-US" b="1" dirty="0">
              <a:solidFill>
                <a:srgbClr val="C00000"/>
              </a:solidFill>
            </a:rPr>
            <a:t>Compute-Bound Process </a:t>
          </a:r>
          <a:r>
            <a:rPr lang="en-US" altLang="en-US" dirty="0"/>
            <a:t>spend majority of its time here</a:t>
          </a:r>
        </a:p>
      </dgm:t>
    </dgm:pt>
    <dgm:pt modelId="{63E7163D-0DE1-4BB4-B930-EDA0FDAE4C5B}" type="parTrans" cxnId="{20EB56DF-5411-4FD2-8B36-C6BEB87B09DB}">
      <dgm:prSet/>
      <dgm:spPr/>
      <dgm:t>
        <a:bodyPr/>
        <a:lstStyle/>
        <a:p>
          <a:endParaRPr lang="en-SG"/>
        </a:p>
      </dgm:t>
    </dgm:pt>
    <dgm:pt modelId="{F7D2CF39-96F5-4DDA-A055-CCF38A65B16A}" type="sibTrans" cxnId="{20EB56DF-5411-4FD2-8B36-C6BEB87B09DB}">
      <dgm:prSet/>
      <dgm:spPr/>
      <dgm:t>
        <a:bodyPr/>
        <a:lstStyle/>
        <a:p>
          <a:endParaRPr lang="en-SG"/>
        </a:p>
      </dgm:t>
    </dgm:pt>
    <dgm:pt modelId="{EA72A710-5A94-44E9-B9C4-56D54C18171C}">
      <dgm:prSet/>
      <dgm:spPr/>
      <dgm:t>
        <a:bodyPr/>
        <a:lstStyle/>
        <a:p>
          <a:endParaRPr lang="en-US" altLang="en-US" b="1" dirty="0"/>
        </a:p>
      </dgm:t>
    </dgm:pt>
    <dgm:pt modelId="{E0FA621D-D737-4C1D-AFAA-08B4254E2D41}" type="parTrans" cxnId="{97F678D0-DA2E-4033-A94D-E2019397B060}">
      <dgm:prSet/>
      <dgm:spPr/>
      <dgm:t>
        <a:bodyPr/>
        <a:lstStyle/>
        <a:p>
          <a:endParaRPr lang="en-SG"/>
        </a:p>
      </dgm:t>
    </dgm:pt>
    <dgm:pt modelId="{16A44DBC-6C55-4C25-970C-071A2F4E773E}" type="sibTrans" cxnId="{97F678D0-DA2E-4033-A94D-E2019397B060}">
      <dgm:prSet/>
      <dgm:spPr/>
      <dgm:t>
        <a:bodyPr/>
        <a:lstStyle/>
        <a:p>
          <a:endParaRPr lang="en-SG"/>
        </a:p>
      </dgm:t>
    </dgm:pt>
    <dgm:pt modelId="{78012A16-F66C-450E-B568-B92DD1349C79}">
      <dgm:prSet custT="1"/>
      <dgm:spPr/>
      <dgm:t>
        <a:bodyPr/>
        <a:lstStyle/>
        <a:p>
          <a:r>
            <a:rPr lang="en-US" altLang="en-US" sz="2400" b="1"/>
            <a:t>IO-Activity:</a:t>
          </a:r>
          <a:endParaRPr lang="en-US" altLang="en-US" sz="2400" b="1" dirty="0"/>
        </a:p>
      </dgm:t>
    </dgm:pt>
    <dgm:pt modelId="{08FCE2B3-2814-4FFF-8F1F-73659C4403E9}" type="parTrans" cxnId="{A5E6BE65-1DE8-42BE-93EC-71A9D5040EAF}">
      <dgm:prSet/>
      <dgm:spPr/>
      <dgm:t>
        <a:bodyPr/>
        <a:lstStyle/>
        <a:p>
          <a:endParaRPr lang="en-SG"/>
        </a:p>
      </dgm:t>
    </dgm:pt>
    <dgm:pt modelId="{FF37022D-D2FB-4797-95BF-FE9F2161A65E}" type="sibTrans" cxnId="{A5E6BE65-1DE8-42BE-93EC-71A9D5040EAF}">
      <dgm:prSet/>
      <dgm:spPr/>
      <dgm:t>
        <a:bodyPr/>
        <a:lstStyle/>
        <a:p>
          <a:endParaRPr lang="en-SG"/>
        </a:p>
      </dgm:t>
    </dgm:pt>
    <dgm:pt modelId="{43FAC0EC-94C5-4007-BD3D-28667C1DD86A}">
      <dgm:prSet/>
      <dgm:spPr/>
      <dgm:t>
        <a:bodyPr/>
        <a:lstStyle/>
        <a:p>
          <a:r>
            <a:rPr lang="en-US" altLang="en-US"/>
            <a:t>Requesting and receiving sercive from I/O devices</a:t>
          </a:r>
          <a:endParaRPr lang="en-US" altLang="en-US" dirty="0"/>
        </a:p>
      </dgm:t>
    </dgm:pt>
    <dgm:pt modelId="{BDC3B040-A93F-446B-B0B8-69C193FF92E0}" type="parTrans" cxnId="{67C42059-7DC7-4042-BB8D-BB67C4B731AE}">
      <dgm:prSet/>
      <dgm:spPr/>
      <dgm:t>
        <a:bodyPr/>
        <a:lstStyle/>
        <a:p>
          <a:endParaRPr lang="en-SG"/>
        </a:p>
      </dgm:t>
    </dgm:pt>
    <dgm:pt modelId="{6B4C2D78-D6E6-4346-8981-29CB6795D378}" type="sibTrans" cxnId="{67C42059-7DC7-4042-BB8D-BB67C4B731AE}">
      <dgm:prSet/>
      <dgm:spPr/>
      <dgm:t>
        <a:bodyPr/>
        <a:lstStyle/>
        <a:p>
          <a:endParaRPr lang="en-SG"/>
        </a:p>
      </dgm:t>
    </dgm:pt>
    <dgm:pt modelId="{61D30EA8-4C55-49DC-A206-4F9F8A138731}">
      <dgm:prSet/>
      <dgm:spPr/>
      <dgm:t>
        <a:bodyPr/>
        <a:lstStyle/>
        <a:p>
          <a:r>
            <a:rPr lang="en-US" altLang="en-US"/>
            <a:t>E.g. Print to screen, read from file etc</a:t>
          </a:r>
          <a:endParaRPr lang="en-US" altLang="en-US" dirty="0"/>
        </a:p>
      </dgm:t>
    </dgm:pt>
    <dgm:pt modelId="{1347A144-A360-49C0-B622-A97438E9A858}" type="parTrans" cxnId="{B7455EDD-533A-494D-9682-A71F30285BD0}">
      <dgm:prSet/>
      <dgm:spPr/>
      <dgm:t>
        <a:bodyPr/>
        <a:lstStyle/>
        <a:p>
          <a:endParaRPr lang="en-SG"/>
        </a:p>
      </dgm:t>
    </dgm:pt>
    <dgm:pt modelId="{2EFD70BF-9BBB-4DCA-B8DD-CC7CDE2B92ED}" type="sibTrans" cxnId="{B7455EDD-533A-494D-9682-A71F30285BD0}">
      <dgm:prSet/>
      <dgm:spPr/>
      <dgm:t>
        <a:bodyPr/>
        <a:lstStyle/>
        <a:p>
          <a:endParaRPr lang="en-SG"/>
        </a:p>
      </dgm:t>
    </dgm:pt>
    <dgm:pt modelId="{9FDFF72C-F466-4AD8-92F5-B5F13EBEEF08}">
      <dgm:prSet/>
      <dgm:spPr/>
      <dgm:t>
        <a:bodyPr/>
        <a:lstStyle/>
        <a:p>
          <a:r>
            <a:rPr lang="en-US" altLang="en-US" b="1" dirty="0">
              <a:solidFill>
                <a:srgbClr val="660066"/>
              </a:solidFill>
            </a:rPr>
            <a:t>IO-Bound Process </a:t>
          </a:r>
          <a:r>
            <a:rPr lang="en-US" altLang="en-US" dirty="0"/>
            <a:t>spend majority of its time here</a:t>
          </a:r>
        </a:p>
      </dgm:t>
    </dgm:pt>
    <dgm:pt modelId="{6B66EEE4-7B58-45D6-9CC5-9EF1EA746CF9}" type="parTrans" cxnId="{B1CF6ACC-D564-4D17-BDFE-8ED0776D7994}">
      <dgm:prSet/>
      <dgm:spPr/>
      <dgm:t>
        <a:bodyPr/>
        <a:lstStyle/>
        <a:p>
          <a:endParaRPr lang="en-SG"/>
        </a:p>
      </dgm:t>
    </dgm:pt>
    <dgm:pt modelId="{C539F657-89D7-4910-A478-F1FDD5615E3A}" type="sibTrans" cxnId="{B1CF6ACC-D564-4D17-BDFE-8ED0776D7994}">
      <dgm:prSet/>
      <dgm:spPr/>
      <dgm:t>
        <a:bodyPr/>
        <a:lstStyle/>
        <a:p>
          <a:endParaRPr lang="en-SG"/>
        </a:p>
      </dgm:t>
    </dgm:pt>
    <dgm:pt modelId="{29EE0786-D0AD-41E3-B492-962A5A41E52D}" type="pres">
      <dgm:prSet presAssocID="{C552003E-E78A-4C67-815E-C009305A1227}" presName="linear" presStyleCnt="0">
        <dgm:presLayoutVars>
          <dgm:dir/>
          <dgm:animLvl val="lvl"/>
          <dgm:resizeHandles val="exact"/>
        </dgm:presLayoutVars>
      </dgm:prSet>
      <dgm:spPr/>
    </dgm:pt>
    <dgm:pt modelId="{86F81C70-6416-477F-88F4-3BA83E24C730}" type="pres">
      <dgm:prSet presAssocID="{D053F8BE-390B-495B-BF31-4F04607A3270}" presName="parentLin" presStyleCnt="0"/>
      <dgm:spPr/>
    </dgm:pt>
    <dgm:pt modelId="{3C999CA2-FBF7-4CDB-BBE4-D3833FB2B6A0}" type="pres">
      <dgm:prSet presAssocID="{D053F8BE-390B-495B-BF31-4F04607A3270}" presName="parentLeftMargin" presStyleLbl="node1" presStyleIdx="0" presStyleCnt="2"/>
      <dgm:spPr/>
    </dgm:pt>
    <dgm:pt modelId="{975B7A56-F0F3-46BB-BD9D-94EFB37BDB66}" type="pres">
      <dgm:prSet presAssocID="{D053F8BE-390B-495B-BF31-4F04607A327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54C21A-53B5-4465-976F-A45E73E22EA9}" type="pres">
      <dgm:prSet presAssocID="{D053F8BE-390B-495B-BF31-4F04607A3270}" presName="negativeSpace" presStyleCnt="0"/>
      <dgm:spPr/>
    </dgm:pt>
    <dgm:pt modelId="{F72300D2-61EA-4510-841A-02AE91917CB5}" type="pres">
      <dgm:prSet presAssocID="{D053F8BE-390B-495B-BF31-4F04607A3270}" presName="childText" presStyleLbl="conFgAcc1" presStyleIdx="0" presStyleCnt="2">
        <dgm:presLayoutVars>
          <dgm:bulletEnabled val="1"/>
        </dgm:presLayoutVars>
      </dgm:prSet>
      <dgm:spPr/>
    </dgm:pt>
    <dgm:pt modelId="{120D6F5C-53AF-4781-BB8B-BA33363EC670}" type="pres">
      <dgm:prSet presAssocID="{E30FAD28-ABD7-461A-9709-42CC0E23FB6A}" presName="spaceBetweenRectangles" presStyleCnt="0"/>
      <dgm:spPr/>
    </dgm:pt>
    <dgm:pt modelId="{C91DD979-EA06-4CB9-AA8B-AFE9AC343532}" type="pres">
      <dgm:prSet presAssocID="{78012A16-F66C-450E-B568-B92DD1349C79}" presName="parentLin" presStyleCnt="0"/>
      <dgm:spPr/>
    </dgm:pt>
    <dgm:pt modelId="{24A012D9-A3AC-4E55-94D2-882340745A10}" type="pres">
      <dgm:prSet presAssocID="{78012A16-F66C-450E-B568-B92DD1349C79}" presName="parentLeftMargin" presStyleLbl="node1" presStyleIdx="0" presStyleCnt="2"/>
      <dgm:spPr/>
    </dgm:pt>
    <dgm:pt modelId="{47ADB041-366D-4F90-8E4B-7FD6F69E2AA7}" type="pres">
      <dgm:prSet presAssocID="{78012A16-F66C-450E-B568-B92DD1349C7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552BF95-9600-4C4B-9400-C48AC3E0ADAF}" type="pres">
      <dgm:prSet presAssocID="{78012A16-F66C-450E-B568-B92DD1349C79}" presName="negativeSpace" presStyleCnt="0"/>
      <dgm:spPr/>
    </dgm:pt>
    <dgm:pt modelId="{0A2CC6AF-6C22-48A7-A1D9-7366F6ED2017}" type="pres">
      <dgm:prSet presAssocID="{78012A16-F66C-450E-B568-B92DD1349C7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DB7690A-3BD6-4AC6-8472-8048C02D58D0}" type="presOf" srcId="{78012A16-F66C-450E-B568-B92DD1349C79}" destId="{24A012D9-A3AC-4E55-94D2-882340745A10}" srcOrd="0" destOrd="0" presId="urn:microsoft.com/office/officeart/2005/8/layout/list1"/>
    <dgm:cxn modelId="{5DB71810-5CED-4DF2-ADEF-1F5AA103AB0A}" type="presOf" srcId="{D053F8BE-390B-495B-BF31-4F04607A3270}" destId="{3C999CA2-FBF7-4CDB-BBE4-D3833FB2B6A0}" srcOrd="0" destOrd="0" presId="urn:microsoft.com/office/officeart/2005/8/layout/list1"/>
    <dgm:cxn modelId="{559AFF4B-5AD7-4CA7-8598-6879C4717EBB}" type="presOf" srcId="{61D30EA8-4C55-49DC-A206-4F9F8A138731}" destId="{0A2CC6AF-6C22-48A7-A1D9-7366F6ED2017}" srcOrd="0" destOrd="1" presId="urn:microsoft.com/office/officeart/2005/8/layout/list1"/>
    <dgm:cxn modelId="{67C42059-7DC7-4042-BB8D-BB67C4B731AE}" srcId="{78012A16-F66C-450E-B568-B92DD1349C79}" destId="{43FAC0EC-94C5-4007-BD3D-28667C1DD86A}" srcOrd="0" destOrd="0" parTransId="{BDC3B040-A93F-446B-B0B8-69C193FF92E0}" sibTransId="{6B4C2D78-D6E6-4346-8981-29CB6795D378}"/>
    <dgm:cxn modelId="{1C046C5C-CC48-43A8-9EE9-FF70D2F48895}" srcId="{C552003E-E78A-4C67-815E-C009305A1227}" destId="{D053F8BE-390B-495B-BF31-4F04607A3270}" srcOrd="0" destOrd="0" parTransId="{C75E2987-E9B4-4812-800D-6C6D66609C70}" sibTransId="{E30FAD28-ABD7-461A-9709-42CC0E23FB6A}"/>
    <dgm:cxn modelId="{A5E6BE65-1DE8-42BE-93EC-71A9D5040EAF}" srcId="{C552003E-E78A-4C67-815E-C009305A1227}" destId="{78012A16-F66C-450E-B568-B92DD1349C79}" srcOrd="1" destOrd="0" parTransId="{08FCE2B3-2814-4FFF-8F1F-73659C4403E9}" sibTransId="{FF37022D-D2FB-4797-95BF-FE9F2161A65E}"/>
    <dgm:cxn modelId="{5B9E866A-301F-48C0-ADE3-B7D900E07EC0}" type="presOf" srcId="{C552003E-E78A-4C67-815E-C009305A1227}" destId="{29EE0786-D0AD-41E3-B492-962A5A41E52D}" srcOrd="0" destOrd="0" presId="urn:microsoft.com/office/officeart/2005/8/layout/list1"/>
    <dgm:cxn modelId="{842D8070-079D-4F54-BD64-457474FD7C75}" type="presOf" srcId="{43FAC0EC-94C5-4007-BD3D-28667C1DD86A}" destId="{0A2CC6AF-6C22-48A7-A1D9-7366F6ED2017}" srcOrd="0" destOrd="0" presId="urn:microsoft.com/office/officeart/2005/8/layout/list1"/>
    <dgm:cxn modelId="{A212637C-CDF7-4768-B98D-3DA5872AE5D7}" type="presOf" srcId="{7C7E4305-93AE-44CE-A973-A97A59DEB35D}" destId="{F72300D2-61EA-4510-841A-02AE91917CB5}" srcOrd="0" destOrd="2" presId="urn:microsoft.com/office/officeart/2005/8/layout/list1"/>
    <dgm:cxn modelId="{79B0888B-15FC-4C48-BE43-AF9B2C2335CD}" type="presOf" srcId="{78012A16-F66C-450E-B568-B92DD1349C79}" destId="{47ADB041-366D-4F90-8E4B-7FD6F69E2AA7}" srcOrd="1" destOrd="0" presId="urn:microsoft.com/office/officeart/2005/8/layout/list1"/>
    <dgm:cxn modelId="{8DD0D894-28B3-48F6-BA8D-21EC00F92814}" type="presOf" srcId="{46D3344D-5AD7-4BA6-BB7E-E213E7258940}" destId="{F72300D2-61EA-4510-841A-02AE91917CB5}" srcOrd="0" destOrd="0" presId="urn:microsoft.com/office/officeart/2005/8/layout/list1"/>
    <dgm:cxn modelId="{5E3980AE-CA74-4F6C-85D2-BA1B48A122D7}" type="presOf" srcId="{D053F8BE-390B-495B-BF31-4F04607A3270}" destId="{975B7A56-F0F3-46BB-BD9D-94EFB37BDB66}" srcOrd="1" destOrd="0" presId="urn:microsoft.com/office/officeart/2005/8/layout/list1"/>
    <dgm:cxn modelId="{9C0DA1AE-3CD6-4F81-8398-07274D857603}" srcId="{D053F8BE-390B-495B-BF31-4F04607A3270}" destId="{D73C8E74-9FA9-4869-9C17-FB1737B9B90C}" srcOrd="1" destOrd="0" parTransId="{C3FBEE5C-8446-4CF4-923B-7B8BD3DA473A}" sibTransId="{CAB9C85C-A0DA-410A-8EDF-21E4B57D9815}"/>
    <dgm:cxn modelId="{34A21DB6-07A7-4833-B18C-69DCA246535B}" type="presOf" srcId="{9FDFF72C-F466-4AD8-92F5-B5F13EBEEF08}" destId="{0A2CC6AF-6C22-48A7-A1D9-7366F6ED2017}" srcOrd="0" destOrd="2" presId="urn:microsoft.com/office/officeart/2005/8/layout/list1"/>
    <dgm:cxn modelId="{EB6CF8BE-6923-4387-9870-9B05A0F33104}" srcId="{D053F8BE-390B-495B-BF31-4F04607A3270}" destId="{46D3344D-5AD7-4BA6-BB7E-E213E7258940}" srcOrd="0" destOrd="0" parTransId="{C3E526C6-BFB4-45DA-B0FA-3B354258718E}" sibTransId="{44E03022-1721-446C-B410-7B1CF548AC57}"/>
    <dgm:cxn modelId="{9FF9ABC2-C305-4808-8135-4D62E9BB06B2}" type="presOf" srcId="{EA72A710-5A94-44E9-B9C4-56D54C18171C}" destId="{F72300D2-61EA-4510-841A-02AE91917CB5}" srcOrd="0" destOrd="3" presId="urn:microsoft.com/office/officeart/2005/8/layout/list1"/>
    <dgm:cxn modelId="{B1CF6ACC-D564-4D17-BDFE-8ED0776D7994}" srcId="{78012A16-F66C-450E-B568-B92DD1349C79}" destId="{9FDFF72C-F466-4AD8-92F5-B5F13EBEEF08}" srcOrd="2" destOrd="0" parTransId="{6B66EEE4-7B58-45D6-9CC5-9EF1EA746CF9}" sibTransId="{C539F657-89D7-4910-A478-F1FDD5615E3A}"/>
    <dgm:cxn modelId="{97F678D0-DA2E-4033-A94D-E2019397B060}" srcId="{D053F8BE-390B-495B-BF31-4F04607A3270}" destId="{EA72A710-5A94-44E9-B9C4-56D54C18171C}" srcOrd="3" destOrd="0" parTransId="{E0FA621D-D737-4C1D-AFAA-08B4254E2D41}" sibTransId="{16A44DBC-6C55-4C25-970C-071A2F4E773E}"/>
    <dgm:cxn modelId="{B03F67D6-0AB4-41B2-AEA3-6F00BE603072}" type="presOf" srcId="{D73C8E74-9FA9-4869-9C17-FB1737B9B90C}" destId="{F72300D2-61EA-4510-841A-02AE91917CB5}" srcOrd="0" destOrd="1" presId="urn:microsoft.com/office/officeart/2005/8/layout/list1"/>
    <dgm:cxn modelId="{B7455EDD-533A-494D-9682-A71F30285BD0}" srcId="{78012A16-F66C-450E-B568-B92DD1349C79}" destId="{61D30EA8-4C55-49DC-A206-4F9F8A138731}" srcOrd="1" destOrd="0" parTransId="{1347A144-A360-49C0-B622-A97438E9A858}" sibTransId="{2EFD70BF-9BBB-4DCA-B8DD-CC7CDE2B92ED}"/>
    <dgm:cxn modelId="{20EB56DF-5411-4FD2-8B36-C6BEB87B09DB}" srcId="{D053F8BE-390B-495B-BF31-4F04607A3270}" destId="{7C7E4305-93AE-44CE-A973-A97A59DEB35D}" srcOrd="2" destOrd="0" parTransId="{63E7163D-0DE1-4BB4-B930-EDA0FDAE4C5B}" sibTransId="{F7D2CF39-96F5-4DDA-A055-CCF38A65B16A}"/>
    <dgm:cxn modelId="{1F936B7C-0816-49FE-91E1-EA0DEA9E0D40}" type="presParOf" srcId="{29EE0786-D0AD-41E3-B492-962A5A41E52D}" destId="{86F81C70-6416-477F-88F4-3BA83E24C730}" srcOrd="0" destOrd="0" presId="urn:microsoft.com/office/officeart/2005/8/layout/list1"/>
    <dgm:cxn modelId="{CF824052-CFA6-4E20-8118-6486608A0B48}" type="presParOf" srcId="{86F81C70-6416-477F-88F4-3BA83E24C730}" destId="{3C999CA2-FBF7-4CDB-BBE4-D3833FB2B6A0}" srcOrd="0" destOrd="0" presId="urn:microsoft.com/office/officeart/2005/8/layout/list1"/>
    <dgm:cxn modelId="{87CBBFC5-CD5F-4402-9EB1-7775E03D0709}" type="presParOf" srcId="{86F81C70-6416-477F-88F4-3BA83E24C730}" destId="{975B7A56-F0F3-46BB-BD9D-94EFB37BDB66}" srcOrd="1" destOrd="0" presId="urn:microsoft.com/office/officeart/2005/8/layout/list1"/>
    <dgm:cxn modelId="{91F9C524-CB73-4D64-A903-1D7BC0ECAD6B}" type="presParOf" srcId="{29EE0786-D0AD-41E3-B492-962A5A41E52D}" destId="{9554C21A-53B5-4465-976F-A45E73E22EA9}" srcOrd="1" destOrd="0" presId="urn:microsoft.com/office/officeart/2005/8/layout/list1"/>
    <dgm:cxn modelId="{804560AD-6595-4DDD-9A59-4B7829595878}" type="presParOf" srcId="{29EE0786-D0AD-41E3-B492-962A5A41E52D}" destId="{F72300D2-61EA-4510-841A-02AE91917CB5}" srcOrd="2" destOrd="0" presId="urn:microsoft.com/office/officeart/2005/8/layout/list1"/>
    <dgm:cxn modelId="{37B4B1D6-EBBD-4150-BF34-B6A77DD2A4BB}" type="presParOf" srcId="{29EE0786-D0AD-41E3-B492-962A5A41E52D}" destId="{120D6F5C-53AF-4781-BB8B-BA33363EC670}" srcOrd="3" destOrd="0" presId="urn:microsoft.com/office/officeart/2005/8/layout/list1"/>
    <dgm:cxn modelId="{B35EA78E-06A2-450E-86E2-894D5E9F844A}" type="presParOf" srcId="{29EE0786-D0AD-41E3-B492-962A5A41E52D}" destId="{C91DD979-EA06-4CB9-AA8B-AFE9AC343532}" srcOrd="4" destOrd="0" presId="urn:microsoft.com/office/officeart/2005/8/layout/list1"/>
    <dgm:cxn modelId="{C30A8A88-D540-4921-88A7-99EE61DA444D}" type="presParOf" srcId="{C91DD979-EA06-4CB9-AA8B-AFE9AC343532}" destId="{24A012D9-A3AC-4E55-94D2-882340745A10}" srcOrd="0" destOrd="0" presId="urn:microsoft.com/office/officeart/2005/8/layout/list1"/>
    <dgm:cxn modelId="{F7BB9C13-2F65-440B-9043-C2F9C54E1094}" type="presParOf" srcId="{C91DD979-EA06-4CB9-AA8B-AFE9AC343532}" destId="{47ADB041-366D-4F90-8E4B-7FD6F69E2AA7}" srcOrd="1" destOrd="0" presId="urn:microsoft.com/office/officeart/2005/8/layout/list1"/>
    <dgm:cxn modelId="{C276E97E-3DDB-48DC-A27C-B73871ADA904}" type="presParOf" srcId="{29EE0786-D0AD-41E3-B492-962A5A41E52D}" destId="{D552BF95-9600-4C4B-9400-C48AC3E0ADAF}" srcOrd="5" destOrd="0" presId="urn:microsoft.com/office/officeart/2005/8/layout/list1"/>
    <dgm:cxn modelId="{9E518709-0572-49B5-B67C-5BC1F89E56CB}" type="presParOf" srcId="{29EE0786-D0AD-41E3-B492-962A5A41E52D}" destId="{0A2CC6AF-6C22-48A7-A1D9-7366F6ED201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B69FEB-B4B7-4759-9BB2-632A3861959D}" type="doc">
      <dgm:prSet loTypeId="urn:microsoft.com/office/officeart/2005/8/layout/chevron2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31E726B3-D908-48EF-A113-74B41AB7A994}">
      <dgm:prSet phldrT="[Text]"/>
      <dgm:spPr/>
      <dgm:t>
        <a:bodyPr/>
        <a:lstStyle/>
        <a:p>
          <a:r>
            <a:rPr lang="en-US" altLang="en-US" dirty="0"/>
            <a:t>1</a:t>
          </a:r>
          <a:endParaRPr lang="en-SG" dirty="0"/>
        </a:p>
      </dgm:t>
    </dgm:pt>
    <dgm:pt modelId="{90E80B72-77B9-4E9D-8624-475F99AAF99B}" type="parTrans" cxnId="{212F2E63-8811-4258-A1F3-10C1A77DDB55}">
      <dgm:prSet/>
      <dgm:spPr/>
      <dgm:t>
        <a:bodyPr/>
        <a:lstStyle/>
        <a:p>
          <a:endParaRPr lang="en-SG"/>
        </a:p>
      </dgm:t>
    </dgm:pt>
    <dgm:pt modelId="{70DE8373-AFDF-4E60-A979-3539503893FF}" type="sibTrans" cxnId="{212F2E63-8811-4258-A1F3-10C1A77DDB55}">
      <dgm:prSet/>
      <dgm:spPr/>
      <dgm:t>
        <a:bodyPr/>
        <a:lstStyle/>
        <a:p>
          <a:endParaRPr lang="en-SG"/>
        </a:p>
      </dgm:t>
    </dgm:pt>
    <dgm:pt modelId="{CF60BF4E-9A9E-4E4D-A55C-3082E605BA39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2</a:t>
          </a:r>
        </a:p>
      </dgm:t>
    </dgm:pt>
    <dgm:pt modelId="{64C0B470-406D-4AC8-9F43-405BC3BA22A5}" type="parTrans" cxnId="{AA23F4DC-80B3-452C-80BE-2D1A889350EC}">
      <dgm:prSet/>
      <dgm:spPr/>
      <dgm:t>
        <a:bodyPr/>
        <a:lstStyle/>
        <a:p>
          <a:endParaRPr lang="en-SG"/>
        </a:p>
      </dgm:t>
    </dgm:pt>
    <dgm:pt modelId="{AA42448C-1ED4-4A92-B8D9-AE4171521395}" type="sibTrans" cxnId="{AA23F4DC-80B3-452C-80BE-2D1A889350EC}">
      <dgm:prSet/>
      <dgm:spPr/>
      <dgm:t>
        <a:bodyPr/>
        <a:lstStyle/>
        <a:p>
          <a:endParaRPr lang="en-SG"/>
        </a:p>
      </dgm:t>
    </dgm:pt>
    <dgm:pt modelId="{84E5D1AF-49E3-451F-940A-557F0F71203E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3</a:t>
          </a:r>
        </a:p>
      </dgm:t>
    </dgm:pt>
    <dgm:pt modelId="{38A33A30-2581-47D8-9F64-511E12BD10D7}" type="parTrans" cxnId="{559419E2-4036-452B-A805-F6D71387BDA0}">
      <dgm:prSet/>
      <dgm:spPr/>
      <dgm:t>
        <a:bodyPr/>
        <a:lstStyle/>
        <a:p>
          <a:endParaRPr lang="en-SG"/>
        </a:p>
      </dgm:t>
    </dgm:pt>
    <dgm:pt modelId="{21730723-1563-48B7-984C-EF97D544F0FE}" type="sibTrans" cxnId="{559419E2-4036-452B-A805-F6D71387BDA0}">
      <dgm:prSet/>
      <dgm:spPr/>
      <dgm:t>
        <a:bodyPr/>
        <a:lstStyle/>
        <a:p>
          <a:endParaRPr lang="en-SG"/>
        </a:p>
      </dgm:t>
    </dgm:pt>
    <dgm:pt modelId="{C95A335A-6154-4271-9374-9682937A1FF3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4</a:t>
          </a:r>
          <a:endParaRPr lang="en-US" altLang="en-US" b="1" dirty="0">
            <a:sym typeface="Wingdings" pitchFamily="2" charset="2"/>
          </a:endParaRPr>
        </a:p>
      </dgm:t>
    </dgm:pt>
    <dgm:pt modelId="{346C60C0-6AB6-4C8C-8823-8D0C8306525F}" type="parTrans" cxnId="{70A2C42F-2532-4796-95D6-6EF433C0E95D}">
      <dgm:prSet/>
      <dgm:spPr/>
      <dgm:t>
        <a:bodyPr/>
        <a:lstStyle/>
        <a:p>
          <a:endParaRPr lang="en-SG"/>
        </a:p>
      </dgm:t>
    </dgm:pt>
    <dgm:pt modelId="{95C5B6AB-7265-440C-B16A-0CD2761B445B}" type="sibTrans" cxnId="{70A2C42F-2532-4796-95D6-6EF433C0E95D}">
      <dgm:prSet/>
      <dgm:spPr/>
      <dgm:t>
        <a:bodyPr/>
        <a:lstStyle/>
        <a:p>
          <a:endParaRPr lang="en-SG"/>
        </a:p>
      </dgm:t>
    </dgm:pt>
    <dgm:pt modelId="{D8F79CAF-C221-4EB7-BB4E-12B1D387E6CB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5</a:t>
          </a:r>
        </a:p>
      </dgm:t>
    </dgm:pt>
    <dgm:pt modelId="{60EF2B27-42E3-4AED-A280-3F4B5DBCA9D9}" type="parTrans" cxnId="{8B53A4D1-AC2F-4588-BD2B-48F7E0D3878B}">
      <dgm:prSet/>
      <dgm:spPr/>
      <dgm:t>
        <a:bodyPr/>
        <a:lstStyle/>
        <a:p>
          <a:endParaRPr lang="en-SG"/>
        </a:p>
      </dgm:t>
    </dgm:pt>
    <dgm:pt modelId="{4E08C8DF-8D5D-4489-A412-9427A5901EC9}" type="sibTrans" cxnId="{8B53A4D1-AC2F-4588-BD2B-48F7E0D3878B}">
      <dgm:prSet/>
      <dgm:spPr/>
      <dgm:t>
        <a:bodyPr/>
        <a:lstStyle/>
        <a:p>
          <a:endParaRPr lang="en-SG"/>
        </a:p>
      </dgm:t>
    </dgm:pt>
    <dgm:pt modelId="{7C4B9C32-E424-42FA-8337-695162D5D61A}">
      <dgm:prSet/>
      <dgm:spPr/>
      <dgm:t>
        <a:bodyPr/>
        <a:lstStyle/>
        <a:p>
          <a:r>
            <a:rPr lang="en-US" altLang="en-US" b="1" dirty="0">
              <a:sym typeface="Wingdings" pitchFamily="2" charset="2"/>
            </a:rPr>
            <a:t>If Context switch is needed:</a:t>
          </a:r>
        </a:p>
      </dgm:t>
    </dgm:pt>
    <dgm:pt modelId="{BF32ADEE-E0CF-4A49-AC61-01282CBCC54B}" type="parTrans" cxnId="{2ADFC4EC-1DF9-4F53-8A1C-B4A12E46A034}">
      <dgm:prSet/>
      <dgm:spPr/>
      <dgm:t>
        <a:bodyPr/>
        <a:lstStyle/>
        <a:p>
          <a:endParaRPr lang="en-SG"/>
        </a:p>
      </dgm:t>
    </dgm:pt>
    <dgm:pt modelId="{5491B440-D8C0-43E5-A824-29D28188D03E}" type="sibTrans" cxnId="{2ADFC4EC-1DF9-4F53-8A1C-B4A12E46A034}">
      <dgm:prSet/>
      <dgm:spPr/>
      <dgm:t>
        <a:bodyPr/>
        <a:lstStyle/>
        <a:p>
          <a:endParaRPr lang="en-SG"/>
        </a:p>
      </dgm:t>
    </dgm:pt>
    <dgm:pt modelId="{DF9A2B0A-222B-4565-B31B-6398CA89469E}">
      <dgm:prSet custT="1"/>
      <dgm:spPr/>
      <dgm:t>
        <a:bodyPr/>
        <a:lstStyle/>
        <a:p>
          <a:r>
            <a:rPr lang="en-US" altLang="en-US" sz="2000" dirty="0">
              <a:sym typeface="Wingdings" pitchFamily="2" charset="2"/>
            </a:rPr>
            <a:t>Pick a suitable process </a:t>
          </a:r>
          <a:r>
            <a:rPr lang="en-US" altLang="en-US" sz="2000" b="1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000" dirty="0">
              <a:sym typeface="Wingdings" pitchFamily="2" charset="2"/>
            </a:rPr>
            <a:t> to run base on scheduling algorithm</a:t>
          </a:r>
        </a:p>
      </dgm:t>
    </dgm:pt>
    <dgm:pt modelId="{5705E12C-C15F-4872-A8D2-D1FC68BBB88A}" type="parTrans" cxnId="{E1758552-B47C-40DD-8805-4B2ACD886763}">
      <dgm:prSet/>
      <dgm:spPr/>
      <dgm:t>
        <a:bodyPr/>
        <a:lstStyle/>
        <a:p>
          <a:endParaRPr lang="en-SG"/>
        </a:p>
      </dgm:t>
    </dgm:pt>
    <dgm:pt modelId="{200095E9-C7D2-4A44-936F-DF4B0651C044}" type="sibTrans" cxnId="{E1758552-B47C-40DD-8805-4B2ACD886763}">
      <dgm:prSet/>
      <dgm:spPr/>
      <dgm:t>
        <a:bodyPr/>
        <a:lstStyle/>
        <a:p>
          <a:endParaRPr lang="en-SG"/>
        </a:p>
      </dgm:t>
    </dgm:pt>
    <dgm:pt modelId="{D48FFB96-61A0-4B40-90D7-17DD134A9869}">
      <dgm:prSet custT="1"/>
      <dgm:spPr/>
      <dgm:t>
        <a:bodyPr/>
        <a:lstStyle/>
        <a:p>
          <a:r>
            <a:rPr lang="en-US" altLang="en-US" sz="2400" dirty="0">
              <a:sym typeface="Wingdings" pitchFamily="2" charset="2"/>
            </a:rPr>
            <a:t>Setup the context for </a:t>
          </a:r>
          <a:r>
            <a:rPr lang="en-US" altLang="en-US" sz="2400" b="1" dirty="0">
              <a:solidFill>
                <a:srgbClr val="660066"/>
              </a:solidFill>
              <a:sym typeface="Wingdings" pitchFamily="2" charset="2"/>
            </a:rPr>
            <a:t>P</a:t>
          </a:r>
        </a:p>
      </dgm:t>
    </dgm:pt>
    <dgm:pt modelId="{96E05592-6327-4728-90AA-AF02D8D57134}" type="parTrans" cxnId="{6B5399FC-6724-4619-8249-0E66D452EBC9}">
      <dgm:prSet/>
      <dgm:spPr/>
      <dgm:t>
        <a:bodyPr/>
        <a:lstStyle/>
        <a:p>
          <a:endParaRPr lang="en-SG"/>
        </a:p>
      </dgm:t>
    </dgm:pt>
    <dgm:pt modelId="{1DFB175D-A46F-41B8-A0D1-6616C335C7EB}" type="sibTrans" cxnId="{6B5399FC-6724-4619-8249-0E66D452EBC9}">
      <dgm:prSet/>
      <dgm:spPr/>
      <dgm:t>
        <a:bodyPr/>
        <a:lstStyle/>
        <a:p>
          <a:endParaRPr lang="en-SG"/>
        </a:p>
      </dgm:t>
    </dgm:pt>
    <dgm:pt modelId="{2F5E4E5A-A71A-44E5-927D-A5076B9629F1}">
      <dgm:prSet custT="1"/>
      <dgm:spPr/>
      <dgm:t>
        <a:bodyPr/>
        <a:lstStyle/>
        <a:p>
          <a:r>
            <a:rPr lang="en-US" altLang="en-US" sz="2400" dirty="0">
              <a:sym typeface="Wingdings" pitchFamily="2" charset="2"/>
            </a:rPr>
            <a:t>Let process </a:t>
          </a:r>
          <a:r>
            <a:rPr lang="en-US" altLang="en-US" sz="2400" b="1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400" b="1" dirty="0">
              <a:sym typeface="Wingdings" pitchFamily="2" charset="2"/>
            </a:rPr>
            <a:t> </a:t>
          </a:r>
          <a:r>
            <a:rPr lang="en-US" altLang="en-US" sz="2400" dirty="0">
              <a:sym typeface="Wingdings" pitchFamily="2" charset="2"/>
            </a:rPr>
            <a:t>run</a:t>
          </a:r>
        </a:p>
      </dgm:t>
    </dgm:pt>
    <dgm:pt modelId="{53E3E38B-CACD-4169-B87B-0B600CA267A5}" type="parTrans" cxnId="{5333BC0F-0611-4E43-AFCC-ADFBDD5F3E78}">
      <dgm:prSet/>
      <dgm:spPr/>
      <dgm:t>
        <a:bodyPr/>
        <a:lstStyle/>
        <a:p>
          <a:endParaRPr lang="en-SG"/>
        </a:p>
      </dgm:t>
    </dgm:pt>
    <dgm:pt modelId="{6C1F35A6-10A7-4D55-B7AE-D4BF5D2C2EE0}" type="sibTrans" cxnId="{5333BC0F-0611-4E43-AFCC-ADFBDD5F3E78}">
      <dgm:prSet/>
      <dgm:spPr/>
      <dgm:t>
        <a:bodyPr/>
        <a:lstStyle/>
        <a:p>
          <a:endParaRPr lang="en-SG"/>
        </a:p>
      </dgm:t>
    </dgm:pt>
    <dgm:pt modelId="{F62FC495-DA61-4213-AD4B-FF13D3CE5161}">
      <dgm:prSet phldrT="[Text]" custT="1"/>
      <dgm:spPr/>
      <dgm:t>
        <a:bodyPr/>
        <a:lstStyle/>
        <a:p>
          <a:r>
            <a:rPr lang="en-US" altLang="en-US" sz="2400" dirty="0"/>
            <a:t>Scheduler is triggered ( </a:t>
          </a:r>
          <a:r>
            <a:rPr lang="en-US" altLang="en-US" sz="2400" b="1" dirty="0">
              <a:solidFill>
                <a:srgbClr val="C00000"/>
              </a:solidFill>
            </a:rPr>
            <a:t>OS takes over </a:t>
          </a:r>
          <a:r>
            <a:rPr lang="en-US" altLang="en-US" sz="2400" dirty="0">
              <a:sym typeface="Wingdings" panose="05000000000000000000" pitchFamily="2" charset="2"/>
            </a:rPr>
            <a:t>)</a:t>
          </a:r>
          <a:endParaRPr lang="en-SG" sz="2400" dirty="0"/>
        </a:p>
      </dgm:t>
    </dgm:pt>
    <dgm:pt modelId="{BAB1BDBC-17BA-4FD7-A250-4DB1DAB50CB8}" type="parTrans" cxnId="{97FB8D24-111C-4777-A361-50077B41F1D5}">
      <dgm:prSet/>
      <dgm:spPr/>
      <dgm:t>
        <a:bodyPr/>
        <a:lstStyle/>
        <a:p>
          <a:endParaRPr lang="en-SG"/>
        </a:p>
      </dgm:t>
    </dgm:pt>
    <dgm:pt modelId="{C565E20D-6B40-4FC9-B1E7-0BF9D7724D01}" type="sibTrans" cxnId="{97FB8D24-111C-4777-A361-50077B41F1D5}">
      <dgm:prSet/>
      <dgm:spPr/>
      <dgm:t>
        <a:bodyPr/>
        <a:lstStyle/>
        <a:p>
          <a:endParaRPr lang="en-SG"/>
        </a:p>
      </dgm:t>
    </dgm:pt>
    <dgm:pt modelId="{6535C7F3-ACB2-490C-AB5A-9B2B853931E5}">
      <dgm:prSet/>
      <dgm:spPr/>
      <dgm:t>
        <a:bodyPr/>
        <a:lstStyle/>
        <a:p>
          <a:r>
            <a:rPr lang="en-US" altLang="en-US" dirty="0">
              <a:sym typeface="Wingdings" pitchFamily="2" charset="2"/>
            </a:rPr>
            <a:t>Context of current running process is saved and placed on blocked queue / ready queue</a:t>
          </a:r>
        </a:p>
      </dgm:t>
    </dgm:pt>
    <dgm:pt modelId="{A63D9A26-F50E-47DC-9781-761B58F4E925}" type="parTrans" cxnId="{17076266-BE5C-48FB-94F8-345AB36C7484}">
      <dgm:prSet/>
      <dgm:spPr/>
      <dgm:t>
        <a:bodyPr/>
        <a:lstStyle/>
        <a:p>
          <a:endParaRPr lang="en-SG"/>
        </a:p>
      </dgm:t>
    </dgm:pt>
    <dgm:pt modelId="{B019A5B7-B289-4E0B-B27E-4159754ABFFB}" type="sibTrans" cxnId="{17076266-BE5C-48FB-94F8-345AB36C7484}">
      <dgm:prSet/>
      <dgm:spPr/>
      <dgm:t>
        <a:bodyPr/>
        <a:lstStyle/>
        <a:p>
          <a:endParaRPr lang="en-SG"/>
        </a:p>
      </dgm:t>
    </dgm:pt>
    <dgm:pt modelId="{21B3F93C-0824-40E8-8AEA-46C98BD5DA49}" type="pres">
      <dgm:prSet presAssocID="{07B69FEB-B4B7-4759-9BB2-632A3861959D}" presName="linearFlow" presStyleCnt="0">
        <dgm:presLayoutVars>
          <dgm:dir/>
          <dgm:animLvl val="lvl"/>
          <dgm:resizeHandles val="exact"/>
        </dgm:presLayoutVars>
      </dgm:prSet>
      <dgm:spPr/>
    </dgm:pt>
    <dgm:pt modelId="{3FEED265-3774-44A8-91BA-8112C34DF167}" type="pres">
      <dgm:prSet presAssocID="{31E726B3-D908-48EF-A113-74B41AB7A994}" presName="composite" presStyleCnt="0"/>
      <dgm:spPr/>
    </dgm:pt>
    <dgm:pt modelId="{E24D2508-0843-4F6F-8E50-281D29392400}" type="pres">
      <dgm:prSet presAssocID="{31E726B3-D908-48EF-A113-74B41AB7A99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2A0305F2-0CF6-4154-89B4-2FAD27DA6C06}" type="pres">
      <dgm:prSet presAssocID="{31E726B3-D908-48EF-A113-74B41AB7A994}" presName="descendantText" presStyleLbl="alignAcc1" presStyleIdx="0" presStyleCnt="5">
        <dgm:presLayoutVars>
          <dgm:bulletEnabled val="1"/>
        </dgm:presLayoutVars>
      </dgm:prSet>
      <dgm:spPr/>
    </dgm:pt>
    <dgm:pt modelId="{AF0968AB-28BE-4CF9-B683-0A6B123D8567}" type="pres">
      <dgm:prSet presAssocID="{70DE8373-AFDF-4E60-A979-3539503893FF}" presName="sp" presStyleCnt="0"/>
      <dgm:spPr/>
    </dgm:pt>
    <dgm:pt modelId="{1D6C3919-B277-4AEA-8873-E2AA68E88F9C}" type="pres">
      <dgm:prSet presAssocID="{CF60BF4E-9A9E-4E4D-A55C-3082E605BA39}" presName="composite" presStyleCnt="0"/>
      <dgm:spPr/>
    </dgm:pt>
    <dgm:pt modelId="{7F7E5D0A-DFD6-4260-A0D3-982F40C1CF2F}" type="pres">
      <dgm:prSet presAssocID="{CF60BF4E-9A9E-4E4D-A55C-3082E605BA3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F039C24-089E-45F3-92C0-260398CA0D09}" type="pres">
      <dgm:prSet presAssocID="{CF60BF4E-9A9E-4E4D-A55C-3082E605BA39}" presName="descendantText" presStyleLbl="alignAcc1" presStyleIdx="1" presStyleCnt="5">
        <dgm:presLayoutVars>
          <dgm:bulletEnabled val="1"/>
        </dgm:presLayoutVars>
      </dgm:prSet>
      <dgm:spPr/>
    </dgm:pt>
    <dgm:pt modelId="{60877175-ABF2-45A0-8D23-994D8EC4BB87}" type="pres">
      <dgm:prSet presAssocID="{AA42448C-1ED4-4A92-B8D9-AE4171521395}" presName="sp" presStyleCnt="0"/>
      <dgm:spPr/>
    </dgm:pt>
    <dgm:pt modelId="{0679D44F-A416-4B7D-B615-FA90E3573F94}" type="pres">
      <dgm:prSet presAssocID="{84E5D1AF-49E3-451F-940A-557F0F71203E}" presName="composite" presStyleCnt="0"/>
      <dgm:spPr/>
    </dgm:pt>
    <dgm:pt modelId="{826DFFC3-AA30-4C19-916E-D0F23929DF20}" type="pres">
      <dgm:prSet presAssocID="{84E5D1AF-49E3-451F-940A-557F0F71203E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8AEE6E4-6A91-40A7-AAF7-9F783D6D03C0}" type="pres">
      <dgm:prSet presAssocID="{84E5D1AF-49E3-451F-940A-557F0F71203E}" presName="descendantText" presStyleLbl="alignAcc1" presStyleIdx="2" presStyleCnt="5">
        <dgm:presLayoutVars>
          <dgm:bulletEnabled val="1"/>
        </dgm:presLayoutVars>
      </dgm:prSet>
      <dgm:spPr/>
    </dgm:pt>
    <dgm:pt modelId="{B452279C-BD70-474F-AA40-5D34C241C583}" type="pres">
      <dgm:prSet presAssocID="{21730723-1563-48B7-984C-EF97D544F0FE}" presName="sp" presStyleCnt="0"/>
      <dgm:spPr/>
    </dgm:pt>
    <dgm:pt modelId="{381FDDDA-DF74-400A-9D13-1EA812CC49FF}" type="pres">
      <dgm:prSet presAssocID="{C95A335A-6154-4271-9374-9682937A1FF3}" presName="composite" presStyleCnt="0"/>
      <dgm:spPr/>
    </dgm:pt>
    <dgm:pt modelId="{5FD37A4F-EBBD-4D57-A8DD-391271D268F7}" type="pres">
      <dgm:prSet presAssocID="{C95A335A-6154-4271-9374-9682937A1FF3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DE77D09F-212E-4843-90DC-D691FED68580}" type="pres">
      <dgm:prSet presAssocID="{C95A335A-6154-4271-9374-9682937A1FF3}" presName="descendantText" presStyleLbl="alignAcc1" presStyleIdx="3" presStyleCnt="5">
        <dgm:presLayoutVars>
          <dgm:bulletEnabled val="1"/>
        </dgm:presLayoutVars>
      </dgm:prSet>
      <dgm:spPr/>
    </dgm:pt>
    <dgm:pt modelId="{BD99BA09-C43D-45E2-968A-37513BE7EA94}" type="pres">
      <dgm:prSet presAssocID="{95C5B6AB-7265-440C-B16A-0CD2761B445B}" presName="sp" presStyleCnt="0"/>
      <dgm:spPr/>
    </dgm:pt>
    <dgm:pt modelId="{072B4079-C0B3-4502-B84B-1A82D04CD26D}" type="pres">
      <dgm:prSet presAssocID="{D8F79CAF-C221-4EB7-BB4E-12B1D387E6CB}" presName="composite" presStyleCnt="0"/>
      <dgm:spPr/>
    </dgm:pt>
    <dgm:pt modelId="{E98A0E73-526A-4976-B79E-2E8B3CEDDB93}" type="pres">
      <dgm:prSet presAssocID="{D8F79CAF-C221-4EB7-BB4E-12B1D387E6C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5D2363E7-72D6-4AE8-955B-5702EE2974A7}" type="pres">
      <dgm:prSet presAssocID="{D8F79CAF-C221-4EB7-BB4E-12B1D387E6C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333BC0F-0611-4E43-AFCC-ADFBDD5F3E78}" srcId="{D8F79CAF-C221-4EB7-BB4E-12B1D387E6CB}" destId="{2F5E4E5A-A71A-44E5-927D-A5076B9629F1}" srcOrd="0" destOrd="0" parTransId="{53E3E38B-CACD-4169-B87B-0B600CA267A5}" sibTransId="{6C1F35A6-10A7-4D55-B7AE-D4BF5D2C2EE0}"/>
    <dgm:cxn modelId="{97FB8D24-111C-4777-A361-50077B41F1D5}" srcId="{31E726B3-D908-48EF-A113-74B41AB7A994}" destId="{F62FC495-DA61-4213-AD4B-FF13D3CE5161}" srcOrd="0" destOrd="0" parTransId="{BAB1BDBC-17BA-4FD7-A250-4DB1DAB50CB8}" sibTransId="{C565E20D-6B40-4FC9-B1E7-0BF9D7724D01}"/>
    <dgm:cxn modelId="{70A2C42F-2532-4796-95D6-6EF433C0E95D}" srcId="{07B69FEB-B4B7-4759-9BB2-632A3861959D}" destId="{C95A335A-6154-4271-9374-9682937A1FF3}" srcOrd="3" destOrd="0" parTransId="{346C60C0-6AB6-4C8C-8823-8D0C8306525F}" sibTransId="{95C5B6AB-7265-440C-B16A-0CD2761B445B}"/>
    <dgm:cxn modelId="{A990CA3F-24E3-43D5-878B-49273166C9C1}" type="presOf" srcId="{6535C7F3-ACB2-490C-AB5A-9B2B853931E5}" destId="{1F039C24-089E-45F3-92C0-260398CA0D09}" srcOrd="0" destOrd="1" presId="urn:microsoft.com/office/officeart/2005/8/layout/chevron2"/>
    <dgm:cxn modelId="{E1758552-B47C-40DD-8805-4B2ACD886763}" srcId="{84E5D1AF-49E3-451F-940A-557F0F71203E}" destId="{DF9A2B0A-222B-4565-B31B-6398CA89469E}" srcOrd="0" destOrd="0" parTransId="{5705E12C-C15F-4872-A8D2-D1FC68BBB88A}" sibTransId="{200095E9-C7D2-4A44-936F-DF4B0651C044}"/>
    <dgm:cxn modelId="{CCBEA555-8617-4075-BA5F-B92EF30F3732}" type="presOf" srcId="{07B69FEB-B4B7-4759-9BB2-632A3861959D}" destId="{21B3F93C-0824-40E8-8AEA-46C98BD5DA49}" srcOrd="0" destOrd="0" presId="urn:microsoft.com/office/officeart/2005/8/layout/chevron2"/>
    <dgm:cxn modelId="{212F2E63-8811-4258-A1F3-10C1A77DDB55}" srcId="{07B69FEB-B4B7-4759-9BB2-632A3861959D}" destId="{31E726B3-D908-48EF-A113-74B41AB7A994}" srcOrd="0" destOrd="0" parTransId="{90E80B72-77B9-4E9D-8624-475F99AAF99B}" sibTransId="{70DE8373-AFDF-4E60-A979-3539503893FF}"/>
    <dgm:cxn modelId="{17076266-BE5C-48FB-94F8-345AB36C7484}" srcId="{7C4B9C32-E424-42FA-8337-695162D5D61A}" destId="{6535C7F3-ACB2-490C-AB5A-9B2B853931E5}" srcOrd="0" destOrd="0" parTransId="{A63D9A26-F50E-47DC-9781-761B58F4E925}" sibTransId="{B019A5B7-B289-4E0B-B27E-4159754ABFFB}"/>
    <dgm:cxn modelId="{5364A568-1D3D-452E-BE1A-F6A4D5B7C3F9}" type="presOf" srcId="{CF60BF4E-9A9E-4E4D-A55C-3082E605BA39}" destId="{7F7E5D0A-DFD6-4260-A0D3-982F40C1CF2F}" srcOrd="0" destOrd="0" presId="urn:microsoft.com/office/officeart/2005/8/layout/chevron2"/>
    <dgm:cxn modelId="{44EAFB94-B5F6-4381-8CAE-80E3A4181FD5}" type="presOf" srcId="{7C4B9C32-E424-42FA-8337-695162D5D61A}" destId="{1F039C24-089E-45F3-92C0-260398CA0D09}" srcOrd="0" destOrd="0" presId="urn:microsoft.com/office/officeart/2005/8/layout/chevron2"/>
    <dgm:cxn modelId="{0CBA4CB9-DF80-4412-A99A-6F6E4A42CC9B}" type="presOf" srcId="{DF9A2B0A-222B-4565-B31B-6398CA89469E}" destId="{A8AEE6E4-6A91-40A7-AAF7-9F783D6D03C0}" srcOrd="0" destOrd="0" presId="urn:microsoft.com/office/officeart/2005/8/layout/chevron2"/>
    <dgm:cxn modelId="{31C6E8BC-6724-43F4-BDC4-D2FC9960F167}" type="presOf" srcId="{F62FC495-DA61-4213-AD4B-FF13D3CE5161}" destId="{2A0305F2-0CF6-4154-89B4-2FAD27DA6C06}" srcOrd="0" destOrd="0" presId="urn:microsoft.com/office/officeart/2005/8/layout/chevron2"/>
    <dgm:cxn modelId="{3EE131BD-8687-490F-9F97-6B02D76BA255}" type="presOf" srcId="{31E726B3-D908-48EF-A113-74B41AB7A994}" destId="{E24D2508-0843-4F6F-8E50-281D29392400}" srcOrd="0" destOrd="0" presId="urn:microsoft.com/office/officeart/2005/8/layout/chevron2"/>
    <dgm:cxn modelId="{B3B289C2-F059-4795-B6F8-BF1EBFFFAC4E}" type="presOf" srcId="{C95A335A-6154-4271-9374-9682937A1FF3}" destId="{5FD37A4F-EBBD-4D57-A8DD-391271D268F7}" srcOrd="0" destOrd="0" presId="urn:microsoft.com/office/officeart/2005/8/layout/chevron2"/>
    <dgm:cxn modelId="{5BC2E8CA-44B6-4C25-8231-1BDB4574069D}" type="presOf" srcId="{2F5E4E5A-A71A-44E5-927D-A5076B9629F1}" destId="{5D2363E7-72D6-4AE8-955B-5702EE2974A7}" srcOrd="0" destOrd="0" presId="urn:microsoft.com/office/officeart/2005/8/layout/chevron2"/>
    <dgm:cxn modelId="{8B53A4D1-AC2F-4588-BD2B-48F7E0D3878B}" srcId="{07B69FEB-B4B7-4759-9BB2-632A3861959D}" destId="{D8F79CAF-C221-4EB7-BB4E-12B1D387E6CB}" srcOrd="4" destOrd="0" parTransId="{60EF2B27-42E3-4AED-A280-3F4B5DBCA9D9}" sibTransId="{4E08C8DF-8D5D-4489-A412-9427A5901EC9}"/>
    <dgm:cxn modelId="{4687E9D8-35EB-4605-BC34-509C1ABEC2C1}" type="presOf" srcId="{D48FFB96-61A0-4B40-90D7-17DD134A9869}" destId="{DE77D09F-212E-4843-90DC-D691FED68580}" srcOrd="0" destOrd="0" presId="urn:microsoft.com/office/officeart/2005/8/layout/chevron2"/>
    <dgm:cxn modelId="{AA23F4DC-80B3-452C-80BE-2D1A889350EC}" srcId="{07B69FEB-B4B7-4759-9BB2-632A3861959D}" destId="{CF60BF4E-9A9E-4E4D-A55C-3082E605BA39}" srcOrd="1" destOrd="0" parTransId="{64C0B470-406D-4AC8-9F43-405BC3BA22A5}" sibTransId="{AA42448C-1ED4-4A92-B8D9-AE4171521395}"/>
    <dgm:cxn modelId="{559419E2-4036-452B-A805-F6D71387BDA0}" srcId="{07B69FEB-B4B7-4759-9BB2-632A3861959D}" destId="{84E5D1AF-49E3-451F-940A-557F0F71203E}" srcOrd="2" destOrd="0" parTransId="{38A33A30-2581-47D8-9F64-511E12BD10D7}" sibTransId="{21730723-1563-48B7-984C-EF97D544F0FE}"/>
    <dgm:cxn modelId="{2ADFC4EC-1DF9-4F53-8A1C-B4A12E46A034}" srcId="{CF60BF4E-9A9E-4E4D-A55C-3082E605BA39}" destId="{7C4B9C32-E424-42FA-8337-695162D5D61A}" srcOrd="0" destOrd="0" parTransId="{BF32ADEE-E0CF-4A49-AC61-01282CBCC54B}" sibTransId="{5491B440-D8C0-43E5-A824-29D28188D03E}"/>
    <dgm:cxn modelId="{A31F74F3-6924-4533-815F-DA11D0D9A09F}" type="presOf" srcId="{84E5D1AF-49E3-451F-940A-557F0F71203E}" destId="{826DFFC3-AA30-4C19-916E-D0F23929DF20}" srcOrd="0" destOrd="0" presId="urn:microsoft.com/office/officeart/2005/8/layout/chevron2"/>
    <dgm:cxn modelId="{6B5399FC-6724-4619-8249-0E66D452EBC9}" srcId="{C95A335A-6154-4271-9374-9682937A1FF3}" destId="{D48FFB96-61A0-4B40-90D7-17DD134A9869}" srcOrd="0" destOrd="0" parTransId="{96E05592-6327-4728-90AA-AF02D8D57134}" sibTransId="{1DFB175D-A46F-41B8-A0D1-6616C335C7EB}"/>
    <dgm:cxn modelId="{D9A3F0FC-AE02-4085-B16F-1D86CCCB2420}" type="presOf" srcId="{D8F79CAF-C221-4EB7-BB4E-12B1D387E6CB}" destId="{E98A0E73-526A-4976-B79E-2E8B3CEDDB93}" srcOrd="0" destOrd="0" presId="urn:microsoft.com/office/officeart/2005/8/layout/chevron2"/>
    <dgm:cxn modelId="{006607FC-0C62-4133-AA57-2E5F197D51B9}" type="presParOf" srcId="{21B3F93C-0824-40E8-8AEA-46C98BD5DA49}" destId="{3FEED265-3774-44A8-91BA-8112C34DF167}" srcOrd="0" destOrd="0" presId="urn:microsoft.com/office/officeart/2005/8/layout/chevron2"/>
    <dgm:cxn modelId="{A2958E12-C760-4B45-8A4F-656A2C2120F9}" type="presParOf" srcId="{3FEED265-3774-44A8-91BA-8112C34DF167}" destId="{E24D2508-0843-4F6F-8E50-281D29392400}" srcOrd="0" destOrd="0" presId="urn:microsoft.com/office/officeart/2005/8/layout/chevron2"/>
    <dgm:cxn modelId="{6745C8F0-B513-4A7E-A75A-D350055379A1}" type="presParOf" srcId="{3FEED265-3774-44A8-91BA-8112C34DF167}" destId="{2A0305F2-0CF6-4154-89B4-2FAD27DA6C06}" srcOrd="1" destOrd="0" presId="urn:microsoft.com/office/officeart/2005/8/layout/chevron2"/>
    <dgm:cxn modelId="{4E523806-B40C-4035-ACD9-09DB781E65AC}" type="presParOf" srcId="{21B3F93C-0824-40E8-8AEA-46C98BD5DA49}" destId="{AF0968AB-28BE-4CF9-B683-0A6B123D8567}" srcOrd="1" destOrd="0" presId="urn:microsoft.com/office/officeart/2005/8/layout/chevron2"/>
    <dgm:cxn modelId="{D76EE2B0-F32C-466D-B995-33820C9F69B6}" type="presParOf" srcId="{21B3F93C-0824-40E8-8AEA-46C98BD5DA49}" destId="{1D6C3919-B277-4AEA-8873-E2AA68E88F9C}" srcOrd="2" destOrd="0" presId="urn:microsoft.com/office/officeart/2005/8/layout/chevron2"/>
    <dgm:cxn modelId="{C8AD81B3-FE8A-43C4-95F6-1C44C23244EE}" type="presParOf" srcId="{1D6C3919-B277-4AEA-8873-E2AA68E88F9C}" destId="{7F7E5D0A-DFD6-4260-A0D3-982F40C1CF2F}" srcOrd="0" destOrd="0" presId="urn:microsoft.com/office/officeart/2005/8/layout/chevron2"/>
    <dgm:cxn modelId="{6D5443E4-1452-49A3-ADE5-9082D0876C70}" type="presParOf" srcId="{1D6C3919-B277-4AEA-8873-E2AA68E88F9C}" destId="{1F039C24-089E-45F3-92C0-260398CA0D09}" srcOrd="1" destOrd="0" presId="urn:microsoft.com/office/officeart/2005/8/layout/chevron2"/>
    <dgm:cxn modelId="{6F33BDC8-8F88-4B64-80BA-06654C550B86}" type="presParOf" srcId="{21B3F93C-0824-40E8-8AEA-46C98BD5DA49}" destId="{60877175-ABF2-45A0-8D23-994D8EC4BB87}" srcOrd="3" destOrd="0" presId="urn:microsoft.com/office/officeart/2005/8/layout/chevron2"/>
    <dgm:cxn modelId="{7B9FF363-9D81-43C4-AB5A-C3D06DAB2C50}" type="presParOf" srcId="{21B3F93C-0824-40E8-8AEA-46C98BD5DA49}" destId="{0679D44F-A416-4B7D-B615-FA90E3573F94}" srcOrd="4" destOrd="0" presId="urn:microsoft.com/office/officeart/2005/8/layout/chevron2"/>
    <dgm:cxn modelId="{F9661C4B-0617-4B60-9D13-9294243BE2CF}" type="presParOf" srcId="{0679D44F-A416-4B7D-B615-FA90E3573F94}" destId="{826DFFC3-AA30-4C19-916E-D0F23929DF20}" srcOrd="0" destOrd="0" presId="urn:microsoft.com/office/officeart/2005/8/layout/chevron2"/>
    <dgm:cxn modelId="{92516458-4789-4A21-A04A-A83BBD10152F}" type="presParOf" srcId="{0679D44F-A416-4B7D-B615-FA90E3573F94}" destId="{A8AEE6E4-6A91-40A7-AAF7-9F783D6D03C0}" srcOrd="1" destOrd="0" presId="urn:microsoft.com/office/officeart/2005/8/layout/chevron2"/>
    <dgm:cxn modelId="{7B5E104A-B28D-487C-A7D7-EF0003E8CB9F}" type="presParOf" srcId="{21B3F93C-0824-40E8-8AEA-46C98BD5DA49}" destId="{B452279C-BD70-474F-AA40-5D34C241C583}" srcOrd="5" destOrd="0" presId="urn:microsoft.com/office/officeart/2005/8/layout/chevron2"/>
    <dgm:cxn modelId="{B3E47542-C72C-4F9F-94E8-75BDE43A4CA1}" type="presParOf" srcId="{21B3F93C-0824-40E8-8AEA-46C98BD5DA49}" destId="{381FDDDA-DF74-400A-9D13-1EA812CC49FF}" srcOrd="6" destOrd="0" presId="urn:microsoft.com/office/officeart/2005/8/layout/chevron2"/>
    <dgm:cxn modelId="{53B0B710-E625-423E-9641-A95A9FE0D8DE}" type="presParOf" srcId="{381FDDDA-DF74-400A-9D13-1EA812CC49FF}" destId="{5FD37A4F-EBBD-4D57-A8DD-391271D268F7}" srcOrd="0" destOrd="0" presId="urn:microsoft.com/office/officeart/2005/8/layout/chevron2"/>
    <dgm:cxn modelId="{F06D0EE5-B4E7-4AB9-9A20-F12508F51516}" type="presParOf" srcId="{381FDDDA-DF74-400A-9D13-1EA812CC49FF}" destId="{DE77D09F-212E-4843-90DC-D691FED68580}" srcOrd="1" destOrd="0" presId="urn:microsoft.com/office/officeart/2005/8/layout/chevron2"/>
    <dgm:cxn modelId="{5E685E5D-20F9-4A4E-8316-BCC17E056E15}" type="presParOf" srcId="{21B3F93C-0824-40E8-8AEA-46C98BD5DA49}" destId="{BD99BA09-C43D-45E2-968A-37513BE7EA94}" srcOrd="7" destOrd="0" presId="urn:microsoft.com/office/officeart/2005/8/layout/chevron2"/>
    <dgm:cxn modelId="{C5F6676E-AEA0-454B-A6A5-9708A882B847}" type="presParOf" srcId="{21B3F93C-0824-40E8-8AEA-46C98BD5DA49}" destId="{072B4079-C0B3-4502-B84B-1A82D04CD26D}" srcOrd="8" destOrd="0" presId="urn:microsoft.com/office/officeart/2005/8/layout/chevron2"/>
    <dgm:cxn modelId="{5CC579E7-1812-491B-A9F6-C98E70389EAC}" type="presParOf" srcId="{072B4079-C0B3-4502-B84B-1A82D04CD26D}" destId="{E98A0E73-526A-4976-B79E-2E8B3CEDDB93}" srcOrd="0" destOrd="0" presId="urn:microsoft.com/office/officeart/2005/8/layout/chevron2"/>
    <dgm:cxn modelId="{53698F48-9BB9-4995-9C1C-754A380391D0}" type="presParOf" srcId="{072B4079-C0B3-4502-B84B-1A82D04CD26D}" destId="{5D2363E7-72D6-4AE8-955B-5702EE2974A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300D2-61EA-4510-841A-02AE91917CB5}">
      <dsp:nvSpPr>
        <dsp:cNvPr id="0" name=""/>
        <dsp:cNvSpPr/>
      </dsp:nvSpPr>
      <dsp:spPr>
        <a:xfrm>
          <a:off x="0" y="372075"/>
          <a:ext cx="7696200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37388" rIns="59731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 dirty="0"/>
            <a:t>Computation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/>
            <a:t>E.g. Number crunching</a:t>
          </a:r>
          <a:endParaRPr lang="en-US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b="1" kern="1200" dirty="0">
              <a:solidFill>
                <a:srgbClr val="C00000"/>
              </a:solidFill>
            </a:rPr>
            <a:t>Compute-Bound Process </a:t>
          </a:r>
          <a:r>
            <a:rPr lang="en-US" altLang="en-US" sz="2100" kern="1200" dirty="0"/>
            <a:t>spend majority of its time here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2100" b="1" kern="1200" dirty="0"/>
        </a:p>
      </dsp:txBody>
      <dsp:txXfrm>
        <a:off x="0" y="372075"/>
        <a:ext cx="7696200" cy="2116800"/>
      </dsp:txXfrm>
    </dsp:sp>
    <dsp:sp modelId="{975B7A56-F0F3-46BB-BD9D-94EFB37BDB66}">
      <dsp:nvSpPr>
        <dsp:cNvPr id="0" name=""/>
        <dsp:cNvSpPr/>
      </dsp:nvSpPr>
      <dsp:spPr>
        <a:xfrm>
          <a:off x="384810" y="62115"/>
          <a:ext cx="5387339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/>
            <a:t>CPU-Activity: </a:t>
          </a:r>
          <a:endParaRPr lang="en-SG" sz="2400" b="1" kern="1200" dirty="0"/>
        </a:p>
      </dsp:txBody>
      <dsp:txXfrm>
        <a:off x="415072" y="92377"/>
        <a:ext cx="5326815" cy="559396"/>
      </dsp:txXfrm>
    </dsp:sp>
    <dsp:sp modelId="{0A2CC6AF-6C22-48A7-A1D9-7366F6ED2017}">
      <dsp:nvSpPr>
        <dsp:cNvPr id="0" name=""/>
        <dsp:cNvSpPr/>
      </dsp:nvSpPr>
      <dsp:spPr>
        <a:xfrm>
          <a:off x="0" y="2912235"/>
          <a:ext cx="7696200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37388" rIns="59731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/>
            <a:t>Requesting and receiving sercive from I/O devices</a:t>
          </a:r>
          <a:endParaRPr lang="en-US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kern="1200"/>
            <a:t>E.g. Print to screen, read from file etc</a:t>
          </a:r>
          <a:endParaRPr lang="en-US" alt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100" b="1" kern="1200" dirty="0">
              <a:solidFill>
                <a:srgbClr val="660066"/>
              </a:solidFill>
            </a:rPr>
            <a:t>IO-Bound Process </a:t>
          </a:r>
          <a:r>
            <a:rPr lang="en-US" altLang="en-US" sz="2100" kern="1200" dirty="0"/>
            <a:t>spend majority of its time here</a:t>
          </a:r>
        </a:p>
      </dsp:txBody>
      <dsp:txXfrm>
        <a:off x="0" y="2912235"/>
        <a:ext cx="7696200" cy="1521449"/>
      </dsp:txXfrm>
    </dsp:sp>
    <dsp:sp modelId="{47ADB041-366D-4F90-8E4B-7FD6F69E2AA7}">
      <dsp:nvSpPr>
        <dsp:cNvPr id="0" name=""/>
        <dsp:cNvSpPr/>
      </dsp:nvSpPr>
      <dsp:spPr>
        <a:xfrm>
          <a:off x="384810" y="2602275"/>
          <a:ext cx="5387339" cy="6199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/>
            <a:t>IO-Activity:</a:t>
          </a:r>
          <a:endParaRPr lang="en-US" altLang="en-US" sz="2400" b="1" kern="1200" dirty="0"/>
        </a:p>
      </dsp:txBody>
      <dsp:txXfrm>
        <a:off x="415072" y="2632537"/>
        <a:ext cx="5326815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D2508-0843-4F6F-8E50-281D29392400}">
      <dsp:nvSpPr>
        <dsp:cNvPr id="0" name=""/>
        <dsp:cNvSpPr/>
      </dsp:nvSpPr>
      <dsp:spPr>
        <a:xfrm rot="5400000">
          <a:off x="-176135" y="178176"/>
          <a:ext cx="1174235" cy="82196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1</a:t>
          </a:r>
          <a:endParaRPr lang="en-SG" sz="2400" kern="1200" dirty="0"/>
        </a:p>
      </dsp:txBody>
      <dsp:txXfrm rot="-5400000">
        <a:off x="1" y="413022"/>
        <a:ext cx="821964" cy="352271"/>
      </dsp:txXfrm>
    </dsp:sp>
    <dsp:sp modelId="{2A0305F2-0CF6-4154-89B4-2FAD27DA6C06}">
      <dsp:nvSpPr>
        <dsp:cNvPr id="0" name=""/>
        <dsp:cNvSpPr/>
      </dsp:nvSpPr>
      <dsp:spPr>
        <a:xfrm rot="5400000">
          <a:off x="3953655" y="-3129650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Scheduler is triggered ( </a:t>
          </a:r>
          <a:r>
            <a:rPr lang="en-US" altLang="en-US" sz="2400" b="1" kern="1200" dirty="0">
              <a:solidFill>
                <a:srgbClr val="C00000"/>
              </a:solidFill>
            </a:rPr>
            <a:t>OS takes over </a:t>
          </a:r>
          <a:r>
            <a:rPr lang="en-US" altLang="en-US" sz="2400" kern="1200" dirty="0">
              <a:sym typeface="Wingdings" panose="05000000000000000000" pitchFamily="2" charset="2"/>
            </a:rPr>
            <a:t>)</a:t>
          </a:r>
          <a:endParaRPr lang="en-SG" sz="2400" kern="1200" dirty="0"/>
        </a:p>
      </dsp:txBody>
      <dsp:txXfrm rot="-5400000">
        <a:off x="821964" y="39300"/>
        <a:ext cx="6989376" cy="688734"/>
      </dsp:txXfrm>
    </dsp:sp>
    <dsp:sp modelId="{7F7E5D0A-DFD6-4260-A0D3-982F40C1CF2F}">
      <dsp:nvSpPr>
        <dsp:cNvPr id="0" name=""/>
        <dsp:cNvSpPr/>
      </dsp:nvSpPr>
      <dsp:spPr>
        <a:xfrm rot="5400000">
          <a:off x="-176135" y="1236146"/>
          <a:ext cx="1174235" cy="82196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2</a:t>
          </a:r>
        </a:p>
      </dsp:txBody>
      <dsp:txXfrm rot="-5400000">
        <a:off x="1" y="1470992"/>
        <a:ext cx="821964" cy="352271"/>
      </dsp:txXfrm>
    </dsp:sp>
    <dsp:sp modelId="{1F039C24-089E-45F3-92C0-260398CA0D09}">
      <dsp:nvSpPr>
        <dsp:cNvPr id="0" name=""/>
        <dsp:cNvSpPr/>
      </dsp:nvSpPr>
      <dsp:spPr>
        <a:xfrm rot="5400000">
          <a:off x="3953655" y="-2071679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b="1" kern="1200" dirty="0">
              <a:sym typeface="Wingdings" pitchFamily="2" charset="2"/>
            </a:rPr>
            <a:t>If Context switch is needed: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sym typeface="Wingdings" pitchFamily="2" charset="2"/>
            </a:rPr>
            <a:t>Context of current running process is saved and placed on blocked queue / ready queue</a:t>
          </a:r>
        </a:p>
      </dsp:txBody>
      <dsp:txXfrm rot="-5400000">
        <a:off x="821964" y="1097271"/>
        <a:ext cx="6989376" cy="688734"/>
      </dsp:txXfrm>
    </dsp:sp>
    <dsp:sp modelId="{826DFFC3-AA30-4C19-916E-D0F23929DF20}">
      <dsp:nvSpPr>
        <dsp:cNvPr id="0" name=""/>
        <dsp:cNvSpPr/>
      </dsp:nvSpPr>
      <dsp:spPr>
        <a:xfrm rot="5400000">
          <a:off x="-176135" y="2294117"/>
          <a:ext cx="1174235" cy="82196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3</a:t>
          </a:r>
        </a:p>
      </dsp:txBody>
      <dsp:txXfrm rot="-5400000">
        <a:off x="1" y="2528963"/>
        <a:ext cx="821964" cy="352271"/>
      </dsp:txXfrm>
    </dsp:sp>
    <dsp:sp modelId="{A8AEE6E4-6A91-40A7-AAF7-9F783D6D03C0}">
      <dsp:nvSpPr>
        <dsp:cNvPr id="0" name=""/>
        <dsp:cNvSpPr/>
      </dsp:nvSpPr>
      <dsp:spPr>
        <a:xfrm rot="5400000">
          <a:off x="3953655" y="-1013708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sym typeface="Wingdings" pitchFamily="2" charset="2"/>
            </a:rPr>
            <a:t>Pick a suitable process </a:t>
          </a:r>
          <a:r>
            <a:rPr lang="en-US" altLang="en-US" sz="2000" b="1" kern="1200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000" kern="1200" dirty="0">
              <a:sym typeface="Wingdings" pitchFamily="2" charset="2"/>
            </a:rPr>
            <a:t> to run base on scheduling algorithm</a:t>
          </a:r>
        </a:p>
      </dsp:txBody>
      <dsp:txXfrm rot="-5400000">
        <a:off x="821964" y="2155242"/>
        <a:ext cx="6989376" cy="688734"/>
      </dsp:txXfrm>
    </dsp:sp>
    <dsp:sp modelId="{5FD37A4F-EBBD-4D57-A8DD-391271D268F7}">
      <dsp:nvSpPr>
        <dsp:cNvPr id="0" name=""/>
        <dsp:cNvSpPr/>
      </dsp:nvSpPr>
      <dsp:spPr>
        <a:xfrm rot="5400000">
          <a:off x="-176135" y="3352088"/>
          <a:ext cx="1174235" cy="821964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4</a:t>
          </a:r>
          <a:endParaRPr lang="en-US" altLang="en-US" sz="2400" b="1" kern="1200" dirty="0">
            <a:sym typeface="Wingdings" pitchFamily="2" charset="2"/>
          </a:endParaRPr>
        </a:p>
      </dsp:txBody>
      <dsp:txXfrm rot="-5400000">
        <a:off x="1" y="3586934"/>
        <a:ext cx="821964" cy="352271"/>
      </dsp:txXfrm>
    </dsp:sp>
    <dsp:sp modelId="{DE77D09F-212E-4843-90DC-D691FED68580}">
      <dsp:nvSpPr>
        <dsp:cNvPr id="0" name=""/>
        <dsp:cNvSpPr/>
      </dsp:nvSpPr>
      <dsp:spPr>
        <a:xfrm rot="5400000">
          <a:off x="3953655" y="44261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>
              <a:sym typeface="Wingdings" pitchFamily="2" charset="2"/>
            </a:rPr>
            <a:t>Setup the context for </a:t>
          </a:r>
          <a:r>
            <a:rPr lang="en-US" altLang="en-US" sz="2400" b="1" kern="1200" dirty="0">
              <a:solidFill>
                <a:srgbClr val="660066"/>
              </a:solidFill>
              <a:sym typeface="Wingdings" pitchFamily="2" charset="2"/>
            </a:rPr>
            <a:t>P</a:t>
          </a:r>
        </a:p>
      </dsp:txBody>
      <dsp:txXfrm rot="-5400000">
        <a:off x="821964" y="3213212"/>
        <a:ext cx="6989376" cy="688734"/>
      </dsp:txXfrm>
    </dsp:sp>
    <dsp:sp modelId="{E98A0E73-526A-4976-B79E-2E8B3CEDDB93}">
      <dsp:nvSpPr>
        <dsp:cNvPr id="0" name=""/>
        <dsp:cNvSpPr/>
      </dsp:nvSpPr>
      <dsp:spPr>
        <a:xfrm rot="5400000">
          <a:off x="-176135" y="4410059"/>
          <a:ext cx="1174235" cy="82196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sym typeface="Wingdings" pitchFamily="2" charset="2"/>
            </a:rPr>
            <a:t>5</a:t>
          </a:r>
        </a:p>
      </dsp:txBody>
      <dsp:txXfrm rot="-5400000">
        <a:off x="1" y="4644905"/>
        <a:ext cx="821964" cy="352271"/>
      </dsp:txXfrm>
    </dsp:sp>
    <dsp:sp modelId="{5D2363E7-72D6-4AE8-955B-5702EE2974A7}">
      <dsp:nvSpPr>
        <dsp:cNvPr id="0" name=""/>
        <dsp:cNvSpPr/>
      </dsp:nvSpPr>
      <dsp:spPr>
        <a:xfrm rot="5400000">
          <a:off x="3953655" y="1102232"/>
          <a:ext cx="763252" cy="70266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>
              <a:sym typeface="Wingdings" pitchFamily="2" charset="2"/>
            </a:rPr>
            <a:t>Let process </a:t>
          </a:r>
          <a:r>
            <a:rPr lang="en-US" altLang="en-US" sz="2400" b="1" kern="1200" dirty="0">
              <a:solidFill>
                <a:srgbClr val="660066"/>
              </a:solidFill>
              <a:sym typeface="Wingdings" pitchFamily="2" charset="2"/>
            </a:rPr>
            <a:t>P</a:t>
          </a:r>
          <a:r>
            <a:rPr lang="en-US" altLang="en-US" sz="2400" b="1" kern="1200" dirty="0">
              <a:sym typeface="Wingdings" pitchFamily="2" charset="2"/>
            </a:rPr>
            <a:t> </a:t>
          </a:r>
          <a:r>
            <a:rPr lang="en-US" altLang="en-US" sz="2400" kern="1200" dirty="0">
              <a:sym typeface="Wingdings" pitchFamily="2" charset="2"/>
            </a:rPr>
            <a:t>run</a:t>
          </a:r>
        </a:p>
      </dsp:txBody>
      <dsp:txXfrm rot="-5400000">
        <a:off x="821964" y="4271183"/>
        <a:ext cx="6989376" cy="688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653310C5-C0B5-4DD0-8621-9B3809770F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8426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C8366-7DD3-4E41-91D6-6049CA2362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917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 dirty="0"/>
              <a:t>Mention</a:t>
            </a:r>
            <a:r>
              <a:rPr lang="en-US" altLang="en-US" baseline="0" dirty="0"/>
              <a:t> OS here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989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924D-1DDC-45FB-B25B-64F16B3678BF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/>
              <a:t>Tux pic</a:t>
            </a:r>
          </a:p>
        </p:txBody>
      </p:sp>
    </p:spTree>
    <p:extLst>
      <p:ext uri="{BB962C8B-B14F-4D97-AF65-F5344CB8AC3E}">
        <p14:creationId xmlns:p14="http://schemas.microsoft.com/office/powerpoint/2010/main" val="1411620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12B65-3ACC-45E2-A499-2DBFAE8E8E7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81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F217B9-6819-4DAA-96CD-5EF395CE11D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73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FC425-2127-4E88-8C40-0421F08E8A4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824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</a:t>
            </a:r>
            <a:r>
              <a:rPr lang="en-US" baseline="0" dirty="0"/>
              <a:t> about alternative drawing (time chart)</a:t>
            </a:r>
          </a:p>
          <a:p>
            <a:r>
              <a:rPr lang="en-US" baseline="0" dirty="0"/>
              <a:t>Talk about waiting time, turnaround time.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63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implementation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320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DEA07F-7BAB-4234-9EC9-C767AB2BF28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035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Task "Queue"</a:t>
            </a:r>
            <a:r>
              <a:rPr lang="en-US" baseline="0" dirty="0"/>
              <a:t> is not really a Queue</a:t>
            </a:r>
            <a:endParaRPr lang="en-US" dirty="0"/>
          </a:p>
          <a:p>
            <a:r>
              <a:rPr lang="en-US" dirty="0"/>
              <a:t>Mention Starvation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310C5-C0B5-4DD0-8621-9B3809770FE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959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E3AEAD-A95B-4AE1-AAF1-E9CF25C6E63B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487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83CB8A-1DC7-449C-A2BB-F0554F24670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79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9F8A55-3AFC-4F89-BFA5-45FA70D316E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52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C448C4-E32E-4548-B847-1443398080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82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350820-700D-4C13-B832-F47A9F9F42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88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E335-6E7B-4FE3-8519-5FE2480CC4C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C72B69-236A-4F84-B11B-1A76BFFE262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32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49CB95-779F-412D-ABBB-E5CFB1157F8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85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7B5592-CD24-460D-BBBE-FAFF0275FCA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4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26C1FB-B143-477A-AB53-29F6DAA3F3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61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6CFF45-D9B5-4E12-A089-E37859A1A21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11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E35BD546-DDC3-4CF7-958F-6006AAFF96D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17526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58C10-D311-8613-4C06-A60B01469AA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874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## NUS Restricted ##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Process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Process Scheduling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3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889CD-B98F-4200-AA63-1BC51350A55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Concurrent Execution</a:t>
            </a:r>
          </a:p>
          <a:p>
            <a:r>
              <a:rPr lang="en-US" altLang="en-US" b="1" dirty="0"/>
              <a:t>Process Scheduling</a:t>
            </a:r>
          </a:p>
          <a:p>
            <a:pPr lvl="1"/>
            <a:r>
              <a:rPr lang="en-US" altLang="en-US" dirty="0"/>
              <a:t>Definition</a:t>
            </a:r>
          </a:p>
          <a:p>
            <a:pPr lvl="1"/>
            <a:r>
              <a:rPr lang="en-US" altLang="en-US" dirty="0"/>
              <a:t>Process behavior</a:t>
            </a:r>
          </a:p>
          <a:p>
            <a:pPr lvl="1"/>
            <a:r>
              <a:rPr lang="en-US" altLang="en-US" dirty="0"/>
              <a:t>Processing environment</a:t>
            </a:r>
          </a:p>
          <a:p>
            <a:pPr lvl="1"/>
            <a:r>
              <a:rPr lang="en-US" altLang="en-US" dirty="0"/>
              <a:t>Criteria for good scheduling</a:t>
            </a:r>
          </a:p>
          <a:p>
            <a:pPr lvl="1"/>
            <a:r>
              <a:rPr lang="en-US" altLang="en-US" dirty="0"/>
              <a:t>Procedure of process scheduling </a:t>
            </a:r>
          </a:p>
          <a:p>
            <a:r>
              <a:rPr lang="en-US" altLang="en-US" b="1" dirty="0"/>
              <a:t>Scheduling Algorithms</a:t>
            </a:r>
          </a:p>
          <a:p>
            <a:pPr lvl="1"/>
            <a:r>
              <a:rPr lang="en-US" altLang="en-US" dirty="0"/>
              <a:t>For Batch Processing System</a:t>
            </a:r>
          </a:p>
          <a:p>
            <a:pPr lvl="1"/>
            <a:r>
              <a:rPr lang="en-US" altLang="en-US" dirty="0"/>
              <a:t>For interactive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Concurrent Execution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Concurrent processes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Logical concept to cover multitasked processes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Could be </a:t>
            </a:r>
            <a:r>
              <a:rPr lang="en-US" altLang="en-US" b="1" dirty="0">
                <a:solidFill>
                  <a:srgbClr val="C00000"/>
                </a:solidFill>
              </a:rPr>
              <a:t>virtual parallelism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Could be </a:t>
            </a:r>
            <a:r>
              <a:rPr lang="en-US" altLang="en-US" b="1" dirty="0">
                <a:solidFill>
                  <a:srgbClr val="006600"/>
                </a:solidFill>
              </a:rPr>
              <a:t>physical parallelism</a:t>
            </a:r>
          </a:p>
          <a:p>
            <a:endParaRPr lang="en-US" altLang="en-US" dirty="0"/>
          </a:p>
          <a:p>
            <a:r>
              <a:rPr lang="en-US" altLang="en-US" dirty="0"/>
              <a:t>You can assume the two forms of parallelisms are not distinguished in the following discussion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8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3368675" y="3999138"/>
            <a:ext cx="780208" cy="4175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Rectangle 38"/>
          <p:cNvSpPr/>
          <p:nvPr/>
        </p:nvSpPr>
        <p:spPr>
          <a:xfrm>
            <a:off x="1876517" y="4003517"/>
            <a:ext cx="1150891" cy="4175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Rectangle 37"/>
          <p:cNvSpPr/>
          <p:nvPr/>
        </p:nvSpPr>
        <p:spPr>
          <a:xfrm>
            <a:off x="4148883" y="2917998"/>
            <a:ext cx="1196322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 35"/>
          <p:cNvSpPr/>
          <p:nvPr/>
        </p:nvSpPr>
        <p:spPr>
          <a:xfrm>
            <a:off x="3040063" y="2897961"/>
            <a:ext cx="328612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Rectangle 34"/>
          <p:cNvSpPr/>
          <p:nvPr/>
        </p:nvSpPr>
        <p:spPr>
          <a:xfrm>
            <a:off x="1024391" y="2892135"/>
            <a:ext cx="804410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Concurrency Example (Simplistic)</a:t>
            </a:r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>
            <a:off x="1003300" y="2330292"/>
            <a:ext cx="0" cy="2787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003300" y="5117942"/>
            <a:ext cx="4927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>
            <a:off x="1003300" y="3306604"/>
            <a:ext cx="4467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>
            <a:off x="1003300" y="4421029"/>
            <a:ext cx="4467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" name="Group 6"/>
          <p:cNvGrpSpPr/>
          <p:nvPr/>
        </p:nvGrpSpPr>
        <p:grpSpPr>
          <a:xfrm>
            <a:off x="381000" y="1752600"/>
            <a:ext cx="1060890" cy="609601"/>
            <a:chOff x="304744" y="1208502"/>
            <a:chExt cx="1060890" cy="609601"/>
          </a:xfrm>
        </p:grpSpPr>
        <p:pic>
          <p:nvPicPr>
            <p:cNvPr id="628738" name="Picture 2" descr="C:\Users\dcssooyj\AppData\Local\Microsoft\Windows\Temporary Internet Files\Content.IE5\4PFYX3WB\primary-002-text-document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78" y="1208502"/>
              <a:ext cx="609601" cy="60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04744" y="1322645"/>
              <a:ext cx="1060890" cy="35860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</a:t>
              </a:r>
            </a:p>
          </p:txBody>
        </p:sp>
      </p:grp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682789" y="2854960"/>
            <a:ext cx="3063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A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 rot="10717972" flipV="1">
            <a:off x="676275" y="4211479"/>
            <a:ext cx="304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B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76400" y="2330292"/>
            <a:ext cx="368393" cy="3221037"/>
            <a:chOff x="1676400" y="2330292"/>
            <a:chExt cx="368393" cy="3221037"/>
          </a:xfrm>
        </p:grpSpPr>
        <p:grpSp>
          <p:nvGrpSpPr>
            <p:cNvPr id="4" name="Group 3"/>
            <p:cNvGrpSpPr/>
            <p:nvPr/>
          </p:nvGrpSpPr>
          <p:grpSpPr>
            <a:xfrm>
              <a:off x="1792288" y="2330292"/>
              <a:ext cx="158750" cy="3221037"/>
              <a:chOff x="1944688" y="1687513"/>
              <a:chExt cx="158750" cy="3221037"/>
            </a:xfrm>
          </p:grpSpPr>
          <p:sp>
            <p:nvSpPr>
              <p:cNvPr id="135179" name="Line 11"/>
              <p:cNvSpPr>
                <a:spLocks noChangeShapeType="1"/>
              </p:cNvSpPr>
              <p:nvPr/>
            </p:nvSpPr>
            <p:spPr bwMode="auto">
              <a:xfrm>
                <a:off x="2009775" y="1687513"/>
                <a:ext cx="0" cy="2787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35183" name="Text Box 15"/>
              <p:cNvSpPr txBox="1">
                <a:spLocks noChangeArrowheads="1"/>
              </p:cNvSpPr>
              <p:nvPr/>
            </p:nvSpPr>
            <p:spPr bwMode="auto">
              <a:xfrm>
                <a:off x="1944688" y="4545013"/>
                <a:ext cx="158750" cy="3635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>
              <a:off x="1676400" y="5117942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843213" y="2330292"/>
            <a:ext cx="368393" cy="3146252"/>
            <a:chOff x="2995613" y="1687513"/>
            <a:chExt cx="368393" cy="3146252"/>
          </a:xfrm>
        </p:grpSpPr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3192463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2995613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025900" y="2330292"/>
            <a:ext cx="368393" cy="3146252"/>
            <a:chOff x="4178300" y="1687513"/>
            <a:chExt cx="368393" cy="3146252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308475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4178300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t3</a:t>
              </a:r>
            </a:p>
          </p:txBody>
        </p:sp>
      </p:grp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1024390" y="2917998"/>
            <a:ext cx="80441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a1  a2</a:t>
            </a:r>
          </a:p>
        </p:txBody>
      </p:sp>
      <p:sp>
        <p:nvSpPr>
          <p:cNvPr id="135189" name="Text Box 21"/>
          <p:cNvSpPr txBox="1">
            <a:spLocks noChangeArrowheads="1"/>
          </p:cNvSpPr>
          <p:nvPr/>
        </p:nvSpPr>
        <p:spPr bwMode="auto">
          <a:xfrm>
            <a:off x="1844675" y="4038600"/>
            <a:ext cx="122760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006600"/>
                </a:solidFill>
              </a:rPr>
              <a:t>b1  b2  b3</a:t>
            </a:r>
          </a:p>
        </p:txBody>
      </p:sp>
      <p:sp>
        <p:nvSpPr>
          <p:cNvPr id="135190" name="Text Box 22"/>
          <p:cNvSpPr txBox="1">
            <a:spLocks noChangeArrowheads="1"/>
          </p:cNvSpPr>
          <p:nvPr/>
        </p:nvSpPr>
        <p:spPr bwMode="auto">
          <a:xfrm>
            <a:off x="3005984" y="2887504"/>
            <a:ext cx="419689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C00000"/>
                </a:solidFill>
              </a:rPr>
              <a:t>a3</a:t>
            </a:r>
          </a:p>
        </p:txBody>
      </p:sp>
      <p:sp>
        <p:nvSpPr>
          <p:cNvPr id="135191" name="Text Box 23"/>
          <p:cNvSpPr txBox="1">
            <a:spLocks noChangeArrowheads="1"/>
          </p:cNvSpPr>
          <p:nvPr/>
        </p:nvSpPr>
        <p:spPr bwMode="auto">
          <a:xfrm>
            <a:off x="3352800" y="4060998"/>
            <a:ext cx="830058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006600"/>
                </a:solidFill>
              </a:rPr>
              <a:t>b4  b5</a:t>
            </a:r>
          </a:p>
        </p:txBody>
      </p:sp>
      <p:sp>
        <p:nvSpPr>
          <p:cNvPr id="135192" name="Text Box 24"/>
          <p:cNvSpPr txBox="1">
            <a:spLocks noChangeArrowheads="1"/>
          </p:cNvSpPr>
          <p:nvPr/>
        </p:nvSpPr>
        <p:spPr bwMode="auto">
          <a:xfrm>
            <a:off x="4156075" y="2887504"/>
            <a:ext cx="118913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>
                <a:solidFill>
                  <a:srgbClr val="C00000"/>
                </a:solidFill>
              </a:rPr>
              <a:t>a4  a5  a6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982947" y="4735355"/>
            <a:ext cx="851451" cy="815974"/>
            <a:chOff x="6135348" y="4318794"/>
            <a:chExt cx="851451" cy="815974"/>
          </a:xfrm>
        </p:grpSpPr>
        <p:pic>
          <p:nvPicPr>
            <p:cNvPr id="628739" name="Picture 3" descr="C:\Users\dcssooyj\AppData\Local\Microsoft\Windows\Temporary Internet Files\Content.IE5\GM342E1K\Swatching the Clock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348" y="4318794"/>
              <a:ext cx="851451" cy="815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6212248" y="4547480"/>
              <a:ext cx="697650" cy="358602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/>
                <a:t>Time</a:t>
              </a:r>
            </a:p>
          </p:txBody>
        </p:sp>
      </p:grpSp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2800213" y="1162937"/>
            <a:ext cx="3259634" cy="758712"/>
          </a:xfrm>
          <a:prstGeom prst="rect">
            <a:avLst/>
          </a:prstGeom>
          <a:solidFill>
            <a:srgbClr val="F3EADE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4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Timeslicing</a:t>
            </a:r>
            <a:endParaRPr lang="en-US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615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9" grpId="0" animBg="1"/>
      <p:bldP spid="38" grpId="0" animBg="1"/>
      <p:bldP spid="36" grpId="0" animBg="1"/>
      <p:bldP spid="35" grpId="0" animBg="1"/>
      <p:bldP spid="135188" grpId="0"/>
      <p:bldP spid="135189" grpId="0"/>
      <p:bldP spid="135190" grpId="0"/>
      <p:bldP spid="135191" grpId="0"/>
      <p:bldP spid="135192" grpId="0"/>
      <p:bldP spid="135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1024391" y="2892135"/>
            <a:ext cx="804410" cy="387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Interleaved Execution (context switch)</a:t>
            </a:r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 flipH="1">
            <a:off x="989176" y="2330291"/>
            <a:ext cx="14124" cy="34847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003300" y="5815013"/>
            <a:ext cx="6311900" cy="88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 flipV="1">
            <a:off x="1003300" y="3303329"/>
            <a:ext cx="6235700" cy="32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 flipV="1">
            <a:off x="1003300" y="4388811"/>
            <a:ext cx="6235700" cy="3221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" name="Group 6"/>
          <p:cNvGrpSpPr/>
          <p:nvPr/>
        </p:nvGrpSpPr>
        <p:grpSpPr>
          <a:xfrm>
            <a:off x="381000" y="1752600"/>
            <a:ext cx="1060890" cy="609601"/>
            <a:chOff x="304744" y="1208502"/>
            <a:chExt cx="1060890" cy="609601"/>
          </a:xfrm>
        </p:grpSpPr>
        <p:pic>
          <p:nvPicPr>
            <p:cNvPr id="628738" name="Picture 2" descr="C:\Users\dcssooyj\AppData\Local\Microsoft\Windows\Temporary Internet Files\Content.IE5\4PFYX3WB\primary-002-text-document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78" y="1208502"/>
              <a:ext cx="609601" cy="60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6" name="Text Box 8"/>
            <p:cNvSpPr txBox="1">
              <a:spLocks noChangeArrowheads="1"/>
            </p:cNvSpPr>
            <p:nvPr/>
          </p:nvSpPr>
          <p:spPr bwMode="auto">
            <a:xfrm>
              <a:off x="304744" y="1322645"/>
              <a:ext cx="1060890" cy="358602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</a:t>
              </a:r>
            </a:p>
          </p:txBody>
        </p:sp>
      </p:grp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682789" y="2854960"/>
            <a:ext cx="3063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A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 rot="10717972" flipV="1">
            <a:off x="676275" y="4211479"/>
            <a:ext cx="304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/>
              <a:t>B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76400" y="2330292"/>
            <a:ext cx="368393" cy="3994308"/>
            <a:chOff x="1676400" y="2330292"/>
            <a:chExt cx="368393" cy="3221037"/>
          </a:xfrm>
        </p:grpSpPr>
        <p:grpSp>
          <p:nvGrpSpPr>
            <p:cNvPr id="4" name="Group 3"/>
            <p:cNvGrpSpPr/>
            <p:nvPr/>
          </p:nvGrpSpPr>
          <p:grpSpPr>
            <a:xfrm>
              <a:off x="1792288" y="2330292"/>
              <a:ext cx="158750" cy="3221037"/>
              <a:chOff x="1944688" y="1687513"/>
              <a:chExt cx="158750" cy="3221037"/>
            </a:xfrm>
          </p:grpSpPr>
          <p:sp>
            <p:nvSpPr>
              <p:cNvPr id="135179" name="Line 11"/>
              <p:cNvSpPr>
                <a:spLocks noChangeShapeType="1"/>
              </p:cNvSpPr>
              <p:nvPr/>
            </p:nvSpPr>
            <p:spPr bwMode="auto">
              <a:xfrm>
                <a:off x="2009775" y="1687513"/>
                <a:ext cx="0" cy="2787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35183" name="Text Box 15"/>
              <p:cNvSpPr txBox="1">
                <a:spLocks noChangeArrowheads="1"/>
              </p:cNvSpPr>
              <p:nvPr/>
            </p:nvSpPr>
            <p:spPr bwMode="auto">
              <a:xfrm>
                <a:off x="1944688" y="4545013"/>
                <a:ext cx="158750" cy="3635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80815" tIns="40407" rIns="80815" bIns="40407">
                <a:spAutoFit/>
              </a:bodyPr>
              <a:lstStyle>
                <a:lvl1pPr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404813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808038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212850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1616075" defTabSz="904875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0732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5304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29876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444875" defTabSz="9048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5184" name="Text Box 16"/>
            <p:cNvSpPr txBox="1">
              <a:spLocks noChangeArrowheads="1"/>
            </p:cNvSpPr>
            <p:nvPr/>
          </p:nvSpPr>
          <p:spPr bwMode="auto">
            <a:xfrm>
              <a:off x="1676400" y="5117942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289207" y="2330292"/>
            <a:ext cx="368393" cy="3918108"/>
            <a:chOff x="2995613" y="1687513"/>
            <a:chExt cx="368393" cy="3146252"/>
          </a:xfrm>
        </p:grpSpPr>
        <p:sp>
          <p:nvSpPr>
            <p:cNvPr id="135180" name="Line 12"/>
            <p:cNvSpPr>
              <a:spLocks noChangeShapeType="1"/>
            </p:cNvSpPr>
            <p:nvPr/>
          </p:nvSpPr>
          <p:spPr bwMode="auto">
            <a:xfrm>
              <a:off x="3192463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2995613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157695" y="2330291"/>
            <a:ext cx="368393" cy="3901569"/>
            <a:chOff x="4178300" y="1687513"/>
            <a:chExt cx="368393" cy="3146252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4308475" y="1687513"/>
              <a:ext cx="0" cy="278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4178300" y="4475163"/>
              <a:ext cx="36839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i="1" dirty="0"/>
                <a:t>t3</a:t>
              </a:r>
            </a:p>
          </p:txBody>
        </p:sp>
      </p:grpSp>
      <p:sp>
        <p:nvSpPr>
          <p:cNvPr id="135188" name="Text Box 20"/>
          <p:cNvSpPr txBox="1">
            <a:spLocks noChangeArrowheads="1"/>
          </p:cNvSpPr>
          <p:nvPr/>
        </p:nvSpPr>
        <p:spPr bwMode="auto">
          <a:xfrm>
            <a:off x="1024390" y="2917998"/>
            <a:ext cx="804410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a1  a2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3600" y="4003517"/>
            <a:ext cx="1227602" cy="417512"/>
            <a:chOff x="2133600" y="4003517"/>
            <a:chExt cx="1227602" cy="417512"/>
          </a:xfrm>
        </p:grpSpPr>
        <p:sp>
          <p:nvSpPr>
            <p:cNvPr id="39" name="Rectangle 38"/>
            <p:cNvSpPr/>
            <p:nvPr/>
          </p:nvSpPr>
          <p:spPr>
            <a:xfrm>
              <a:off x="2165442" y="4003517"/>
              <a:ext cx="1150891" cy="4175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89" name="Text Box 21"/>
            <p:cNvSpPr txBox="1">
              <a:spLocks noChangeArrowheads="1"/>
            </p:cNvSpPr>
            <p:nvPr/>
          </p:nvSpPr>
          <p:spPr bwMode="auto">
            <a:xfrm>
              <a:off x="2133600" y="4038600"/>
              <a:ext cx="1227602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6600"/>
                  </a:solidFill>
                </a:rPr>
                <a:t>b1  b2  b3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0474" y="2887504"/>
            <a:ext cx="419689" cy="397978"/>
            <a:chOff x="3580474" y="2887504"/>
            <a:chExt cx="419689" cy="397978"/>
          </a:xfrm>
        </p:grpSpPr>
        <p:sp>
          <p:nvSpPr>
            <p:cNvPr id="36" name="Rectangle 35"/>
            <p:cNvSpPr/>
            <p:nvPr/>
          </p:nvSpPr>
          <p:spPr>
            <a:xfrm>
              <a:off x="3614553" y="2897961"/>
              <a:ext cx="328612" cy="3875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0" name="Text Box 22"/>
            <p:cNvSpPr txBox="1">
              <a:spLocks noChangeArrowheads="1"/>
            </p:cNvSpPr>
            <p:nvPr/>
          </p:nvSpPr>
          <p:spPr bwMode="auto">
            <a:xfrm>
              <a:off x="3580474" y="2887504"/>
              <a:ext cx="419689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C00000"/>
                  </a:solidFill>
                </a:rPr>
                <a:t>a3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217627" y="3981038"/>
            <a:ext cx="830058" cy="420462"/>
            <a:chOff x="3927290" y="3999138"/>
            <a:chExt cx="830058" cy="420462"/>
          </a:xfrm>
        </p:grpSpPr>
        <p:sp>
          <p:nvSpPr>
            <p:cNvPr id="40" name="Rectangle 39"/>
            <p:cNvSpPr/>
            <p:nvPr/>
          </p:nvSpPr>
          <p:spPr>
            <a:xfrm>
              <a:off x="3943165" y="3999138"/>
              <a:ext cx="780208" cy="4175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1" name="Text Box 23"/>
            <p:cNvSpPr txBox="1">
              <a:spLocks noChangeArrowheads="1"/>
            </p:cNvSpPr>
            <p:nvPr/>
          </p:nvSpPr>
          <p:spPr bwMode="auto">
            <a:xfrm>
              <a:off x="3927290" y="4060998"/>
              <a:ext cx="830058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>
                  <a:solidFill>
                    <a:srgbClr val="006600"/>
                  </a:solidFill>
                </a:rPr>
                <a:t>b4  b5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280678" y="2887504"/>
            <a:ext cx="1196322" cy="418015"/>
            <a:chOff x="5280678" y="2887504"/>
            <a:chExt cx="1196322" cy="418015"/>
          </a:xfrm>
        </p:grpSpPr>
        <p:sp>
          <p:nvSpPr>
            <p:cNvPr id="38" name="Rectangle 37"/>
            <p:cNvSpPr/>
            <p:nvPr/>
          </p:nvSpPr>
          <p:spPr>
            <a:xfrm>
              <a:off x="5280678" y="2917998"/>
              <a:ext cx="1196322" cy="3875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92" name="Text Box 24"/>
            <p:cNvSpPr txBox="1">
              <a:spLocks noChangeArrowheads="1"/>
            </p:cNvSpPr>
            <p:nvPr/>
          </p:nvSpPr>
          <p:spPr bwMode="auto">
            <a:xfrm>
              <a:off x="5287870" y="2887504"/>
              <a:ext cx="118913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>
                  <a:solidFill>
                    <a:srgbClr val="C00000"/>
                  </a:solidFill>
                </a:rPr>
                <a:t>a4  a5  a6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5</a:t>
            </a:fld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7315200" y="5415886"/>
            <a:ext cx="851451" cy="815974"/>
            <a:chOff x="6135348" y="4318794"/>
            <a:chExt cx="851451" cy="815974"/>
          </a:xfrm>
        </p:grpSpPr>
        <p:pic>
          <p:nvPicPr>
            <p:cNvPr id="628739" name="Picture 3" descr="C:\Users\dcssooyj\AppData\Local\Microsoft\Windows\Temporary Internet Files\Content.IE5\GM342E1K\Swatching the Clock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348" y="4318794"/>
              <a:ext cx="851451" cy="815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5175" name="Text Box 7"/>
            <p:cNvSpPr txBox="1">
              <a:spLocks noChangeArrowheads="1"/>
            </p:cNvSpPr>
            <p:nvPr/>
          </p:nvSpPr>
          <p:spPr bwMode="auto">
            <a:xfrm>
              <a:off x="6212248" y="4547480"/>
              <a:ext cx="697650" cy="358602"/>
            </a:xfrm>
            <a:prstGeom prst="rect">
              <a:avLst/>
            </a:prstGeom>
            <a:solidFill>
              <a:srgbClr val="FFFFFF">
                <a:alpha val="94902"/>
              </a:srgbClr>
            </a:solidFill>
            <a:ln>
              <a:noFill/>
            </a:ln>
            <a:effectLst/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/>
                <a:t>Time</a:t>
              </a:r>
            </a:p>
          </p:txBody>
        </p:sp>
      </p:grpSp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2177269" y="993888"/>
            <a:ext cx="4239645" cy="758712"/>
          </a:xfrm>
          <a:prstGeom prst="rect">
            <a:avLst/>
          </a:prstGeom>
          <a:solidFill>
            <a:srgbClr val="F3EADE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 Switch</a:t>
            </a: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245546" y="5045809"/>
            <a:ext cx="680979" cy="512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en-US" altLang="en-US" sz="2800" b="1"/>
              <a:t>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57375" y="5108293"/>
            <a:ext cx="319894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>
            <a:off x="1885559" y="3306605"/>
            <a:ext cx="263525" cy="696912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" name="Rectangle 44"/>
          <p:cNvSpPr/>
          <p:nvPr/>
        </p:nvSpPr>
        <p:spPr>
          <a:xfrm>
            <a:off x="3316334" y="5108293"/>
            <a:ext cx="264140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 flipV="1">
            <a:off x="3361201" y="3305520"/>
            <a:ext cx="253351" cy="693618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" name="Line 17"/>
          <p:cNvSpPr>
            <a:spLocks noChangeShapeType="1"/>
          </p:cNvSpPr>
          <p:nvPr/>
        </p:nvSpPr>
        <p:spPr bwMode="auto">
          <a:xfrm>
            <a:off x="3943164" y="3305519"/>
            <a:ext cx="274462" cy="675519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" name="Rectangle 48"/>
          <p:cNvSpPr/>
          <p:nvPr/>
        </p:nvSpPr>
        <p:spPr>
          <a:xfrm>
            <a:off x="4000163" y="5105400"/>
            <a:ext cx="217463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 flipV="1">
            <a:off x="5013710" y="3305519"/>
            <a:ext cx="266968" cy="675519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1" name="Rectangle 50"/>
          <p:cNvSpPr/>
          <p:nvPr/>
        </p:nvSpPr>
        <p:spPr>
          <a:xfrm>
            <a:off x="5029200" y="5121216"/>
            <a:ext cx="251478" cy="3875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54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2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Multitasking OS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98488"/>
          </a:xfrm>
        </p:spPr>
        <p:txBody>
          <a:bodyPr/>
          <a:lstStyle/>
          <a:p>
            <a:r>
              <a:rPr lang="en-US" altLang="en-US" sz="2700" dirty="0"/>
              <a:t>1 CPU: </a:t>
            </a:r>
            <a:r>
              <a:rPr lang="en-US" altLang="en-US" sz="2700" dirty="0" err="1"/>
              <a:t>timesliced</a:t>
            </a:r>
            <a:r>
              <a:rPr lang="en-US" altLang="en-US" sz="2700" dirty="0"/>
              <a:t> execution of tasks</a:t>
            </a:r>
          </a:p>
          <a:p>
            <a:pPr>
              <a:buFont typeface="Wingdings" pitchFamily="2" charset="2"/>
              <a:buNone/>
            </a:pPr>
            <a:endParaRPr lang="en-US" altLang="en-US" sz="2700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681163" y="1897063"/>
            <a:ext cx="920750" cy="627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/>
              <a:t>CPU</a:t>
            </a:r>
          </a:p>
        </p:txBody>
      </p:sp>
      <p:sp>
        <p:nvSpPr>
          <p:cNvPr id="139269" name="Line 5"/>
          <p:cNvSpPr>
            <a:spLocks noChangeShapeType="1"/>
          </p:cNvSpPr>
          <p:nvPr/>
        </p:nvSpPr>
        <p:spPr bwMode="auto">
          <a:xfrm flipH="1">
            <a:off x="2824956" y="2190631"/>
            <a:ext cx="3036887" cy="111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2D03E-8CF0-4890-AC51-1EC78506AA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" name="Snip and Round Single Corner Rectangle 3"/>
          <p:cNvSpPr/>
          <p:nvPr/>
        </p:nvSpPr>
        <p:spPr>
          <a:xfrm>
            <a:off x="3087309" y="1752601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7" name="Snip and Round Single Corner Rectangle 16"/>
          <p:cNvSpPr/>
          <p:nvPr/>
        </p:nvSpPr>
        <p:spPr>
          <a:xfrm>
            <a:off x="3850187" y="1752601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18" name="Snip and Round Single Corner Rectangle 17"/>
          <p:cNvSpPr/>
          <p:nvPr/>
        </p:nvSpPr>
        <p:spPr>
          <a:xfrm>
            <a:off x="4613065" y="1752600"/>
            <a:ext cx="610478" cy="371475"/>
          </a:xfrm>
          <a:prstGeom prst="snipRoundRect">
            <a:avLst/>
          </a:prstGeom>
          <a:solidFill>
            <a:srgbClr val="00660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p3</a:t>
            </a:r>
            <a:endParaRPr lang="en-SG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7200" y="2971800"/>
            <a:ext cx="7772400" cy="2771775"/>
            <a:chOff x="457200" y="2971800"/>
            <a:chExt cx="7772400" cy="2771775"/>
          </a:xfrm>
        </p:grpSpPr>
        <p:sp>
          <p:nvSpPr>
            <p:cNvPr id="139271" name="Rectangle 7"/>
            <p:cNvSpPr>
              <a:spLocks noChangeArrowheads="1"/>
            </p:cNvSpPr>
            <p:nvPr/>
          </p:nvSpPr>
          <p:spPr bwMode="auto">
            <a:xfrm>
              <a:off x="457200" y="2971800"/>
              <a:ext cx="7772400" cy="627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513" tIns="45256" rIns="90513" bIns="45256"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charset="0"/>
                </a:defRPr>
              </a:lvl1pPr>
              <a:lvl2pPr marL="669925" indent="-325438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charset="0"/>
                </a:defRPr>
              </a:lvl2pPr>
              <a:lvl3pPr marL="1022350" indent="-350838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339850" indent="-315913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1681163" indent="-339725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1383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5955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0527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509963" indent="-339725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80000"/>
                </a:lnSpc>
                <a:buFont typeface="Wingdings" pitchFamily="2" charset="2"/>
                <a:buNone/>
              </a:pPr>
              <a:endParaRPr lang="en-US" altLang="en-US" sz="1100" dirty="0"/>
            </a:p>
            <a:p>
              <a:pPr>
                <a:lnSpc>
                  <a:spcPct val="80000"/>
                </a:lnSpc>
              </a:pPr>
              <a:r>
                <a:rPr lang="en-US" altLang="en-US" sz="2700" dirty="0"/>
                <a:t>Multiprocessor: </a:t>
              </a:r>
              <a:r>
                <a:rPr lang="en-US" altLang="en-US" sz="2700" dirty="0" err="1"/>
                <a:t>timeslicing</a:t>
              </a:r>
              <a:r>
                <a:rPr lang="en-US" altLang="en-US" sz="2700" dirty="0"/>
                <a:t> on </a:t>
              </a:r>
              <a:r>
                <a:rPr lang="en-US" altLang="en-US" sz="2700" b="1" i="1" dirty="0"/>
                <a:t>n</a:t>
              </a:r>
              <a:r>
                <a:rPr lang="en-US" altLang="en-US" sz="2700" dirty="0"/>
                <a:t> CPUs</a:t>
              </a:r>
            </a:p>
          </p:txBody>
        </p:sp>
        <p:sp>
          <p:nvSpPr>
            <p:cNvPr id="139272" name="Rectangle 8"/>
            <p:cNvSpPr>
              <a:spLocks noChangeArrowheads="1"/>
            </p:cNvSpPr>
            <p:nvPr/>
          </p:nvSpPr>
          <p:spPr bwMode="auto">
            <a:xfrm>
              <a:off x="1701800" y="4070350"/>
              <a:ext cx="920750" cy="6270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/>
                <a:t>CPU 1</a:t>
              </a:r>
            </a:p>
          </p:txBody>
        </p:sp>
        <p:sp>
          <p:nvSpPr>
            <p:cNvPr id="139273" name="Line 9"/>
            <p:cNvSpPr>
              <a:spLocks noChangeShapeType="1"/>
            </p:cNvSpPr>
            <p:nvPr/>
          </p:nvSpPr>
          <p:spPr bwMode="auto">
            <a:xfrm flipH="1">
              <a:off x="2819400" y="4419600"/>
              <a:ext cx="2233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39274" name="Rectangle 10"/>
            <p:cNvSpPr>
              <a:spLocks noChangeArrowheads="1"/>
            </p:cNvSpPr>
            <p:nvPr/>
          </p:nvSpPr>
          <p:spPr bwMode="auto">
            <a:xfrm>
              <a:off x="1701800" y="5116513"/>
              <a:ext cx="920750" cy="6270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/>
                <a:t>CPU 2</a:t>
              </a:r>
            </a:p>
          </p:txBody>
        </p:sp>
        <p:sp>
          <p:nvSpPr>
            <p:cNvPr id="139275" name="Line 11"/>
            <p:cNvSpPr>
              <a:spLocks noChangeShapeType="1"/>
            </p:cNvSpPr>
            <p:nvPr/>
          </p:nvSpPr>
          <p:spPr bwMode="auto">
            <a:xfrm flipH="1">
              <a:off x="2819400" y="5464175"/>
              <a:ext cx="22336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Snip and Round Single Corner Rectangle 18"/>
            <p:cNvSpPr/>
            <p:nvPr/>
          </p:nvSpPr>
          <p:spPr>
            <a:xfrm>
              <a:off x="3173328" y="4012406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p1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Snip and Round Single Corner Rectangle 19"/>
            <p:cNvSpPr/>
            <p:nvPr/>
          </p:nvSpPr>
          <p:spPr>
            <a:xfrm>
              <a:off x="3936206" y="4012406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p3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Snip and Round Single Corner Rectangle 21"/>
            <p:cNvSpPr/>
            <p:nvPr/>
          </p:nvSpPr>
          <p:spPr>
            <a:xfrm>
              <a:off x="3199287" y="5057033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p2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Snip and Round Single Corner Rectangle 22"/>
            <p:cNvSpPr/>
            <p:nvPr/>
          </p:nvSpPr>
          <p:spPr>
            <a:xfrm>
              <a:off x="3962165" y="5057033"/>
              <a:ext cx="610478" cy="371475"/>
            </a:xfrm>
            <a:prstGeom prst="snipRoundRect">
              <a:avLst/>
            </a:prstGeom>
            <a:solidFill>
              <a:srgbClr val="006600">
                <a:alpha val="2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p4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0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5EECFC-AD69-4047-BE22-07BEF10D6DD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Scheduling in OS</a:t>
            </a:r>
            <a:r>
              <a:rPr lang="en-US" altLang="en-US" sz="3800" dirty="0"/>
              <a:t>: A definition 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Problems with having multiple processes:</a:t>
            </a:r>
          </a:p>
          <a:p>
            <a:pPr lvl="1"/>
            <a:r>
              <a:rPr lang="en-US" altLang="en-US" dirty="0"/>
              <a:t>If [</a:t>
            </a:r>
            <a:r>
              <a:rPr lang="en-US" altLang="en-US" b="1" i="1" dirty="0">
                <a:solidFill>
                  <a:srgbClr val="006600"/>
                </a:solidFill>
              </a:rPr>
              <a:t>ready-to-run processes</a:t>
            </a:r>
            <a:r>
              <a:rPr lang="en-US" altLang="en-US" dirty="0"/>
              <a:t>] &gt; [</a:t>
            </a:r>
            <a:r>
              <a:rPr lang="en-US" altLang="en-US" b="1" i="1" dirty="0">
                <a:solidFill>
                  <a:srgbClr val="660066"/>
                </a:solidFill>
              </a:rPr>
              <a:t>CPUs</a:t>
            </a:r>
            <a:r>
              <a:rPr lang="en-US" altLang="en-US" dirty="0"/>
              <a:t>], which should be chosen?</a:t>
            </a:r>
          </a:p>
          <a:p>
            <a:pPr lvl="2"/>
            <a:r>
              <a:rPr lang="en-US" altLang="en-US" dirty="0"/>
              <a:t>Similar idea in </a:t>
            </a:r>
            <a:r>
              <a:rPr lang="en-US" altLang="en-US" b="1" i="1" dirty="0">
                <a:solidFill>
                  <a:srgbClr val="C00000"/>
                </a:solidFill>
              </a:rPr>
              <a:t>thread-level scheduling</a:t>
            </a:r>
          </a:p>
          <a:p>
            <a:pPr lvl="1"/>
            <a:r>
              <a:rPr lang="en-US" altLang="en-US" dirty="0"/>
              <a:t>Known as the </a:t>
            </a:r>
            <a:r>
              <a:rPr lang="en-US" altLang="en-US" b="1" dirty="0"/>
              <a:t>scheduling problem</a:t>
            </a:r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Terminology: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Scheduler</a:t>
            </a:r>
          </a:p>
          <a:p>
            <a:pPr lvl="2"/>
            <a:r>
              <a:rPr lang="en-US" altLang="en-US" dirty="0"/>
              <a:t>Part of the OS that makes scheduling decision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Scheduling algorithm</a:t>
            </a:r>
          </a:p>
          <a:p>
            <a:pPr lvl="2"/>
            <a:r>
              <a:rPr lang="en-US" altLang="en-US" dirty="0"/>
              <a:t>The algorithm used by scheduler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65C93-5B99-44C8-8FBD-4A2083A9789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Scheduling</a:t>
            </a:r>
            <a:r>
              <a:rPr lang="en-US" altLang="en-US" dirty="0"/>
              <a:t>: Illustration</a:t>
            </a:r>
          </a:p>
        </p:txBody>
      </p:sp>
      <p:sp>
        <p:nvSpPr>
          <p:cNvPr id="45774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8229600" cy="2590800"/>
          </a:xfrm>
        </p:spPr>
        <p:txBody>
          <a:bodyPr/>
          <a:lstStyle/>
          <a:p>
            <a:r>
              <a:rPr lang="en-US" altLang="en-US" sz="2600" dirty="0"/>
              <a:t>Each process has different requirement of CPU time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Process behavior</a:t>
            </a:r>
          </a:p>
          <a:p>
            <a:r>
              <a:rPr lang="en-US" altLang="en-US" sz="2600" dirty="0"/>
              <a:t>Multiple ways to allocate</a:t>
            </a:r>
          </a:p>
          <a:p>
            <a:pPr lvl="1"/>
            <a:r>
              <a:rPr lang="en-US" altLang="en-US" sz="2200" dirty="0"/>
              <a:t>Influenced by the </a:t>
            </a:r>
            <a:r>
              <a:rPr lang="en-US" altLang="en-US" sz="2200" b="1" dirty="0">
                <a:solidFill>
                  <a:srgbClr val="660066"/>
                </a:solidFill>
              </a:rPr>
              <a:t>process environment 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2060"/>
                </a:solidFill>
              </a:rPr>
              <a:t>scheduling algorithms</a:t>
            </a:r>
          </a:p>
          <a:p>
            <a:r>
              <a:rPr lang="en-US" altLang="en-US" sz="2600" dirty="0"/>
              <a:t>A number of </a:t>
            </a:r>
            <a:r>
              <a:rPr lang="en-US" altLang="en-US" sz="2600" b="1" dirty="0">
                <a:solidFill>
                  <a:schemeClr val="accent1">
                    <a:lumMod val="50000"/>
                  </a:schemeClr>
                </a:solidFill>
              </a:rPr>
              <a:t>criteria to evaluate the scheduler</a:t>
            </a:r>
          </a:p>
        </p:txBody>
      </p:sp>
      <p:pic>
        <p:nvPicPr>
          <p:cNvPr id="36" name="Picture 20" descr="http://cdn-www.xda-developers.com/wp-content/uploads/2012/06/C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76460"/>
            <a:ext cx="2014223" cy="151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0" descr="http://cdn-www.xda-developers.com/wp-content/uploads/2012/06/C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799622"/>
            <a:ext cx="2014223" cy="151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838200" y="1524000"/>
            <a:ext cx="6096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838200" y="1905000"/>
            <a:ext cx="9906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838200" y="2286000"/>
            <a:ext cx="3048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1" name="Rectangle 6"/>
          <p:cNvSpPr>
            <a:spLocks noChangeArrowheads="1"/>
          </p:cNvSpPr>
          <p:nvPr/>
        </p:nvSpPr>
        <p:spPr bwMode="auto">
          <a:xfrm>
            <a:off x="838200" y="2667000"/>
            <a:ext cx="838200" cy="228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516721" y="2961614"/>
            <a:ext cx="1540679" cy="6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4" tIns="45717" rIns="91434" bIns="45717">
            <a:spAutoFit/>
          </a:bodyPr>
          <a:lstStyle/>
          <a:p>
            <a:pPr algn="ctr"/>
            <a:r>
              <a:rPr lang="en-US" altLang="en-US" dirty="0"/>
              <a:t>Processes ready to run</a:t>
            </a:r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3411691" y="1840521"/>
            <a:ext cx="1922309" cy="52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716487" y="1157287"/>
            <a:ext cx="1980017" cy="1585913"/>
            <a:chOff x="1716487" y="1157287"/>
            <a:chExt cx="1980017" cy="1585913"/>
          </a:xfrm>
        </p:grpSpPr>
        <p:grpSp>
          <p:nvGrpSpPr>
            <p:cNvPr id="2" name="Group 1"/>
            <p:cNvGrpSpPr/>
            <p:nvPr/>
          </p:nvGrpSpPr>
          <p:grpSpPr>
            <a:xfrm>
              <a:off x="1905000" y="1676400"/>
              <a:ext cx="1600200" cy="1066800"/>
              <a:chOff x="1905000" y="1676400"/>
              <a:chExt cx="1600200" cy="1066800"/>
            </a:xfrm>
          </p:grpSpPr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>
                <a:off x="1981200" y="1676400"/>
                <a:ext cx="1524000" cy="30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 flipV="1">
                <a:off x="1905000" y="2209800"/>
                <a:ext cx="1524000" cy="5334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1716487" y="1157287"/>
              <a:ext cx="1980017" cy="36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008000"/>
                  </a:solidFill>
                </a:rPr>
                <a:t>selects process</a:t>
              </a:r>
              <a:r>
                <a:rPr lang="en-US" altLang="en-US" b="1" dirty="0"/>
                <a:t> 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79475" y="1554956"/>
            <a:ext cx="2230925" cy="1471513"/>
            <a:chOff x="4779475" y="1554956"/>
            <a:chExt cx="2230925" cy="1471513"/>
          </a:xfrm>
        </p:grpSpPr>
        <p:sp>
          <p:nvSpPr>
            <p:cNvPr id="46" name="Line 13"/>
            <p:cNvSpPr>
              <a:spLocks noChangeShapeType="1"/>
            </p:cNvSpPr>
            <p:nvPr/>
          </p:nvSpPr>
          <p:spPr bwMode="auto">
            <a:xfrm flipV="1">
              <a:off x="5334000" y="1554956"/>
              <a:ext cx="1676400" cy="42624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5334000" y="2276460"/>
              <a:ext cx="1600200" cy="6191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4779475" y="2657143"/>
              <a:ext cx="1710713" cy="36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b="1" dirty="0">
                  <a:solidFill>
                    <a:srgbClr val="008000"/>
                  </a:solidFill>
                </a:rPr>
                <a:t>allocates </a:t>
              </a:r>
              <a:r>
                <a:rPr lang="en-US" altLang="en-US" b="1" dirty="0" err="1">
                  <a:solidFill>
                    <a:srgbClr val="008000"/>
                  </a:solidFill>
                </a:rPr>
                <a:t>cpu</a:t>
              </a:r>
              <a:r>
                <a:rPr lang="en-US" altLang="en-US" b="1" dirty="0"/>
                <a:t> </a:t>
              </a:r>
            </a:p>
          </p:txBody>
        </p:sp>
      </p:grpSp>
      <p:sp>
        <p:nvSpPr>
          <p:cNvPr id="5" name="Isosceles Triangle 4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1DDE6E-13CB-4711-A5D4-659E91A4D66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Process Behavior</a:t>
            </a:r>
          </a:p>
        </p:txBody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3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typical process goes through phases of: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168513681"/>
              </p:ext>
            </p:extLst>
          </p:nvPr>
        </p:nvGraphicFramePr>
        <p:xfrm>
          <a:off x="762000" y="1676400"/>
          <a:ext cx="7696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http://img.gamefaqs.net/screens/c/0/9/gfs_191335_2_2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0"/>
            <a:ext cx="111082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75B7A56-F0F3-46BB-BD9D-94EFB37BDB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7ADB041-366D-4F90-8E4B-7FD6F69E2A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72300D2-61EA-4510-841A-02AE91917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A2CC6AF-6C22-48A7-A1D9-7366F6ED2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B0300-B814-447B-9FC8-E29397342D8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3 Types of </a:t>
            </a:r>
            <a:r>
              <a:rPr lang="en-US" altLang="en-US" sz="3800" b="1" dirty="0">
                <a:solidFill>
                  <a:srgbClr val="660066"/>
                </a:solidFill>
              </a:rPr>
              <a:t>Processing Environment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5486400"/>
          </a:xfrm>
        </p:spPr>
        <p:txBody>
          <a:bodyPr/>
          <a:lstStyle/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Batch Processing:</a:t>
            </a:r>
          </a:p>
          <a:p>
            <a:pPr lvl="1"/>
            <a:r>
              <a:rPr lang="en-US" altLang="en-US" dirty="0"/>
              <a:t>No user: No interaction required, No need to be responsive</a:t>
            </a:r>
          </a:p>
          <a:p>
            <a:pPr lvl="1"/>
            <a:endParaRPr lang="en-US" altLang="en-US" dirty="0"/>
          </a:p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Interactive</a:t>
            </a:r>
            <a:r>
              <a:rPr lang="en-US" altLang="en-US" dirty="0"/>
              <a:t> (or Multiprogramming):</a:t>
            </a:r>
          </a:p>
          <a:p>
            <a:pPr lvl="1"/>
            <a:r>
              <a:rPr lang="en-US" altLang="en-US" dirty="0"/>
              <a:t>With active user interacting with system</a:t>
            </a:r>
          </a:p>
          <a:p>
            <a:pPr lvl="1"/>
            <a:r>
              <a:rPr lang="en-US" altLang="en-US" dirty="0"/>
              <a:t>Should be responsive, consistent in response time</a:t>
            </a:r>
          </a:p>
          <a:p>
            <a:pPr marL="319087" lvl="1" indent="0">
              <a:buNone/>
            </a:pPr>
            <a:endParaRPr lang="en-US" altLang="en-US" dirty="0"/>
          </a:p>
          <a:p>
            <a:pPr marL="531812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Real time processing</a:t>
            </a:r>
            <a:r>
              <a:rPr lang="en-US" altLang="en-US" dirty="0">
                <a:solidFill>
                  <a:srgbClr val="006600"/>
                </a:solidFill>
              </a:rPr>
              <a:t>:</a:t>
            </a:r>
          </a:p>
          <a:p>
            <a:pPr lvl="1"/>
            <a:r>
              <a:rPr lang="en-US" altLang="en-US" dirty="0"/>
              <a:t>Have deadline to meet</a:t>
            </a:r>
          </a:p>
          <a:p>
            <a:pPr lvl="1"/>
            <a:r>
              <a:rPr lang="en-US" altLang="en-US" dirty="0"/>
              <a:t>Usually periodic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7D7A1-DC49-4F55-9C0E-0E7416BDD265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Criteria for Scheduling Algorithms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Many criteria </a:t>
            </a:r>
            <a:r>
              <a:rPr lang="en-US" altLang="en-US" dirty="0"/>
              <a:t>to evaluate an scheduling algorithm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/>
              <a:t>Criteria for </a:t>
            </a:r>
            <a:r>
              <a:rPr lang="en-US" altLang="en-US" b="1" dirty="0"/>
              <a:t>all processing environments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660066"/>
                </a:solidFill>
              </a:rPr>
              <a:t>Fairness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Should get a fair share of CPU time</a:t>
            </a:r>
            <a:endParaRPr lang="en-US" altLang="en-US" sz="2500" dirty="0">
              <a:solidFill>
                <a:srgbClr val="008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 dirty="0"/>
              <a:t>per process basis OR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per user basis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Also mean </a:t>
            </a:r>
            <a:r>
              <a:rPr lang="en-US" altLang="en-US" sz="2400" b="1" dirty="0">
                <a:solidFill>
                  <a:srgbClr val="C00000"/>
                </a:solidFill>
              </a:rPr>
              <a:t>no starvation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400" b="1" dirty="0"/>
          </a:p>
          <a:p>
            <a:pPr>
              <a:lnSpc>
                <a:spcPct val="90000"/>
              </a:lnSpc>
            </a:pPr>
            <a:r>
              <a:rPr lang="en-US" altLang="en-US" sz="2700" b="1" dirty="0">
                <a:solidFill>
                  <a:srgbClr val="660066"/>
                </a:solidFill>
              </a:rPr>
              <a:t>Balance:</a:t>
            </a:r>
          </a:p>
          <a:p>
            <a:pPr lvl="1">
              <a:lnSpc>
                <a:spcPct val="90000"/>
              </a:lnSpc>
            </a:pPr>
            <a:r>
              <a:rPr lang="en-US" altLang="en-US" sz="2500" dirty="0"/>
              <a:t>All parts of the computing system should be utilized</a:t>
            </a:r>
            <a:r>
              <a:rPr lang="en-US" altLang="en-US" sz="2500" dirty="0">
                <a:solidFill>
                  <a:srgbClr val="008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3F85D-83AD-41DC-86FC-7D40255F819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When</a:t>
            </a:r>
            <a:r>
              <a:rPr lang="en-US" altLang="en-US" sz="3800" b="1" dirty="0"/>
              <a:t> to perform scheduling?</a:t>
            </a:r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Two types of scheduling policies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sz="2600" b="1" dirty="0">
                <a:solidFill>
                  <a:srgbClr val="660066"/>
                </a:solidFill>
              </a:rPr>
              <a:t>Non-preemptive (Cooperative)</a:t>
            </a:r>
          </a:p>
          <a:p>
            <a:pPr lvl="1"/>
            <a:r>
              <a:rPr lang="en-US" altLang="en-US" sz="2200" dirty="0"/>
              <a:t>A process stayed scheduled until: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altLang="en-US" sz="2200" dirty="0"/>
              <a:t>it blocks OR</a:t>
            </a:r>
          </a:p>
          <a:p>
            <a:pPr marL="801687" lvl="1" indent="-457200">
              <a:buFont typeface="+mj-lt"/>
              <a:buAutoNum type="arabicPeriod"/>
            </a:pPr>
            <a:r>
              <a:rPr lang="en-US" altLang="en-US" sz="2200" dirty="0"/>
              <a:t>give up the CPU voluntarily 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Preemptive</a:t>
            </a:r>
          </a:p>
          <a:p>
            <a:pPr lvl="1"/>
            <a:r>
              <a:rPr lang="en-US" altLang="en-US" sz="2200" dirty="0"/>
              <a:t>A process is given a fixed time quota to run</a:t>
            </a:r>
          </a:p>
          <a:p>
            <a:pPr lvl="2"/>
            <a:r>
              <a:rPr lang="en-US" altLang="en-US" sz="2000" dirty="0"/>
              <a:t>Possible to block or give up early</a:t>
            </a:r>
          </a:p>
          <a:p>
            <a:pPr lvl="1"/>
            <a:r>
              <a:rPr lang="en-US" altLang="en-US" sz="2200" dirty="0"/>
              <a:t>At the end of the time quota:</a:t>
            </a:r>
          </a:p>
          <a:p>
            <a:pPr lvl="2"/>
            <a:r>
              <a:rPr lang="en-US" altLang="en-US" sz="2000" dirty="0"/>
              <a:t>Another process get picked if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945762-0245-499F-A94E-07F92F34F52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Scheduling a Process</a:t>
            </a:r>
            <a:r>
              <a:rPr lang="en-US" altLang="en-US" sz="3800" dirty="0"/>
              <a:t>: Step-by-Step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7692106"/>
              </p:ext>
            </p:extLst>
          </p:nvPr>
        </p:nvGraphicFramePr>
        <p:xfrm>
          <a:off x="685800" y="990600"/>
          <a:ext cx="7848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4D2508-0843-4F6F-8E50-281D293924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0305F2-0CF6-4154-89B4-2FAD27DA6C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7E5D0A-DFD6-4260-A0D3-982F40C1C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039C24-089E-45F3-92C0-260398CA0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26DFFC3-AA30-4C19-916E-D0F23929D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8AEE6E4-6A91-40A7-AAF7-9F783D6D03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D37A4F-EBBD-4D57-A8DD-391271D26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77D09F-212E-4843-90DC-D691FED68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8A0E73-526A-4976-B79E-2E8B3CEDD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2363E7-72D6-4AE8-955B-5702EE297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for </a:t>
            </a:r>
            <a:br>
              <a:rPr lang="en-US" altLang="en-US" dirty="0"/>
            </a:br>
            <a:r>
              <a:rPr lang="en-US" altLang="en-US" dirty="0">
                <a:solidFill>
                  <a:srgbClr val="C00000"/>
                </a:solidFill>
              </a:rPr>
              <a:t>Batch Processing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F8A55-3AFC-4F89-BFA5-45FA70D316E5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EC113-5606-4255-88F2-4B2AE22556A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Overview – </a:t>
            </a:r>
            <a:r>
              <a:rPr lang="en-US" altLang="en-US" sz="3800" b="1" dirty="0">
                <a:solidFill>
                  <a:srgbClr val="C00000"/>
                </a:solidFill>
              </a:rPr>
              <a:t>Batch Processing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On batch processing system:</a:t>
            </a:r>
          </a:p>
          <a:p>
            <a:pPr lvl="1"/>
            <a:r>
              <a:rPr lang="en-US" altLang="en-US" dirty="0"/>
              <a:t>No user interaction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Non-preemptive </a:t>
            </a:r>
            <a:r>
              <a:rPr lang="en-US" altLang="en-US" dirty="0"/>
              <a:t>scheduling is predominant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Scheduling algorithms are generally easier to understand and implement</a:t>
            </a:r>
          </a:p>
          <a:p>
            <a:pPr lvl="1"/>
            <a:r>
              <a:rPr lang="en-US" altLang="en-US" dirty="0"/>
              <a:t>Variant/Improvement are used for scheduling other type of systems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Three algorithms covered:</a:t>
            </a:r>
          </a:p>
          <a:p>
            <a:pPr lvl="1"/>
            <a:r>
              <a:rPr lang="en-US" altLang="en-US" b="1" dirty="0"/>
              <a:t>F</a:t>
            </a:r>
            <a:r>
              <a:rPr lang="en-US" altLang="en-US" dirty="0"/>
              <a:t>irst-</a:t>
            </a:r>
            <a:r>
              <a:rPr lang="en-US" altLang="en-US" b="1" dirty="0"/>
              <a:t>C</a:t>
            </a:r>
            <a:r>
              <a:rPr lang="en-US" altLang="en-US" dirty="0"/>
              <a:t>ome </a:t>
            </a:r>
            <a:r>
              <a:rPr lang="en-US" altLang="en-US" b="1" dirty="0"/>
              <a:t>F</a:t>
            </a:r>
            <a:r>
              <a:rPr lang="en-US" altLang="en-US" dirty="0"/>
              <a:t>irst </a:t>
            </a:r>
            <a:r>
              <a:rPr lang="en-US" altLang="en-US" b="1" dirty="0"/>
              <a:t>S</a:t>
            </a:r>
            <a:r>
              <a:rPr lang="en-US" altLang="en-US" dirty="0"/>
              <a:t>erved (</a:t>
            </a:r>
            <a:r>
              <a:rPr lang="en-US" altLang="en-US" b="1" dirty="0">
                <a:solidFill>
                  <a:srgbClr val="660066"/>
                </a:solidFill>
              </a:rPr>
              <a:t>FCFS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/>
              <a:t>S</a:t>
            </a:r>
            <a:r>
              <a:rPr lang="en-US" altLang="en-US" dirty="0"/>
              <a:t>hortest </a:t>
            </a:r>
            <a:r>
              <a:rPr lang="en-US" altLang="en-US" b="1" dirty="0"/>
              <a:t>J</a:t>
            </a:r>
            <a:r>
              <a:rPr lang="en-US" altLang="en-US" dirty="0"/>
              <a:t>ob </a:t>
            </a:r>
            <a:r>
              <a:rPr lang="en-US" altLang="en-US" b="1" dirty="0"/>
              <a:t>F</a:t>
            </a:r>
            <a:r>
              <a:rPr lang="en-US" altLang="en-US" dirty="0"/>
              <a:t>irst (</a:t>
            </a:r>
            <a:r>
              <a:rPr lang="en-US" altLang="en-US" b="1" dirty="0">
                <a:solidFill>
                  <a:srgbClr val="660066"/>
                </a:solidFill>
              </a:rPr>
              <a:t>SJF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/>
              <a:t>S</a:t>
            </a:r>
            <a:r>
              <a:rPr lang="en-US" altLang="en-US" dirty="0"/>
              <a:t>hortest </a:t>
            </a:r>
            <a:r>
              <a:rPr lang="en-US" altLang="en-US" b="1" dirty="0"/>
              <a:t>R</a:t>
            </a:r>
            <a:r>
              <a:rPr lang="en-US" altLang="en-US" dirty="0"/>
              <a:t>emaining </a:t>
            </a:r>
            <a:r>
              <a:rPr lang="en-US" altLang="en-US" b="1" dirty="0"/>
              <a:t>T</a:t>
            </a:r>
            <a:r>
              <a:rPr lang="en-US" altLang="en-US" dirty="0"/>
              <a:t>ime Next (</a:t>
            </a:r>
            <a:r>
              <a:rPr lang="en-US" altLang="en-US" b="1" dirty="0">
                <a:solidFill>
                  <a:srgbClr val="660066"/>
                </a:solidFill>
              </a:rPr>
              <a:t>SRT</a:t>
            </a:r>
            <a:r>
              <a:rPr lang="en-US" altLang="en-US" dirty="0"/>
              <a:t>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-76200" y="990599"/>
            <a:ext cx="9334500" cy="5400675"/>
            <a:chOff x="-76200" y="1066800"/>
            <a:chExt cx="9334500" cy="5400675"/>
          </a:xfrm>
        </p:grpSpPr>
        <p:pic>
          <p:nvPicPr>
            <p:cNvPr id="7" name="Picture 2" descr="http://cdn4.i-scmp.com/sites/default/files/styles/980x551/public/images/methode/2016/06/22/c118e27e-3782-11e6-9a6a-3421f730b241_1280x720.jpg?itok=igZcYgXQ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6200" y="1066800"/>
              <a:ext cx="9334500" cy="5400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ounded Rectangle 7"/>
            <p:cNvSpPr/>
            <p:nvPr/>
          </p:nvSpPr>
          <p:spPr bwMode="auto">
            <a:xfrm>
              <a:off x="228600" y="1219200"/>
              <a:ext cx="2590801" cy="1447800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2800" b="1" dirty="0">
                  <a:solidFill>
                    <a:srgbClr val="C00000"/>
                  </a:solidFill>
                </a:rPr>
                <a:t>Sunway </a:t>
              </a:r>
              <a:r>
                <a:rPr lang="en-US" sz="2800" b="1" dirty="0" err="1">
                  <a:solidFill>
                    <a:srgbClr val="C00000"/>
                  </a:solidFill>
                </a:rPr>
                <a:t>TaihuLight</a:t>
              </a:r>
              <a:endParaRPr lang="en-US" sz="2800" b="1" dirty="0">
                <a:solidFill>
                  <a:srgbClr val="C00000"/>
                </a:solidFill>
              </a:endParaRPr>
            </a:p>
            <a:p>
              <a:pPr lvl="0" algn="ctr"/>
              <a:r>
                <a:rPr lang="en-US" sz="2800" b="1" dirty="0">
                  <a:solidFill>
                    <a:srgbClr val="FF0000"/>
                  </a:solidFill>
                </a:rPr>
                <a:t>93 </a:t>
              </a:r>
              <a:r>
                <a:rPr lang="en-US" sz="2800" b="1" dirty="0" err="1">
                  <a:solidFill>
                    <a:srgbClr val="FF0000"/>
                  </a:solidFill>
                </a:rPr>
                <a:t>petaflops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F3840-5055-44E3-9AD2-4A66536AE0B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4000" b="1" dirty="0"/>
              <a:t>Criteria for </a:t>
            </a:r>
            <a:r>
              <a:rPr lang="en-US" altLang="en-US" sz="4000" b="1" dirty="0">
                <a:solidFill>
                  <a:srgbClr val="C00000"/>
                </a:solidFill>
              </a:rPr>
              <a:t>batch processing</a:t>
            </a:r>
          </a:p>
        </p:txBody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srgbClr val="660066"/>
                </a:solidFill>
              </a:rPr>
              <a:t>Turnaround time</a:t>
            </a:r>
            <a:r>
              <a:rPr lang="en-US" altLang="en-US" sz="28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400" dirty="0"/>
              <a:t>Total time taken, i.e. </a:t>
            </a:r>
            <a:r>
              <a:rPr lang="en-US" altLang="en-US" sz="2400" b="1" dirty="0"/>
              <a:t>[finish - start time]</a:t>
            </a:r>
          </a:p>
          <a:p>
            <a:pPr lvl="1"/>
            <a:r>
              <a:rPr lang="en-US" altLang="en-US" sz="2400" dirty="0"/>
              <a:t>Related to </a:t>
            </a:r>
            <a:r>
              <a:rPr lang="en-US" altLang="en-US" sz="2400" b="1" dirty="0">
                <a:solidFill>
                  <a:srgbClr val="C00000"/>
                </a:solidFill>
              </a:rPr>
              <a:t>waiting time</a:t>
            </a:r>
            <a:r>
              <a:rPr lang="en-US" altLang="en-US" sz="2400" dirty="0"/>
              <a:t>: time spent waiting for CPU</a:t>
            </a:r>
          </a:p>
          <a:p>
            <a:pPr lvl="1"/>
            <a:endParaRPr lang="en-US" altLang="en-US" sz="2400" dirty="0"/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700" b="1" dirty="0">
                <a:solidFill>
                  <a:srgbClr val="660066"/>
                </a:solidFill>
              </a:rPr>
              <a:t>Throughput</a:t>
            </a:r>
            <a:r>
              <a:rPr lang="en-US" altLang="en-US" sz="27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300" dirty="0"/>
              <a:t>Number of tasks finished per unit time</a:t>
            </a:r>
          </a:p>
          <a:p>
            <a:pPr lvl="1"/>
            <a:endParaRPr lang="en-US" altLang="en-US" sz="2300" dirty="0"/>
          </a:p>
          <a:p>
            <a:pPr lvl="1"/>
            <a:endParaRPr lang="en-US" altLang="en-US" sz="2300" dirty="0"/>
          </a:p>
          <a:p>
            <a:r>
              <a:rPr lang="en-US" altLang="en-US" sz="2700" b="1" dirty="0">
                <a:solidFill>
                  <a:srgbClr val="660066"/>
                </a:solidFill>
              </a:rPr>
              <a:t>CPU utilization</a:t>
            </a:r>
            <a:r>
              <a:rPr lang="en-US" altLang="en-US" sz="2700" dirty="0">
                <a:solidFill>
                  <a:srgbClr val="660066"/>
                </a:solidFill>
              </a:rPr>
              <a:t>: </a:t>
            </a:r>
          </a:p>
          <a:p>
            <a:pPr lvl="1"/>
            <a:r>
              <a:rPr lang="en-US" altLang="en-US" sz="2300" dirty="0"/>
              <a:t>Percentage of time when CPU is working on a task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F46E9-9630-476E-837F-7413A221B54B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First-Come First-Served: </a:t>
            </a:r>
            <a:r>
              <a:rPr lang="en-US" altLang="en-US" b="1" dirty="0">
                <a:solidFill>
                  <a:srgbClr val="C00000"/>
                </a:solidFill>
              </a:rPr>
              <a:t>FCFS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Guaranteed to have</a:t>
            </a:r>
            <a:r>
              <a:rPr lang="en-US" altLang="en-US" b="1" dirty="0">
                <a:solidFill>
                  <a:srgbClr val="C00000"/>
                </a:solidFill>
              </a:rPr>
              <a:t> no starvation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The number of tasks in front of task X in FIFO is always decreasing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 task X will get its chance eventually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8B5E2-94E2-48ED-B6A0-582C794C8CC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First-Come First-Served</a:t>
            </a:r>
            <a:r>
              <a:rPr lang="en-US" altLang="en-US" sz="3800" b="1" dirty="0"/>
              <a:t>: Illustration</a:t>
            </a:r>
          </a:p>
        </p:txBody>
      </p:sp>
      <p:sp>
        <p:nvSpPr>
          <p:cNvPr id="586756" name="Rectangle 4"/>
          <p:cNvSpPr>
            <a:spLocks noChangeArrowheads="1"/>
          </p:cNvSpPr>
          <p:nvPr/>
        </p:nvSpPr>
        <p:spPr bwMode="auto">
          <a:xfrm>
            <a:off x="685800" y="1295400"/>
            <a:ext cx="3429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A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8</a:t>
            </a:r>
            <a:r>
              <a:rPr lang="en-US" altLang="en-US" sz="2400" b="1"/>
              <a:t> TUs</a:t>
            </a:r>
          </a:p>
        </p:txBody>
      </p:sp>
      <p:sp>
        <p:nvSpPr>
          <p:cNvPr id="586757" name="Rectangle 5"/>
          <p:cNvSpPr>
            <a:spLocks noChangeArrowheads="1"/>
          </p:cNvSpPr>
          <p:nvPr/>
        </p:nvSpPr>
        <p:spPr bwMode="auto">
          <a:xfrm>
            <a:off x="4114800" y="1295400"/>
            <a:ext cx="23622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9900CC"/>
                </a:solidFill>
              </a:rPr>
              <a:t>B</a:t>
            </a:r>
            <a:r>
              <a:rPr lang="en-US" altLang="en-US" sz="2400" b="1" dirty="0"/>
              <a:t>: </a:t>
            </a:r>
            <a:r>
              <a:rPr lang="en-US" altLang="en-US" sz="2400" b="1" dirty="0">
                <a:solidFill>
                  <a:srgbClr val="0033CC"/>
                </a:solidFill>
              </a:rPr>
              <a:t>5</a:t>
            </a:r>
            <a:r>
              <a:rPr lang="en-US" altLang="en-US" sz="2400" b="1" dirty="0"/>
              <a:t> TUs</a:t>
            </a:r>
          </a:p>
        </p:txBody>
      </p:sp>
      <p:sp>
        <p:nvSpPr>
          <p:cNvPr id="586758" name="Rectangle 6"/>
          <p:cNvSpPr>
            <a:spLocks noChangeArrowheads="1"/>
          </p:cNvSpPr>
          <p:nvPr/>
        </p:nvSpPr>
        <p:spPr bwMode="auto">
          <a:xfrm>
            <a:off x="6477000" y="1295400"/>
            <a:ext cx="1600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9900CC"/>
                </a:solidFill>
              </a:rPr>
              <a:t>C</a:t>
            </a:r>
            <a:r>
              <a:rPr lang="en-US" altLang="en-US" sz="2400" b="1" dirty="0"/>
              <a:t>: </a:t>
            </a:r>
            <a:r>
              <a:rPr lang="en-US" altLang="en-US" sz="2400" b="1" dirty="0">
                <a:solidFill>
                  <a:srgbClr val="0033CC"/>
                </a:solidFill>
              </a:rPr>
              <a:t>3</a:t>
            </a:r>
            <a:r>
              <a:rPr lang="en-US" altLang="en-US" sz="2400" b="1" dirty="0"/>
              <a:t> TUs</a:t>
            </a:r>
          </a:p>
        </p:txBody>
      </p:sp>
      <p:sp>
        <p:nvSpPr>
          <p:cNvPr id="586759" name="Text Box 7"/>
          <p:cNvSpPr txBox="1">
            <a:spLocks noChangeArrowheads="1"/>
          </p:cNvSpPr>
          <p:nvPr/>
        </p:nvSpPr>
        <p:spPr bwMode="auto">
          <a:xfrm>
            <a:off x="2743200" y="990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Queue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093173"/>
              </p:ext>
            </p:extLst>
          </p:nvPr>
        </p:nvGraphicFramePr>
        <p:xfrm>
          <a:off x="381000" y="3276600"/>
          <a:ext cx="8433786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685800" y="1295400"/>
            <a:ext cx="3962400" cy="609600"/>
            <a:chOff x="4123267" y="1600200"/>
            <a:chExt cx="3962400" cy="609600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4123267" y="1600200"/>
              <a:ext cx="23622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B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5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6485467" y="1600200"/>
              <a:ext cx="1600200" cy="6096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C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3</a:t>
              </a:r>
              <a:r>
                <a:rPr lang="en-US" altLang="en-US" sz="2400" b="1"/>
                <a:t> TUs</a:t>
              </a:r>
            </a:p>
          </p:txBody>
        </p:sp>
      </p:grp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85800" y="1295400"/>
            <a:ext cx="1600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C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3</a:t>
            </a:r>
            <a:r>
              <a:rPr lang="en-US" altLang="en-US" sz="2400" b="1"/>
              <a:t> TUs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8534400" y="6629400"/>
            <a:ext cx="185423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6" grpId="0" animBg="1"/>
      <p:bldP spid="586756" grpId="1" animBg="1"/>
      <p:bldP spid="586757" grpId="0" animBg="1"/>
      <p:bldP spid="586757" grpId="1" animBg="1"/>
      <p:bldP spid="586758" grpId="0" animBg="1"/>
      <p:bldP spid="586758" grpId="1" animBg="1"/>
      <p:bldGraphic spid="10" grpId="0" uiExpand="1">
        <p:bldSub>
          <a:bldChart bld="seriesEl"/>
        </p:bldSub>
      </p:bldGraphic>
      <p:bldP spid="13" grpId="1" animBg="1"/>
      <p:bldP spid="13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B227C3-EA19-4E1B-A035-04F7D7F2DFB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First-Come First-Served: </a:t>
            </a:r>
            <a:r>
              <a:rPr lang="en-US" altLang="en-US" sz="3800" b="1" dirty="0">
                <a:solidFill>
                  <a:srgbClr val="C00000"/>
                </a:solidFill>
              </a:rPr>
              <a:t>Shortcomings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Simple reordering can reduce the </a:t>
            </a:r>
            <a:r>
              <a:rPr lang="en-US" altLang="en-US" b="1" dirty="0">
                <a:solidFill>
                  <a:srgbClr val="660066"/>
                </a:solidFill>
              </a:rPr>
              <a:t>average waiting time</a:t>
            </a:r>
            <a:r>
              <a:rPr lang="en-US" altLang="en-US" dirty="0"/>
              <a:t>!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C00000"/>
                </a:solidFill>
              </a:rPr>
              <a:t>Convoy Effect:</a:t>
            </a:r>
          </a:p>
          <a:p>
            <a:pPr lvl="1"/>
            <a:r>
              <a:rPr lang="en-US" altLang="en-US" dirty="0"/>
              <a:t>First task (task </a:t>
            </a:r>
            <a:r>
              <a:rPr lang="en-US" altLang="en-US" b="1" dirty="0"/>
              <a:t>A</a:t>
            </a:r>
            <a:r>
              <a:rPr lang="en-US" altLang="en-US" dirty="0"/>
              <a:t>) is CPU-Bound and followed by a number IO-Bound tasks </a:t>
            </a:r>
            <a:r>
              <a:rPr lang="en-US" altLang="en-US" b="1" dirty="0"/>
              <a:t>X</a:t>
            </a:r>
            <a:endParaRPr lang="en-US" altLang="en-US" dirty="0"/>
          </a:p>
          <a:p>
            <a:pPr lvl="1"/>
            <a:r>
              <a:rPr lang="en-US" altLang="en-US" dirty="0"/>
              <a:t>Tasks </a:t>
            </a:r>
            <a:r>
              <a:rPr lang="en-US" altLang="en-US" b="1" dirty="0"/>
              <a:t>A</a:t>
            </a:r>
            <a:r>
              <a:rPr lang="en-US" altLang="en-US" dirty="0"/>
              <a:t> running</a:t>
            </a:r>
          </a:p>
          <a:p>
            <a:pPr lvl="2"/>
            <a:r>
              <a:rPr lang="en-US" altLang="en-US" dirty="0"/>
              <a:t>All tasks </a:t>
            </a:r>
            <a:r>
              <a:rPr lang="en-US" altLang="en-US" b="1" dirty="0"/>
              <a:t>X</a:t>
            </a:r>
            <a:r>
              <a:rPr lang="en-US" altLang="en-US" dirty="0"/>
              <a:t> waiting in ready queue (</a:t>
            </a:r>
            <a:r>
              <a:rPr lang="en-US" altLang="en-US" dirty="0">
                <a:solidFill>
                  <a:schemeClr val="tx2"/>
                </a:solidFill>
              </a:rPr>
              <a:t>I/O device idling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Tasks </a:t>
            </a:r>
            <a:r>
              <a:rPr lang="en-US" altLang="en-US" b="1" dirty="0"/>
              <a:t>A</a:t>
            </a:r>
            <a:r>
              <a:rPr lang="en-US" altLang="en-US" dirty="0"/>
              <a:t> blocked on I/O</a:t>
            </a:r>
          </a:p>
          <a:p>
            <a:pPr lvl="2"/>
            <a:r>
              <a:rPr lang="en-US" altLang="en-US" dirty="0"/>
              <a:t>All tasks </a:t>
            </a:r>
            <a:r>
              <a:rPr lang="en-US" altLang="en-US" b="1" dirty="0"/>
              <a:t>X</a:t>
            </a:r>
            <a:r>
              <a:rPr lang="en-US" altLang="en-US" dirty="0"/>
              <a:t> execute quickly and blocked on I/O (</a:t>
            </a:r>
            <a:r>
              <a:rPr lang="en-US" altLang="en-US" dirty="0">
                <a:solidFill>
                  <a:schemeClr val="tx2"/>
                </a:solidFill>
              </a:rPr>
              <a:t>CPU idling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7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8D502D-7B6A-4B14-A143-930F67C41AF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</a:t>
            </a:r>
            <a:r>
              <a:rPr lang="en-US" altLang="en-US" dirty="0"/>
              <a:t>hortest </a:t>
            </a:r>
            <a:r>
              <a:rPr lang="en-US" altLang="en-US" b="1" dirty="0">
                <a:solidFill>
                  <a:srgbClr val="C00000"/>
                </a:solidFill>
              </a:rPr>
              <a:t>J</a:t>
            </a:r>
            <a:r>
              <a:rPr lang="en-US" altLang="en-US" dirty="0"/>
              <a:t>ob </a:t>
            </a:r>
            <a:r>
              <a:rPr lang="en-US" altLang="en-US" b="1" dirty="0">
                <a:solidFill>
                  <a:srgbClr val="C00000"/>
                </a:solidFill>
              </a:rPr>
              <a:t>F</a:t>
            </a:r>
            <a:r>
              <a:rPr lang="en-US" altLang="en-US" dirty="0"/>
              <a:t>irst: </a:t>
            </a:r>
            <a:r>
              <a:rPr lang="en-US" altLang="en-US" b="1" dirty="0">
                <a:solidFill>
                  <a:srgbClr val="C00000"/>
                </a:solidFill>
              </a:rPr>
              <a:t>SJF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Select task with the </a:t>
            </a:r>
            <a:r>
              <a:rPr lang="en-US" altLang="en-US" b="1" dirty="0">
                <a:solidFill>
                  <a:srgbClr val="660066"/>
                </a:solidFill>
              </a:rPr>
              <a:t>smallest total CPU time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Need to know </a:t>
            </a:r>
            <a:r>
              <a:rPr lang="en-US" altLang="en-US" b="1" dirty="0">
                <a:solidFill>
                  <a:srgbClr val="0033CC"/>
                </a:solidFill>
              </a:rPr>
              <a:t>total CPU time</a:t>
            </a:r>
            <a:r>
              <a:rPr lang="en-US" altLang="en-US" dirty="0"/>
              <a:t> for a task in advance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Given a fixed set of tasks:</a:t>
            </a:r>
          </a:p>
          <a:p>
            <a:pPr lvl="2"/>
            <a:r>
              <a:rPr lang="en-US" altLang="en-US" b="1" dirty="0"/>
              <a:t>Minimizes average waiting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B880D-A909-43E1-B8CF-01D939CE5F4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Shortest Job First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588803" name="Rectangle 3"/>
          <p:cNvSpPr>
            <a:spLocks noChangeArrowheads="1"/>
          </p:cNvSpPr>
          <p:nvPr/>
        </p:nvSpPr>
        <p:spPr bwMode="auto">
          <a:xfrm>
            <a:off x="838200" y="1295400"/>
            <a:ext cx="3429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A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8</a:t>
            </a:r>
            <a:r>
              <a:rPr lang="en-US" altLang="en-US" sz="2400" b="1"/>
              <a:t> TUs</a:t>
            </a:r>
          </a:p>
        </p:txBody>
      </p:sp>
      <p:sp>
        <p:nvSpPr>
          <p:cNvPr id="588804" name="Rectangle 4"/>
          <p:cNvSpPr>
            <a:spLocks noChangeArrowheads="1"/>
          </p:cNvSpPr>
          <p:nvPr/>
        </p:nvSpPr>
        <p:spPr bwMode="auto">
          <a:xfrm>
            <a:off x="4267200" y="1295400"/>
            <a:ext cx="23622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B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5</a:t>
            </a:r>
            <a:r>
              <a:rPr lang="en-US" altLang="en-US" sz="2400" b="1"/>
              <a:t> TUs</a:t>
            </a:r>
          </a:p>
        </p:txBody>
      </p:sp>
      <p:sp>
        <p:nvSpPr>
          <p:cNvPr id="588805" name="Rectangle 5"/>
          <p:cNvSpPr>
            <a:spLocks noChangeArrowheads="1"/>
          </p:cNvSpPr>
          <p:nvPr/>
        </p:nvSpPr>
        <p:spPr bwMode="auto">
          <a:xfrm>
            <a:off x="6629400" y="1295400"/>
            <a:ext cx="1600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solidFill>
                  <a:srgbClr val="9900CC"/>
                </a:solidFill>
              </a:rPr>
              <a:t>C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33CC"/>
                </a:solidFill>
              </a:rPr>
              <a:t>3</a:t>
            </a:r>
            <a:r>
              <a:rPr lang="en-US" altLang="en-US" sz="2400" b="1"/>
              <a:t> TUs</a:t>
            </a:r>
          </a:p>
        </p:txBody>
      </p:sp>
      <p:sp>
        <p:nvSpPr>
          <p:cNvPr id="588806" name="Text Box 6"/>
          <p:cNvSpPr txBox="1">
            <a:spLocks noChangeArrowheads="1"/>
          </p:cNvSpPr>
          <p:nvPr/>
        </p:nvSpPr>
        <p:spPr bwMode="auto">
          <a:xfrm>
            <a:off x="2895600" y="9906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Queue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6638106"/>
              </p:ext>
            </p:extLst>
          </p:nvPr>
        </p:nvGraphicFramePr>
        <p:xfrm>
          <a:off x="685800" y="2819400"/>
          <a:ext cx="789622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3" grpId="0" animBg="1"/>
      <p:bldP spid="588803" grpId="1" animBg="1"/>
      <p:bldP spid="588804" grpId="0" animBg="1"/>
      <p:bldP spid="588804" grpId="1" animBg="1"/>
      <p:bldP spid="588805" grpId="0" animBg="1"/>
      <p:bldP spid="588805" grpId="1" animBg="1"/>
      <p:bldGraphic spid="11" grpId="0" uiExpand="1">
        <p:bldSub>
          <a:bldChart bld="seriesEl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42FFFF-0A49-4EB4-ACAE-B5452F2A1B1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Shortest Job First: </a:t>
            </a:r>
            <a:r>
              <a:rPr lang="en-US" altLang="en-US" sz="3800" b="1" dirty="0">
                <a:solidFill>
                  <a:srgbClr val="C00000"/>
                </a:solidFill>
              </a:rPr>
              <a:t>Predicting CPU Time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Guess the </a:t>
            </a:r>
            <a:r>
              <a:rPr lang="en-US" altLang="en-US" b="1" dirty="0"/>
              <a:t>future CPU </a:t>
            </a:r>
            <a:r>
              <a:rPr lang="en-US" altLang="en-US" dirty="0"/>
              <a:t>time by the </a:t>
            </a:r>
            <a:r>
              <a:rPr lang="en-US" altLang="en-US" b="1" dirty="0"/>
              <a:t>previous CPU-Bound phases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Common approach (</a:t>
            </a:r>
            <a:r>
              <a:rPr lang="en-US" altLang="en-US" i="1" dirty="0">
                <a:solidFill>
                  <a:srgbClr val="C00000"/>
                </a:solidFill>
              </a:rPr>
              <a:t>Exponential Average</a:t>
            </a:r>
            <a:r>
              <a:rPr lang="en-US" altLang="en-US" dirty="0"/>
              <a:t>):</a:t>
            </a:r>
            <a:br>
              <a:rPr lang="en-US" altLang="en-US" dirty="0"/>
            </a:br>
            <a:endParaRPr lang="en-US" altLang="en-US" sz="1200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>
                <a:latin typeface="Courier New" pitchFamily="49" charset="0"/>
              </a:rPr>
              <a:t>n+1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l-GR" altLang="en-US" b="1" dirty="0">
                <a:latin typeface="Courier New" pitchFamily="49" charset="0"/>
                <a:cs typeface="Arial" charset="0"/>
              </a:rPr>
              <a:t>α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Actual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r>
              <a:rPr lang="en-US" altLang="en-US" b="1" dirty="0">
                <a:latin typeface="Courier New" pitchFamily="49" charset="0"/>
              </a:rPr>
              <a:t>+(1-</a:t>
            </a:r>
            <a:r>
              <a:rPr lang="el-GR" altLang="en-US" b="1" dirty="0">
                <a:latin typeface="Courier New" pitchFamily="49" charset="0"/>
                <a:cs typeface="Arial" charset="0"/>
              </a:rPr>
              <a:t>α</a:t>
            </a:r>
            <a:r>
              <a:rPr lang="en-US" altLang="en-US" b="1" dirty="0">
                <a:latin typeface="Courier New" pitchFamily="49" charset="0"/>
              </a:rPr>
              <a:t>)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Actual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dirty="0">
                <a:cs typeface="Arial" charset="0"/>
              </a:rPr>
              <a:t>=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sz="2200" dirty="0">
                <a:cs typeface="Arial" charset="0"/>
              </a:rPr>
              <a:t>The most recent CPU time consumed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 err="1">
                <a:latin typeface="Courier New" pitchFamily="49" charset="0"/>
              </a:rPr>
              <a:t>n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sz="2200" dirty="0">
                <a:cs typeface="Arial" charset="0"/>
              </a:rPr>
              <a:t>=</a:t>
            </a:r>
            <a:r>
              <a:rPr lang="en-US" altLang="en-US" b="1" baseline="-25000" dirty="0">
                <a:latin typeface="Courier New" pitchFamily="49" charset="0"/>
              </a:rPr>
              <a:t> </a:t>
            </a:r>
            <a:r>
              <a:rPr lang="en-US" altLang="en-US" sz="2200" dirty="0">
                <a:cs typeface="Arial" charset="0"/>
              </a:rPr>
              <a:t>The past history of CPU Time consumed</a:t>
            </a:r>
          </a:p>
          <a:p>
            <a:pPr lvl="1">
              <a:lnSpc>
                <a:spcPct val="90000"/>
              </a:lnSpc>
            </a:pPr>
            <a:r>
              <a:rPr lang="el-GR" altLang="en-US" b="1" dirty="0">
                <a:latin typeface="Courier New" pitchFamily="49" charset="0"/>
                <a:cs typeface="Arial" charset="0"/>
              </a:rPr>
              <a:t>α</a:t>
            </a:r>
            <a:r>
              <a:rPr lang="en-US" altLang="en-US" b="1" dirty="0">
                <a:latin typeface="Courier New" pitchFamily="49" charset="0"/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= </a:t>
            </a:r>
            <a:r>
              <a:rPr lang="en-US" altLang="en-US" sz="2200" dirty="0">
                <a:cs typeface="Arial" charset="0"/>
              </a:rPr>
              <a:t>Weight placed on recent event or past history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Predicted</a:t>
            </a:r>
            <a:r>
              <a:rPr lang="en-US" altLang="en-US" b="1" baseline="-25000" dirty="0">
                <a:latin typeface="Courier New" pitchFamily="49" charset="0"/>
              </a:rPr>
              <a:t>n+1 </a:t>
            </a:r>
            <a:r>
              <a:rPr lang="en-US" altLang="en-US" sz="2200" dirty="0">
                <a:cs typeface="Arial" charset="0"/>
              </a:rPr>
              <a:t>= Latest prediction</a:t>
            </a:r>
            <a:endParaRPr lang="en-US" altLang="en-US" b="1" baseline="-250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363D9-9551-4341-B5F9-EB95F4AE8EA4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</a:t>
            </a:r>
            <a:r>
              <a:rPr lang="en-US" altLang="en-US" dirty="0"/>
              <a:t>hortest </a:t>
            </a:r>
            <a:r>
              <a:rPr lang="en-US" altLang="en-US" b="1" dirty="0">
                <a:solidFill>
                  <a:srgbClr val="C00000"/>
                </a:solidFill>
              </a:rPr>
              <a:t>R</a:t>
            </a:r>
            <a:r>
              <a:rPr lang="en-US" altLang="en-US" dirty="0"/>
              <a:t>emaining </a:t>
            </a:r>
            <a:r>
              <a:rPr lang="en-US" altLang="en-US" b="1" dirty="0">
                <a:solidFill>
                  <a:srgbClr val="C00000"/>
                </a:solidFill>
              </a:rPr>
              <a:t>T</a:t>
            </a:r>
            <a:r>
              <a:rPr lang="en-US" altLang="en-US" dirty="0"/>
              <a:t>ime: </a:t>
            </a:r>
            <a:r>
              <a:rPr lang="en-US" altLang="en-US" b="1" dirty="0">
                <a:solidFill>
                  <a:srgbClr val="C00000"/>
                </a:solidFill>
              </a:rPr>
              <a:t>SRT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 </a:t>
            </a:r>
          </a:p>
          <a:p>
            <a:pPr lvl="1"/>
            <a:r>
              <a:rPr lang="en-US" altLang="en-US" dirty="0"/>
              <a:t>Variation of </a:t>
            </a:r>
            <a:r>
              <a:rPr lang="en-US" altLang="en-US" b="1" dirty="0">
                <a:solidFill>
                  <a:srgbClr val="C00000"/>
                </a:solidFill>
              </a:rPr>
              <a:t>SJF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Use remaining time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</a:rPr>
              <a:t>Preemptive</a:t>
            </a:r>
          </a:p>
          <a:p>
            <a:pPr lvl="1"/>
            <a:r>
              <a:rPr lang="en-US" altLang="en-US" dirty="0"/>
              <a:t>Select job with shortest remaining (or expected) time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New job with shorter remaining time </a:t>
            </a:r>
            <a:r>
              <a:rPr lang="en-US" altLang="en-US" b="1" dirty="0">
                <a:solidFill>
                  <a:srgbClr val="C00000"/>
                </a:solidFill>
              </a:rPr>
              <a:t>can preempt currently running job</a:t>
            </a:r>
          </a:p>
          <a:p>
            <a:pPr lvl="1"/>
            <a:r>
              <a:rPr lang="en-US" altLang="en-US" dirty="0"/>
              <a:t>Provide good service for short job even when it arrives 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481DB-BAAF-4511-AC66-BC549F2C90A6}" type="slidenum">
              <a:rPr lang="en-US" altLang="en-US"/>
              <a:pPr/>
              <a:t>24</a:t>
            </a:fld>
            <a:endParaRPr lang="en-US" altLang="en-US" dirty="0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Shortest Remaining Time First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592902" name="Text Box 6"/>
          <p:cNvSpPr txBox="1">
            <a:spLocks noChangeArrowheads="1"/>
          </p:cNvSpPr>
          <p:nvPr/>
        </p:nvSpPr>
        <p:spPr bwMode="auto">
          <a:xfrm>
            <a:off x="1714500" y="897467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Tasks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5800" y="1278466"/>
            <a:ext cx="6019800" cy="609600"/>
            <a:chOff x="685800" y="1295400"/>
            <a:chExt cx="6019800" cy="609600"/>
          </a:xfrm>
        </p:grpSpPr>
        <p:sp>
          <p:nvSpPr>
            <p:cNvPr id="592899" name="Rectangle 3"/>
            <p:cNvSpPr>
              <a:spLocks noChangeArrowheads="1"/>
            </p:cNvSpPr>
            <p:nvPr/>
          </p:nvSpPr>
          <p:spPr bwMode="auto">
            <a:xfrm>
              <a:off x="685800" y="1295400"/>
              <a:ext cx="3429000" cy="6096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A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8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592924" name="Text Box 28"/>
            <p:cNvSpPr txBox="1">
              <a:spLocks noChangeArrowheads="1"/>
            </p:cNvSpPr>
            <p:nvPr/>
          </p:nvSpPr>
          <p:spPr bwMode="auto">
            <a:xfrm>
              <a:off x="5257800" y="1371600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C00000"/>
                  </a:solidFill>
                </a:rPr>
                <a:t>0</a:t>
              </a:r>
            </a:p>
          </p:txBody>
        </p:sp>
      </p:grpSp>
      <p:sp>
        <p:nvSpPr>
          <p:cNvPr id="592926" name="Text Box 30"/>
          <p:cNvSpPr txBox="1">
            <a:spLocks noChangeArrowheads="1"/>
          </p:cNvSpPr>
          <p:nvPr/>
        </p:nvSpPr>
        <p:spPr bwMode="auto">
          <a:xfrm>
            <a:off x="5105400" y="872067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Arrival Time</a:t>
            </a:r>
          </a:p>
        </p:txBody>
      </p:sp>
      <p:grpSp>
        <p:nvGrpSpPr>
          <p:cNvPr id="592941" name="Group 45"/>
          <p:cNvGrpSpPr>
            <a:grpSpLocks/>
          </p:cNvGrpSpPr>
          <p:nvPr/>
        </p:nvGrpSpPr>
        <p:grpSpPr bwMode="auto">
          <a:xfrm>
            <a:off x="2514600" y="2023532"/>
            <a:ext cx="4191000" cy="609600"/>
            <a:chOff x="1584" y="1296"/>
            <a:chExt cx="2640" cy="38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92901" name="Rectangle 5"/>
            <p:cNvSpPr>
              <a:spLocks noChangeArrowheads="1"/>
            </p:cNvSpPr>
            <p:nvPr/>
          </p:nvSpPr>
          <p:spPr bwMode="auto">
            <a:xfrm>
              <a:off x="1584" y="1296"/>
              <a:ext cx="1008" cy="384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solidFill>
                    <a:srgbClr val="9900CC"/>
                  </a:solidFill>
                </a:rPr>
                <a:t>C</a:t>
              </a:r>
              <a:r>
                <a:rPr lang="en-US" altLang="en-US" sz="2400" b="1" dirty="0"/>
                <a:t>: </a:t>
              </a:r>
              <a:r>
                <a:rPr lang="en-US" altLang="en-US" sz="2400" b="1" dirty="0">
                  <a:solidFill>
                    <a:srgbClr val="0033CC"/>
                  </a:solidFill>
                </a:rPr>
                <a:t>3</a:t>
              </a:r>
              <a:r>
                <a:rPr lang="en-US" altLang="en-US" sz="2400" b="1" dirty="0"/>
                <a:t> TUs</a:t>
              </a:r>
            </a:p>
          </p:txBody>
        </p:sp>
        <p:sp>
          <p:nvSpPr>
            <p:cNvPr id="592927" name="Text Box 31"/>
            <p:cNvSpPr txBox="1">
              <a:spLocks noChangeArrowheads="1"/>
            </p:cNvSpPr>
            <p:nvPr/>
          </p:nvSpPr>
          <p:spPr bwMode="auto">
            <a:xfrm>
              <a:off x="3312" y="1296"/>
              <a:ext cx="9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592942" name="Group 46"/>
          <p:cNvGrpSpPr>
            <a:grpSpLocks/>
          </p:cNvGrpSpPr>
          <p:nvPr/>
        </p:nvGrpSpPr>
        <p:grpSpPr bwMode="auto">
          <a:xfrm>
            <a:off x="1752600" y="2743200"/>
            <a:ext cx="4953000" cy="609600"/>
            <a:chOff x="1104" y="1728"/>
            <a:chExt cx="3120" cy="38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92900" name="Rectangle 4"/>
            <p:cNvSpPr>
              <a:spLocks noChangeArrowheads="1"/>
            </p:cNvSpPr>
            <p:nvPr/>
          </p:nvSpPr>
          <p:spPr bwMode="auto">
            <a:xfrm>
              <a:off x="1104" y="1728"/>
              <a:ext cx="1488" cy="384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solidFill>
                    <a:srgbClr val="9900CC"/>
                  </a:solidFill>
                </a:rPr>
                <a:t>B</a:t>
              </a:r>
              <a:r>
                <a:rPr lang="en-US" altLang="en-US" sz="2400" b="1"/>
                <a:t>: </a:t>
              </a:r>
              <a:r>
                <a:rPr lang="en-US" altLang="en-US" sz="2400" b="1">
                  <a:solidFill>
                    <a:srgbClr val="0033CC"/>
                  </a:solidFill>
                </a:rPr>
                <a:t>5</a:t>
              </a:r>
              <a:r>
                <a:rPr lang="en-US" altLang="en-US" sz="2400" b="1"/>
                <a:t> TUs</a:t>
              </a:r>
            </a:p>
          </p:txBody>
        </p:sp>
        <p:sp>
          <p:nvSpPr>
            <p:cNvPr id="592928" name="Text Box 32"/>
            <p:cNvSpPr txBox="1">
              <a:spLocks noChangeArrowheads="1"/>
            </p:cNvSpPr>
            <p:nvPr/>
          </p:nvSpPr>
          <p:spPr bwMode="auto">
            <a:xfrm>
              <a:off x="3312" y="1776"/>
              <a:ext cx="9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/>
                <a:t>Time </a:t>
              </a:r>
              <a:r>
                <a:rPr lang="en-US" altLang="en-US" sz="2400" b="1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12574"/>
              </p:ext>
            </p:extLst>
          </p:nvPr>
        </p:nvGraphicFramePr>
        <p:xfrm>
          <a:off x="304800" y="3657600"/>
          <a:ext cx="8458200" cy="2676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Explosion 1 15"/>
          <p:cNvSpPr/>
          <p:nvPr/>
        </p:nvSpPr>
        <p:spPr>
          <a:xfrm>
            <a:off x="609600" y="4038600"/>
            <a:ext cx="685800" cy="685803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>
                                            <p:graphicEl>
                                              <a:chart seriesIdx="0" categoryIdx="0"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2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2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1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2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3" categoryIdx="0"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92898" grpId="0"/>
      <p:bldGraphic spid="17" grpId="0" uiExpand="1">
        <p:bldSub>
          <a:bldChart bld="seriesEl"/>
        </p:bldSub>
      </p:bldGraphic>
      <p:bldP spid="16" grpId="0" animBg="1"/>
    </p:bld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12424</TotalTime>
  <Words>1057</Words>
  <Application>Microsoft Macintosh PowerPoint</Application>
  <PresentationFormat>On-screen Show (4:3)</PresentationFormat>
  <Paragraphs>290</Paragraphs>
  <Slides>24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  <vt:variant>
        <vt:lpstr>Custom Shows</vt:lpstr>
      </vt:variant>
      <vt:variant>
        <vt:i4>1</vt:i4>
      </vt:variant>
    </vt:vector>
  </HeadingPairs>
  <TitlesOfParts>
    <vt:vector size="31" baseType="lpstr">
      <vt:lpstr>Arial</vt:lpstr>
      <vt:lpstr>Calibri</vt:lpstr>
      <vt:lpstr>Courier New</vt:lpstr>
      <vt:lpstr>Garamond</vt:lpstr>
      <vt:lpstr>Wingdings</vt:lpstr>
      <vt:lpstr>Edge</vt:lpstr>
      <vt:lpstr>Process Management Process Scheduling</vt:lpstr>
      <vt:lpstr>Overview</vt:lpstr>
      <vt:lpstr>Concurrent Execution</vt:lpstr>
      <vt:lpstr>Concurrency Example (Simplistic)</vt:lpstr>
      <vt:lpstr>Interleaved Execution (context switch)</vt:lpstr>
      <vt:lpstr>Multitasking OS</vt:lpstr>
      <vt:lpstr>Scheduling in OS: A definition </vt:lpstr>
      <vt:lpstr>Scheduling: Illustration</vt:lpstr>
      <vt:lpstr>Process Behavior</vt:lpstr>
      <vt:lpstr>3 Types of Processing Environment</vt:lpstr>
      <vt:lpstr>Criteria for Scheduling Algorithms</vt:lpstr>
      <vt:lpstr>When to perform scheduling?</vt:lpstr>
      <vt:lpstr>Scheduling a Process: Step-by-Step</vt:lpstr>
      <vt:lpstr>Scheduling for  Batch Processing</vt:lpstr>
      <vt:lpstr>Overview – Batch Processing</vt:lpstr>
      <vt:lpstr>Criteria for batch processing</vt:lpstr>
      <vt:lpstr>First-Come First-Served: FCFS</vt:lpstr>
      <vt:lpstr>First-Come First-Served: Illustration</vt:lpstr>
      <vt:lpstr>First-Come First-Served: Shortcomings</vt:lpstr>
      <vt:lpstr>Shortest Job First: SJF</vt:lpstr>
      <vt:lpstr>Shortest Job First: Illustration</vt:lpstr>
      <vt:lpstr>Shortest Job First: Predicting CPU Time</vt:lpstr>
      <vt:lpstr>Shortest Remaining Time: SRT</vt:lpstr>
      <vt:lpstr>Shortest Remaining Time First: Illustration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562</cp:revision>
  <cp:lastPrinted>1601-01-01T00:00:00Z</cp:lastPrinted>
  <dcterms:created xsi:type="dcterms:W3CDTF">1601-01-01T00:00:00Z</dcterms:created>
  <dcterms:modified xsi:type="dcterms:W3CDTF">2025-08-29T04:18:01Z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3a1cbd45-6d41-45e2-b480-1999be9cf844_Enabled">
    <vt:lpwstr>true</vt:lpwstr>
  </property>
  <property fmtid="{D5CDD505-2E9C-101B-9397-08002B2CF9AE}" pid="4" name="MSIP_Label_3a1cbd45-6d41-45e2-b480-1999be9cf844_SetDate">
    <vt:lpwstr>2024-03-04T09:09:32Z</vt:lpwstr>
  </property>
  <property fmtid="{D5CDD505-2E9C-101B-9397-08002B2CF9AE}" pid="5" name="MSIP_Label_3a1cbd45-6d41-45e2-b480-1999be9cf844_Method">
    <vt:lpwstr>Standard</vt:lpwstr>
  </property>
  <property fmtid="{D5CDD505-2E9C-101B-9397-08002B2CF9AE}" pid="6" name="MSIP_Label_3a1cbd45-6d41-45e2-b480-1999be9cf844_Name">
    <vt:lpwstr>NUS Restricted</vt:lpwstr>
  </property>
  <property fmtid="{D5CDD505-2E9C-101B-9397-08002B2CF9AE}" pid="7" name="MSIP_Label_3a1cbd45-6d41-45e2-b480-1999be9cf844_SiteId">
    <vt:lpwstr>5ba5ef5e-3109-4e77-85bd-cfeb0d347e82</vt:lpwstr>
  </property>
  <property fmtid="{D5CDD505-2E9C-101B-9397-08002B2CF9AE}" pid="8" name="MSIP_Label_3a1cbd45-6d41-45e2-b480-1999be9cf844_ActionId">
    <vt:lpwstr>9356d11e-3757-45b2-96d5-18bdd4e88a21</vt:lpwstr>
  </property>
  <property fmtid="{D5CDD505-2E9C-101B-9397-08002B2CF9AE}" pid="9" name="MSIP_Label_3a1cbd45-6d41-45e2-b480-1999be9cf844_ContentBits">
    <vt:lpwstr>2</vt:lpwstr>
  </property>
  <property fmtid="{D5CDD505-2E9C-101B-9397-08002B2CF9AE}" pid="10" name="ClassificationContentMarkingFooterLocations">
    <vt:lpwstr>Edge:3</vt:lpwstr>
  </property>
  <property fmtid="{D5CDD505-2E9C-101B-9397-08002B2CF9AE}" pid="11" name="ClassificationContentMarkingFooterText">
    <vt:lpwstr>## NUS Restricted ##</vt:lpwstr>
  </property>
</Properties>
</file>