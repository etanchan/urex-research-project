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87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ifhy51BwUPNOGa+3U6+jFlAAYq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0419D1-4DC5-4187-A15A-5B82C0571529}">
  <a:tblStyle styleId="{530419D1-4DC5-4187-A15A-5B82C057152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FEB"/>
          </a:solidFill>
        </a:fill>
      </a:tcStyle>
    </a:wholeTbl>
    <a:band1H>
      <a:tcTxStyle/>
      <a:tcStyle>
        <a:tcBdr/>
        <a:fill>
          <a:solidFill>
            <a:srgbClr val="CBDDD5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DDD5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57A58C1-75DC-40B4-BA66-D8CEEC0D13C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4"/>
    <p:restoredTop sz="94678"/>
  </p:normalViewPr>
  <p:slideViewPr>
    <p:cSldViewPr snapToGrid="0">
      <p:cViewPr varScale="1">
        <p:scale>
          <a:sx n="117" d="100"/>
          <a:sy n="117" d="100"/>
        </p:scale>
        <p:origin x="172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25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29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5" name="Google Shape;49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3"/>
          <p:cNvSpPr txBox="1">
            <a:spLocks noGrp="1"/>
          </p:cNvSpPr>
          <p:nvPr>
            <p:ph type="body" idx="1"/>
          </p:nvPr>
        </p:nvSpPr>
        <p:spPr>
          <a:xfrm>
            <a:off x="628650" y="930877"/>
            <a:ext cx="7886700" cy="524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4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3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6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6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3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7"/>
          <p:cNvSpPr txBox="1">
            <a:spLocks noGrp="1"/>
          </p:cNvSpPr>
          <p:nvPr>
            <p:ph type="title"/>
          </p:nvPr>
        </p:nvSpPr>
        <p:spPr>
          <a:xfrm>
            <a:off x="311700" y="593366"/>
            <a:ext cx="8520599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599" cy="4555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7"/>
          <p:cNvSpPr txBox="1">
            <a:spLocks noGrp="1"/>
          </p:cNvSpPr>
          <p:nvPr>
            <p:ph type="sldNum" idx="12"/>
          </p:nvPr>
        </p:nvSpPr>
        <p:spPr>
          <a:xfrm>
            <a:off x="8472457" y="6217622"/>
            <a:ext cx="548699" cy="52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/>
            </a:lvl1pPr>
            <a:lvl2pPr marL="0" lvl="1" indent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/>
            </a:lvl2pPr>
            <a:lvl3pPr marL="0" lvl="2" indent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/>
            </a:lvl3pPr>
            <a:lvl4pPr marL="0" lvl="3" indent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/>
            </a:lvl4pPr>
            <a:lvl5pPr marL="0" lvl="4" indent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/>
            </a:lvl5pPr>
            <a:lvl6pPr marL="0" lvl="5" indent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/>
            </a:lvl6pPr>
            <a:lvl7pPr marL="0" lvl="6" indent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/>
            </a:lvl7pPr>
            <a:lvl8pPr marL="0" lvl="7" indent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/>
            </a:lvl8pPr>
            <a:lvl9pPr marL="0" lvl="8" indent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8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38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9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9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39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3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1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41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4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2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2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42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4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3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3"/>
          <p:cNvSpPr txBox="1">
            <a:spLocks noGrp="1"/>
          </p:cNvSpPr>
          <p:nvPr>
            <p:ph type="body" idx="1"/>
          </p:nvPr>
        </p:nvSpPr>
        <p:spPr>
          <a:xfrm rot="5400000">
            <a:off x="1948957" y="-389430"/>
            <a:ext cx="5246086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4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4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4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4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628650" y="930877"/>
            <a:ext cx="7886700" cy="524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Topic Summary</a:t>
            </a:r>
            <a:endParaRPr/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628650" y="930877"/>
            <a:ext cx="7886700" cy="524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SG">
                <a:solidFill>
                  <a:srgbClr val="C00000"/>
                </a:solidFill>
              </a:rPr>
              <a:t>Tutorial 8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SG"/>
              <a:t>Question 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Program </a:t>
            </a:r>
            <a:r>
              <a:rPr lang="en-SG" b="1"/>
              <a:t>P</a:t>
            </a:r>
            <a:r>
              <a:rPr lang="en-SG"/>
              <a:t>:</a:t>
            </a:r>
            <a:endParaRPr/>
          </a:p>
        </p:txBody>
      </p:sp>
      <p:graphicFrame>
        <p:nvGraphicFramePr>
          <p:cNvPr id="112" name="Google Shape;112;p4"/>
          <p:cNvGraphicFramePr/>
          <p:nvPr/>
        </p:nvGraphicFramePr>
        <p:xfrm>
          <a:off x="3960890" y="1173006"/>
          <a:ext cx="847250" cy="54255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84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u="none" strike="noStrike" cap="none"/>
                        <a:t>Inst #</a:t>
                      </a:r>
                      <a:r>
                        <a:rPr lang="en-SG" sz="1800" b="1" u="none" strike="noStrike" cap="none"/>
                        <a:t>1</a:t>
                      </a:r>
                      <a:endParaRPr sz="180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Inst #</a:t>
                      </a:r>
                      <a:r>
                        <a:rPr lang="en-SG" sz="1800" b="1"/>
                        <a:t>2</a:t>
                      </a:r>
                      <a:endParaRPr sz="180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Inst #</a:t>
                      </a:r>
                      <a:r>
                        <a:rPr lang="en-SG" sz="1800" b="1"/>
                        <a:t>3</a:t>
                      </a:r>
                      <a:endParaRPr sz="180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Inst #</a:t>
                      </a:r>
                      <a:r>
                        <a:rPr lang="en-SG" sz="1800" b="1"/>
                        <a:t>4</a:t>
                      </a:r>
                      <a:endParaRPr sz="180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Inst #</a:t>
                      </a:r>
                      <a:r>
                        <a:rPr lang="en-SG" sz="1800" b="1"/>
                        <a:t>5</a:t>
                      </a:r>
                      <a:endParaRPr sz="180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Inst #</a:t>
                      </a:r>
                      <a:r>
                        <a:rPr lang="en-SG" sz="1800" b="1"/>
                        <a:t>6</a:t>
                      </a:r>
                      <a:endParaRPr sz="180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Data#</a:t>
                      </a:r>
                      <a:r>
                        <a:rPr lang="en-SG" sz="1800" b="1"/>
                        <a:t>1</a:t>
                      </a:r>
                      <a:endParaRPr sz="180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Data#</a:t>
                      </a:r>
                      <a:r>
                        <a:rPr lang="en-SG" sz="1800" b="1"/>
                        <a:t>2</a:t>
                      </a:r>
                      <a:endParaRPr sz="180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Data#</a:t>
                      </a:r>
                      <a:r>
                        <a:rPr lang="en-SG" sz="1800" b="1"/>
                        <a:t>3</a:t>
                      </a:r>
                      <a:endParaRPr sz="180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Data#</a:t>
                      </a:r>
                      <a:r>
                        <a:rPr lang="en-SG" sz="1800" b="1"/>
                        <a:t>4</a:t>
                      </a:r>
                      <a:endParaRPr sz="180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Data#</a:t>
                      </a:r>
                      <a:r>
                        <a:rPr lang="en-SG" sz="1800" b="1"/>
                        <a:t>5</a:t>
                      </a:r>
                      <a:endParaRPr sz="1800" b="1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SG" b="1">
                <a:solidFill>
                  <a:srgbClr val="C00000"/>
                </a:solidFill>
              </a:rPr>
              <a:t>P</a:t>
            </a:r>
            <a:r>
              <a:rPr lang="en-SG" b="1"/>
              <a:t>aging</a:t>
            </a:r>
            <a:endParaRPr b="1"/>
          </a:p>
        </p:txBody>
      </p:sp>
      <p:sp>
        <p:nvSpPr>
          <p:cNvPr id="118" name="Google Shape;118;p5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SG"/>
              <a:t>Perfectly sliced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 b="1"/>
              <a:t>Paging </a:t>
            </a:r>
            <a:endParaRPr b="1"/>
          </a:p>
        </p:txBody>
      </p:sp>
      <p:sp>
        <p:nvSpPr>
          <p:cNvPr id="124" name="Google Shape;124;p6"/>
          <p:cNvSpPr txBox="1"/>
          <p:nvPr/>
        </p:nvSpPr>
        <p:spPr>
          <a:xfrm>
            <a:off x="163901" y="6280030"/>
            <a:ext cx="71751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Size = 4 words | Logical Mem Size = 16 Words | Physical Frames = 16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5" name="Google Shape;125;p6"/>
          <p:cNvGraphicFramePr/>
          <p:nvPr/>
        </p:nvGraphicFramePr>
        <p:xfrm>
          <a:off x="5502691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F2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26" name="Google Shape;126;p6"/>
          <p:cNvGraphicFramePr/>
          <p:nvPr/>
        </p:nvGraphicFramePr>
        <p:xfrm>
          <a:off x="6371813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F4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F5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F6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F7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27" name="Google Shape;127;p6"/>
          <p:cNvGraphicFramePr/>
          <p:nvPr/>
        </p:nvGraphicFramePr>
        <p:xfrm>
          <a:off x="7181659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F8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F9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F10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28" name="Google Shape;128;p6"/>
          <p:cNvGraphicFramePr/>
          <p:nvPr/>
        </p:nvGraphicFramePr>
        <p:xfrm>
          <a:off x="8050781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F12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F14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F15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29" name="Google Shape;129;p6"/>
          <p:cNvGraphicFramePr/>
          <p:nvPr/>
        </p:nvGraphicFramePr>
        <p:xfrm>
          <a:off x="2105076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L0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L1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L2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L3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30" name="Google Shape;130;p6"/>
          <p:cNvGraphicFramePr/>
          <p:nvPr/>
        </p:nvGraphicFramePr>
        <p:xfrm>
          <a:off x="3671733" y="1942477"/>
          <a:ext cx="1055550" cy="18542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52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L#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 b="1"/>
              <a:t>Paging </a:t>
            </a:r>
            <a:endParaRPr b="1"/>
          </a:p>
        </p:txBody>
      </p:sp>
      <p:sp>
        <p:nvSpPr>
          <p:cNvPr id="136" name="Google Shape;136;p7"/>
          <p:cNvSpPr txBox="1"/>
          <p:nvPr/>
        </p:nvSpPr>
        <p:spPr>
          <a:xfrm>
            <a:off x="163901" y="6280030"/>
            <a:ext cx="71751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Size = 4 words | Logical Mem Size = 16 Words | Physical Frames = 16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7" name="Google Shape;137;p7"/>
          <p:cNvGraphicFramePr/>
          <p:nvPr/>
        </p:nvGraphicFramePr>
        <p:xfrm>
          <a:off x="5502691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F2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38" name="Google Shape;138;p7"/>
          <p:cNvGraphicFramePr/>
          <p:nvPr/>
        </p:nvGraphicFramePr>
        <p:xfrm>
          <a:off x="6371813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F4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F5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F6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F7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39" name="Google Shape;139;p7"/>
          <p:cNvGraphicFramePr/>
          <p:nvPr/>
        </p:nvGraphicFramePr>
        <p:xfrm>
          <a:off x="7181659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F8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F9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F10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40" name="Google Shape;140;p7"/>
          <p:cNvGraphicFramePr/>
          <p:nvPr/>
        </p:nvGraphicFramePr>
        <p:xfrm>
          <a:off x="8050781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F12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F14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F15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41" name="Google Shape;141;p7"/>
          <p:cNvGraphicFramePr/>
          <p:nvPr/>
        </p:nvGraphicFramePr>
        <p:xfrm>
          <a:off x="2105076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L0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1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2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3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4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L1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5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6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1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2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L2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3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4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5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L3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42" name="Google Shape;142;p7"/>
          <p:cNvGraphicFramePr/>
          <p:nvPr/>
        </p:nvGraphicFramePr>
        <p:xfrm>
          <a:off x="3671733" y="1942477"/>
          <a:ext cx="1055550" cy="18542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52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L#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5</a:t>
                      </a: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1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2</a:t>
                      </a: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2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10</a:t>
                      </a: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3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9</a:t>
                      </a: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 b="1"/>
              <a:t>Paging </a:t>
            </a:r>
            <a:endParaRPr b="1"/>
          </a:p>
        </p:txBody>
      </p:sp>
      <p:sp>
        <p:nvSpPr>
          <p:cNvPr id="148" name="Google Shape;148;p8"/>
          <p:cNvSpPr txBox="1"/>
          <p:nvPr/>
        </p:nvSpPr>
        <p:spPr>
          <a:xfrm>
            <a:off x="163901" y="6280030"/>
            <a:ext cx="71751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Size = 4 words | Logical Mem Size = 16 Words | Physical Frames = 16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" name="Google Shape;149;p8"/>
          <p:cNvGraphicFramePr/>
          <p:nvPr/>
        </p:nvGraphicFramePr>
        <p:xfrm>
          <a:off x="5502691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F2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5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6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1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2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50" name="Google Shape;150;p8"/>
          <p:cNvGraphicFramePr/>
          <p:nvPr/>
        </p:nvGraphicFramePr>
        <p:xfrm>
          <a:off x="6371813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F4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F5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1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2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3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4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F6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F7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51" name="Google Shape;151;p8"/>
          <p:cNvGraphicFramePr/>
          <p:nvPr/>
        </p:nvGraphicFramePr>
        <p:xfrm>
          <a:off x="7181659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F8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F9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F10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3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4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5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52" name="Google Shape;152;p8"/>
          <p:cNvGraphicFramePr/>
          <p:nvPr/>
        </p:nvGraphicFramePr>
        <p:xfrm>
          <a:off x="8050781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F12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F14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F15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53" name="Google Shape;153;p8"/>
          <p:cNvGraphicFramePr/>
          <p:nvPr/>
        </p:nvGraphicFramePr>
        <p:xfrm>
          <a:off x="2105076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L0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1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2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3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4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L1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5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6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1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2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L2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3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4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5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L3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54" name="Google Shape;154;p8"/>
          <p:cNvGraphicFramePr/>
          <p:nvPr/>
        </p:nvGraphicFramePr>
        <p:xfrm>
          <a:off x="3671733" y="1942477"/>
          <a:ext cx="1055550" cy="18542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52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L#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5</a:t>
                      </a: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1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2</a:t>
                      </a: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2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10</a:t>
                      </a: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3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9</a:t>
                      </a: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5" name="Google Shape;155;p8"/>
          <p:cNvGraphicFramePr/>
          <p:nvPr/>
        </p:nvGraphicFramePr>
        <p:xfrm>
          <a:off x="190862" y="4257608"/>
          <a:ext cx="1633925" cy="1854250"/>
        </p:xfrm>
        <a:graphic>
          <a:graphicData uri="http://schemas.openxmlformats.org/drawingml/2006/table">
            <a:tbl>
              <a:tblPr firstRow="1" bandRow="1">
                <a:noFill/>
                <a:tableStyleId>{530419D1-4DC5-4187-A15A-5B82C0571529}</a:tableStyleId>
              </a:tblPr>
              <a:tblGrid>
                <a:gridCol w="62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L.Addr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I#1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D#2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D#3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D#6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6" name="Google Shape;156;p8"/>
          <p:cNvGraphicFramePr/>
          <p:nvPr/>
        </p:nvGraphicFramePr>
        <p:xfrm>
          <a:off x="3764124" y="4257608"/>
          <a:ext cx="1232000" cy="1854250"/>
        </p:xfrm>
        <a:graphic>
          <a:graphicData uri="http://schemas.openxmlformats.org/drawingml/2006/table">
            <a:tbl>
              <a:tblPr firstRow="1" bandRow="1">
                <a:noFill/>
                <a:tableStyleId>{530419D1-4DC5-4187-A15A-5B82C0571529}</a:tableStyleId>
              </a:tblPr>
              <a:tblGrid>
                <a:gridCol w="12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P.Addr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6000"/>
              <a:buFont typeface="Calibri"/>
              <a:buNone/>
            </a:pPr>
            <a:r>
              <a:rPr lang="en-SG" b="1">
                <a:solidFill>
                  <a:srgbClr val="006600"/>
                </a:solidFill>
              </a:rPr>
              <a:t>S</a:t>
            </a:r>
            <a:r>
              <a:rPr lang="en-SG" b="1"/>
              <a:t>egmentation</a:t>
            </a:r>
            <a:endParaRPr b="1"/>
          </a:p>
        </p:txBody>
      </p:sp>
      <p:sp>
        <p:nvSpPr>
          <p:cNvPr id="162" name="Google Shape;162;p9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SG"/>
              <a:t>and… whose fault is it?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 b="1"/>
              <a:t>Segmentation</a:t>
            </a:r>
            <a:endParaRPr b="1"/>
          </a:p>
        </p:txBody>
      </p:sp>
      <p:sp>
        <p:nvSpPr>
          <p:cNvPr id="168" name="Google Shape;168;p10"/>
          <p:cNvSpPr txBox="1"/>
          <p:nvPr/>
        </p:nvSpPr>
        <p:spPr>
          <a:xfrm>
            <a:off x="163901" y="6280030"/>
            <a:ext cx="71751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= Segment 0 | Data = Segment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9" name="Google Shape;169;p10"/>
          <p:cNvGraphicFramePr/>
          <p:nvPr/>
        </p:nvGraphicFramePr>
        <p:xfrm>
          <a:off x="5027885" y="178368"/>
          <a:ext cx="9920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4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0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1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2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3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4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5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6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15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70" name="Google Shape;170;p10"/>
          <p:cNvGraphicFramePr/>
          <p:nvPr/>
        </p:nvGraphicFramePr>
        <p:xfrm>
          <a:off x="2429676" y="2492933"/>
          <a:ext cx="2454975" cy="11125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81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Seg#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Base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Limit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1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1" name="Google Shape;171;p10"/>
          <p:cNvGraphicFramePr/>
          <p:nvPr/>
        </p:nvGraphicFramePr>
        <p:xfrm>
          <a:off x="321369" y="930877"/>
          <a:ext cx="847250" cy="29668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84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Text</a:t>
                      </a: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72" name="Google Shape;172;p10"/>
          <p:cNvGraphicFramePr/>
          <p:nvPr/>
        </p:nvGraphicFramePr>
        <p:xfrm>
          <a:off x="1396741" y="930877"/>
          <a:ext cx="847250" cy="37085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84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Data</a:t>
                      </a: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73" name="Google Shape;173;p10"/>
          <p:cNvGraphicFramePr/>
          <p:nvPr/>
        </p:nvGraphicFramePr>
        <p:xfrm>
          <a:off x="6078308" y="178368"/>
          <a:ext cx="9920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4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16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31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74" name="Google Shape;174;p10"/>
          <p:cNvGraphicFramePr/>
          <p:nvPr/>
        </p:nvGraphicFramePr>
        <p:xfrm>
          <a:off x="7070346" y="178368"/>
          <a:ext cx="9920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4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32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47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75" name="Google Shape;175;p10"/>
          <p:cNvGraphicFramePr/>
          <p:nvPr/>
        </p:nvGraphicFramePr>
        <p:xfrm>
          <a:off x="8062384" y="178368"/>
          <a:ext cx="9920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4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48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63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 b="1"/>
              <a:t>Segmentation</a:t>
            </a:r>
            <a:endParaRPr b="1"/>
          </a:p>
        </p:txBody>
      </p:sp>
      <p:sp>
        <p:nvSpPr>
          <p:cNvPr id="181" name="Google Shape;181;p11"/>
          <p:cNvSpPr txBox="1"/>
          <p:nvPr/>
        </p:nvSpPr>
        <p:spPr>
          <a:xfrm>
            <a:off x="163901" y="6280030"/>
            <a:ext cx="71751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= Segment 0 | Data = Segment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2" name="Google Shape;182;p11"/>
          <p:cNvGraphicFramePr/>
          <p:nvPr/>
        </p:nvGraphicFramePr>
        <p:xfrm>
          <a:off x="5027885" y="178368"/>
          <a:ext cx="9920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4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0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1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2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3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4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5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6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15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83" name="Google Shape;183;p11"/>
          <p:cNvGraphicFramePr/>
          <p:nvPr/>
        </p:nvGraphicFramePr>
        <p:xfrm>
          <a:off x="363805" y="1515374"/>
          <a:ext cx="847250" cy="25959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84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Text</a:t>
                      </a: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Inst #</a:t>
                      </a:r>
                      <a:r>
                        <a:rPr lang="en-SG" sz="1800" b="1"/>
                        <a:t>1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Inst #</a:t>
                      </a:r>
                      <a:r>
                        <a:rPr lang="en-SG" sz="1800" b="1"/>
                        <a:t>2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Inst #</a:t>
                      </a:r>
                      <a:r>
                        <a:rPr lang="en-SG" sz="1800" b="1"/>
                        <a:t>3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Inst #</a:t>
                      </a:r>
                      <a:r>
                        <a:rPr lang="en-SG" sz="1800" b="1"/>
                        <a:t>4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Inst #</a:t>
                      </a:r>
                      <a:r>
                        <a:rPr lang="en-SG" sz="1800" b="1"/>
                        <a:t>5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Inst #</a:t>
                      </a:r>
                      <a:r>
                        <a:rPr lang="en-SG" sz="1800" b="1"/>
                        <a:t>6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4" name="Google Shape;184;p11"/>
          <p:cNvGraphicFramePr/>
          <p:nvPr/>
        </p:nvGraphicFramePr>
        <p:xfrm>
          <a:off x="1439177" y="1515374"/>
          <a:ext cx="847250" cy="35713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84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Data</a:t>
                      </a: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Data#</a:t>
                      </a:r>
                      <a:r>
                        <a:rPr lang="en-SG" sz="1800" b="1"/>
                        <a:t>1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Data#</a:t>
                      </a:r>
                      <a:r>
                        <a:rPr lang="en-SG" sz="1800" b="1"/>
                        <a:t>2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Data#</a:t>
                      </a:r>
                      <a:r>
                        <a:rPr lang="en-SG" sz="1800" b="1"/>
                        <a:t>3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Data#</a:t>
                      </a:r>
                      <a:r>
                        <a:rPr lang="en-SG" sz="1800" b="1"/>
                        <a:t>4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Data#</a:t>
                      </a:r>
                      <a:r>
                        <a:rPr lang="en-SG" sz="1800" b="1"/>
                        <a:t>5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85" name="Google Shape;185;p11"/>
          <p:cNvGraphicFramePr/>
          <p:nvPr/>
        </p:nvGraphicFramePr>
        <p:xfrm>
          <a:off x="6078308" y="178368"/>
          <a:ext cx="9920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4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16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31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86" name="Google Shape;186;p11"/>
          <p:cNvGraphicFramePr/>
          <p:nvPr/>
        </p:nvGraphicFramePr>
        <p:xfrm>
          <a:off x="7070346" y="178368"/>
          <a:ext cx="9920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4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32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47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87" name="Google Shape;187;p11"/>
          <p:cNvGraphicFramePr/>
          <p:nvPr/>
        </p:nvGraphicFramePr>
        <p:xfrm>
          <a:off x="8062384" y="178368"/>
          <a:ext cx="9920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4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48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63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88" name="Google Shape;188;p11"/>
          <p:cNvGraphicFramePr/>
          <p:nvPr/>
        </p:nvGraphicFramePr>
        <p:xfrm>
          <a:off x="2429676" y="2492933"/>
          <a:ext cx="2454975" cy="11125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81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Seg#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Base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Limit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50</a:t>
                      </a: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6</a:t>
                      </a:r>
                      <a:endParaRPr sz="1800"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1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23</a:t>
                      </a: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5</a:t>
                      </a:r>
                      <a:endParaRPr sz="1800"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 b="1"/>
              <a:t>Segmentation</a:t>
            </a:r>
            <a:endParaRPr b="1"/>
          </a:p>
        </p:txBody>
      </p:sp>
      <p:sp>
        <p:nvSpPr>
          <p:cNvPr id="194" name="Google Shape;194;p12"/>
          <p:cNvSpPr txBox="1"/>
          <p:nvPr/>
        </p:nvSpPr>
        <p:spPr>
          <a:xfrm>
            <a:off x="163901" y="6280030"/>
            <a:ext cx="71751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= Segment 0 | Data = Segment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5" name="Google Shape;195;p12"/>
          <p:cNvGraphicFramePr/>
          <p:nvPr/>
        </p:nvGraphicFramePr>
        <p:xfrm>
          <a:off x="5027885" y="178368"/>
          <a:ext cx="9920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4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0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1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2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3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4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5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6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15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96" name="Google Shape;196;p12"/>
          <p:cNvGraphicFramePr/>
          <p:nvPr/>
        </p:nvGraphicFramePr>
        <p:xfrm>
          <a:off x="363805" y="1515374"/>
          <a:ext cx="847250" cy="25959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84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Text</a:t>
                      </a: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Inst #</a:t>
                      </a:r>
                      <a:r>
                        <a:rPr lang="en-SG" sz="1800" b="1"/>
                        <a:t>1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Inst #</a:t>
                      </a:r>
                      <a:r>
                        <a:rPr lang="en-SG" sz="1800" b="1"/>
                        <a:t>2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Inst #</a:t>
                      </a:r>
                      <a:r>
                        <a:rPr lang="en-SG" sz="1800" b="1"/>
                        <a:t>3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Inst #</a:t>
                      </a:r>
                      <a:r>
                        <a:rPr lang="en-SG" sz="1800" b="1"/>
                        <a:t>4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Inst #</a:t>
                      </a:r>
                      <a:r>
                        <a:rPr lang="en-SG" sz="1800" b="1"/>
                        <a:t>5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Inst #</a:t>
                      </a:r>
                      <a:r>
                        <a:rPr lang="en-SG" sz="1800" b="1"/>
                        <a:t>6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97" name="Google Shape;197;p12"/>
          <p:cNvGraphicFramePr/>
          <p:nvPr/>
        </p:nvGraphicFramePr>
        <p:xfrm>
          <a:off x="1439177" y="1515374"/>
          <a:ext cx="847250" cy="35713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84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Data</a:t>
                      </a: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Data#</a:t>
                      </a:r>
                      <a:r>
                        <a:rPr lang="en-SG" sz="1800" b="1"/>
                        <a:t>1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Data#</a:t>
                      </a:r>
                      <a:r>
                        <a:rPr lang="en-SG" sz="1800" b="1"/>
                        <a:t>2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Data#</a:t>
                      </a:r>
                      <a:r>
                        <a:rPr lang="en-SG" sz="1800" b="1"/>
                        <a:t>3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Data#</a:t>
                      </a:r>
                      <a:r>
                        <a:rPr lang="en-SG" sz="1800" b="1"/>
                        <a:t>4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Data#</a:t>
                      </a:r>
                      <a:r>
                        <a:rPr lang="en-SG" sz="1800" b="1"/>
                        <a:t>5</a:t>
                      </a: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98" name="Google Shape;198;p12"/>
          <p:cNvGraphicFramePr/>
          <p:nvPr/>
        </p:nvGraphicFramePr>
        <p:xfrm>
          <a:off x="6078308" y="178368"/>
          <a:ext cx="9920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4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16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1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2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3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4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5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31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99" name="Google Shape;199;p12"/>
          <p:cNvGraphicFramePr/>
          <p:nvPr/>
        </p:nvGraphicFramePr>
        <p:xfrm>
          <a:off x="7070346" y="178368"/>
          <a:ext cx="9920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4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32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47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00" name="Google Shape;200;p12"/>
          <p:cNvGraphicFramePr/>
          <p:nvPr/>
        </p:nvGraphicFramePr>
        <p:xfrm>
          <a:off x="8062384" y="178368"/>
          <a:ext cx="9920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4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48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1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2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3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53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4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5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55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6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63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01" name="Google Shape;201;p12"/>
          <p:cNvGraphicFramePr/>
          <p:nvPr/>
        </p:nvGraphicFramePr>
        <p:xfrm>
          <a:off x="2429676" y="2492933"/>
          <a:ext cx="2454975" cy="11125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81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Seg#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Base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Limit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50</a:t>
                      </a: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6</a:t>
                      </a:r>
                      <a:endParaRPr sz="1800"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1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23</a:t>
                      </a: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5</a:t>
                      </a:r>
                      <a:endParaRPr sz="1800"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2" name="Google Shape;202;p12"/>
          <p:cNvGraphicFramePr/>
          <p:nvPr/>
        </p:nvGraphicFramePr>
        <p:xfrm>
          <a:off x="1341174" y="4240409"/>
          <a:ext cx="3248075" cy="1854250"/>
        </p:xfrm>
        <a:graphic>
          <a:graphicData uri="http://schemas.openxmlformats.org/drawingml/2006/table">
            <a:tbl>
              <a:tblPr firstRow="1" bandRow="1">
                <a:noFill/>
                <a:tableStyleId>{530419D1-4DC5-4187-A15A-5B82C0571529}</a:tableStyleId>
              </a:tblPr>
              <a:tblGrid>
                <a:gridCol w="77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L.Addr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P.Addr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I#1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D#2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D#3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D#6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5400"/>
              <a:buFont typeface="Calibri"/>
              <a:buNone/>
            </a:pPr>
            <a:r>
              <a:rPr lang="en-SG" sz="5400" b="1">
                <a:solidFill>
                  <a:srgbClr val="006600"/>
                </a:solidFill>
              </a:rPr>
              <a:t>S</a:t>
            </a:r>
            <a:r>
              <a:rPr lang="en-SG" sz="5400" b="1"/>
              <a:t>egmentation with </a:t>
            </a:r>
            <a:r>
              <a:rPr lang="en-SG" sz="5400" b="1">
                <a:solidFill>
                  <a:srgbClr val="C00000"/>
                </a:solidFill>
              </a:rPr>
              <a:t>P</a:t>
            </a:r>
            <a:r>
              <a:rPr lang="en-SG" sz="5400" b="1"/>
              <a:t>aging</a:t>
            </a:r>
            <a:endParaRPr sz="5400" b="1"/>
          </a:p>
        </p:txBody>
      </p:sp>
      <p:sp>
        <p:nvSpPr>
          <p:cNvPr id="208" name="Google Shape;208;p13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SG"/>
              <a:t>You know there is always this hybrid option…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 b="1"/>
              <a:t>Segment with Page </a:t>
            </a:r>
            <a:endParaRPr b="1"/>
          </a:p>
        </p:txBody>
      </p:sp>
      <p:sp>
        <p:nvSpPr>
          <p:cNvPr id="214" name="Google Shape;214;p14"/>
          <p:cNvSpPr txBox="1"/>
          <p:nvPr/>
        </p:nvSpPr>
        <p:spPr>
          <a:xfrm>
            <a:off x="163901" y="6280030"/>
            <a:ext cx="71751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Size = 4 words | Text = Segment 0 | Data = Segment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5" name="Google Shape;215;p14"/>
          <p:cNvGraphicFramePr/>
          <p:nvPr/>
        </p:nvGraphicFramePr>
        <p:xfrm>
          <a:off x="5502691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F2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16" name="Google Shape;216;p14"/>
          <p:cNvGraphicFramePr/>
          <p:nvPr/>
        </p:nvGraphicFramePr>
        <p:xfrm>
          <a:off x="6371813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F4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F5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F6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F7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17" name="Google Shape;217;p14"/>
          <p:cNvGraphicFramePr/>
          <p:nvPr/>
        </p:nvGraphicFramePr>
        <p:xfrm>
          <a:off x="7181659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F8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F9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F10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18" name="Google Shape;218;p14"/>
          <p:cNvGraphicFramePr/>
          <p:nvPr/>
        </p:nvGraphicFramePr>
        <p:xfrm>
          <a:off x="8050781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F12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F14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F15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19" name="Google Shape;219;p14"/>
          <p:cNvGraphicFramePr/>
          <p:nvPr/>
        </p:nvGraphicFramePr>
        <p:xfrm>
          <a:off x="2706885" y="2492933"/>
          <a:ext cx="2657600" cy="11125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70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b="1"/>
                        <a:t>Seg#</a:t>
                      </a:r>
                      <a:endParaRPr sz="16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b="1"/>
                        <a:t>PT.Base</a:t>
                      </a:r>
                      <a:endParaRPr sz="16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b="1"/>
                        <a:t>Pg.Limit</a:t>
                      </a:r>
                      <a:endParaRPr sz="16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1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0" name="Google Shape;220;p14"/>
          <p:cNvGraphicFramePr/>
          <p:nvPr/>
        </p:nvGraphicFramePr>
        <p:xfrm>
          <a:off x="225393" y="930877"/>
          <a:ext cx="1130075" cy="29668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37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Text</a:t>
                      </a: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P0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row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P1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21" name="Google Shape;221;p14"/>
          <p:cNvGraphicFramePr/>
          <p:nvPr/>
        </p:nvGraphicFramePr>
        <p:xfrm>
          <a:off x="2826513" y="4015641"/>
          <a:ext cx="1055550" cy="18542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52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L#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0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D9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1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D9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2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D9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3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D9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2" name="Google Shape;222;p14"/>
          <p:cNvGraphicFramePr/>
          <p:nvPr/>
        </p:nvGraphicFramePr>
        <p:xfrm>
          <a:off x="4139896" y="4015641"/>
          <a:ext cx="1055550" cy="18542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52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L#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0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1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2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3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3" name="Google Shape;223;p14"/>
          <p:cNvGraphicFramePr/>
          <p:nvPr/>
        </p:nvGraphicFramePr>
        <p:xfrm>
          <a:off x="1438611" y="930877"/>
          <a:ext cx="1130075" cy="40793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37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Data</a:t>
                      </a: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P0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P1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P2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 b="1"/>
              <a:t>Segment with Page </a:t>
            </a:r>
            <a:endParaRPr b="1"/>
          </a:p>
        </p:txBody>
      </p:sp>
      <p:sp>
        <p:nvSpPr>
          <p:cNvPr id="229" name="Google Shape;229;p15"/>
          <p:cNvSpPr txBox="1"/>
          <p:nvPr/>
        </p:nvSpPr>
        <p:spPr>
          <a:xfrm>
            <a:off x="163901" y="6280030"/>
            <a:ext cx="71751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Size = 4 words | Text = Segment 0 | Data = Segment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0" name="Google Shape;230;p15"/>
          <p:cNvGraphicFramePr/>
          <p:nvPr/>
        </p:nvGraphicFramePr>
        <p:xfrm>
          <a:off x="5502691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F2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31" name="Google Shape;231;p15"/>
          <p:cNvGraphicFramePr/>
          <p:nvPr/>
        </p:nvGraphicFramePr>
        <p:xfrm>
          <a:off x="6371813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F4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F5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F6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F7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32" name="Google Shape;232;p15"/>
          <p:cNvGraphicFramePr/>
          <p:nvPr/>
        </p:nvGraphicFramePr>
        <p:xfrm>
          <a:off x="7181659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F8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F9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F10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33" name="Google Shape;233;p15"/>
          <p:cNvGraphicFramePr/>
          <p:nvPr/>
        </p:nvGraphicFramePr>
        <p:xfrm>
          <a:off x="8050781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F12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F14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F15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34" name="Google Shape;234;p15"/>
          <p:cNvGraphicFramePr/>
          <p:nvPr/>
        </p:nvGraphicFramePr>
        <p:xfrm>
          <a:off x="2706885" y="2492933"/>
          <a:ext cx="2657600" cy="11125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70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b="1"/>
                        <a:t>Seg#</a:t>
                      </a:r>
                      <a:endParaRPr sz="16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b="1"/>
                        <a:t>PT.Base</a:t>
                      </a:r>
                      <a:endParaRPr sz="16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b="1"/>
                        <a:t>Pg.Limit</a:t>
                      </a:r>
                      <a:endParaRPr sz="16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2</a:t>
                      </a:r>
                      <a:endParaRPr sz="1800"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1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2</a:t>
                      </a:r>
                      <a:endParaRPr sz="1800"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5" name="Google Shape;235;p15"/>
          <p:cNvGraphicFramePr/>
          <p:nvPr/>
        </p:nvGraphicFramePr>
        <p:xfrm>
          <a:off x="225393" y="930877"/>
          <a:ext cx="1130075" cy="33376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37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Text</a:t>
                      </a: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P0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1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2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3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4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P1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5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6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36" name="Google Shape;236;p15"/>
          <p:cNvGraphicFramePr/>
          <p:nvPr/>
        </p:nvGraphicFramePr>
        <p:xfrm>
          <a:off x="2826513" y="4015641"/>
          <a:ext cx="1055550" cy="18542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52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L#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0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7</a:t>
                      </a: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D9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1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4</a:t>
                      </a: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D9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2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3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37" name="Google Shape;237;p15"/>
          <p:cNvGraphicFramePr/>
          <p:nvPr/>
        </p:nvGraphicFramePr>
        <p:xfrm>
          <a:off x="4139896" y="4015641"/>
          <a:ext cx="1055550" cy="18542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52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L#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0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9</a:t>
                      </a: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1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3</a:t>
                      </a: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2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3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38" name="Google Shape;238;p15"/>
          <p:cNvGraphicFramePr/>
          <p:nvPr/>
        </p:nvGraphicFramePr>
        <p:xfrm>
          <a:off x="1438611" y="930877"/>
          <a:ext cx="1130075" cy="33376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37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Data</a:t>
                      </a: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P0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1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2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3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4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P1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5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239" name="Google Shape;239;p15"/>
          <p:cNvCxnSpPr/>
          <p:nvPr/>
        </p:nvCxnSpPr>
        <p:spPr>
          <a:xfrm flipH="1">
            <a:off x="3354300" y="3036498"/>
            <a:ext cx="303300" cy="97920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lg" len="lg"/>
          </a:ln>
        </p:spPr>
      </p:cxnSp>
      <p:cxnSp>
        <p:nvCxnSpPr>
          <p:cNvPr id="240" name="Google Shape;240;p15"/>
          <p:cNvCxnSpPr/>
          <p:nvPr/>
        </p:nvCxnSpPr>
        <p:spPr>
          <a:xfrm>
            <a:off x="4037162" y="3441940"/>
            <a:ext cx="630600" cy="573600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lg" len="lg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 b="1"/>
              <a:t>Segment with Page </a:t>
            </a:r>
            <a:endParaRPr b="1"/>
          </a:p>
        </p:txBody>
      </p:sp>
      <p:sp>
        <p:nvSpPr>
          <p:cNvPr id="246" name="Google Shape;246;p16"/>
          <p:cNvSpPr txBox="1"/>
          <p:nvPr/>
        </p:nvSpPr>
        <p:spPr>
          <a:xfrm>
            <a:off x="163901" y="6280030"/>
            <a:ext cx="71751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Size = 4 words | Text = Segment 0 | Data = Segment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7" name="Google Shape;247;p16"/>
          <p:cNvGraphicFramePr/>
          <p:nvPr/>
        </p:nvGraphicFramePr>
        <p:xfrm>
          <a:off x="5502691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F2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5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7E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7E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48" name="Google Shape;248;p16"/>
          <p:cNvGraphicFramePr/>
          <p:nvPr/>
        </p:nvGraphicFramePr>
        <p:xfrm>
          <a:off x="6371813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F4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5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6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7E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F5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F6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F7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1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2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3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4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49" name="Google Shape;249;p16"/>
          <p:cNvGraphicFramePr/>
          <p:nvPr/>
        </p:nvGraphicFramePr>
        <p:xfrm>
          <a:off x="7181659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F8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F9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1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2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3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4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F10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50" name="Google Shape;250;p16"/>
          <p:cNvGraphicFramePr/>
          <p:nvPr/>
        </p:nvGraphicFramePr>
        <p:xfrm>
          <a:off x="8050781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F12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F14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F15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251" name="Google Shape;251;p16"/>
          <p:cNvGraphicFramePr/>
          <p:nvPr/>
        </p:nvGraphicFramePr>
        <p:xfrm>
          <a:off x="2706885" y="2492933"/>
          <a:ext cx="2657600" cy="11125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70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b="1"/>
                        <a:t>Seg#</a:t>
                      </a:r>
                      <a:endParaRPr sz="16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b="1"/>
                        <a:t>PT.Base</a:t>
                      </a:r>
                      <a:endParaRPr sz="16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 b="1"/>
                        <a:t>Pg.Limit</a:t>
                      </a:r>
                      <a:endParaRPr sz="16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2</a:t>
                      </a:r>
                      <a:endParaRPr sz="1800"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1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2</a:t>
                      </a:r>
                      <a:endParaRPr sz="1800"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2" name="Google Shape;252;p16"/>
          <p:cNvGraphicFramePr/>
          <p:nvPr/>
        </p:nvGraphicFramePr>
        <p:xfrm>
          <a:off x="225393" y="930877"/>
          <a:ext cx="1130075" cy="33376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37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Text</a:t>
                      </a: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P0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1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2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3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4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P1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5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I#</a:t>
                      </a:r>
                      <a:r>
                        <a:rPr lang="en-SG" sz="1600" b="1"/>
                        <a:t>6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7E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53" name="Google Shape;253;p16"/>
          <p:cNvGraphicFramePr/>
          <p:nvPr/>
        </p:nvGraphicFramePr>
        <p:xfrm>
          <a:off x="2826513" y="4015641"/>
          <a:ext cx="1055550" cy="18542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52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L#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0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7</a:t>
                      </a: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D9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1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4</a:t>
                      </a: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8D9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2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3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54" name="Google Shape;254;p16"/>
          <p:cNvGraphicFramePr/>
          <p:nvPr/>
        </p:nvGraphicFramePr>
        <p:xfrm>
          <a:off x="4139896" y="4015641"/>
          <a:ext cx="1055550" cy="18542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52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L#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0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9</a:t>
                      </a: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1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3</a:t>
                      </a: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2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3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55" name="Google Shape;255;p16"/>
          <p:cNvGraphicFramePr/>
          <p:nvPr/>
        </p:nvGraphicFramePr>
        <p:xfrm>
          <a:off x="1438611" y="930877"/>
          <a:ext cx="1130075" cy="33376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37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Data</a:t>
                      </a: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P0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1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2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3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4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P1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600"/>
                        <a:t>D#</a:t>
                      </a:r>
                      <a:r>
                        <a:rPr lang="en-SG" sz="1600" b="1"/>
                        <a:t>5</a:t>
                      </a:r>
                      <a:endParaRPr sz="16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7E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7E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E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256" name="Google Shape;256;p16"/>
          <p:cNvCxnSpPr/>
          <p:nvPr/>
        </p:nvCxnSpPr>
        <p:spPr>
          <a:xfrm flipH="1">
            <a:off x="3354300" y="3036498"/>
            <a:ext cx="303300" cy="97920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lg" len="lg"/>
          </a:ln>
        </p:spPr>
      </p:cxnSp>
      <p:cxnSp>
        <p:nvCxnSpPr>
          <p:cNvPr id="257" name="Google Shape;257;p16"/>
          <p:cNvCxnSpPr/>
          <p:nvPr/>
        </p:nvCxnSpPr>
        <p:spPr>
          <a:xfrm>
            <a:off x="4037162" y="3441940"/>
            <a:ext cx="630600" cy="573600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lg" len="lg"/>
          </a:ln>
        </p:spPr>
      </p:cxnSp>
      <p:graphicFrame>
        <p:nvGraphicFramePr>
          <p:cNvPr id="258" name="Google Shape;258;p16"/>
          <p:cNvGraphicFramePr/>
          <p:nvPr/>
        </p:nvGraphicFramePr>
        <p:xfrm>
          <a:off x="650539" y="4425830"/>
          <a:ext cx="2020850" cy="1854250"/>
        </p:xfrm>
        <a:graphic>
          <a:graphicData uri="http://schemas.openxmlformats.org/drawingml/2006/table">
            <a:tbl>
              <a:tblPr firstRow="1" bandRow="1">
                <a:noFill/>
                <a:tableStyleId>{530419D1-4DC5-4187-A15A-5B82C0571529}</a:tableStyleId>
              </a:tblPr>
              <a:tblGrid>
                <a:gridCol w="77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L.Addr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I#1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D#2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D#3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D#6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59" name="Google Shape;259;p16"/>
          <p:cNvGraphicFramePr/>
          <p:nvPr/>
        </p:nvGraphicFramePr>
        <p:xfrm>
          <a:off x="3613122" y="664133"/>
          <a:ext cx="1232000" cy="1828850"/>
        </p:xfrm>
        <a:graphic>
          <a:graphicData uri="http://schemas.openxmlformats.org/drawingml/2006/table">
            <a:tbl>
              <a:tblPr firstRow="1" bandRow="1">
                <a:noFill/>
                <a:tableStyleId>{530419D1-4DC5-4187-A15A-5B82C0571529}</a:tableStyleId>
              </a:tblPr>
              <a:tblGrid>
                <a:gridCol w="12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7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/>
                        <a:t>P.Addr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1E299-3630-7272-02F4-AEC744D93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52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SG">
                <a:solidFill>
                  <a:srgbClr val="C00000"/>
                </a:solidFill>
              </a:rPr>
              <a:t>Tutorial 8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66" name="Google Shape;266;p17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SG"/>
              <a:t>Question 2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The growing Heap</a:t>
            </a:r>
            <a:endParaRPr/>
          </a:p>
        </p:txBody>
      </p:sp>
      <p:grpSp>
        <p:nvGrpSpPr>
          <p:cNvPr id="272" name="Google Shape;272;p18"/>
          <p:cNvGrpSpPr/>
          <p:nvPr/>
        </p:nvGrpSpPr>
        <p:grpSpPr>
          <a:xfrm>
            <a:off x="1101638" y="1329334"/>
            <a:ext cx="1757650" cy="2830199"/>
            <a:chOff x="1524000" y="1143000"/>
            <a:chExt cx="1447800" cy="2178050"/>
          </a:xfrm>
        </p:grpSpPr>
        <p:sp>
          <p:nvSpPr>
            <p:cNvPr id="273" name="Google Shape;273;p18"/>
            <p:cNvSpPr/>
            <p:nvPr/>
          </p:nvSpPr>
          <p:spPr>
            <a:xfrm>
              <a:off x="1524000" y="1144424"/>
              <a:ext cx="1447800" cy="551026"/>
            </a:xfrm>
            <a:prstGeom prst="rect">
              <a:avLst/>
            </a:prstGeom>
            <a:solidFill>
              <a:srgbClr val="CCFF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1524000" y="1143000"/>
              <a:ext cx="1447800" cy="217805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1524000" y="2825750"/>
              <a:ext cx="1447800" cy="495300"/>
            </a:xfrm>
            <a:prstGeom prst="rect">
              <a:avLst/>
            </a:prstGeom>
            <a:solidFill>
              <a:srgbClr val="FF99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SG" sz="18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Heap</a:t>
              </a: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1524000" y="1695449"/>
              <a:ext cx="1447800" cy="1130300"/>
            </a:xfrm>
            <a:prstGeom prst="rect">
              <a:avLst/>
            </a:prstGeom>
            <a:solidFill>
              <a:srgbClr val="99CCF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77" name="Google Shape;277;p18"/>
          <p:cNvGrpSpPr/>
          <p:nvPr/>
        </p:nvGrpSpPr>
        <p:grpSpPr>
          <a:xfrm>
            <a:off x="1371601" y="4159533"/>
            <a:ext cx="1098431" cy="267422"/>
            <a:chOff x="3390182" y="4271677"/>
            <a:chExt cx="1098431" cy="267422"/>
          </a:xfrm>
        </p:grpSpPr>
        <p:sp>
          <p:nvSpPr>
            <p:cNvPr id="278" name="Google Shape;278;p18"/>
            <p:cNvSpPr/>
            <p:nvPr/>
          </p:nvSpPr>
          <p:spPr>
            <a:xfrm>
              <a:off x="3390182" y="4271680"/>
              <a:ext cx="250166" cy="26741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3816032" y="4271678"/>
              <a:ext cx="250166" cy="26741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8"/>
            <p:cNvSpPr/>
            <p:nvPr/>
          </p:nvSpPr>
          <p:spPr>
            <a:xfrm>
              <a:off x="4238447" y="4271677"/>
              <a:ext cx="250166" cy="26741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Contiguous: </a:t>
            </a:r>
            <a:r>
              <a:rPr lang="en-SG" b="1"/>
              <a:t>Fixed Partitioning</a:t>
            </a:r>
            <a:endParaRPr b="1"/>
          </a:p>
        </p:txBody>
      </p:sp>
      <p:grpSp>
        <p:nvGrpSpPr>
          <p:cNvPr id="286" name="Google Shape;286;p19"/>
          <p:cNvGrpSpPr/>
          <p:nvPr/>
        </p:nvGrpSpPr>
        <p:grpSpPr>
          <a:xfrm>
            <a:off x="1101638" y="1329334"/>
            <a:ext cx="1757650" cy="2830199"/>
            <a:chOff x="1524000" y="1143000"/>
            <a:chExt cx="1447800" cy="2178050"/>
          </a:xfrm>
        </p:grpSpPr>
        <p:sp>
          <p:nvSpPr>
            <p:cNvPr id="287" name="Google Shape;287;p19"/>
            <p:cNvSpPr/>
            <p:nvPr/>
          </p:nvSpPr>
          <p:spPr>
            <a:xfrm>
              <a:off x="1524000" y="1144424"/>
              <a:ext cx="1447800" cy="551026"/>
            </a:xfrm>
            <a:prstGeom prst="rect">
              <a:avLst/>
            </a:prstGeom>
            <a:solidFill>
              <a:srgbClr val="CCFF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1524000" y="1143000"/>
              <a:ext cx="1447800" cy="217805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1524000" y="2825750"/>
              <a:ext cx="1447800" cy="495300"/>
            </a:xfrm>
            <a:prstGeom prst="rect">
              <a:avLst/>
            </a:prstGeom>
            <a:solidFill>
              <a:srgbClr val="FF99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SG" sz="18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Heap</a:t>
              </a: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1524000" y="1695449"/>
              <a:ext cx="1447800" cy="1130300"/>
            </a:xfrm>
            <a:prstGeom prst="rect">
              <a:avLst/>
            </a:prstGeom>
            <a:solidFill>
              <a:srgbClr val="99CCF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91" name="Google Shape;291;p19"/>
          <p:cNvGrpSpPr/>
          <p:nvPr/>
        </p:nvGrpSpPr>
        <p:grpSpPr>
          <a:xfrm>
            <a:off x="1371601" y="4159533"/>
            <a:ext cx="1098431" cy="267422"/>
            <a:chOff x="3390182" y="4271677"/>
            <a:chExt cx="1098431" cy="267422"/>
          </a:xfrm>
        </p:grpSpPr>
        <p:sp>
          <p:nvSpPr>
            <p:cNvPr id="292" name="Google Shape;292;p19"/>
            <p:cNvSpPr/>
            <p:nvPr/>
          </p:nvSpPr>
          <p:spPr>
            <a:xfrm>
              <a:off x="3390182" y="4271680"/>
              <a:ext cx="250166" cy="26741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3816032" y="4271678"/>
              <a:ext cx="250166" cy="26741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4238447" y="4271677"/>
              <a:ext cx="250166" cy="26741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95" name="Google Shape;295;p19"/>
          <p:cNvGraphicFramePr/>
          <p:nvPr/>
        </p:nvGraphicFramePr>
        <p:xfrm>
          <a:off x="5718575" y="930874"/>
          <a:ext cx="1760525" cy="5484465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17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9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Physical Memory</a:t>
                      </a: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8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8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8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8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8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96" name="Google Shape;296;p19"/>
          <p:cNvGrpSpPr/>
          <p:nvPr/>
        </p:nvGrpSpPr>
        <p:grpSpPr>
          <a:xfrm>
            <a:off x="5721452" y="2525532"/>
            <a:ext cx="1757650" cy="648990"/>
            <a:chOff x="1524000" y="1143000"/>
            <a:chExt cx="1447800" cy="2178050"/>
          </a:xfrm>
        </p:grpSpPr>
        <p:sp>
          <p:nvSpPr>
            <p:cNvPr id="297" name="Google Shape;297;p19"/>
            <p:cNvSpPr/>
            <p:nvPr/>
          </p:nvSpPr>
          <p:spPr>
            <a:xfrm>
              <a:off x="1524000" y="1144424"/>
              <a:ext cx="1447800" cy="551026"/>
            </a:xfrm>
            <a:prstGeom prst="rect">
              <a:avLst/>
            </a:prstGeom>
            <a:solidFill>
              <a:srgbClr val="CCFF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98" name="Google Shape;298;p19"/>
            <p:cNvSpPr/>
            <p:nvPr/>
          </p:nvSpPr>
          <p:spPr>
            <a:xfrm>
              <a:off x="1524000" y="1143000"/>
              <a:ext cx="1447800" cy="217805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1524000" y="2825750"/>
              <a:ext cx="1447800" cy="495300"/>
            </a:xfrm>
            <a:prstGeom prst="rect">
              <a:avLst/>
            </a:prstGeom>
            <a:solidFill>
              <a:srgbClr val="FF99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SG" sz="18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Heap</a:t>
              </a: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1524000" y="1695449"/>
              <a:ext cx="1447800" cy="1130300"/>
            </a:xfrm>
            <a:prstGeom prst="rect">
              <a:avLst/>
            </a:prstGeom>
            <a:solidFill>
              <a:srgbClr val="99CCF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Contiguous: </a:t>
            </a:r>
            <a:r>
              <a:rPr lang="en-SG" b="1"/>
              <a:t>Dynamic Partitioning</a:t>
            </a:r>
            <a:endParaRPr b="1"/>
          </a:p>
        </p:txBody>
      </p:sp>
      <p:grpSp>
        <p:nvGrpSpPr>
          <p:cNvPr id="306" name="Google Shape;306;p20"/>
          <p:cNvGrpSpPr/>
          <p:nvPr/>
        </p:nvGrpSpPr>
        <p:grpSpPr>
          <a:xfrm>
            <a:off x="1101638" y="1329334"/>
            <a:ext cx="1757650" cy="2830199"/>
            <a:chOff x="1524000" y="1143000"/>
            <a:chExt cx="1447800" cy="2178050"/>
          </a:xfrm>
        </p:grpSpPr>
        <p:sp>
          <p:nvSpPr>
            <p:cNvPr id="307" name="Google Shape;307;p20"/>
            <p:cNvSpPr/>
            <p:nvPr/>
          </p:nvSpPr>
          <p:spPr>
            <a:xfrm>
              <a:off x="1524000" y="1144424"/>
              <a:ext cx="1447800" cy="551026"/>
            </a:xfrm>
            <a:prstGeom prst="rect">
              <a:avLst/>
            </a:prstGeom>
            <a:solidFill>
              <a:srgbClr val="CCFF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1524000" y="1143000"/>
              <a:ext cx="1447800" cy="217805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1524000" y="2825750"/>
              <a:ext cx="1447800" cy="495300"/>
            </a:xfrm>
            <a:prstGeom prst="rect">
              <a:avLst/>
            </a:prstGeom>
            <a:solidFill>
              <a:srgbClr val="FF99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SG" sz="18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Heap</a:t>
              </a: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1524000" y="1695449"/>
              <a:ext cx="1447800" cy="1130300"/>
            </a:xfrm>
            <a:prstGeom prst="rect">
              <a:avLst/>
            </a:prstGeom>
            <a:solidFill>
              <a:srgbClr val="99CCF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11" name="Google Shape;311;p20"/>
          <p:cNvGrpSpPr/>
          <p:nvPr/>
        </p:nvGrpSpPr>
        <p:grpSpPr>
          <a:xfrm>
            <a:off x="1371601" y="4159533"/>
            <a:ext cx="1098431" cy="267422"/>
            <a:chOff x="3390182" y="4271677"/>
            <a:chExt cx="1098431" cy="267422"/>
          </a:xfrm>
        </p:grpSpPr>
        <p:sp>
          <p:nvSpPr>
            <p:cNvPr id="312" name="Google Shape;312;p20"/>
            <p:cNvSpPr/>
            <p:nvPr/>
          </p:nvSpPr>
          <p:spPr>
            <a:xfrm>
              <a:off x="3390182" y="4271680"/>
              <a:ext cx="250166" cy="26741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20"/>
            <p:cNvSpPr/>
            <p:nvPr/>
          </p:nvSpPr>
          <p:spPr>
            <a:xfrm>
              <a:off x="3816032" y="4271678"/>
              <a:ext cx="250166" cy="26741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4238447" y="4271677"/>
              <a:ext cx="250166" cy="26741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15" name="Google Shape;315;p20"/>
          <p:cNvGraphicFramePr/>
          <p:nvPr/>
        </p:nvGraphicFramePr>
        <p:xfrm>
          <a:off x="5718575" y="930874"/>
          <a:ext cx="1760525" cy="5478375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17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3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Physical Memory</a:t>
                      </a: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16" name="Google Shape;316;p20"/>
          <p:cNvGrpSpPr/>
          <p:nvPr/>
        </p:nvGrpSpPr>
        <p:grpSpPr>
          <a:xfrm>
            <a:off x="5809521" y="3432906"/>
            <a:ext cx="1595887" cy="648990"/>
            <a:chOff x="1524000" y="1143000"/>
            <a:chExt cx="1447800" cy="2178050"/>
          </a:xfrm>
        </p:grpSpPr>
        <p:sp>
          <p:nvSpPr>
            <p:cNvPr id="317" name="Google Shape;317;p20"/>
            <p:cNvSpPr/>
            <p:nvPr/>
          </p:nvSpPr>
          <p:spPr>
            <a:xfrm>
              <a:off x="1524000" y="1144424"/>
              <a:ext cx="1447800" cy="551026"/>
            </a:xfrm>
            <a:prstGeom prst="rect">
              <a:avLst/>
            </a:prstGeom>
            <a:solidFill>
              <a:srgbClr val="CCFF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1524000" y="1143000"/>
              <a:ext cx="1447800" cy="217805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1524000" y="2825750"/>
              <a:ext cx="1447800" cy="495300"/>
            </a:xfrm>
            <a:prstGeom prst="rect">
              <a:avLst/>
            </a:prstGeom>
            <a:solidFill>
              <a:srgbClr val="FF99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SG" sz="18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Heap</a:t>
              </a: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20" name="Google Shape;320;p20"/>
            <p:cNvSpPr/>
            <p:nvPr/>
          </p:nvSpPr>
          <p:spPr>
            <a:xfrm>
              <a:off x="1524000" y="1695449"/>
              <a:ext cx="1447800" cy="1130300"/>
            </a:xfrm>
            <a:prstGeom prst="rect">
              <a:avLst/>
            </a:prstGeom>
            <a:solidFill>
              <a:srgbClr val="99CCF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Contiguous: </a:t>
            </a:r>
            <a:r>
              <a:rPr lang="en-SG" b="1"/>
              <a:t>Dynamic Partitioning</a:t>
            </a:r>
            <a:endParaRPr b="1"/>
          </a:p>
        </p:txBody>
      </p:sp>
      <p:grpSp>
        <p:nvGrpSpPr>
          <p:cNvPr id="326" name="Google Shape;326;p21"/>
          <p:cNvGrpSpPr/>
          <p:nvPr/>
        </p:nvGrpSpPr>
        <p:grpSpPr>
          <a:xfrm>
            <a:off x="1101638" y="1329334"/>
            <a:ext cx="1757650" cy="2830199"/>
            <a:chOff x="1524000" y="1143000"/>
            <a:chExt cx="1447800" cy="2178050"/>
          </a:xfrm>
        </p:grpSpPr>
        <p:sp>
          <p:nvSpPr>
            <p:cNvPr id="327" name="Google Shape;327;p21"/>
            <p:cNvSpPr/>
            <p:nvPr/>
          </p:nvSpPr>
          <p:spPr>
            <a:xfrm>
              <a:off x="1524000" y="1144424"/>
              <a:ext cx="1447800" cy="551026"/>
            </a:xfrm>
            <a:prstGeom prst="rect">
              <a:avLst/>
            </a:prstGeom>
            <a:solidFill>
              <a:srgbClr val="CCFF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28" name="Google Shape;328;p21"/>
            <p:cNvSpPr/>
            <p:nvPr/>
          </p:nvSpPr>
          <p:spPr>
            <a:xfrm>
              <a:off x="1524000" y="1143000"/>
              <a:ext cx="1447800" cy="217805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29" name="Google Shape;329;p21"/>
            <p:cNvSpPr/>
            <p:nvPr/>
          </p:nvSpPr>
          <p:spPr>
            <a:xfrm>
              <a:off x="1524000" y="2825750"/>
              <a:ext cx="1447800" cy="495300"/>
            </a:xfrm>
            <a:prstGeom prst="rect">
              <a:avLst/>
            </a:prstGeom>
            <a:solidFill>
              <a:srgbClr val="FF99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SG" sz="18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Heap</a:t>
              </a: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1524000" y="1695449"/>
              <a:ext cx="1447800" cy="1130300"/>
            </a:xfrm>
            <a:prstGeom prst="rect">
              <a:avLst/>
            </a:prstGeom>
            <a:solidFill>
              <a:srgbClr val="99CCF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31" name="Google Shape;331;p21"/>
          <p:cNvGrpSpPr/>
          <p:nvPr/>
        </p:nvGrpSpPr>
        <p:grpSpPr>
          <a:xfrm>
            <a:off x="1371601" y="4159533"/>
            <a:ext cx="1098431" cy="267422"/>
            <a:chOff x="3390182" y="4271677"/>
            <a:chExt cx="1098431" cy="267422"/>
          </a:xfrm>
        </p:grpSpPr>
        <p:sp>
          <p:nvSpPr>
            <p:cNvPr id="332" name="Google Shape;332;p21"/>
            <p:cNvSpPr/>
            <p:nvPr/>
          </p:nvSpPr>
          <p:spPr>
            <a:xfrm>
              <a:off x="3390182" y="4271680"/>
              <a:ext cx="250166" cy="26741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3816032" y="4271678"/>
              <a:ext cx="250166" cy="26741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1"/>
            <p:cNvSpPr/>
            <p:nvPr/>
          </p:nvSpPr>
          <p:spPr>
            <a:xfrm>
              <a:off x="4238447" y="4271677"/>
              <a:ext cx="250166" cy="26741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35" name="Google Shape;335;p21"/>
          <p:cNvGraphicFramePr/>
          <p:nvPr/>
        </p:nvGraphicFramePr>
        <p:xfrm>
          <a:off x="5718575" y="930874"/>
          <a:ext cx="1760525" cy="5478375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17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3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Physical Memory</a:t>
                      </a: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6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36" name="Google Shape;336;p21"/>
          <p:cNvGrpSpPr/>
          <p:nvPr/>
        </p:nvGrpSpPr>
        <p:grpSpPr>
          <a:xfrm>
            <a:off x="5809521" y="3432906"/>
            <a:ext cx="1595887" cy="648990"/>
            <a:chOff x="1524000" y="1143000"/>
            <a:chExt cx="1447800" cy="2178050"/>
          </a:xfrm>
        </p:grpSpPr>
        <p:sp>
          <p:nvSpPr>
            <p:cNvPr id="337" name="Google Shape;337;p21"/>
            <p:cNvSpPr/>
            <p:nvPr/>
          </p:nvSpPr>
          <p:spPr>
            <a:xfrm>
              <a:off x="1524000" y="1144424"/>
              <a:ext cx="1447800" cy="551026"/>
            </a:xfrm>
            <a:prstGeom prst="rect">
              <a:avLst/>
            </a:prstGeom>
            <a:solidFill>
              <a:srgbClr val="CCFF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38" name="Google Shape;338;p21"/>
            <p:cNvSpPr/>
            <p:nvPr/>
          </p:nvSpPr>
          <p:spPr>
            <a:xfrm>
              <a:off x="1524000" y="1143000"/>
              <a:ext cx="1447800" cy="217805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39" name="Google Shape;339;p21"/>
            <p:cNvSpPr/>
            <p:nvPr/>
          </p:nvSpPr>
          <p:spPr>
            <a:xfrm>
              <a:off x="1524000" y="2825750"/>
              <a:ext cx="1447800" cy="495300"/>
            </a:xfrm>
            <a:prstGeom prst="rect">
              <a:avLst/>
            </a:prstGeom>
            <a:solidFill>
              <a:srgbClr val="FF99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SG" sz="18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Heap</a:t>
              </a: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40" name="Google Shape;340;p21"/>
            <p:cNvSpPr/>
            <p:nvPr/>
          </p:nvSpPr>
          <p:spPr>
            <a:xfrm>
              <a:off x="1524000" y="1695449"/>
              <a:ext cx="1447800" cy="1130300"/>
            </a:xfrm>
            <a:prstGeom prst="rect">
              <a:avLst/>
            </a:prstGeom>
            <a:solidFill>
              <a:srgbClr val="99CCF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Disjoing: </a:t>
            </a:r>
            <a:r>
              <a:rPr lang="en-SG" b="1"/>
              <a:t>Paging </a:t>
            </a:r>
            <a:endParaRPr b="1"/>
          </a:p>
        </p:txBody>
      </p:sp>
      <p:graphicFrame>
        <p:nvGraphicFramePr>
          <p:cNvPr id="346" name="Google Shape;346;p22"/>
          <p:cNvGraphicFramePr/>
          <p:nvPr/>
        </p:nvGraphicFramePr>
        <p:xfrm>
          <a:off x="5502691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F2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347" name="Google Shape;347;p22"/>
          <p:cNvGraphicFramePr/>
          <p:nvPr/>
        </p:nvGraphicFramePr>
        <p:xfrm>
          <a:off x="6371813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F4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F5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F6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F7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348" name="Google Shape;348;p22"/>
          <p:cNvGraphicFramePr/>
          <p:nvPr/>
        </p:nvGraphicFramePr>
        <p:xfrm>
          <a:off x="7181659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F8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F9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F10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349" name="Google Shape;349;p22"/>
          <p:cNvGraphicFramePr/>
          <p:nvPr/>
        </p:nvGraphicFramePr>
        <p:xfrm>
          <a:off x="8050781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F12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F14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F15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350" name="Google Shape;350;p22"/>
          <p:cNvGraphicFramePr/>
          <p:nvPr/>
        </p:nvGraphicFramePr>
        <p:xfrm>
          <a:off x="1902316" y="1400691"/>
          <a:ext cx="1621775" cy="49472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48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20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L0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20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L1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20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L2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920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L3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351" name="Google Shape;351;p22"/>
          <p:cNvGraphicFramePr/>
          <p:nvPr/>
        </p:nvGraphicFramePr>
        <p:xfrm>
          <a:off x="3907438" y="2020115"/>
          <a:ext cx="1055550" cy="18542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52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L#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0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1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2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3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52" name="Google Shape;352;p22"/>
          <p:cNvGrpSpPr/>
          <p:nvPr/>
        </p:nvGrpSpPr>
        <p:grpSpPr>
          <a:xfrm>
            <a:off x="260091" y="1400691"/>
            <a:ext cx="1305842" cy="2830199"/>
            <a:chOff x="1524000" y="1143000"/>
            <a:chExt cx="1447800" cy="2178050"/>
          </a:xfrm>
        </p:grpSpPr>
        <p:sp>
          <p:nvSpPr>
            <p:cNvPr id="353" name="Google Shape;353;p22"/>
            <p:cNvSpPr/>
            <p:nvPr/>
          </p:nvSpPr>
          <p:spPr>
            <a:xfrm>
              <a:off x="1524000" y="1144424"/>
              <a:ext cx="1447800" cy="551026"/>
            </a:xfrm>
            <a:prstGeom prst="rect">
              <a:avLst/>
            </a:prstGeom>
            <a:solidFill>
              <a:srgbClr val="CCFF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1524000" y="1143000"/>
              <a:ext cx="1447800" cy="217805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1524000" y="2825750"/>
              <a:ext cx="1447800" cy="495300"/>
            </a:xfrm>
            <a:prstGeom prst="rect">
              <a:avLst/>
            </a:prstGeom>
            <a:solidFill>
              <a:srgbClr val="FF99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SG" sz="18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Heap</a:t>
              </a: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1524000" y="1695449"/>
              <a:ext cx="1447800" cy="1130300"/>
            </a:xfrm>
            <a:prstGeom prst="rect">
              <a:avLst/>
            </a:prstGeom>
            <a:solidFill>
              <a:srgbClr val="99CCF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57" name="Google Shape;357;p22"/>
          <p:cNvGrpSpPr/>
          <p:nvPr/>
        </p:nvGrpSpPr>
        <p:grpSpPr>
          <a:xfrm>
            <a:off x="363796" y="4230890"/>
            <a:ext cx="1098431" cy="267422"/>
            <a:chOff x="3390182" y="4271677"/>
            <a:chExt cx="1098431" cy="267422"/>
          </a:xfrm>
        </p:grpSpPr>
        <p:sp>
          <p:nvSpPr>
            <p:cNvPr id="358" name="Google Shape;358;p22"/>
            <p:cNvSpPr/>
            <p:nvPr/>
          </p:nvSpPr>
          <p:spPr>
            <a:xfrm>
              <a:off x="3390182" y="4271680"/>
              <a:ext cx="250166" cy="26741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3816032" y="4271678"/>
              <a:ext cx="250166" cy="26741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4238447" y="4271677"/>
              <a:ext cx="250166" cy="26741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" name="Google Shape;361;p22"/>
          <p:cNvGrpSpPr/>
          <p:nvPr/>
        </p:nvGrpSpPr>
        <p:grpSpPr>
          <a:xfrm>
            <a:off x="2428437" y="1400691"/>
            <a:ext cx="1012399" cy="2757242"/>
            <a:chOff x="1524000" y="1143000"/>
            <a:chExt cx="1447800" cy="2178050"/>
          </a:xfrm>
        </p:grpSpPr>
        <p:sp>
          <p:nvSpPr>
            <p:cNvPr id="362" name="Google Shape;362;p22"/>
            <p:cNvSpPr/>
            <p:nvPr/>
          </p:nvSpPr>
          <p:spPr>
            <a:xfrm>
              <a:off x="1524000" y="1144424"/>
              <a:ext cx="1447800" cy="487882"/>
            </a:xfrm>
            <a:prstGeom prst="rect">
              <a:avLst/>
            </a:prstGeom>
            <a:solidFill>
              <a:srgbClr val="CCFF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1524000" y="1143000"/>
              <a:ext cx="1447800" cy="217805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1524000" y="2825750"/>
              <a:ext cx="1447800" cy="495300"/>
            </a:xfrm>
            <a:prstGeom prst="rect">
              <a:avLst/>
            </a:prstGeom>
            <a:solidFill>
              <a:srgbClr val="FF99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SG" sz="18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Heap</a:t>
              </a: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1524000" y="1632307"/>
              <a:ext cx="1447800" cy="1218553"/>
            </a:xfrm>
            <a:prstGeom prst="rect">
              <a:avLst/>
            </a:prstGeom>
            <a:solidFill>
              <a:srgbClr val="99CCF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3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Disjoing: </a:t>
            </a:r>
            <a:r>
              <a:rPr lang="en-SG" b="1"/>
              <a:t>Paging </a:t>
            </a:r>
            <a:endParaRPr b="1"/>
          </a:p>
        </p:txBody>
      </p:sp>
      <p:graphicFrame>
        <p:nvGraphicFramePr>
          <p:cNvPr id="371" name="Google Shape;371;p23"/>
          <p:cNvGraphicFramePr/>
          <p:nvPr/>
        </p:nvGraphicFramePr>
        <p:xfrm>
          <a:off x="5502691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F2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372" name="Google Shape;372;p23"/>
          <p:cNvGraphicFramePr/>
          <p:nvPr/>
        </p:nvGraphicFramePr>
        <p:xfrm>
          <a:off x="6371813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F4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F5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F6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F7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373" name="Google Shape;373;p23"/>
          <p:cNvGraphicFramePr/>
          <p:nvPr/>
        </p:nvGraphicFramePr>
        <p:xfrm>
          <a:off x="7181659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F8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F9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F10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374" name="Google Shape;374;p23"/>
          <p:cNvGraphicFramePr/>
          <p:nvPr/>
        </p:nvGraphicFramePr>
        <p:xfrm>
          <a:off x="8050781" y="178368"/>
          <a:ext cx="7859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23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F12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F14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F15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375" name="Google Shape;375;p23"/>
          <p:cNvGraphicFramePr/>
          <p:nvPr/>
        </p:nvGraphicFramePr>
        <p:xfrm>
          <a:off x="1902316" y="1400691"/>
          <a:ext cx="1621775" cy="49472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48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200">
                <a:tc rowSpan="4"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L0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20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L1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20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L2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9200">
                <a:tc rowSpan="4"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1"/>
                        <a:t>L3</a:t>
                      </a:r>
                      <a:endParaRPr/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9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376" name="Google Shape;376;p23"/>
          <p:cNvGraphicFramePr/>
          <p:nvPr/>
        </p:nvGraphicFramePr>
        <p:xfrm>
          <a:off x="3907438" y="2020115"/>
          <a:ext cx="1055550" cy="18542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52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L#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F#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0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1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2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3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77" name="Google Shape;377;p23"/>
          <p:cNvGrpSpPr/>
          <p:nvPr/>
        </p:nvGrpSpPr>
        <p:grpSpPr>
          <a:xfrm>
            <a:off x="260091" y="1400691"/>
            <a:ext cx="1305842" cy="2830199"/>
            <a:chOff x="1524000" y="1143000"/>
            <a:chExt cx="1447800" cy="2178050"/>
          </a:xfrm>
        </p:grpSpPr>
        <p:sp>
          <p:nvSpPr>
            <p:cNvPr id="378" name="Google Shape;378;p23"/>
            <p:cNvSpPr/>
            <p:nvPr/>
          </p:nvSpPr>
          <p:spPr>
            <a:xfrm>
              <a:off x="1524000" y="1144424"/>
              <a:ext cx="1447800" cy="551026"/>
            </a:xfrm>
            <a:prstGeom prst="rect">
              <a:avLst/>
            </a:prstGeom>
            <a:solidFill>
              <a:srgbClr val="CCFF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79" name="Google Shape;379;p23"/>
            <p:cNvSpPr/>
            <p:nvPr/>
          </p:nvSpPr>
          <p:spPr>
            <a:xfrm>
              <a:off x="1524000" y="1143000"/>
              <a:ext cx="1447800" cy="217805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80" name="Google Shape;380;p23"/>
            <p:cNvSpPr/>
            <p:nvPr/>
          </p:nvSpPr>
          <p:spPr>
            <a:xfrm>
              <a:off x="1524000" y="2825750"/>
              <a:ext cx="1447800" cy="495300"/>
            </a:xfrm>
            <a:prstGeom prst="rect">
              <a:avLst/>
            </a:prstGeom>
            <a:solidFill>
              <a:srgbClr val="FF99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SG" sz="18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Heap</a:t>
              </a: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81" name="Google Shape;381;p23"/>
            <p:cNvSpPr/>
            <p:nvPr/>
          </p:nvSpPr>
          <p:spPr>
            <a:xfrm>
              <a:off x="1524000" y="1695449"/>
              <a:ext cx="1447800" cy="1130300"/>
            </a:xfrm>
            <a:prstGeom prst="rect">
              <a:avLst/>
            </a:prstGeom>
            <a:solidFill>
              <a:srgbClr val="99CCF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82" name="Google Shape;382;p23"/>
          <p:cNvGrpSpPr/>
          <p:nvPr/>
        </p:nvGrpSpPr>
        <p:grpSpPr>
          <a:xfrm>
            <a:off x="363796" y="4230890"/>
            <a:ext cx="1098431" cy="267422"/>
            <a:chOff x="3390182" y="4271677"/>
            <a:chExt cx="1098431" cy="267422"/>
          </a:xfrm>
        </p:grpSpPr>
        <p:sp>
          <p:nvSpPr>
            <p:cNvPr id="383" name="Google Shape;383;p23"/>
            <p:cNvSpPr/>
            <p:nvPr/>
          </p:nvSpPr>
          <p:spPr>
            <a:xfrm>
              <a:off x="3390182" y="4271680"/>
              <a:ext cx="250166" cy="26741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3"/>
            <p:cNvSpPr/>
            <p:nvPr/>
          </p:nvSpPr>
          <p:spPr>
            <a:xfrm>
              <a:off x="3816032" y="4271678"/>
              <a:ext cx="250166" cy="26741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23"/>
            <p:cNvSpPr/>
            <p:nvPr/>
          </p:nvSpPr>
          <p:spPr>
            <a:xfrm>
              <a:off x="4238447" y="4271677"/>
              <a:ext cx="250166" cy="26741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6" name="Google Shape;386;p23"/>
          <p:cNvGrpSpPr/>
          <p:nvPr/>
        </p:nvGrpSpPr>
        <p:grpSpPr>
          <a:xfrm>
            <a:off x="2428437" y="1400691"/>
            <a:ext cx="1012399" cy="3714773"/>
            <a:chOff x="1524000" y="1143000"/>
            <a:chExt cx="1447800" cy="2934440"/>
          </a:xfrm>
        </p:grpSpPr>
        <p:sp>
          <p:nvSpPr>
            <p:cNvPr id="387" name="Google Shape;387;p23"/>
            <p:cNvSpPr/>
            <p:nvPr/>
          </p:nvSpPr>
          <p:spPr>
            <a:xfrm>
              <a:off x="1524000" y="1144424"/>
              <a:ext cx="1447800" cy="487882"/>
            </a:xfrm>
            <a:prstGeom prst="rect">
              <a:avLst/>
            </a:prstGeom>
            <a:solidFill>
              <a:srgbClr val="CCFF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baseline="-2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88" name="Google Shape;388;p23"/>
            <p:cNvSpPr/>
            <p:nvPr/>
          </p:nvSpPr>
          <p:spPr>
            <a:xfrm>
              <a:off x="1524000" y="1143000"/>
              <a:ext cx="1447800" cy="217805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89" name="Google Shape;389;p23"/>
            <p:cNvSpPr/>
            <p:nvPr/>
          </p:nvSpPr>
          <p:spPr>
            <a:xfrm>
              <a:off x="1524000" y="2825750"/>
              <a:ext cx="1447800" cy="1251690"/>
            </a:xfrm>
            <a:prstGeom prst="rect">
              <a:avLst/>
            </a:prstGeom>
            <a:solidFill>
              <a:srgbClr val="FF99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SG" sz="18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Heap</a:t>
              </a: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90" name="Google Shape;390;p23"/>
            <p:cNvSpPr/>
            <p:nvPr/>
          </p:nvSpPr>
          <p:spPr>
            <a:xfrm>
              <a:off x="1524000" y="1632307"/>
              <a:ext cx="1447800" cy="1225367"/>
            </a:xfrm>
            <a:prstGeom prst="rect">
              <a:avLst/>
            </a:prstGeom>
            <a:solidFill>
              <a:srgbClr val="99CCFF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4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Disjoing:</a:t>
            </a:r>
            <a:r>
              <a:rPr lang="en-SG" b="1"/>
              <a:t>Segmentation</a:t>
            </a:r>
            <a:endParaRPr b="1"/>
          </a:p>
        </p:txBody>
      </p:sp>
      <p:graphicFrame>
        <p:nvGraphicFramePr>
          <p:cNvPr id="396" name="Google Shape;396;p24"/>
          <p:cNvGraphicFramePr/>
          <p:nvPr/>
        </p:nvGraphicFramePr>
        <p:xfrm>
          <a:off x="5027885" y="178368"/>
          <a:ext cx="9920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4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0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1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2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3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4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5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6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15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397" name="Google Shape;397;p24"/>
          <p:cNvGraphicFramePr/>
          <p:nvPr/>
        </p:nvGraphicFramePr>
        <p:xfrm>
          <a:off x="2429676" y="2492933"/>
          <a:ext cx="2454975" cy="11125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81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Seg#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Base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Limit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0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1</a:t>
                      </a:r>
                      <a:endParaRPr sz="1800" b="1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98" name="Google Shape;398;p24"/>
          <p:cNvGraphicFramePr/>
          <p:nvPr/>
        </p:nvGraphicFramePr>
        <p:xfrm>
          <a:off x="321369" y="930877"/>
          <a:ext cx="847250" cy="29668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84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….</a:t>
                      </a: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99" name="Google Shape;399;p24"/>
          <p:cNvGraphicFramePr/>
          <p:nvPr/>
        </p:nvGraphicFramePr>
        <p:xfrm>
          <a:off x="1396741" y="930877"/>
          <a:ext cx="847250" cy="185425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84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1"/>
                        <a:t>Heap</a:t>
                      </a:r>
                      <a:endParaRPr sz="1800" b="1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00" name="Google Shape;400;p24"/>
          <p:cNvGraphicFramePr/>
          <p:nvPr/>
        </p:nvGraphicFramePr>
        <p:xfrm>
          <a:off x="6078308" y="178368"/>
          <a:ext cx="9920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4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16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31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01" name="Google Shape;401;p24"/>
          <p:cNvGraphicFramePr/>
          <p:nvPr/>
        </p:nvGraphicFramePr>
        <p:xfrm>
          <a:off x="7070346" y="178368"/>
          <a:ext cx="9920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4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32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47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02" name="Google Shape;402;p24"/>
          <p:cNvGraphicFramePr/>
          <p:nvPr/>
        </p:nvGraphicFramePr>
        <p:xfrm>
          <a:off x="8062384" y="178368"/>
          <a:ext cx="992050" cy="5933600"/>
        </p:xfrm>
        <a:graphic>
          <a:graphicData uri="http://schemas.openxmlformats.org/drawingml/2006/table">
            <a:tbl>
              <a:tblPr>
                <a:noFill/>
                <a:tableStyleId>{530419D1-4DC5-4187-A15A-5B82C0571529}</a:tableStyleId>
              </a:tblPr>
              <a:tblGrid>
                <a:gridCol w="4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48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…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1800" b="0"/>
                        <a:t>63</a:t>
                      </a:r>
                      <a:endParaRPr sz="1800" b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/>
                    </a:p>
                  </a:txBody>
                  <a:tcPr marL="91450" marR="91450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03" name="Google Shape;403;p24"/>
          <p:cNvSpPr/>
          <p:nvPr/>
        </p:nvSpPr>
        <p:spPr>
          <a:xfrm>
            <a:off x="1434159" y="1309915"/>
            <a:ext cx="765577" cy="1475162"/>
          </a:xfrm>
          <a:prstGeom prst="rect">
            <a:avLst/>
          </a:prstGeom>
          <a:solidFill>
            <a:srgbClr val="FF99CC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Heap</a:t>
            </a:r>
            <a:endParaRPr sz="18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404" name="Google Shape;404;p24"/>
          <p:cNvGrpSpPr/>
          <p:nvPr/>
        </p:nvGrpSpPr>
        <p:grpSpPr>
          <a:xfrm>
            <a:off x="1479367" y="2785077"/>
            <a:ext cx="672581" cy="267420"/>
            <a:chOff x="789646" y="4230890"/>
            <a:chExt cx="672581" cy="267420"/>
          </a:xfrm>
        </p:grpSpPr>
        <p:sp>
          <p:nvSpPr>
            <p:cNvPr id="405" name="Google Shape;405;p24"/>
            <p:cNvSpPr/>
            <p:nvPr/>
          </p:nvSpPr>
          <p:spPr>
            <a:xfrm>
              <a:off x="789646" y="4230891"/>
              <a:ext cx="250166" cy="26741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24"/>
            <p:cNvSpPr/>
            <p:nvPr/>
          </p:nvSpPr>
          <p:spPr>
            <a:xfrm>
              <a:off x="1212061" y="4230890"/>
              <a:ext cx="250166" cy="267419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5705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7" name="Google Shape;407;p24"/>
          <p:cNvSpPr/>
          <p:nvPr/>
        </p:nvSpPr>
        <p:spPr>
          <a:xfrm>
            <a:off x="6556075" y="1669926"/>
            <a:ext cx="455886" cy="1475162"/>
          </a:xfrm>
          <a:prstGeom prst="rect">
            <a:avLst/>
          </a:prstGeom>
          <a:solidFill>
            <a:srgbClr val="FF99CC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Heap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5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SG">
                <a:solidFill>
                  <a:srgbClr val="C00000"/>
                </a:solidFill>
              </a:rPr>
              <a:t>Tutorial 8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414" name="Google Shape;414;p25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SG"/>
              <a:t>Question 3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6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a. DRAM = 50ns | Access a byte = ???</a:t>
            </a:r>
            <a:endParaRPr/>
          </a:p>
        </p:txBody>
      </p:sp>
      <p:sp>
        <p:nvSpPr>
          <p:cNvPr id="420" name="Google Shape;420;p26"/>
          <p:cNvSpPr/>
          <p:nvPr/>
        </p:nvSpPr>
        <p:spPr>
          <a:xfrm>
            <a:off x="657497" y="1671230"/>
            <a:ext cx="990600" cy="1219200"/>
          </a:xfrm>
          <a:prstGeom prst="rect">
            <a:avLst/>
          </a:prstGeom>
          <a:solidFill>
            <a:srgbClr val="D8EAD5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SG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/>
          </a:p>
        </p:txBody>
      </p:sp>
      <p:grpSp>
        <p:nvGrpSpPr>
          <p:cNvPr id="421" name="Google Shape;421;p26"/>
          <p:cNvGrpSpPr/>
          <p:nvPr/>
        </p:nvGrpSpPr>
        <p:grpSpPr>
          <a:xfrm>
            <a:off x="1648097" y="2128430"/>
            <a:ext cx="1828800" cy="304800"/>
            <a:chOff x="1648097" y="2128430"/>
            <a:chExt cx="1828800" cy="304800"/>
          </a:xfrm>
        </p:grpSpPr>
        <p:sp>
          <p:nvSpPr>
            <p:cNvPr id="422" name="Google Shape;422;p26"/>
            <p:cNvSpPr/>
            <p:nvPr/>
          </p:nvSpPr>
          <p:spPr>
            <a:xfrm>
              <a:off x="2410097" y="2128430"/>
              <a:ext cx="533400" cy="304800"/>
            </a:xfrm>
            <a:prstGeom prst="rect">
              <a:avLst/>
            </a:prstGeom>
            <a:solidFill>
              <a:srgbClr val="FBCB9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SG"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  <p:sp>
          <p:nvSpPr>
            <p:cNvPr id="423" name="Google Shape;423;p26"/>
            <p:cNvSpPr/>
            <p:nvPr/>
          </p:nvSpPr>
          <p:spPr>
            <a:xfrm>
              <a:off x="2943497" y="2128430"/>
              <a:ext cx="533400" cy="304800"/>
            </a:xfrm>
            <a:prstGeom prst="rect">
              <a:avLst/>
            </a:prstGeom>
            <a:solidFill>
              <a:srgbClr val="86C4E6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SG"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  <p:cxnSp>
          <p:nvCxnSpPr>
            <p:cNvPr id="424" name="Google Shape;424;p26"/>
            <p:cNvCxnSpPr>
              <a:stCxn id="420" idx="3"/>
              <a:endCxn id="422" idx="1"/>
            </p:cNvCxnSpPr>
            <p:nvPr/>
          </p:nvCxnSpPr>
          <p:spPr>
            <a:xfrm>
              <a:off x="1648097" y="2280830"/>
              <a:ext cx="7620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  <p:cxnSp>
        <p:nvCxnSpPr>
          <p:cNvPr id="425" name="Google Shape;425;p26"/>
          <p:cNvCxnSpPr>
            <a:stCxn id="423" idx="0"/>
            <a:endCxn id="426" idx="0"/>
          </p:cNvCxnSpPr>
          <p:nvPr/>
        </p:nvCxnSpPr>
        <p:spPr>
          <a:xfrm rot="-5400000">
            <a:off x="4761497" y="559730"/>
            <a:ext cx="17400" cy="3120000"/>
          </a:xfrm>
          <a:prstGeom prst="bentConnector3">
            <a:avLst>
              <a:gd name="adj1" fmla="val 1413888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lg" len="lg"/>
          </a:ln>
        </p:spPr>
      </p:cxnSp>
      <p:sp>
        <p:nvSpPr>
          <p:cNvPr id="427" name="Google Shape;427;p26"/>
          <p:cNvSpPr/>
          <p:nvPr/>
        </p:nvSpPr>
        <p:spPr>
          <a:xfrm>
            <a:off x="7010400" y="1355271"/>
            <a:ext cx="1524000" cy="5045529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SG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Memory</a:t>
            </a:r>
            <a:endParaRPr/>
          </a:p>
        </p:txBody>
      </p:sp>
      <p:grpSp>
        <p:nvGrpSpPr>
          <p:cNvPr id="428" name="Google Shape;428;p26"/>
          <p:cNvGrpSpPr/>
          <p:nvPr/>
        </p:nvGrpSpPr>
        <p:grpSpPr>
          <a:xfrm>
            <a:off x="5529999" y="2111013"/>
            <a:ext cx="1452098" cy="304800"/>
            <a:chOff x="5529999" y="2111013"/>
            <a:chExt cx="1452098" cy="304800"/>
          </a:xfrm>
        </p:grpSpPr>
        <p:sp>
          <p:nvSpPr>
            <p:cNvPr id="429" name="Google Shape;429;p26"/>
            <p:cNvSpPr/>
            <p:nvPr/>
          </p:nvSpPr>
          <p:spPr>
            <a:xfrm>
              <a:off x="5529999" y="2111013"/>
              <a:ext cx="533400" cy="304800"/>
            </a:xfrm>
            <a:prstGeom prst="rect">
              <a:avLst/>
            </a:prstGeom>
            <a:solidFill>
              <a:srgbClr val="FBCB9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SG"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426" name="Google Shape;426;p26"/>
            <p:cNvSpPr/>
            <p:nvPr/>
          </p:nvSpPr>
          <p:spPr>
            <a:xfrm>
              <a:off x="6063399" y="2111013"/>
              <a:ext cx="533400" cy="304800"/>
            </a:xfrm>
            <a:prstGeom prst="rect">
              <a:avLst/>
            </a:prstGeom>
            <a:solidFill>
              <a:srgbClr val="86C4E6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SG"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  <p:cxnSp>
          <p:nvCxnSpPr>
            <p:cNvPr id="430" name="Google Shape;430;p26"/>
            <p:cNvCxnSpPr/>
            <p:nvPr/>
          </p:nvCxnSpPr>
          <p:spPr>
            <a:xfrm>
              <a:off x="6596799" y="2253070"/>
              <a:ext cx="385298" cy="1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  <p:cxnSp>
        <p:nvCxnSpPr>
          <p:cNvPr id="431" name="Google Shape;431;p26"/>
          <p:cNvCxnSpPr>
            <a:stCxn id="432" idx="3"/>
            <a:endCxn id="429" idx="2"/>
          </p:cNvCxnSpPr>
          <p:nvPr/>
        </p:nvCxnSpPr>
        <p:spPr>
          <a:xfrm rot="10800000" flipH="1">
            <a:off x="4811546" y="2415771"/>
            <a:ext cx="985200" cy="2787600"/>
          </a:xfrm>
          <a:prstGeom prst="bent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lg" len="lg"/>
          </a:ln>
        </p:spPr>
      </p:cxnSp>
      <p:grpSp>
        <p:nvGrpSpPr>
          <p:cNvPr id="433" name="Google Shape;433;p26"/>
          <p:cNvGrpSpPr/>
          <p:nvPr/>
        </p:nvGrpSpPr>
        <p:grpSpPr>
          <a:xfrm>
            <a:off x="3723108" y="4580982"/>
            <a:ext cx="1303900" cy="1819818"/>
            <a:chOff x="3723108" y="4580982"/>
            <a:chExt cx="1303900" cy="1819818"/>
          </a:xfrm>
        </p:grpSpPr>
        <p:sp>
          <p:nvSpPr>
            <p:cNvPr id="434" name="Google Shape;434;p26"/>
            <p:cNvSpPr/>
            <p:nvPr/>
          </p:nvSpPr>
          <p:spPr>
            <a:xfrm>
              <a:off x="3933114" y="4580982"/>
              <a:ext cx="878432" cy="1428206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26"/>
            <p:cNvSpPr/>
            <p:nvPr/>
          </p:nvSpPr>
          <p:spPr>
            <a:xfrm>
              <a:off x="3933114" y="4996542"/>
              <a:ext cx="878432" cy="413658"/>
            </a:xfrm>
            <a:prstGeom prst="rect">
              <a:avLst/>
            </a:prstGeom>
            <a:solidFill>
              <a:srgbClr val="E59BA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SG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Frame #</a:t>
              </a:r>
              <a:endParaRPr/>
            </a:p>
          </p:txBody>
        </p:sp>
        <p:sp>
          <p:nvSpPr>
            <p:cNvPr id="435" name="Google Shape;435;p26"/>
            <p:cNvSpPr/>
            <p:nvPr/>
          </p:nvSpPr>
          <p:spPr>
            <a:xfrm>
              <a:off x="3723108" y="5948938"/>
              <a:ext cx="1303900" cy="4518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SG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Page Table</a:t>
              </a:r>
              <a:endParaRPr/>
            </a:p>
          </p:txBody>
        </p:sp>
      </p:grpSp>
      <p:cxnSp>
        <p:nvCxnSpPr>
          <p:cNvPr id="436" name="Google Shape;436;p26"/>
          <p:cNvCxnSpPr>
            <a:stCxn id="422" idx="2"/>
            <a:endCxn id="432" idx="1"/>
          </p:cNvCxnSpPr>
          <p:nvPr/>
        </p:nvCxnSpPr>
        <p:spPr>
          <a:xfrm rot="-5400000" flipH="1">
            <a:off x="1919897" y="3190130"/>
            <a:ext cx="2770200" cy="1256400"/>
          </a:xfrm>
          <a:prstGeom prst="bent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lg" len="lg"/>
          </a:ln>
        </p:spPr>
      </p:cxnSp>
      <p:grpSp>
        <p:nvGrpSpPr>
          <p:cNvPr id="437" name="Google Shape;437;p26"/>
          <p:cNvGrpSpPr/>
          <p:nvPr/>
        </p:nvGrpSpPr>
        <p:grpSpPr>
          <a:xfrm>
            <a:off x="3309969" y="4531448"/>
            <a:ext cx="541640" cy="465094"/>
            <a:chOff x="3309969" y="4531448"/>
            <a:chExt cx="541640" cy="304800"/>
          </a:xfrm>
        </p:grpSpPr>
        <p:sp>
          <p:nvSpPr>
            <p:cNvPr id="438" name="Google Shape;438;p26"/>
            <p:cNvSpPr/>
            <p:nvPr/>
          </p:nvSpPr>
          <p:spPr>
            <a:xfrm>
              <a:off x="3667356" y="4571727"/>
              <a:ext cx="184253" cy="226421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6"/>
            <p:cNvSpPr/>
            <p:nvPr/>
          </p:nvSpPr>
          <p:spPr>
            <a:xfrm>
              <a:off x="3309969" y="4531448"/>
              <a:ext cx="533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SG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7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b. DRAM = 50ns | Access a byte = ???</a:t>
            </a:r>
            <a:endParaRPr/>
          </a:p>
        </p:txBody>
      </p:sp>
      <p:sp>
        <p:nvSpPr>
          <p:cNvPr id="445" name="Google Shape;445;p27"/>
          <p:cNvSpPr/>
          <p:nvPr/>
        </p:nvSpPr>
        <p:spPr>
          <a:xfrm>
            <a:off x="657497" y="1671230"/>
            <a:ext cx="990600" cy="1219200"/>
          </a:xfrm>
          <a:prstGeom prst="rect">
            <a:avLst/>
          </a:prstGeom>
          <a:solidFill>
            <a:srgbClr val="D8EAD5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SG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/>
          </a:p>
        </p:txBody>
      </p:sp>
      <p:grpSp>
        <p:nvGrpSpPr>
          <p:cNvPr id="446" name="Google Shape;446;p27"/>
          <p:cNvGrpSpPr/>
          <p:nvPr/>
        </p:nvGrpSpPr>
        <p:grpSpPr>
          <a:xfrm>
            <a:off x="1648097" y="2128430"/>
            <a:ext cx="1828800" cy="304800"/>
            <a:chOff x="1648097" y="2128430"/>
            <a:chExt cx="1828800" cy="304800"/>
          </a:xfrm>
        </p:grpSpPr>
        <p:sp>
          <p:nvSpPr>
            <p:cNvPr id="447" name="Google Shape;447;p27"/>
            <p:cNvSpPr/>
            <p:nvPr/>
          </p:nvSpPr>
          <p:spPr>
            <a:xfrm>
              <a:off x="2410097" y="2128430"/>
              <a:ext cx="533400" cy="304800"/>
            </a:xfrm>
            <a:prstGeom prst="rect">
              <a:avLst/>
            </a:prstGeom>
            <a:solidFill>
              <a:srgbClr val="FBCB9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SG"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  <p:sp>
          <p:nvSpPr>
            <p:cNvPr id="448" name="Google Shape;448;p27"/>
            <p:cNvSpPr/>
            <p:nvPr/>
          </p:nvSpPr>
          <p:spPr>
            <a:xfrm>
              <a:off x="2943497" y="2128430"/>
              <a:ext cx="533400" cy="304800"/>
            </a:xfrm>
            <a:prstGeom prst="rect">
              <a:avLst/>
            </a:prstGeom>
            <a:solidFill>
              <a:srgbClr val="86C4E6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SG"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  <p:cxnSp>
          <p:nvCxnSpPr>
            <p:cNvPr id="449" name="Google Shape;449;p27"/>
            <p:cNvCxnSpPr>
              <a:stCxn id="445" idx="3"/>
              <a:endCxn id="447" idx="1"/>
            </p:cNvCxnSpPr>
            <p:nvPr/>
          </p:nvCxnSpPr>
          <p:spPr>
            <a:xfrm>
              <a:off x="1648097" y="2280830"/>
              <a:ext cx="7620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  <p:cxnSp>
        <p:nvCxnSpPr>
          <p:cNvPr id="450" name="Google Shape;450;p27"/>
          <p:cNvCxnSpPr>
            <a:stCxn id="448" idx="0"/>
            <a:endCxn id="451" idx="0"/>
          </p:cNvCxnSpPr>
          <p:nvPr/>
        </p:nvCxnSpPr>
        <p:spPr>
          <a:xfrm rot="-5400000">
            <a:off x="4761497" y="559730"/>
            <a:ext cx="17400" cy="3120000"/>
          </a:xfrm>
          <a:prstGeom prst="bentConnector3">
            <a:avLst>
              <a:gd name="adj1" fmla="val 1413888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lg" len="lg"/>
          </a:ln>
        </p:spPr>
      </p:cxnSp>
      <p:sp>
        <p:nvSpPr>
          <p:cNvPr id="452" name="Google Shape;452;p27"/>
          <p:cNvSpPr/>
          <p:nvPr/>
        </p:nvSpPr>
        <p:spPr>
          <a:xfrm>
            <a:off x="7010400" y="1355271"/>
            <a:ext cx="1524000" cy="5045529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SG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Memory</a:t>
            </a:r>
            <a:endParaRPr/>
          </a:p>
        </p:txBody>
      </p:sp>
      <p:grpSp>
        <p:nvGrpSpPr>
          <p:cNvPr id="453" name="Google Shape;453;p27"/>
          <p:cNvGrpSpPr/>
          <p:nvPr/>
        </p:nvGrpSpPr>
        <p:grpSpPr>
          <a:xfrm>
            <a:off x="5529999" y="2111013"/>
            <a:ext cx="1452098" cy="304800"/>
            <a:chOff x="5529999" y="2111013"/>
            <a:chExt cx="1452098" cy="304800"/>
          </a:xfrm>
        </p:grpSpPr>
        <p:sp>
          <p:nvSpPr>
            <p:cNvPr id="454" name="Google Shape;454;p27"/>
            <p:cNvSpPr/>
            <p:nvPr/>
          </p:nvSpPr>
          <p:spPr>
            <a:xfrm>
              <a:off x="5529999" y="2111013"/>
              <a:ext cx="533400" cy="304800"/>
            </a:xfrm>
            <a:prstGeom prst="rect">
              <a:avLst/>
            </a:prstGeom>
            <a:solidFill>
              <a:srgbClr val="FBCB9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SG"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6063399" y="2111013"/>
              <a:ext cx="533400" cy="304800"/>
            </a:xfrm>
            <a:prstGeom prst="rect">
              <a:avLst/>
            </a:prstGeom>
            <a:solidFill>
              <a:srgbClr val="86C4E6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SG"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  <p:cxnSp>
          <p:nvCxnSpPr>
            <p:cNvPr id="455" name="Google Shape;455;p27"/>
            <p:cNvCxnSpPr/>
            <p:nvPr/>
          </p:nvCxnSpPr>
          <p:spPr>
            <a:xfrm>
              <a:off x="6596799" y="2253070"/>
              <a:ext cx="385298" cy="1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  <p:cxnSp>
        <p:nvCxnSpPr>
          <p:cNvPr id="456" name="Google Shape;456;p27"/>
          <p:cNvCxnSpPr>
            <a:stCxn id="457" idx="3"/>
            <a:endCxn id="454" idx="2"/>
          </p:cNvCxnSpPr>
          <p:nvPr/>
        </p:nvCxnSpPr>
        <p:spPr>
          <a:xfrm rot="10800000" flipH="1">
            <a:off x="5043617" y="2415878"/>
            <a:ext cx="753000" cy="705600"/>
          </a:xfrm>
          <a:prstGeom prst="bent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lg" len="lg"/>
          </a:ln>
        </p:spPr>
      </p:cxnSp>
      <p:grpSp>
        <p:nvGrpSpPr>
          <p:cNvPr id="458" name="Google Shape;458;p27"/>
          <p:cNvGrpSpPr/>
          <p:nvPr/>
        </p:nvGrpSpPr>
        <p:grpSpPr>
          <a:xfrm>
            <a:off x="3395790" y="2702378"/>
            <a:ext cx="1647827" cy="1637210"/>
            <a:chOff x="3395790" y="2702378"/>
            <a:chExt cx="1647827" cy="1637210"/>
          </a:xfrm>
        </p:grpSpPr>
        <p:sp>
          <p:nvSpPr>
            <p:cNvPr id="459" name="Google Shape;459;p27"/>
            <p:cNvSpPr/>
            <p:nvPr/>
          </p:nvSpPr>
          <p:spPr>
            <a:xfrm>
              <a:off x="3395791" y="2702378"/>
              <a:ext cx="769394" cy="1224369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7"/>
            <p:cNvSpPr/>
            <p:nvPr/>
          </p:nvSpPr>
          <p:spPr>
            <a:xfrm>
              <a:off x="4165185" y="2702378"/>
              <a:ext cx="878432" cy="1224369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27"/>
            <p:cNvSpPr/>
            <p:nvPr/>
          </p:nvSpPr>
          <p:spPr>
            <a:xfrm>
              <a:off x="3395790" y="2914649"/>
              <a:ext cx="769395" cy="413658"/>
            </a:xfrm>
            <a:prstGeom prst="rect">
              <a:avLst/>
            </a:prstGeom>
            <a:solidFill>
              <a:srgbClr val="E59BA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SG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Page#</a:t>
              </a:r>
              <a:endParaRPr/>
            </a:p>
          </p:txBody>
        </p:sp>
        <p:sp>
          <p:nvSpPr>
            <p:cNvPr id="457" name="Google Shape;457;p27"/>
            <p:cNvSpPr/>
            <p:nvPr/>
          </p:nvSpPr>
          <p:spPr>
            <a:xfrm>
              <a:off x="4165185" y="2914649"/>
              <a:ext cx="878432" cy="413658"/>
            </a:xfrm>
            <a:prstGeom prst="rect">
              <a:avLst/>
            </a:prstGeom>
            <a:solidFill>
              <a:srgbClr val="E59BA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SG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Frame #</a:t>
              </a:r>
              <a:endParaRPr/>
            </a:p>
          </p:txBody>
        </p:sp>
        <p:sp>
          <p:nvSpPr>
            <p:cNvPr id="462" name="Google Shape;462;p27"/>
            <p:cNvSpPr/>
            <p:nvPr/>
          </p:nvSpPr>
          <p:spPr>
            <a:xfrm>
              <a:off x="3630098" y="3887726"/>
              <a:ext cx="1008105" cy="4518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SG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TLB</a:t>
              </a:r>
              <a:endParaRPr/>
            </a:p>
          </p:txBody>
        </p:sp>
      </p:grpSp>
      <p:cxnSp>
        <p:nvCxnSpPr>
          <p:cNvPr id="463" name="Google Shape;463;p27"/>
          <p:cNvCxnSpPr>
            <a:stCxn id="464" idx="3"/>
            <a:endCxn id="454" idx="2"/>
          </p:cNvCxnSpPr>
          <p:nvPr/>
        </p:nvCxnSpPr>
        <p:spPr>
          <a:xfrm rot="10800000" flipH="1">
            <a:off x="4811546" y="2415771"/>
            <a:ext cx="985200" cy="2787600"/>
          </a:xfrm>
          <a:prstGeom prst="bent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lg" len="lg"/>
          </a:ln>
        </p:spPr>
      </p:cxnSp>
      <p:grpSp>
        <p:nvGrpSpPr>
          <p:cNvPr id="465" name="Google Shape;465;p27"/>
          <p:cNvGrpSpPr/>
          <p:nvPr/>
        </p:nvGrpSpPr>
        <p:grpSpPr>
          <a:xfrm>
            <a:off x="3723108" y="4580982"/>
            <a:ext cx="1303900" cy="1819818"/>
            <a:chOff x="3723108" y="4580982"/>
            <a:chExt cx="1303900" cy="1819818"/>
          </a:xfrm>
        </p:grpSpPr>
        <p:sp>
          <p:nvSpPr>
            <p:cNvPr id="466" name="Google Shape;466;p27"/>
            <p:cNvSpPr/>
            <p:nvPr/>
          </p:nvSpPr>
          <p:spPr>
            <a:xfrm>
              <a:off x="3933114" y="4580982"/>
              <a:ext cx="878432" cy="1428206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7"/>
            <p:cNvSpPr/>
            <p:nvPr/>
          </p:nvSpPr>
          <p:spPr>
            <a:xfrm>
              <a:off x="3933114" y="4996542"/>
              <a:ext cx="878432" cy="413658"/>
            </a:xfrm>
            <a:prstGeom prst="rect">
              <a:avLst/>
            </a:prstGeom>
            <a:solidFill>
              <a:srgbClr val="E59BA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SG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Frame #</a:t>
              </a:r>
              <a:endParaRPr/>
            </a:p>
          </p:txBody>
        </p:sp>
        <p:sp>
          <p:nvSpPr>
            <p:cNvPr id="467" name="Google Shape;467;p27"/>
            <p:cNvSpPr/>
            <p:nvPr/>
          </p:nvSpPr>
          <p:spPr>
            <a:xfrm>
              <a:off x="3723108" y="5948938"/>
              <a:ext cx="1303900" cy="4518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SG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Page Table</a:t>
              </a:r>
              <a:endParaRPr/>
            </a:p>
          </p:txBody>
        </p:sp>
      </p:grpSp>
      <p:cxnSp>
        <p:nvCxnSpPr>
          <p:cNvPr id="468" name="Google Shape;468;p27"/>
          <p:cNvCxnSpPr>
            <a:stCxn id="447" idx="2"/>
            <a:endCxn id="464" idx="1"/>
          </p:cNvCxnSpPr>
          <p:nvPr/>
        </p:nvCxnSpPr>
        <p:spPr>
          <a:xfrm rot="-5400000" flipH="1">
            <a:off x="1919897" y="3190130"/>
            <a:ext cx="2770200" cy="1256400"/>
          </a:xfrm>
          <a:prstGeom prst="bent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lg" len="lg"/>
          </a:ln>
        </p:spPr>
      </p:cxnSp>
      <p:grpSp>
        <p:nvGrpSpPr>
          <p:cNvPr id="469" name="Google Shape;469;p27"/>
          <p:cNvGrpSpPr/>
          <p:nvPr/>
        </p:nvGrpSpPr>
        <p:grpSpPr>
          <a:xfrm>
            <a:off x="3309969" y="4531448"/>
            <a:ext cx="541640" cy="465094"/>
            <a:chOff x="3309969" y="4531448"/>
            <a:chExt cx="541640" cy="304800"/>
          </a:xfrm>
        </p:grpSpPr>
        <p:sp>
          <p:nvSpPr>
            <p:cNvPr id="470" name="Google Shape;470;p27"/>
            <p:cNvSpPr/>
            <p:nvPr/>
          </p:nvSpPr>
          <p:spPr>
            <a:xfrm>
              <a:off x="3667356" y="4571727"/>
              <a:ext cx="184253" cy="226421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27"/>
            <p:cNvSpPr/>
            <p:nvPr/>
          </p:nvSpPr>
          <p:spPr>
            <a:xfrm>
              <a:off x="3309969" y="4531448"/>
              <a:ext cx="533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SG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/>
            </a:p>
          </p:txBody>
        </p:sp>
      </p:grpSp>
      <p:sp>
        <p:nvSpPr>
          <p:cNvPr id="472" name="Google Shape;472;p27"/>
          <p:cNvSpPr/>
          <p:nvPr/>
        </p:nvSpPr>
        <p:spPr>
          <a:xfrm>
            <a:off x="3811628" y="3424263"/>
            <a:ext cx="715992" cy="388188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rgbClr val="658C3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75%</a:t>
            </a: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8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c. 75% TLB hit rate 🡺 size of TLB?</a:t>
            </a:r>
            <a:endParaRPr/>
          </a:p>
        </p:txBody>
      </p:sp>
      <p:sp>
        <p:nvSpPr>
          <p:cNvPr id="478" name="Google Shape;478;p28"/>
          <p:cNvSpPr txBox="1">
            <a:spLocks noGrp="1"/>
          </p:cNvSpPr>
          <p:nvPr>
            <p:ph type="body" idx="1"/>
          </p:nvPr>
        </p:nvSpPr>
        <p:spPr>
          <a:xfrm>
            <a:off x="628650" y="930877"/>
            <a:ext cx="7886700" cy="524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SG" b="1"/>
              <a:t>Given: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SG"/>
              <a:t>Logical address size = 32-bit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SG"/>
              <a:t>Page size = 4KB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SG" b="1"/>
              <a:t>So: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SG"/>
              <a:t>Number of page table entries (PTE) =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SG"/>
              <a:t>75% hit rate, number of PTEs in TLB =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9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SG">
                <a:solidFill>
                  <a:srgbClr val="C00000"/>
                </a:solidFill>
              </a:rPr>
              <a:t>Tutorial 8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485" name="Google Shape;485;p29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SG"/>
              <a:t>Question 4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0" name="Google Shape;490;p30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  <a:tableStyleId>{157A58C1-75DC-40B4-BA66-D8CEEC0D13CD}</a:tableStyleId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SG" sz="2400"/>
                        <a:t>K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SG" sz="2400"/>
                        <a:t>10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SG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 = 1024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SG" sz="2400"/>
                        <a:t>9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SG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 = 512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SG" sz="2400"/>
                        <a:t>8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SG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 = 256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SG" sz="2400"/>
                        <a:t>7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SG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 = 128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SG" sz="2400"/>
                        <a:t>6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SG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 = 64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SG" sz="2400"/>
                        <a:t>...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SG" sz="2400"/>
                        <a:t>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SG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 = 1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91" name="Google Shape;491;p30"/>
          <p:cNvSpPr txBox="1">
            <a:spLocks noGrp="1"/>
          </p:cNvSpPr>
          <p:nvPr>
            <p:ph type="title"/>
          </p:nvPr>
        </p:nvSpPr>
        <p:spPr>
          <a:xfrm>
            <a:off x="0" y="41029"/>
            <a:ext cx="91440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Buddy: Internal Fragmentation </a:t>
            </a:r>
            <a:r>
              <a:rPr lang="en-SG" b="1"/>
              <a:t>[</a:t>
            </a:r>
            <a:r>
              <a:rPr lang="en-SG" b="1" i="1">
                <a:solidFill>
                  <a:srgbClr val="C00000"/>
                </a:solidFill>
              </a:rPr>
              <a:t>X</a:t>
            </a:r>
            <a:r>
              <a:rPr lang="en-SG" b="1"/>
              <a:t>-KB]</a:t>
            </a:r>
            <a:endParaRPr b="1"/>
          </a:p>
        </p:txBody>
      </p:sp>
      <p:sp>
        <p:nvSpPr>
          <p:cNvPr id="492" name="Google Shape;492;p30"/>
          <p:cNvSpPr txBox="1"/>
          <p:nvPr/>
        </p:nvSpPr>
        <p:spPr>
          <a:xfrm>
            <a:off x="4618200" y="3925250"/>
            <a:ext cx="4214100" cy="2690399"/>
          </a:xfrm>
          <a:prstGeom prst="rect">
            <a:avLst/>
          </a:prstGeom>
          <a:solidFill>
            <a:srgbClr val="F3F3F3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Smallest S, such that 2</a:t>
            </a:r>
            <a:r>
              <a:rPr lang="en-SG" sz="18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&gt;= N</a:t>
            </a:r>
            <a:endParaRPr/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A[S] has a free block?</a:t>
            </a:r>
            <a:endParaRPr/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Yes: Remove from list and return</a:t>
            </a:r>
            <a:endParaRPr/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/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SG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smallest R from S+1 to K such that A[R] has a free block</a:t>
            </a:r>
            <a:endParaRPr/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SG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R-1 to S</a:t>
            </a:r>
            <a:endParaRPr/>
          </a:p>
          <a:p>
            <a:pPr marL="1371600" marR="0" lvl="2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LcPeriod"/>
            </a:pPr>
            <a:r>
              <a:rPr lang="en-SG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/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SG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Goto 2</a:t>
            </a:r>
            <a:endParaRPr/>
          </a:p>
        </p:txBody>
      </p:sp>
    </p:spTree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7" name="Google Shape;497;p31"/>
          <p:cNvGraphicFramePr/>
          <p:nvPr/>
        </p:nvGraphicFramePr>
        <p:xfrm>
          <a:off x="189300" y="779087"/>
          <a:ext cx="7221625" cy="6072315"/>
        </p:xfrm>
        <a:graphic>
          <a:graphicData uri="http://schemas.openxmlformats.org/drawingml/2006/table">
            <a:tbl>
              <a:tblPr>
                <a:noFill/>
                <a:tableStyleId>{157A58C1-75DC-40B4-BA66-D8CEEC0D13CD}</a:tableStyleId>
              </a:tblPr>
              <a:tblGrid>
                <a:gridCol w="136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SG" sz="2400"/>
                        <a:t>K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SG" sz="2400"/>
                        <a:t>10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SG" sz="1800" baseline="300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 = 1024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SG" sz="2400"/>
                        <a:t>9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SG" sz="1800" baseline="30000">
                          <a:solidFill>
                            <a:schemeClr val="dk1"/>
                          </a:solidFill>
                        </a:rPr>
                        <a:t>9</a:t>
                      </a: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 = 512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SG" sz="2400"/>
                        <a:t>8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SG" sz="1800" baseline="300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 = 256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SG" sz="2400"/>
                        <a:t>7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SG" sz="1800" baseline="30000">
                          <a:solidFill>
                            <a:schemeClr val="dk1"/>
                          </a:solidFill>
                        </a:rPr>
                        <a:t>7</a:t>
                      </a: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 = 128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SG" sz="2400"/>
                        <a:t>6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SG" sz="1800" baseline="30000">
                          <a:solidFill>
                            <a:schemeClr val="dk1"/>
                          </a:solidFill>
                        </a:rPr>
                        <a:t>6</a:t>
                      </a: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 = 64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SG" sz="2400"/>
                        <a:t>...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SG" sz="2400"/>
                        <a:t>0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SG" sz="1800" baseline="30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-SG" sz="1800">
                          <a:solidFill>
                            <a:schemeClr val="dk1"/>
                          </a:solidFill>
                        </a:rPr>
                        <a:t> = 1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endParaRPr sz="2400"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98" name="Google Shape;498;p31"/>
          <p:cNvSpPr txBox="1">
            <a:spLocks noGrp="1"/>
          </p:cNvSpPr>
          <p:nvPr>
            <p:ph type="title"/>
          </p:nvPr>
        </p:nvSpPr>
        <p:spPr>
          <a:xfrm>
            <a:off x="0" y="41029"/>
            <a:ext cx="91440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SG"/>
              <a:t>Buddy: </a:t>
            </a:r>
            <a:r>
              <a:rPr lang="en-SG" b="1"/>
              <a:t>External</a:t>
            </a:r>
            <a:r>
              <a:rPr lang="en-SG"/>
              <a:t> Fragmentation?</a:t>
            </a:r>
            <a:endParaRPr b="1"/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1424</Words>
  <Application>Microsoft Office PowerPoint</Application>
  <PresentationFormat>On-screen Show (4:3)</PresentationFormat>
  <Paragraphs>817</Paragraphs>
  <Slides>31</Slides>
  <Notes>30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Topic Summary</vt:lpstr>
      <vt:lpstr>Tutorial 8</vt:lpstr>
      <vt:lpstr>Program P:</vt:lpstr>
      <vt:lpstr>Paging</vt:lpstr>
      <vt:lpstr>Paging </vt:lpstr>
      <vt:lpstr>Paging </vt:lpstr>
      <vt:lpstr>Paging </vt:lpstr>
      <vt:lpstr>Segmentation</vt:lpstr>
      <vt:lpstr>Segmentation</vt:lpstr>
      <vt:lpstr>Segmentation</vt:lpstr>
      <vt:lpstr>Segmentation</vt:lpstr>
      <vt:lpstr>Segmentation with Paging</vt:lpstr>
      <vt:lpstr>Segment with Page </vt:lpstr>
      <vt:lpstr>Segment with Page </vt:lpstr>
      <vt:lpstr>Segment with Page </vt:lpstr>
      <vt:lpstr>PowerPoint Presentation</vt:lpstr>
      <vt:lpstr>Tutorial 8</vt:lpstr>
      <vt:lpstr>The growing Heap</vt:lpstr>
      <vt:lpstr>Contiguous: Fixed Partitioning</vt:lpstr>
      <vt:lpstr>Contiguous: Dynamic Partitioning</vt:lpstr>
      <vt:lpstr>Contiguous: Dynamic Partitioning</vt:lpstr>
      <vt:lpstr>Disjoing: Paging </vt:lpstr>
      <vt:lpstr>Disjoing: Paging </vt:lpstr>
      <vt:lpstr>Disjoing:Segmentation</vt:lpstr>
      <vt:lpstr>Tutorial 8</vt:lpstr>
      <vt:lpstr>a. DRAM = 50ns | Access a byte = ???</vt:lpstr>
      <vt:lpstr>b. DRAM = 50ns | Access a byte = ???</vt:lpstr>
      <vt:lpstr>c. 75% TLB hit rate 🡺 size of TLB?</vt:lpstr>
      <vt:lpstr>Tutorial 8</vt:lpstr>
      <vt:lpstr>Buddy: Internal Fragmentation [X-KB]</vt:lpstr>
      <vt:lpstr>Buddy: External Fragmentation?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Summary</dc:title>
  <dc:creator>yuenjien soo</dc:creator>
  <cp:lastModifiedBy>Tan Keng Yan, Colin</cp:lastModifiedBy>
  <cp:revision>2</cp:revision>
  <dcterms:created xsi:type="dcterms:W3CDTF">2015-08-24T14:25:17Z</dcterms:created>
  <dcterms:modified xsi:type="dcterms:W3CDTF">2024-10-22T07:26:40Z</dcterms:modified>
</cp:coreProperties>
</file>