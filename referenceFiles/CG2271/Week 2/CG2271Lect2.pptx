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  <p:sldMasterId id="2147483674" r:id="rId2"/>
    <p:sldMasterId id="2147483686" r:id="rId3"/>
  </p:sldMasterIdLst>
  <p:notesMasterIdLst>
    <p:notesMasterId r:id="rId83"/>
  </p:notesMasterIdLst>
  <p:sldIdLst>
    <p:sldId id="256" r:id="rId4"/>
    <p:sldId id="257" r:id="rId5"/>
    <p:sldId id="414" r:id="rId6"/>
    <p:sldId id="415" r:id="rId7"/>
    <p:sldId id="416" r:id="rId8"/>
    <p:sldId id="417" r:id="rId9"/>
    <p:sldId id="418" r:id="rId10"/>
    <p:sldId id="419" r:id="rId11"/>
    <p:sldId id="358" r:id="rId12"/>
    <p:sldId id="262" r:id="rId13"/>
    <p:sldId id="263" r:id="rId14"/>
    <p:sldId id="261" r:id="rId15"/>
    <p:sldId id="420" r:id="rId16"/>
    <p:sldId id="421" r:id="rId17"/>
    <p:sldId id="483" r:id="rId18"/>
    <p:sldId id="484" r:id="rId19"/>
    <p:sldId id="485" r:id="rId20"/>
    <p:sldId id="486" r:id="rId21"/>
    <p:sldId id="424" r:id="rId22"/>
    <p:sldId id="425" r:id="rId23"/>
    <p:sldId id="304" r:id="rId24"/>
    <p:sldId id="335" r:id="rId25"/>
    <p:sldId id="336" r:id="rId26"/>
    <p:sldId id="337" r:id="rId27"/>
    <p:sldId id="338" r:id="rId28"/>
    <p:sldId id="487" r:id="rId29"/>
    <p:sldId id="488" r:id="rId30"/>
    <p:sldId id="489" r:id="rId31"/>
    <p:sldId id="490" r:id="rId32"/>
    <p:sldId id="491" r:id="rId33"/>
    <p:sldId id="492" r:id="rId34"/>
    <p:sldId id="493" r:id="rId35"/>
    <p:sldId id="494" r:id="rId36"/>
    <p:sldId id="495" r:id="rId37"/>
    <p:sldId id="496" r:id="rId38"/>
    <p:sldId id="497" r:id="rId39"/>
    <p:sldId id="499" r:id="rId40"/>
    <p:sldId id="433" r:id="rId41"/>
    <p:sldId id="434" r:id="rId42"/>
    <p:sldId id="435" r:id="rId43"/>
    <p:sldId id="436" r:id="rId44"/>
    <p:sldId id="437" r:id="rId45"/>
    <p:sldId id="438" r:id="rId46"/>
    <p:sldId id="461" r:id="rId47"/>
    <p:sldId id="462" r:id="rId48"/>
    <p:sldId id="448" r:id="rId49"/>
    <p:sldId id="449" r:id="rId50"/>
    <p:sldId id="450" r:id="rId51"/>
    <p:sldId id="451" r:id="rId52"/>
    <p:sldId id="452" r:id="rId53"/>
    <p:sldId id="453" r:id="rId54"/>
    <p:sldId id="454" r:id="rId55"/>
    <p:sldId id="455" r:id="rId56"/>
    <p:sldId id="463" r:id="rId57"/>
    <p:sldId id="464" r:id="rId58"/>
    <p:sldId id="465" r:id="rId59"/>
    <p:sldId id="466" r:id="rId60"/>
    <p:sldId id="467" r:id="rId61"/>
    <p:sldId id="470" r:id="rId62"/>
    <p:sldId id="471" r:id="rId63"/>
    <p:sldId id="472" r:id="rId64"/>
    <p:sldId id="473" r:id="rId65"/>
    <p:sldId id="474" r:id="rId66"/>
    <p:sldId id="476" r:id="rId67"/>
    <p:sldId id="477" r:id="rId68"/>
    <p:sldId id="367" r:id="rId69"/>
    <p:sldId id="368" r:id="rId70"/>
    <p:sldId id="369" r:id="rId71"/>
    <p:sldId id="478" r:id="rId72"/>
    <p:sldId id="479" r:id="rId73"/>
    <p:sldId id="408" r:id="rId74"/>
    <p:sldId id="410" r:id="rId75"/>
    <p:sldId id="505" r:id="rId76"/>
    <p:sldId id="503" r:id="rId77"/>
    <p:sldId id="500" r:id="rId78"/>
    <p:sldId id="480" r:id="rId79"/>
    <p:sldId id="469" r:id="rId80"/>
    <p:sldId id="506" r:id="rId81"/>
    <p:sldId id="507" r:id="rId82"/>
  </p:sldIdLst>
  <p:sldSz cx="9144000" cy="6858000" type="screen4x3"/>
  <p:notesSz cx="6669088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0066"/>
    <a:srgbClr val="006600"/>
    <a:srgbClr val="FFFFCC"/>
    <a:srgbClr val="0066FF"/>
    <a:srgbClr val="CCFFCC"/>
    <a:srgbClr val="CCECFF"/>
    <a:srgbClr val="008000"/>
    <a:srgbClr val="660033"/>
    <a:srgbClr val="FF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88" autoAdjust="0"/>
    <p:restoredTop sz="94660"/>
  </p:normalViewPr>
  <p:slideViewPr>
    <p:cSldViewPr>
      <p:cViewPr varScale="1">
        <p:scale>
          <a:sx n="85" d="100"/>
          <a:sy n="85" d="100"/>
        </p:scale>
        <p:origin x="160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presProps" Target="pres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tableStyles" Target="tableStyles.xml"/><Relationship Id="rId61" Type="http://schemas.openxmlformats.org/officeDocument/2006/relationships/slide" Target="slides/slide58.xml"/><Relationship Id="rId82" Type="http://schemas.openxmlformats.org/officeDocument/2006/relationships/slide" Target="slides/slide7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C04C6F-8784-40EB-853D-8978CEBD117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847970C8-E53C-4B4F-BDE3-D67933E28B0C}">
      <dgm:prSet phldrT="[Text]"/>
      <dgm:spPr/>
      <dgm:t>
        <a:bodyPr/>
        <a:lstStyle/>
        <a:p>
          <a:r>
            <a:rPr lang="en-US" b="1"/>
            <a:t>Process Abstraction</a:t>
          </a:r>
          <a:endParaRPr lang="en-SG" b="1" i="0" dirty="0"/>
        </a:p>
      </dgm:t>
    </dgm:pt>
    <dgm:pt modelId="{6B6559D2-7E23-43E6-AFF7-94FCB4894452}" type="parTrans" cxnId="{CED06A8C-8FE8-4EE1-A809-CE643E719AAB}">
      <dgm:prSet/>
      <dgm:spPr/>
      <dgm:t>
        <a:bodyPr/>
        <a:lstStyle/>
        <a:p>
          <a:endParaRPr lang="en-SG"/>
        </a:p>
      </dgm:t>
    </dgm:pt>
    <dgm:pt modelId="{7D5B8AF3-F9F2-494B-B4AA-5F89EC373C86}" type="sibTrans" cxnId="{CED06A8C-8FE8-4EE1-A809-CE643E719AAB}">
      <dgm:prSet/>
      <dgm:spPr/>
      <dgm:t>
        <a:bodyPr/>
        <a:lstStyle/>
        <a:p>
          <a:endParaRPr lang="en-SG"/>
        </a:p>
      </dgm:t>
    </dgm:pt>
    <dgm:pt modelId="{19DC1100-A47E-4304-88BE-A5CACB459841}">
      <dgm:prSet phldrT="[Text]"/>
      <dgm:spPr/>
      <dgm:t>
        <a:bodyPr/>
        <a:lstStyle/>
        <a:p>
          <a:r>
            <a:rPr lang="en-US" b="1"/>
            <a:t>Process Scheduling</a:t>
          </a:r>
          <a:endParaRPr lang="en-SG" b="1" dirty="0"/>
        </a:p>
      </dgm:t>
    </dgm:pt>
    <dgm:pt modelId="{C2B2F558-A63E-4583-97AE-84FA4686079C}" type="parTrans" cxnId="{361B4C45-83E5-4C5A-BDE6-AF43E152A3AF}">
      <dgm:prSet/>
      <dgm:spPr/>
      <dgm:t>
        <a:bodyPr/>
        <a:lstStyle/>
        <a:p>
          <a:endParaRPr lang="en-SG"/>
        </a:p>
      </dgm:t>
    </dgm:pt>
    <dgm:pt modelId="{69BED227-5BE2-46D7-97FD-2FF0D1BF88D6}" type="sibTrans" cxnId="{361B4C45-83E5-4C5A-BDE6-AF43E152A3AF}">
      <dgm:prSet/>
      <dgm:spPr/>
      <dgm:t>
        <a:bodyPr/>
        <a:lstStyle/>
        <a:p>
          <a:endParaRPr lang="en-SG"/>
        </a:p>
      </dgm:t>
    </dgm:pt>
    <dgm:pt modelId="{EF4B8792-D5EF-485A-8EE2-1935F7CF0D5E}">
      <dgm:prSet phldrT="[Text]"/>
      <dgm:spPr/>
      <dgm:t>
        <a:bodyPr/>
        <a:lstStyle/>
        <a:p>
          <a:r>
            <a:rPr lang="en-US" b="1"/>
            <a:t>Inter-Process Communication &amp; Synchronization</a:t>
          </a:r>
          <a:endParaRPr lang="en-SG" b="1" dirty="0"/>
        </a:p>
      </dgm:t>
    </dgm:pt>
    <dgm:pt modelId="{9FD80377-C7C0-42CE-87AF-C15FD32DCFD2}" type="parTrans" cxnId="{30DD8F4B-411F-406D-866E-D1DA8486C084}">
      <dgm:prSet/>
      <dgm:spPr/>
      <dgm:t>
        <a:bodyPr/>
        <a:lstStyle/>
        <a:p>
          <a:endParaRPr lang="en-SG"/>
        </a:p>
      </dgm:t>
    </dgm:pt>
    <dgm:pt modelId="{59622511-87E2-4056-982C-B62CFAD4A894}" type="sibTrans" cxnId="{30DD8F4B-411F-406D-866E-D1DA8486C084}">
      <dgm:prSet/>
      <dgm:spPr/>
      <dgm:t>
        <a:bodyPr/>
        <a:lstStyle/>
        <a:p>
          <a:endParaRPr lang="en-SG"/>
        </a:p>
      </dgm:t>
    </dgm:pt>
    <dgm:pt modelId="{41F1EDFC-F582-438B-B8E7-28751069B10F}">
      <dgm:prSet phldrT="[Text]"/>
      <dgm:spPr/>
      <dgm:t>
        <a:bodyPr/>
        <a:lstStyle/>
        <a:p>
          <a:r>
            <a:rPr lang="en-US" dirty="0"/>
            <a:t>Information describing an executing program</a:t>
          </a:r>
          <a:endParaRPr lang="en-SG" dirty="0"/>
        </a:p>
      </dgm:t>
    </dgm:pt>
    <dgm:pt modelId="{0A5E9D19-2FF1-4B98-A206-F0D700A98242}" type="parTrans" cxnId="{15237BB5-AE0B-4F2D-961A-27B760FD1F5C}">
      <dgm:prSet/>
      <dgm:spPr/>
      <dgm:t>
        <a:bodyPr/>
        <a:lstStyle/>
        <a:p>
          <a:endParaRPr lang="en-SG"/>
        </a:p>
      </dgm:t>
    </dgm:pt>
    <dgm:pt modelId="{A9442313-4F57-446B-A09E-B92DE2DC1B0E}" type="sibTrans" cxnId="{15237BB5-AE0B-4F2D-961A-27B760FD1F5C}">
      <dgm:prSet/>
      <dgm:spPr/>
      <dgm:t>
        <a:bodyPr/>
        <a:lstStyle/>
        <a:p>
          <a:endParaRPr lang="en-SG"/>
        </a:p>
      </dgm:t>
    </dgm:pt>
    <dgm:pt modelId="{5043C3C8-A7DE-48BE-9BE5-92701A01077B}">
      <dgm:prSet phldrT="[Text]"/>
      <dgm:spPr/>
      <dgm:t>
        <a:bodyPr/>
        <a:lstStyle/>
        <a:p>
          <a:r>
            <a:rPr lang="en-US" dirty="0"/>
            <a:t>Deciding which process get to execute</a:t>
          </a:r>
          <a:endParaRPr lang="en-SG" dirty="0"/>
        </a:p>
      </dgm:t>
    </dgm:pt>
    <dgm:pt modelId="{D10A9BCD-04F6-4721-9868-9DC0F827FBB6}" type="parTrans" cxnId="{002961B2-014E-42CA-A491-0E47F9433B11}">
      <dgm:prSet/>
      <dgm:spPr/>
      <dgm:t>
        <a:bodyPr/>
        <a:lstStyle/>
        <a:p>
          <a:endParaRPr lang="en-SG"/>
        </a:p>
      </dgm:t>
    </dgm:pt>
    <dgm:pt modelId="{20D5F55C-32F8-4441-8F85-FF5C36D5EBB1}" type="sibTrans" cxnId="{002961B2-014E-42CA-A491-0E47F9433B11}">
      <dgm:prSet/>
      <dgm:spPr/>
      <dgm:t>
        <a:bodyPr/>
        <a:lstStyle/>
        <a:p>
          <a:endParaRPr lang="en-SG"/>
        </a:p>
      </dgm:t>
    </dgm:pt>
    <dgm:pt modelId="{BCF558FE-1165-405B-9AE0-862FCD667211}">
      <dgm:prSet phldrT="[Text]"/>
      <dgm:spPr/>
      <dgm:t>
        <a:bodyPr/>
        <a:lstStyle/>
        <a:p>
          <a:r>
            <a:rPr lang="en-US" dirty="0"/>
            <a:t>Passing information between processes</a:t>
          </a:r>
          <a:endParaRPr lang="en-SG" dirty="0"/>
        </a:p>
      </dgm:t>
    </dgm:pt>
    <dgm:pt modelId="{72BE566D-77D9-4021-8076-E828AD196428}" type="parTrans" cxnId="{385FE0C9-1B6A-4FA5-8093-F7E472471028}">
      <dgm:prSet/>
      <dgm:spPr/>
      <dgm:t>
        <a:bodyPr/>
        <a:lstStyle/>
        <a:p>
          <a:endParaRPr lang="en-SG"/>
        </a:p>
      </dgm:t>
    </dgm:pt>
    <dgm:pt modelId="{BBD5936C-A5E5-45F9-97C3-CA37C4001283}" type="sibTrans" cxnId="{385FE0C9-1B6A-4FA5-8093-F7E472471028}">
      <dgm:prSet/>
      <dgm:spPr/>
      <dgm:t>
        <a:bodyPr/>
        <a:lstStyle/>
        <a:p>
          <a:endParaRPr lang="en-SG"/>
        </a:p>
      </dgm:t>
    </dgm:pt>
    <dgm:pt modelId="{A9D7315B-10E0-4498-93FF-7BA17AD5EC32}">
      <dgm:prSet phldrT="[Text]"/>
      <dgm:spPr/>
      <dgm:t>
        <a:bodyPr/>
        <a:lstStyle/>
        <a:p>
          <a:r>
            <a:rPr lang="en-US" b="1"/>
            <a:t>Alternative to Process</a:t>
          </a:r>
          <a:endParaRPr lang="en-SG" b="1" dirty="0"/>
        </a:p>
      </dgm:t>
    </dgm:pt>
    <dgm:pt modelId="{5BD0B889-081C-4127-A4B1-0ECA06158BD4}" type="parTrans" cxnId="{57C1FBAB-1562-476A-9D0A-63DE039CDB64}">
      <dgm:prSet/>
      <dgm:spPr/>
      <dgm:t>
        <a:bodyPr/>
        <a:lstStyle/>
        <a:p>
          <a:endParaRPr lang="en-SG"/>
        </a:p>
      </dgm:t>
    </dgm:pt>
    <dgm:pt modelId="{629E6291-5915-48D4-84DA-D2564F76CE1A}" type="sibTrans" cxnId="{57C1FBAB-1562-476A-9D0A-63DE039CDB64}">
      <dgm:prSet/>
      <dgm:spPr/>
      <dgm:t>
        <a:bodyPr/>
        <a:lstStyle/>
        <a:p>
          <a:endParaRPr lang="en-SG"/>
        </a:p>
      </dgm:t>
    </dgm:pt>
    <dgm:pt modelId="{83BFCB57-C366-44E3-B365-883B15D97E80}">
      <dgm:prSet phldrT="[Text]"/>
      <dgm:spPr/>
      <dgm:t>
        <a:bodyPr/>
        <a:lstStyle/>
        <a:p>
          <a:r>
            <a:rPr lang="en-US" dirty="0"/>
            <a:t>Light-weight process aka Thread</a:t>
          </a:r>
          <a:endParaRPr lang="en-SG" dirty="0"/>
        </a:p>
      </dgm:t>
    </dgm:pt>
    <dgm:pt modelId="{4838A1BB-7700-446B-BF50-5FA0C967DF62}" type="parTrans" cxnId="{A0B4D926-D3B4-4DCD-A583-4A098BDC2C24}">
      <dgm:prSet/>
      <dgm:spPr/>
      <dgm:t>
        <a:bodyPr/>
        <a:lstStyle/>
        <a:p>
          <a:endParaRPr lang="en-SG"/>
        </a:p>
      </dgm:t>
    </dgm:pt>
    <dgm:pt modelId="{CEABAEEF-63EA-4619-B998-D444AEBDAC97}" type="sibTrans" cxnId="{A0B4D926-D3B4-4DCD-A583-4A098BDC2C24}">
      <dgm:prSet/>
      <dgm:spPr/>
      <dgm:t>
        <a:bodyPr/>
        <a:lstStyle/>
        <a:p>
          <a:endParaRPr lang="en-SG"/>
        </a:p>
      </dgm:t>
    </dgm:pt>
    <dgm:pt modelId="{8762BDF2-D115-4DEA-80D9-B7EB6FE8ACA3}" type="pres">
      <dgm:prSet presAssocID="{1FC04C6F-8784-40EB-853D-8978CEBD1172}" presName="linear" presStyleCnt="0">
        <dgm:presLayoutVars>
          <dgm:dir/>
          <dgm:animLvl val="lvl"/>
          <dgm:resizeHandles val="exact"/>
        </dgm:presLayoutVars>
      </dgm:prSet>
      <dgm:spPr/>
    </dgm:pt>
    <dgm:pt modelId="{36326D2F-11A1-4EDB-BBF9-91F15A675029}" type="pres">
      <dgm:prSet presAssocID="{847970C8-E53C-4B4F-BDE3-D67933E28B0C}" presName="parentLin" presStyleCnt="0"/>
      <dgm:spPr/>
    </dgm:pt>
    <dgm:pt modelId="{F2C4E387-D0C4-4D15-A5DB-6C2950D6552B}" type="pres">
      <dgm:prSet presAssocID="{847970C8-E53C-4B4F-BDE3-D67933E28B0C}" presName="parentLeftMargin" presStyleLbl="node1" presStyleIdx="0" presStyleCnt="4"/>
      <dgm:spPr/>
    </dgm:pt>
    <dgm:pt modelId="{A0F1045D-1404-448F-A99E-5A525546E0A0}" type="pres">
      <dgm:prSet presAssocID="{847970C8-E53C-4B4F-BDE3-D67933E28B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6106B0-1DDD-4A32-8A4A-B8BCD6C252D7}" type="pres">
      <dgm:prSet presAssocID="{847970C8-E53C-4B4F-BDE3-D67933E28B0C}" presName="negativeSpace" presStyleCnt="0"/>
      <dgm:spPr/>
    </dgm:pt>
    <dgm:pt modelId="{F8862E14-A98C-400C-98A6-DF9C25DE3A1D}" type="pres">
      <dgm:prSet presAssocID="{847970C8-E53C-4B4F-BDE3-D67933E28B0C}" presName="childText" presStyleLbl="conFgAcc1" presStyleIdx="0" presStyleCnt="4">
        <dgm:presLayoutVars>
          <dgm:bulletEnabled val="1"/>
        </dgm:presLayoutVars>
      </dgm:prSet>
      <dgm:spPr/>
    </dgm:pt>
    <dgm:pt modelId="{C1A842E3-2D5C-48B1-9B3A-0CF91061E0E8}" type="pres">
      <dgm:prSet presAssocID="{7D5B8AF3-F9F2-494B-B4AA-5F89EC373C86}" presName="spaceBetweenRectangles" presStyleCnt="0"/>
      <dgm:spPr/>
    </dgm:pt>
    <dgm:pt modelId="{5AC5264A-BD87-4ADA-805A-CAD87053C504}" type="pres">
      <dgm:prSet presAssocID="{19DC1100-A47E-4304-88BE-A5CACB459841}" presName="parentLin" presStyleCnt="0"/>
      <dgm:spPr/>
    </dgm:pt>
    <dgm:pt modelId="{365DDBCD-6A59-4480-BDDD-74ED4A644E1F}" type="pres">
      <dgm:prSet presAssocID="{19DC1100-A47E-4304-88BE-A5CACB459841}" presName="parentLeftMargin" presStyleLbl="node1" presStyleIdx="0" presStyleCnt="4"/>
      <dgm:spPr/>
    </dgm:pt>
    <dgm:pt modelId="{5F21E593-7E76-4519-9E50-0F90DEFA97F1}" type="pres">
      <dgm:prSet presAssocID="{19DC1100-A47E-4304-88BE-A5CACB4598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2FA751-86C5-407F-8C80-698997DA5D1E}" type="pres">
      <dgm:prSet presAssocID="{19DC1100-A47E-4304-88BE-A5CACB459841}" presName="negativeSpace" presStyleCnt="0"/>
      <dgm:spPr/>
    </dgm:pt>
    <dgm:pt modelId="{9452430F-0D41-48E6-9EFF-D0BD9AF10AE5}" type="pres">
      <dgm:prSet presAssocID="{19DC1100-A47E-4304-88BE-A5CACB459841}" presName="childText" presStyleLbl="conFgAcc1" presStyleIdx="1" presStyleCnt="4">
        <dgm:presLayoutVars>
          <dgm:bulletEnabled val="1"/>
        </dgm:presLayoutVars>
      </dgm:prSet>
      <dgm:spPr/>
    </dgm:pt>
    <dgm:pt modelId="{3788BD41-D0EE-4029-ADAB-6981B3F2E61A}" type="pres">
      <dgm:prSet presAssocID="{69BED227-5BE2-46D7-97FD-2FF0D1BF88D6}" presName="spaceBetweenRectangles" presStyleCnt="0"/>
      <dgm:spPr/>
    </dgm:pt>
    <dgm:pt modelId="{64A41BB2-7EFA-4810-8102-ED601E93EA83}" type="pres">
      <dgm:prSet presAssocID="{EF4B8792-D5EF-485A-8EE2-1935F7CF0D5E}" presName="parentLin" presStyleCnt="0"/>
      <dgm:spPr/>
    </dgm:pt>
    <dgm:pt modelId="{F9A3B8BB-320B-43A5-8B55-882361E8B62A}" type="pres">
      <dgm:prSet presAssocID="{EF4B8792-D5EF-485A-8EE2-1935F7CF0D5E}" presName="parentLeftMargin" presStyleLbl="node1" presStyleIdx="1" presStyleCnt="4"/>
      <dgm:spPr/>
    </dgm:pt>
    <dgm:pt modelId="{9A6DF595-0921-4B96-89D8-7C40037CDB5A}" type="pres">
      <dgm:prSet presAssocID="{EF4B8792-D5EF-485A-8EE2-1935F7CF0D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1EB1A3-3FF9-4005-91D4-E626EBCD91B5}" type="pres">
      <dgm:prSet presAssocID="{EF4B8792-D5EF-485A-8EE2-1935F7CF0D5E}" presName="negativeSpace" presStyleCnt="0"/>
      <dgm:spPr/>
    </dgm:pt>
    <dgm:pt modelId="{76DFFF08-9C74-4D9A-B9A5-AFC5EBEC37F1}" type="pres">
      <dgm:prSet presAssocID="{EF4B8792-D5EF-485A-8EE2-1935F7CF0D5E}" presName="childText" presStyleLbl="conFgAcc1" presStyleIdx="2" presStyleCnt="4">
        <dgm:presLayoutVars>
          <dgm:bulletEnabled val="1"/>
        </dgm:presLayoutVars>
      </dgm:prSet>
      <dgm:spPr/>
    </dgm:pt>
    <dgm:pt modelId="{5081CA64-A45F-4916-B02B-9B2865237E03}" type="pres">
      <dgm:prSet presAssocID="{59622511-87E2-4056-982C-B62CFAD4A894}" presName="spaceBetweenRectangles" presStyleCnt="0"/>
      <dgm:spPr/>
    </dgm:pt>
    <dgm:pt modelId="{F20BF198-CC47-4D8A-9F63-AC800671345B}" type="pres">
      <dgm:prSet presAssocID="{A9D7315B-10E0-4498-93FF-7BA17AD5EC32}" presName="parentLin" presStyleCnt="0"/>
      <dgm:spPr/>
    </dgm:pt>
    <dgm:pt modelId="{4F067A41-7A59-45F7-B6B1-CEDCBF9A44E1}" type="pres">
      <dgm:prSet presAssocID="{A9D7315B-10E0-4498-93FF-7BA17AD5EC32}" presName="parentLeftMargin" presStyleLbl="node1" presStyleIdx="2" presStyleCnt="4"/>
      <dgm:spPr/>
    </dgm:pt>
    <dgm:pt modelId="{F6A65EFE-1807-4F2C-894E-605C3C8AC652}" type="pres">
      <dgm:prSet presAssocID="{A9D7315B-10E0-4498-93FF-7BA17AD5EC3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2A5C7C6-5E58-4264-9B43-0BAA55FB148C}" type="pres">
      <dgm:prSet presAssocID="{A9D7315B-10E0-4498-93FF-7BA17AD5EC32}" presName="negativeSpace" presStyleCnt="0"/>
      <dgm:spPr/>
    </dgm:pt>
    <dgm:pt modelId="{BA67F212-3F26-4FE0-B59D-98A3840EC922}" type="pres">
      <dgm:prSet presAssocID="{A9D7315B-10E0-4498-93FF-7BA17AD5EC3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9997902-A70F-4027-82DF-FFBE980CD9ED}" type="presOf" srcId="{41F1EDFC-F582-438B-B8E7-28751069B10F}" destId="{F8862E14-A98C-400C-98A6-DF9C25DE3A1D}" srcOrd="0" destOrd="0" presId="urn:microsoft.com/office/officeart/2005/8/layout/list1"/>
    <dgm:cxn modelId="{46956015-A817-462B-9A34-04AF002B160E}" type="presOf" srcId="{EF4B8792-D5EF-485A-8EE2-1935F7CF0D5E}" destId="{9A6DF595-0921-4B96-89D8-7C40037CDB5A}" srcOrd="1" destOrd="0" presId="urn:microsoft.com/office/officeart/2005/8/layout/list1"/>
    <dgm:cxn modelId="{33F94E1C-9EDB-4B78-9289-F1373598D3AD}" type="presOf" srcId="{19DC1100-A47E-4304-88BE-A5CACB459841}" destId="{5F21E593-7E76-4519-9E50-0F90DEFA97F1}" srcOrd="1" destOrd="0" presId="urn:microsoft.com/office/officeart/2005/8/layout/list1"/>
    <dgm:cxn modelId="{F32A721C-41C7-41AB-A537-4E3441693189}" type="presOf" srcId="{847970C8-E53C-4B4F-BDE3-D67933E28B0C}" destId="{A0F1045D-1404-448F-A99E-5A525546E0A0}" srcOrd="1" destOrd="0" presId="urn:microsoft.com/office/officeart/2005/8/layout/list1"/>
    <dgm:cxn modelId="{BCDE8A24-B164-441F-910C-86B006261C85}" type="presOf" srcId="{847970C8-E53C-4B4F-BDE3-D67933E28B0C}" destId="{F2C4E387-D0C4-4D15-A5DB-6C2950D6552B}" srcOrd="0" destOrd="0" presId="urn:microsoft.com/office/officeart/2005/8/layout/list1"/>
    <dgm:cxn modelId="{A0B4D926-D3B4-4DCD-A583-4A098BDC2C24}" srcId="{A9D7315B-10E0-4498-93FF-7BA17AD5EC32}" destId="{83BFCB57-C366-44E3-B365-883B15D97E80}" srcOrd="0" destOrd="0" parTransId="{4838A1BB-7700-446B-BF50-5FA0C967DF62}" sibTransId="{CEABAEEF-63EA-4619-B998-D444AEBDAC97}"/>
    <dgm:cxn modelId="{B9A77628-0901-4FBF-846E-A0D8721D1AA0}" type="presOf" srcId="{EF4B8792-D5EF-485A-8EE2-1935F7CF0D5E}" destId="{F9A3B8BB-320B-43A5-8B55-882361E8B62A}" srcOrd="0" destOrd="0" presId="urn:microsoft.com/office/officeart/2005/8/layout/list1"/>
    <dgm:cxn modelId="{361B4C45-83E5-4C5A-BDE6-AF43E152A3AF}" srcId="{1FC04C6F-8784-40EB-853D-8978CEBD1172}" destId="{19DC1100-A47E-4304-88BE-A5CACB459841}" srcOrd="1" destOrd="0" parTransId="{C2B2F558-A63E-4583-97AE-84FA4686079C}" sibTransId="{69BED227-5BE2-46D7-97FD-2FF0D1BF88D6}"/>
    <dgm:cxn modelId="{30DD8F4B-411F-406D-866E-D1DA8486C084}" srcId="{1FC04C6F-8784-40EB-853D-8978CEBD1172}" destId="{EF4B8792-D5EF-485A-8EE2-1935F7CF0D5E}" srcOrd="2" destOrd="0" parTransId="{9FD80377-C7C0-42CE-87AF-C15FD32DCFD2}" sibTransId="{59622511-87E2-4056-982C-B62CFAD4A894}"/>
    <dgm:cxn modelId="{E14B4B4E-DB71-401F-B9F4-D39386474871}" type="presOf" srcId="{BCF558FE-1165-405B-9AE0-862FCD667211}" destId="{76DFFF08-9C74-4D9A-B9A5-AFC5EBEC37F1}" srcOrd="0" destOrd="0" presId="urn:microsoft.com/office/officeart/2005/8/layout/list1"/>
    <dgm:cxn modelId="{2A56BA58-B81D-4A58-AFF4-CF71FB97864B}" type="presOf" srcId="{1FC04C6F-8784-40EB-853D-8978CEBD1172}" destId="{8762BDF2-D115-4DEA-80D9-B7EB6FE8ACA3}" srcOrd="0" destOrd="0" presId="urn:microsoft.com/office/officeart/2005/8/layout/list1"/>
    <dgm:cxn modelId="{1AE66C68-2EEE-4560-A820-6AF19A03D4A2}" type="presOf" srcId="{A9D7315B-10E0-4498-93FF-7BA17AD5EC32}" destId="{F6A65EFE-1807-4F2C-894E-605C3C8AC652}" srcOrd="1" destOrd="0" presId="urn:microsoft.com/office/officeart/2005/8/layout/list1"/>
    <dgm:cxn modelId="{CED06A8C-8FE8-4EE1-A809-CE643E719AAB}" srcId="{1FC04C6F-8784-40EB-853D-8978CEBD1172}" destId="{847970C8-E53C-4B4F-BDE3-D67933E28B0C}" srcOrd="0" destOrd="0" parTransId="{6B6559D2-7E23-43E6-AFF7-94FCB4894452}" sibTransId="{7D5B8AF3-F9F2-494B-B4AA-5F89EC373C86}"/>
    <dgm:cxn modelId="{1A18A3AA-D259-4706-9744-926BAAD34263}" type="presOf" srcId="{19DC1100-A47E-4304-88BE-A5CACB459841}" destId="{365DDBCD-6A59-4480-BDDD-74ED4A644E1F}" srcOrd="0" destOrd="0" presId="urn:microsoft.com/office/officeart/2005/8/layout/list1"/>
    <dgm:cxn modelId="{57C1FBAB-1562-476A-9D0A-63DE039CDB64}" srcId="{1FC04C6F-8784-40EB-853D-8978CEBD1172}" destId="{A9D7315B-10E0-4498-93FF-7BA17AD5EC32}" srcOrd="3" destOrd="0" parTransId="{5BD0B889-081C-4127-A4B1-0ECA06158BD4}" sibTransId="{629E6291-5915-48D4-84DA-D2564F76CE1A}"/>
    <dgm:cxn modelId="{002961B2-014E-42CA-A491-0E47F9433B11}" srcId="{19DC1100-A47E-4304-88BE-A5CACB459841}" destId="{5043C3C8-A7DE-48BE-9BE5-92701A01077B}" srcOrd="0" destOrd="0" parTransId="{D10A9BCD-04F6-4721-9868-9DC0F827FBB6}" sibTransId="{20D5F55C-32F8-4441-8F85-FF5C36D5EBB1}"/>
    <dgm:cxn modelId="{B54664B5-6925-4BED-8F6B-80E3334C1754}" type="presOf" srcId="{A9D7315B-10E0-4498-93FF-7BA17AD5EC32}" destId="{4F067A41-7A59-45F7-B6B1-CEDCBF9A44E1}" srcOrd="0" destOrd="0" presId="urn:microsoft.com/office/officeart/2005/8/layout/list1"/>
    <dgm:cxn modelId="{15237BB5-AE0B-4F2D-961A-27B760FD1F5C}" srcId="{847970C8-E53C-4B4F-BDE3-D67933E28B0C}" destId="{41F1EDFC-F582-438B-B8E7-28751069B10F}" srcOrd="0" destOrd="0" parTransId="{0A5E9D19-2FF1-4B98-A206-F0D700A98242}" sibTransId="{A9442313-4F57-446B-A09E-B92DE2DC1B0E}"/>
    <dgm:cxn modelId="{385FE0C9-1B6A-4FA5-8093-F7E472471028}" srcId="{EF4B8792-D5EF-485A-8EE2-1935F7CF0D5E}" destId="{BCF558FE-1165-405B-9AE0-862FCD667211}" srcOrd="0" destOrd="0" parTransId="{72BE566D-77D9-4021-8076-E828AD196428}" sibTransId="{BBD5936C-A5E5-45F9-97C3-CA37C4001283}"/>
    <dgm:cxn modelId="{610CACCD-AF03-4AEF-AF6A-1847F3A6CADD}" type="presOf" srcId="{83BFCB57-C366-44E3-B365-883B15D97E80}" destId="{BA67F212-3F26-4FE0-B59D-98A3840EC922}" srcOrd="0" destOrd="0" presId="urn:microsoft.com/office/officeart/2005/8/layout/list1"/>
    <dgm:cxn modelId="{592C32EF-3154-4335-A790-C20086BEA4FC}" type="presOf" srcId="{5043C3C8-A7DE-48BE-9BE5-92701A01077B}" destId="{9452430F-0D41-48E6-9EFF-D0BD9AF10AE5}" srcOrd="0" destOrd="0" presId="urn:microsoft.com/office/officeart/2005/8/layout/list1"/>
    <dgm:cxn modelId="{9C7E0DAE-37CA-4253-9A7B-597A5DCFF430}" type="presParOf" srcId="{8762BDF2-D115-4DEA-80D9-B7EB6FE8ACA3}" destId="{36326D2F-11A1-4EDB-BBF9-91F15A675029}" srcOrd="0" destOrd="0" presId="urn:microsoft.com/office/officeart/2005/8/layout/list1"/>
    <dgm:cxn modelId="{FBBC0FFE-10BC-45FE-BA0C-C3FDBB368F63}" type="presParOf" srcId="{36326D2F-11A1-4EDB-BBF9-91F15A675029}" destId="{F2C4E387-D0C4-4D15-A5DB-6C2950D6552B}" srcOrd="0" destOrd="0" presId="urn:microsoft.com/office/officeart/2005/8/layout/list1"/>
    <dgm:cxn modelId="{BF7611ED-3EC0-47B7-B5FB-DCBC287DD5EC}" type="presParOf" srcId="{36326D2F-11A1-4EDB-BBF9-91F15A675029}" destId="{A0F1045D-1404-448F-A99E-5A525546E0A0}" srcOrd="1" destOrd="0" presId="urn:microsoft.com/office/officeart/2005/8/layout/list1"/>
    <dgm:cxn modelId="{451B4571-8B18-449B-9F40-D737D4EC7DEA}" type="presParOf" srcId="{8762BDF2-D115-4DEA-80D9-B7EB6FE8ACA3}" destId="{A46106B0-1DDD-4A32-8A4A-B8BCD6C252D7}" srcOrd="1" destOrd="0" presId="urn:microsoft.com/office/officeart/2005/8/layout/list1"/>
    <dgm:cxn modelId="{E99E22BB-0565-4ADA-825B-641B5F1C1E41}" type="presParOf" srcId="{8762BDF2-D115-4DEA-80D9-B7EB6FE8ACA3}" destId="{F8862E14-A98C-400C-98A6-DF9C25DE3A1D}" srcOrd="2" destOrd="0" presId="urn:microsoft.com/office/officeart/2005/8/layout/list1"/>
    <dgm:cxn modelId="{4C5AD3A9-D35F-4ADA-A349-D3AE4D7A53B2}" type="presParOf" srcId="{8762BDF2-D115-4DEA-80D9-B7EB6FE8ACA3}" destId="{C1A842E3-2D5C-48B1-9B3A-0CF91061E0E8}" srcOrd="3" destOrd="0" presId="urn:microsoft.com/office/officeart/2005/8/layout/list1"/>
    <dgm:cxn modelId="{5F46EF35-A2AA-4409-A74F-E512090C88BA}" type="presParOf" srcId="{8762BDF2-D115-4DEA-80D9-B7EB6FE8ACA3}" destId="{5AC5264A-BD87-4ADA-805A-CAD87053C504}" srcOrd="4" destOrd="0" presId="urn:microsoft.com/office/officeart/2005/8/layout/list1"/>
    <dgm:cxn modelId="{B02F6508-2781-4F6D-9A69-AC37A226A59B}" type="presParOf" srcId="{5AC5264A-BD87-4ADA-805A-CAD87053C504}" destId="{365DDBCD-6A59-4480-BDDD-74ED4A644E1F}" srcOrd="0" destOrd="0" presId="urn:microsoft.com/office/officeart/2005/8/layout/list1"/>
    <dgm:cxn modelId="{5204530C-D314-42E8-912B-F53DE43F7EFC}" type="presParOf" srcId="{5AC5264A-BD87-4ADA-805A-CAD87053C504}" destId="{5F21E593-7E76-4519-9E50-0F90DEFA97F1}" srcOrd="1" destOrd="0" presId="urn:microsoft.com/office/officeart/2005/8/layout/list1"/>
    <dgm:cxn modelId="{0CCCDEDB-D812-486A-9EBC-863CCB0BCD50}" type="presParOf" srcId="{8762BDF2-D115-4DEA-80D9-B7EB6FE8ACA3}" destId="{C52FA751-86C5-407F-8C80-698997DA5D1E}" srcOrd="5" destOrd="0" presId="urn:microsoft.com/office/officeart/2005/8/layout/list1"/>
    <dgm:cxn modelId="{24719A8A-CD0E-4146-871A-ED9B9385A831}" type="presParOf" srcId="{8762BDF2-D115-4DEA-80D9-B7EB6FE8ACA3}" destId="{9452430F-0D41-48E6-9EFF-D0BD9AF10AE5}" srcOrd="6" destOrd="0" presId="urn:microsoft.com/office/officeart/2005/8/layout/list1"/>
    <dgm:cxn modelId="{8EAA3B93-C087-4379-A811-18F8E2BD7341}" type="presParOf" srcId="{8762BDF2-D115-4DEA-80D9-B7EB6FE8ACA3}" destId="{3788BD41-D0EE-4029-ADAB-6981B3F2E61A}" srcOrd="7" destOrd="0" presId="urn:microsoft.com/office/officeart/2005/8/layout/list1"/>
    <dgm:cxn modelId="{5ED37A2C-A607-4C6F-A93D-773BCC4C9283}" type="presParOf" srcId="{8762BDF2-D115-4DEA-80D9-B7EB6FE8ACA3}" destId="{64A41BB2-7EFA-4810-8102-ED601E93EA83}" srcOrd="8" destOrd="0" presId="urn:microsoft.com/office/officeart/2005/8/layout/list1"/>
    <dgm:cxn modelId="{A232F373-3C96-4724-9612-0594F52D6002}" type="presParOf" srcId="{64A41BB2-7EFA-4810-8102-ED601E93EA83}" destId="{F9A3B8BB-320B-43A5-8B55-882361E8B62A}" srcOrd="0" destOrd="0" presId="urn:microsoft.com/office/officeart/2005/8/layout/list1"/>
    <dgm:cxn modelId="{6BB2BDB4-98AF-47DC-9B64-FA5D8499A2CD}" type="presParOf" srcId="{64A41BB2-7EFA-4810-8102-ED601E93EA83}" destId="{9A6DF595-0921-4B96-89D8-7C40037CDB5A}" srcOrd="1" destOrd="0" presId="urn:microsoft.com/office/officeart/2005/8/layout/list1"/>
    <dgm:cxn modelId="{01CC8902-B343-4107-82BB-DA13C6C7ACCD}" type="presParOf" srcId="{8762BDF2-D115-4DEA-80D9-B7EB6FE8ACA3}" destId="{F61EB1A3-3FF9-4005-91D4-E626EBCD91B5}" srcOrd="9" destOrd="0" presId="urn:microsoft.com/office/officeart/2005/8/layout/list1"/>
    <dgm:cxn modelId="{81F62025-0030-4392-A451-95B0E9D4B1CE}" type="presParOf" srcId="{8762BDF2-D115-4DEA-80D9-B7EB6FE8ACA3}" destId="{76DFFF08-9C74-4D9A-B9A5-AFC5EBEC37F1}" srcOrd="10" destOrd="0" presId="urn:microsoft.com/office/officeart/2005/8/layout/list1"/>
    <dgm:cxn modelId="{45299689-9802-40FB-B8D1-741A26B31810}" type="presParOf" srcId="{8762BDF2-D115-4DEA-80D9-B7EB6FE8ACA3}" destId="{5081CA64-A45F-4916-B02B-9B2865237E03}" srcOrd="11" destOrd="0" presId="urn:microsoft.com/office/officeart/2005/8/layout/list1"/>
    <dgm:cxn modelId="{832C2D06-7789-468B-BD8A-776E1E379AB3}" type="presParOf" srcId="{8762BDF2-D115-4DEA-80D9-B7EB6FE8ACA3}" destId="{F20BF198-CC47-4D8A-9F63-AC800671345B}" srcOrd="12" destOrd="0" presId="urn:microsoft.com/office/officeart/2005/8/layout/list1"/>
    <dgm:cxn modelId="{4882B82F-EB19-4D51-8097-8D9643C30827}" type="presParOf" srcId="{F20BF198-CC47-4D8A-9F63-AC800671345B}" destId="{4F067A41-7A59-45F7-B6B1-CEDCBF9A44E1}" srcOrd="0" destOrd="0" presId="urn:microsoft.com/office/officeart/2005/8/layout/list1"/>
    <dgm:cxn modelId="{AD8DD330-D8A2-4E0B-886E-3EF0BB537569}" type="presParOf" srcId="{F20BF198-CC47-4D8A-9F63-AC800671345B}" destId="{F6A65EFE-1807-4F2C-894E-605C3C8AC652}" srcOrd="1" destOrd="0" presId="urn:microsoft.com/office/officeart/2005/8/layout/list1"/>
    <dgm:cxn modelId="{EC5B04DD-B630-4CD8-BBC8-8F581E38B7AE}" type="presParOf" srcId="{8762BDF2-D115-4DEA-80D9-B7EB6FE8ACA3}" destId="{12A5C7C6-5E58-4264-9B43-0BAA55FB148C}" srcOrd="13" destOrd="0" presId="urn:microsoft.com/office/officeart/2005/8/layout/list1"/>
    <dgm:cxn modelId="{82492EF4-25F0-4F68-B322-0DE1ADEBA434}" type="presParOf" srcId="{8762BDF2-D115-4DEA-80D9-B7EB6FE8ACA3}" destId="{BA67F212-3F26-4FE0-B59D-98A3840EC92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C6DE70-B689-492E-8537-F1912F423AAC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SG"/>
        </a:p>
      </dgm:t>
    </dgm:pt>
    <dgm:pt modelId="{E393E768-BC9E-4981-B45C-DD10EA07EFDB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dirty="0"/>
            <a:t>Memory Context</a:t>
          </a:r>
          <a:endParaRPr lang="en-SG" dirty="0"/>
        </a:p>
      </dgm:t>
    </dgm:pt>
    <dgm:pt modelId="{D26D4C0C-EB3D-4EDF-AD68-F5186DDBE0CE}" type="parTrans" cxnId="{B4897631-5B38-4415-AD0A-F139D3352A6A}">
      <dgm:prSet/>
      <dgm:spPr/>
      <dgm:t>
        <a:bodyPr/>
        <a:lstStyle/>
        <a:p>
          <a:endParaRPr lang="en-SG"/>
        </a:p>
      </dgm:t>
    </dgm:pt>
    <dgm:pt modelId="{57CC484A-659C-4901-AECE-B3576DE3B00F}" type="sibTrans" cxnId="{B4897631-5B38-4415-AD0A-F139D3352A6A}">
      <dgm:prSet/>
      <dgm:spPr/>
      <dgm:t>
        <a:bodyPr/>
        <a:lstStyle/>
        <a:p>
          <a:endParaRPr lang="en-SG"/>
        </a:p>
      </dgm:t>
    </dgm:pt>
    <dgm:pt modelId="{4A8EE293-8CFD-43D9-AAFF-96BEFF609CC6}">
      <dgm:prSet phldrT="[Text]"/>
      <dgm:spPr>
        <a:solidFill>
          <a:schemeClr val="accent5">
            <a:lumMod val="20000"/>
            <a:lumOff val="80000"/>
            <a:alpha val="90000"/>
          </a:schemeClr>
        </a:solidFill>
        <a:ln>
          <a:solidFill>
            <a:schemeClr val="tx2">
              <a:lumMod val="60000"/>
              <a:lumOff val="40000"/>
              <a:alpha val="90000"/>
            </a:schemeClr>
          </a:solidFill>
        </a:ln>
      </dgm:spPr>
      <dgm:t>
        <a:bodyPr/>
        <a:lstStyle/>
        <a:p>
          <a:r>
            <a:rPr lang="en-US" dirty="0"/>
            <a:t>Code</a:t>
          </a:r>
          <a:endParaRPr lang="en-SG" dirty="0"/>
        </a:p>
      </dgm:t>
    </dgm:pt>
    <dgm:pt modelId="{3B9AF228-F04E-446F-8599-5ADE291E83D3}" type="parTrans" cxnId="{9ED246F9-8497-4E49-BD4B-556A850502DD}">
      <dgm:prSet/>
      <dgm:spPr/>
      <dgm:t>
        <a:bodyPr/>
        <a:lstStyle/>
        <a:p>
          <a:endParaRPr lang="en-SG"/>
        </a:p>
      </dgm:t>
    </dgm:pt>
    <dgm:pt modelId="{7E0B4198-2A23-4123-AA1B-29A0504B7E28}" type="sibTrans" cxnId="{9ED246F9-8497-4E49-BD4B-556A850502DD}">
      <dgm:prSet/>
      <dgm:spPr/>
      <dgm:t>
        <a:bodyPr/>
        <a:lstStyle/>
        <a:p>
          <a:endParaRPr lang="en-SG"/>
        </a:p>
      </dgm:t>
    </dgm:pt>
    <dgm:pt modelId="{B5EC7224-85D8-4015-ADC5-6CEC4FAF9EB0}">
      <dgm:prSet phldrT="[Text]"/>
      <dgm:spPr>
        <a:solidFill>
          <a:schemeClr val="accent5">
            <a:lumMod val="20000"/>
            <a:lumOff val="80000"/>
            <a:alpha val="90000"/>
          </a:schemeClr>
        </a:solidFill>
        <a:ln>
          <a:solidFill>
            <a:schemeClr val="tx2">
              <a:lumMod val="60000"/>
              <a:lumOff val="40000"/>
              <a:alpha val="90000"/>
            </a:schemeClr>
          </a:solidFill>
        </a:ln>
      </dgm:spPr>
      <dgm:t>
        <a:bodyPr/>
        <a:lstStyle/>
        <a:p>
          <a:r>
            <a:rPr lang="en-US" dirty="0"/>
            <a:t>Data</a:t>
          </a:r>
          <a:endParaRPr lang="en-SG" dirty="0"/>
        </a:p>
      </dgm:t>
    </dgm:pt>
    <dgm:pt modelId="{BA0B870A-B46D-42D7-A88E-811941D3D8CF}" type="parTrans" cxnId="{264C353D-69C5-4D6B-962E-7398DEFF94CE}">
      <dgm:prSet/>
      <dgm:spPr/>
      <dgm:t>
        <a:bodyPr/>
        <a:lstStyle/>
        <a:p>
          <a:endParaRPr lang="en-SG"/>
        </a:p>
      </dgm:t>
    </dgm:pt>
    <dgm:pt modelId="{2592F6F8-AFEC-4122-B3C2-3EB5285001D1}" type="sibTrans" cxnId="{264C353D-69C5-4D6B-962E-7398DEFF94CE}">
      <dgm:prSet/>
      <dgm:spPr/>
      <dgm:t>
        <a:bodyPr/>
        <a:lstStyle/>
        <a:p>
          <a:endParaRPr lang="en-SG"/>
        </a:p>
      </dgm:t>
    </dgm:pt>
    <dgm:pt modelId="{ED8E0902-525B-47CD-B5AA-1C599035FDBB}">
      <dgm:prSet phldrT="[Text]"/>
      <dgm:spPr>
        <a:solidFill>
          <a:srgbClr val="008000"/>
        </a:solidFill>
        <a:ln>
          <a:solidFill>
            <a:srgbClr val="006600"/>
          </a:solidFill>
        </a:ln>
      </dgm:spPr>
      <dgm:t>
        <a:bodyPr/>
        <a:lstStyle/>
        <a:p>
          <a:r>
            <a:rPr lang="en-US" dirty="0"/>
            <a:t>Hardware Context</a:t>
          </a:r>
          <a:endParaRPr lang="en-SG" dirty="0"/>
        </a:p>
      </dgm:t>
    </dgm:pt>
    <dgm:pt modelId="{13C79E20-289F-41E2-85EC-54333B4C7547}" type="parTrans" cxnId="{D0423624-54D0-461F-A34B-619EF410A16B}">
      <dgm:prSet/>
      <dgm:spPr/>
      <dgm:t>
        <a:bodyPr/>
        <a:lstStyle/>
        <a:p>
          <a:endParaRPr lang="en-SG"/>
        </a:p>
      </dgm:t>
    </dgm:pt>
    <dgm:pt modelId="{CE40EECB-D1CD-4567-BD53-5CD2AF9340F7}" type="sibTrans" cxnId="{D0423624-54D0-461F-A34B-619EF410A16B}">
      <dgm:prSet/>
      <dgm:spPr/>
      <dgm:t>
        <a:bodyPr/>
        <a:lstStyle/>
        <a:p>
          <a:endParaRPr lang="en-SG"/>
        </a:p>
      </dgm:t>
    </dgm:pt>
    <dgm:pt modelId="{67E69535-E0D0-423F-A16D-59C53C6F30F3}">
      <dgm:prSet phldrT="[Text]"/>
      <dgm:spPr>
        <a:solidFill>
          <a:srgbClr val="CCFFCC">
            <a:alpha val="90000"/>
          </a:srgbClr>
        </a:solidFill>
        <a:ln>
          <a:solidFill>
            <a:srgbClr val="006600">
              <a:alpha val="90000"/>
            </a:srgbClr>
          </a:solidFill>
        </a:ln>
      </dgm:spPr>
      <dgm:t>
        <a:bodyPr/>
        <a:lstStyle/>
        <a:p>
          <a:r>
            <a:rPr lang="en-US" dirty="0"/>
            <a:t>Registers</a:t>
          </a:r>
          <a:endParaRPr lang="en-SG" dirty="0"/>
        </a:p>
      </dgm:t>
    </dgm:pt>
    <dgm:pt modelId="{85363257-DDD4-4456-86F6-77321BD5A090}" type="parTrans" cxnId="{33B0BE1D-CDDD-4D21-B36D-DAAFC09CD89F}">
      <dgm:prSet/>
      <dgm:spPr/>
      <dgm:t>
        <a:bodyPr/>
        <a:lstStyle/>
        <a:p>
          <a:endParaRPr lang="en-SG"/>
        </a:p>
      </dgm:t>
    </dgm:pt>
    <dgm:pt modelId="{D3DE87C9-A619-4558-902D-0A488918DD20}" type="sibTrans" cxnId="{33B0BE1D-CDDD-4D21-B36D-DAAFC09CD89F}">
      <dgm:prSet/>
      <dgm:spPr/>
      <dgm:t>
        <a:bodyPr/>
        <a:lstStyle/>
        <a:p>
          <a:endParaRPr lang="en-SG"/>
        </a:p>
      </dgm:t>
    </dgm:pt>
    <dgm:pt modelId="{282313F7-83C7-4E92-933D-3B0C90A54A23}">
      <dgm:prSet phldrT="[Text]"/>
      <dgm:spPr>
        <a:solidFill>
          <a:srgbClr val="CCFFCC">
            <a:alpha val="90000"/>
          </a:srgbClr>
        </a:solidFill>
        <a:ln>
          <a:solidFill>
            <a:srgbClr val="006600">
              <a:alpha val="90000"/>
            </a:srgbClr>
          </a:solidFill>
        </a:ln>
      </dgm:spPr>
      <dgm:t>
        <a:bodyPr/>
        <a:lstStyle/>
        <a:p>
          <a:r>
            <a:rPr lang="en-US" dirty="0"/>
            <a:t>PC</a:t>
          </a:r>
          <a:endParaRPr lang="en-SG" dirty="0"/>
        </a:p>
      </dgm:t>
    </dgm:pt>
    <dgm:pt modelId="{E3F197C1-07C0-4008-9AB7-C87CD95DE52D}" type="parTrans" cxnId="{D58DA66F-4D60-4BBA-9D11-C37560F79E31}">
      <dgm:prSet/>
      <dgm:spPr/>
      <dgm:t>
        <a:bodyPr/>
        <a:lstStyle/>
        <a:p>
          <a:endParaRPr lang="en-SG"/>
        </a:p>
      </dgm:t>
    </dgm:pt>
    <dgm:pt modelId="{2A83B498-B844-49D8-9663-38B7B8BA022B}" type="sibTrans" cxnId="{D58DA66F-4D60-4BBA-9D11-C37560F79E31}">
      <dgm:prSet/>
      <dgm:spPr/>
      <dgm:t>
        <a:bodyPr/>
        <a:lstStyle/>
        <a:p>
          <a:endParaRPr lang="en-SG"/>
        </a:p>
      </dgm:t>
    </dgm:pt>
    <dgm:pt modelId="{FC551346-F463-431E-8D46-5ACD36294693}">
      <dgm:prSet phldrT="[Text]"/>
      <dgm:spPr>
        <a:solidFill>
          <a:srgbClr val="002060"/>
        </a:solidFill>
        <a:ln>
          <a:solidFill>
            <a:srgbClr val="0066FF"/>
          </a:solidFill>
        </a:ln>
      </dgm:spPr>
      <dgm:t>
        <a:bodyPr/>
        <a:lstStyle/>
        <a:p>
          <a:r>
            <a:rPr lang="en-US" dirty="0"/>
            <a:t>OS </a:t>
          </a:r>
          <a:br>
            <a:rPr lang="en-US" dirty="0"/>
          </a:br>
          <a:r>
            <a:rPr lang="en-US" dirty="0"/>
            <a:t>Context</a:t>
          </a:r>
          <a:endParaRPr lang="en-SG" dirty="0"/>
        </a:p>
      </dgm:t>
    </dgm:pt>
    <dgm:pt modelId="{92C2177D-2DE1-4D56-A918-2FB011FFEB40}" type="parTrans" cxnId="{2B051985-75A1-4719-AD07-F5381CB85D5C}">
      <dgm:prSet/>
      <dgm:spPr/>
      <dgm:t>
        <a:bodyPr/>
        <a:lstStyle/>
        <a:p>
          <a:endParaRPr lang="en-SG"/>
        </a:p>
      </dgm:t>
    </dgm:pt>
    <dgm:pt modelId="{AC55CB4D-1112-44A9-BF1C-EE800CAE496E}" type="sibTrans" cxnId="{2B051985-75A1-4719-AD07-F5381CB85D5C}">
      <dgm:prSet/>
      <dgm:spPr/>
      <dgm:t>
        <a:bodyPr/>
        <a:lstStyle/>
        <a:p>
          <a:endParaRPr lang="en-SG"/>
        </a:p>
      </dgm:t>
    </dgm:pt>
    <dgm:pt modelId="{2A897BCF-47EE-4B9E-8645-E3C3421FA9C2}">
      <dgm:prSet phldrT="[Text]"/>
      <dgm:spPr>
        <a:solidFill>
          <a:srgbClr val="CCECFF">
            <a:alpha val="89804"/>
          </a:srgbClr>
        </a:solidFill>
        <a:ln>
          <a:solidFill>
            <a:srgbClr val="0066FF">
              <a:alpha val="90000"/>
            </a:srgbClr>
          </a:solidFill>
        </a:ln>
      </dgm:spPr>
      <dgm:t>
        <a:bodyPr/>
        <a:lstStyle/>
        <a:p>
          <a:r>
            <a:rPr lang="en-US" dirty="0"/>
            <a:t>Process Properties</a:t>
          </a:r>
          <a:endParaRPr lang="en-SG" dirty="0"/>
        </a:p>
      </dgm:t>
    </dgm:pt>
    <dgm:pt modelId="{39B52EFA-B3A8-4668-B7EB-C92680BF547D}" type="parTrans" cxnId="{DE86013D-C0BC-43A9-9024-7989938994D6}">
      <dgm:prSet/>
      <dgm:spPr/>
      <dgm:t>
        <a:bodyPr/>
        <a:lstStyle/>
        <a:p>
          <a:endParaRPr lang="en-SG"/>
        </a:p>
      </dgm:t>
    </dgm:pt>
    <dgm:pt modelId="{9A14FE37-D578-4729-A843-DA18C141878C}" type="sibTrans" cxnId="{DE86013D-C0BC-43A9-9024-7989938994D6}">
      <dgm:prSet/>
      <dgm:spPr/>
      <dgm:t>
        <a:bodyPr/>
        <a:lstStyle/>
        <a:p>
          <a:endParaRPr lang="en-SG"/>
        </a:p>
      </dgm:t>
    </dgm:pt>
    <dgm:pt modelId="{8B4F34D8-E2B5-40F2-8CD2-9FEF94053C17}">
      <dgm:prSet phldrT="[Text]"/>
      <dgm:spPr>
        <a:solidFill>
          <a:srgbClr val="CCECFF">
            <a:alpha val="89804"/>
          </a:srgbClr>
        </a:solidFill>
        <a:ln>
          <a:solidFill>
            <a:srgbClr val="0066FF">
              <a:alpha val="90000"/>
            </a:srgbClr>
          </a:solidFill>
        </a:ln>
      </dgm:spPr>
      <dgm:t>
        <a:bodyPr/>
        <a:lstStyle/>
        <a:p>
          <a:r>
            <a:rPr lang="en-US" dirty="0"/>
            <a:t>Resources used</a:t>
          </a:r>
          <a:endParaRPr lang="en-SG" dirty="0"/>
        </a:p>
      </dgm:t>
    </dgm:pt>
    <dgm:pt modelId="{6F861DD5-5812-46E7-BD5B-0B1441F1B0BB}" type="parTrans" cxnId="{BF069C5C-AC72-44C9-AB3D-4207B8F46B2B}">
      <dgm:prSet/>
      <dgm:spPr/>
      <dgm:t>
        <a:bodyPr/>
        <a:lstStyle/>
        <a:p>
          <a:endParaRPr lang="en-SG"/>
        </a:p>
      </dgm:t>
    </dgm:pt>
    <dgm:pt modelId="{FEC7A9E4-CB38-434C-A78C-72973EECD794}" type="sibTrans" cxnId="{BF069C5C-AC72-44C9-AB3D-4207B8F46B2B}">
      <dgm:prSet/>
      <dgm:spPr/>
      <dgm:t>
        <a:bodyPr/>
        <a:lstStyle/>
        <a:p>
          <a:endParaRPr lang="en-SG"/>
        </a:p>
      </dgm:t>
    </dgm:pt>
    <dgm:pt modelId="{8232F6A6-F271-4092-A21E-4DBD076D1103}">
      <dgm:prSet phldrT="[Text]"/>
      <dgm:spPr>
        <a:solidFill>
          <a:schemeClr val="accent5">
            <a:lumMod val="20000"/>
            <a:lumOff val="80000"/>
            <a:alpha val="90000"/>
          </a:schemeClr>
        </a:solidFill>
        <a:ln>
          <a:solidFill>
            <a:schemeClr val="tx2">
              <a:lumMod val="60000"/>
              <a:lumOff val="40000"/>
              <a:alpha val="90000"/>
            </a:schemeClr>
          </a:solidFill>
        </a:ln>
      </dgm:spPr>
      <dgm:t>
        <a:bodyPr/>
        <a:lstStyle/>
        <a:p>
          <a:r>
            <a:rPr lang="en-US" dirty="0"/>
            <a:t>...</a:t>
          </a:r>
          <a:endParaRPr lang="en-SG" dirty="0"/>
        </a:p>
      </dgm:t>
    </dgm:pt>
    <dgm:pt modelId="{D80A45C0-9887-41D9-9696-E565234CC6DF}" type="parTrans" cxnId="{088D0BA4-D444-43F5-A8CB-7CAFF9695883}">
      <dgm:prSet/>
      <dgm:spPr/>
      <dgm:t>
        <a:bodyPr/>
        <a:lstStyle/>
        <a:p>
          <a:endParaRPr lang="en-SG"/>
        </a:p>
      </dgm:t>
    </dgm:pt>
    <dgm:pt modelId="{113F9747-205D-4330-921E-97B9E40591D4}" type="sibTrans" cxnId="{088D0BA4-D444-43F5-A8CB-7CAFF9695883}">
      <dgm:prSet/>
      <dgm:spPr/>
      <dgm:t>
        <a:bodyPr/>
        <a:lstStyle/>
        <a:p>
          <a:endParaRPr lang="en-SG"/>
        </a:p>
      </dgm:t>
    </dgm:pt>
    <dgm:pt modelId="{895A7AA6-BE8C-4F81-B0D0-140E0708AD73}">
      <dgm:prSet phldrT="[Text]"/>
      <dgm:spPr>
        <a:solidFill>
          <a:srgbClr val="CCFFCC">
            <a:alpha val="90000"/>
          </a:srgbClr>
        </a:solidFill>
        <a:ln>
          <a:solidFill>
            <a:srgbClr val="006600">
              <a:alpha val="90000"/>
            </a:srgbClr>
          </a:solidFill>
        </a:ln>
      </dgm:spPr>
      <dgm:t>
        <a:bodyPr/>
        <a:lstStyle/>
        <a:p>
          <a:r>
            <a:rPr lang="en-US" dirty="0"/>
            <a:t>…</a:t>
          </a:r>
          <a:endParaRPr lang="en-SG" dirty="0"/>
        </a:p>
      </dgm:t>
    </dgm:pt>
    <dgm:pt modelId="{D27DF8D8-B209-45F6-B80F-5DE4DA48A9A9}" type="parTrans" cxnId="{0563EE83-29BF-494F-B519-211E01D4D9A5}">
      <dgm:prSet/>
      <dgm:spPr/>
      <dgm:t>
        <a:bodyPr/>
        <a:lstStyle/>
        <a:p>
          <a:endParaRPr lang="en-SG"/>
        </a:p>
      </dgm:t>
    </dgm:pt>
    <dgm:pt modelId="{695F5916-B9E3-45AB-8712-428441232D55}" type="sibTrans" cxnId="{0563EE83-29BF-494F-B519-211E01D4D9A5}">
      <dgm:prSet/>
      <dgm:spPr/>
      <dgm:t>
        <a:bodyPr/>
        <a:lstStyle/>
        <a:p>
          <a:endParaRPr lang="en-SG"/>
        </a:p>
      </dgm:t>
    </dgm:pt>
    <dgm:pt modelId="{317B0FF9-D3D3-43AC-922E-8D4AF23D84D3}">
      <dgm:prSet phldrT="[Text]"/>
      <dgm:spPr>
        <a:solidFill>
          <a:srgbClr val="CCECFF">
            <a:alpha val="89804"/>
          </a:srgbClr>
        </a:solidFill>
        <a:ln>
          <a:solidFill>
            <a:srgbClr val="0066FF">
              <a:alpha val="90000"/>
            </a:srgbClr>
          </a:solidFill>
        </a:ln>
      </dgm:spPr>
      <dgm:t>
        <a:bodyPr/>
        <a:lstStyle/>
        <a:p>
          <a:r>
            <a:rPr lang="en-US" dirty="0"/>
            <a:t>...</a:t>
          </a:r>
          <a:endParaRPr lang="en-SG" dirty="0"/>
        </a:p>
      </dgm:t>
    </dgm:pt>
    <dgm:pt modelId="{7B89C58F-9167-46A0-824B-DC48C4B7002B}" type="parTrans" cxnId="{023D4AFC-1E03-415C-A792-8524B7DAC50D}">
      <dgm:prSet/>
      <dgm:spPr/>
      <dgm:t>
        <a:bodyPr/>
        <a:lstStyle/>
        <a:p>
          <a:endParaRPr lang="en-SG"/>
        </a:p>
      </dgm:t>
    </dgm:pt>
    <dgm:pt modelId="{B2D4B6F7-FD79-4AFD-ABCA-28CA475EA54B}" type="sibTrans" cxnId="{023D4AFC-1E03-415C-A792-8524B7DAC50D}">
      <dgm:prSet/>
      <dgm:spPr/>
      <dgm:t>
        <a:bodyPr/>
        <a:lstStyle/>
        <a:p>
          <a:endParaRPr lang="en-SG"/>
        </a:p>
      </dgm:t>
    </dgm:pt>
    <dgm:pt modelId="{4CA88FB0-E1C2-449C-807B-C6C43C7818CE}" type="pres">
      <dgm:prSet presAssocID="{66C6DE70-B689-492E-8537-F1912F423AAC}" presName="Name0" presStyleCnt="0">
        <dgm:presLayoutVars>
          <dgm:dir/>
          <dgm:animLvl val="lvl"/>
          <dgm:resizeHandles val="exact"/>
        </dgm:presLayoutVars>
      </dgm:prSet>
      <dgm:spPr/>
    </dgm:pt>
    <dgm:pt modelId="{3DC38250-2167-4006-998B-D858CC7B69F5}" type="pres">
      <dgm:prSet presAssocID="{E393E768-BC9E-4981-B45C-DD10EA07EFDB}" presName="composite" presStyleCnt="0"/>
      <dgm:spPr/>
    </dgm:pt>
    <dgm:pt modelId="{ADCBEECA-77A7-4EAA-914A-6DD6CBBA2B1B}" type="pres">
      <dgm:prSet presAssocID="{E393E768-BC9E-4981-B45C-DD10EA07EFD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13A33DE-64B7-40BE-84A3-68CC46E0AC48}" type="pres">
      <dgm:prSet presAssocID="{E393E768-BC9E-4981-B45C-DD10EA07EFDB}" presName="desTx" presStyleLbl="alignAccFollowNode1" presStyleIdx="0" presStyleCnt="3">
        <dgm:presLayoutVars>
          <dgm:bulletEnabled val="1"/>
        </dgm:presLayoutVars>
      </dgm:prSet>
      <dgm:spPr/>
    </dgm:pt>
    <dgm:pt modelId="{3E44FEC5-9CCF-496B-B271-723CC9218E23}" type="pres">
      <dgm:prSet presAssocID="{57CC484A-659C-4901-AECE-B3576DE3B00F}" presName="space" presStyleCnt="0"/>
      <dgm:spPr/>
    </dgm:pt>
    <dgm:pt modelId="{496FE7F0-A59F-4DB1-9738-1BEDBAC9497C}" type="pres">
      <dgm:prSet presAssocID="{ED8E0902-525B-47CD-B5AA-1C599035FDBB}" presName="composite" presStyleCnt="0"/>
      <dgm:spPr/>
    </dgm:pt>
    <dgm:pt modelId="{E3406F7C-28AD-4259-89CF-31102E4A395E}" type="pres">
      <dgm:prSet presAssocID="{ED8E0902-525B-47CD-B5AA-1C599035FDB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FEE8A20-B279-4458-933E-A179A022B841}" type="pres">
      <dgm:prSet presAssocID="{ED8E0902-525B-47CD-B5AA-1C599035FDBB}" presName="desTx" presStyleLbl="alignAccFollowNode1" presStyleIdx="1" presStyleCnt="3">
        <dgm:presLayoutVars>
          <dgm:bulletEnabled val="1"/>
        </dgm:presLayoutVars>
      </dgm:prSet>
      <dgm:spPr/>
    </dgm:pt>
    <dgm:pt modelId="{EDF4721D-5F65-4556-934A-C176976AB3C7}" type="pres">
      <dgm:prSet presAssocID="{CE40EECB-D1CD-4567-BD53-5CD2AF9340F7}" presName="space" presStyleCnt="0"/>
      <dgm:spPr/>
    </dgm:pt>
    <dgm:pt modelId="{BFA917B1-AC99-48A1-A141-0EDE4A25DF11}" type="pres">
      <dgm:prSet presAssocID="{FC551346-F463-431E-8D46-5ACD36294693}" presName="composite" presStyleCnt="0"/>
      <dgm:spPr/>
    </dgm:pt>
    <dgm:pt modelId="{564C2FF9-FDE1-40BB-94C6-F9555F8E5D55}" type="pres">
      <dgm:prSet presAssocID="{FC551346-F463-431E-8D46-5ACD3629469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D2D9B1F-0D80-4175-A0AA-B671D120DA8F}" type="pres">
      <dgm:prSet presAssocID="{FC551346-F463-431E-8D46-5ACD3629469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87F2311-570C-40FD-9EAB-16FC6B2614C0}" type="presOf" srcId="{4A8EE293-8CFD-43D9-AAFF-96BEFF609CC6}" destId="{813A33DE-64B7-40BE-84A3-68CC46E0AC48}" srcOrd="0" destOrd="0" presId="urn:microsoft.com/office/officeart/2005/8/layout/hList1"/>
    <dgm:cxn modelId="{33B0BE1D-CDDD-4D21-B36D-DAAFC09CD89F}" srcId="{ED8E0902-525B-47CD-B5AA-1C599035FDBB}" destId="{67E69535-E0D0-423F-A16D-59C53C6F30F3}" srcOrd="0" destOrd="0" parTransId="{85363257-DDD4-4456-86F6-77321BD5A090}" sibTransId="{D3DE87C9-A619-4558-902D-0A488918DD20}"/>
    <dgm:cxn modelId="{D0423624-54D0-461F-A34B-619EF410A16B}" srcId="{66C6DE70-B689-492E-8537-F1912F423AAC}" destId="{ED8E0902-525B-47CD-B5AA-1C599035FDBB}" srcOrd="1" destOrd="0" parTransId="{13C79E20-289F-41E2-85EC-54333B4C7547}" sibTransId="{CE40EECB-D1CD-4567-BD53-5CD2AF9340F7}"/>
    <dgm:cxn modelId="{B4897631-5B38-4415-AD0A-F139D3352A6A}" srcId="{66C6DE70-B689-492E-8537-F1912F423AAC}" destId="{E393E768-BC9E-4981-B45C-DD10EA07EFDB}" srcOrd="0" destOrd="0" parTransId="{D26D4C0C-EB3D-4EDF-AD68-F5186DDBE0CE}" sibTransId="{57CC484A-659C-4901-AECE-B3576DE3B00F}"/>
    <dgm:cxn modelId="{8BF16632-F6AC-4E8E-9F69-95A23A79A8B0}" type="presOf" srcId="{FC551346-F463-431E-8D46-5ACD36294693}" destId="{564C2FF9-FDE1-40BB-94C6-F9555F8E5D55}" srcOrd="0" destOrd="0" presId="urn:microsoft.com/office/officeart/2005/8/layout/hList1"/>
    <dgm:cxn modelId="{C662483A-50E4-40EE-A94E-656D42786B1F}" type="presOf" srcId="{8232F6A6-F271-4092-A21E-4DBD076D1103}" destId="{813A33DE-64B7-40BE-84A3-68CC46E0AC48}" srcOrd="0" destOrd="2" presId="urn:microsoft.com/office/officeart/2005/8/layout/hList1"/>
    <dgm:cxn modelId="{98AD623C-E345-4129-BC7E-FED40666677A}" type="presOf" srcId="{67E69535-E0D0-423F-A16D-59C53C6F30F3}" destId="{EFEE8A20-B279-4458-933E-A179A022B841}" srcOrd="0" destOrd="0" presId="urn:microsoft.com/office/officeart/2005/8/layout/hList1"/>
    <dgm:cxn modelId="{DE86013D-C0BC-43A9-9024-7989938994D6}" srcId="{FC551346-F463-431E-8D46-5ACD36294693}" destId="{2A897BCF-47EE-4B9E-8645-E3C3421FA9C2}" srcOrd="0" destOrd="0" parTransId="{39B52EFA-B3A8-4668-B7EB-C92680BF547D}" sibTransId="{9A14FE37-D578-4729-A843-DA18C141878C}"/>
    <dgm:cxn modelId="{264C353D-69C5-4D6B-962E-7398DEFF94CE}" srcId="{E393E768-BC9E-4981-B45C-DD10EA07EFDB}" destId="{B5EC7224-85D8-4015-ADC5-6CEC4FAF9EB0}" srcOrd="1" destOrd="0" parTransId="{BA0B870A-B46D-42D7-A88E-811941D3D8CF}" sibTransId="{2592F6F8-AFEC-4122-B3C2-3EB5285001D1}"/>
    <dgm:cxn modelId="{7BF23654-6586-4C40-BC15-7C984980FA30}" type="presOf" srcId="{E393E768-BC9E-4981-B45C-DD10EA07EFDB}" destId="{ADCBEECA-77A7-4EAA-914A-6DD6CBBA2B1B}" srcOrd="0" destOrd="0" presId="urn:microsoft.com/office/officeart/2005/8/layout/hList1"/>
    <dgm:cxn modelId="{BF069C5C-AC72-44C9-AB3D-4207B8F46B2B}" srcId="{FC551346-F463-431E-8D46-5ACD36294693}" destId="{8B4F34D8-E2B5-40F2-8CD2-9FEF94053C17}" srcOrd="1" destOrd="0" parTransId="{6F861DD5-5812-46E7-BD5B-0B1441F1B0BB}" sibTransId="{FEC7A9E4-CB38-434C-A78C-72973EECD794}"/>
    <dgm:cxn modelId="{D58DA66F-4D60-4BBA-9D11-C37560F79E31}" srcId="{ED8E0902-525B-47CD-B5AA-1C599035FDBB}" destId="{282313F7-83C7-4E92-933D-3B0C90A54A23}" srcOrd="1" destOrd="0" parTransId="{E3F197C1-07C0-4008-9AB7-C87CD95DE52D}" sibTransId="{2A83B498-B844-49D8-9663-38B7B8BA022B}"/>
    <dgm:cxn modelId="{02D4457C-E96D-4D6E-9195-33FB14EEAA51}" type="presOf" srcId="{66C6DE70-B689-492E-8537-F1912F423AAC}" destId="{4CA88FB0-E1C2-449C-807B-C6C43C7818CE}" srcOrd="0" destOrd="0" presId="urn:microsoft.com/office/officeart/2005/8/layout/hList1"/>
    <dgm:cxn modelId="{CC2BAA80-6F2D-4B00-B5C3-8086D9FBC1EB}" type="presOf" srcId="{282313F7-83C7-4E92-933D-3B0C90A54A23}" destId="{EFEE8A20-B279-4458-933E-A179A022B841}" srcOrd="0" destOrd="1" presId="urn:microsoft.com/office/officeart/2005/8/layout/hList1"/>
    <dgm:cxn modelId="{0563EE83-29BF-494F-B519-211E01D4D9A5}" srcId="{ED8E0902-525B-47CD-B5AA-1C599035FDBB}" destId="{895A7AA6-BE8C-4F81-B0D0-140E0708AD73}" srcOrd="2" destOrd="0" parTransId="{D27DF8D8-B209-45F6-B80F-5DE4DA48A9A9}" sibTransId="{695F5916-B9E3-45AB-8712-428441232D55}"/>
    <dgm:cxn modelId="{2B051985-75A1-4719-AD07-F5381CB85D5C}" srcId="{66C6DE70-B689-492E-8537-F1912F423AAC}" destId="{FC551346-F463-431E-8D46-5ACD36294693}" srcOrd="2" destOrd="0" parTransId="{92C2177D-2DE1-4D56-A918-2FB011FFEB40}" sibTransId="{AC55CB4D-1112-44A9-BF1C-EE800CAE496E}"/>
    <dgm:cxn modelId="{593EA791-FB03-49C5-8776-DC6315BBDB6D}" type="presOf" srcId="{ED8E0902-525B-47CD-B5AA-1C599035FDBB}" destId="{E3406F7C-28AD-4259-89CF-31102E4A395E}" srcOrd="0" destOrd="0" presId="urn:microsoft.com/office/officeart/2005/8/layout/hList1"/>
    <dgm:cxn modelId="{EC85D796-39A9-4FCF-85D4-8C8678626D0E}" type="presOf" srcId="{B5EC7224-85D8-4015-ADC5-6CEC4FAF9EB0}" destId="{813A33DE-64B7-40BE-84A3-68CC46E0AC48}" srcOrd="0" destOrd="1" presId="urn:microsoft.com/office/officeart/2005/8/layout/hList1"/>
    <dgm:cxn modelId="{9116C79C-1ADC-4FC9-8852-80E8AC47D79F}" type="presOf" srcId="{317B0FF9-D3D3-43AC-922E-8D4AF23D84D3}" destId="{1D2D9B1F-0D80-4175-A0AA-B671D120DA8F}" srcOrd="0" destOrd="2" presId="urn:microsoft.com/office/officeart/2005/8/layout/hList1"/>
    <dgm:cxn modelId="{088D0BA4-D444-43F5-A8CB-7CAFF9695883}" srcId="{E393E768-BC9E-4981-B45C-DD10EA07EFDB}" destId="{8232F6A6-F271-4092-A21E-4DBD076D1103}" srcOrd="2" destOrd="0" parTransId="{D80A45C0-9887-41D9-9696-E565234CC6DF}" sibTransId="{113F9747-205D-4330-921E-97B9E40591D4}"/>
    <dgm:cxn modelId="{A05362B9-730C-4DF1-A02C-C1802372EC9F}" type="presOf" srcId="{2A897BCF-47EE-4B9E-8645-E3C3421FA9C2}" destId="{1D2D9B1F-0D80-4175-A0AA-B671D120DA8F}" srcOrd="0" destOrd="0" presId="urn:microsoft.com/office/officeart/2005/8/layout/hList1"/>
    <dgm:cxn modelId="{7F3374CA-AB4E-4375-8A31-F8895EDEB9E5}" type="presOf" srcId="{8B4F34D8-E2B5-40F2-8CD2-9FEF94053C17}" destId="{1D2D9B1F-0D80-4175-A0AA-B671D120DA8F}" srcOrd="0" destOrd="1" presId="urn:microsoft.com/office/officeart/2005/8/layout/hList1"/>
    <dgm:cxn modelId="{9ED246F9-8497-4E49-BD4B-556A850502DD}" srcId="{E393E768-BC9E-4981-B45C-DD10EA07EFDB}" destId="{4A8EE293-8CFD-43D9-AAFF-96BEFF609CC6}" srcOrd="0" destOrd="0" parTransId="{3B9AF228-F04E-446F-8599-5ADE291E83D3}" sibTransId="{7E0B4198-2A23-4123-AA1B-29A0504B7E28}"/>
    <dgm:cxn modelId="{CA7D27FA-7EF2-4EDD-9D46-5FE70AC22D30}" type="presOf" srcId="{895A7AA6-BE8C-4F81-B0D0-140E0708AD73}" destId="{EFEE8A20-B279-4458-933E-A179A022B841}" srcOrd="0" destOrd="2" presId="urn:microsoft.com/office/officeart/2005/8/layout/hList1"/>
    <dgm:cxn modelId="{023D4AFC-1E03-415C-A792-8524B7DAC50D}" srcId="{FC551346-F463-431E-8D46-5ACD36294693}" destId="{317B0FF9-D3D3-43AC-922E-8D4AF23D84D3}" srcOrd="2" destOrd="0" parTransId="{7B89C58F-9167-46A0-824B-DC48C4B7002B}" sibTransId="{B2D4B6F7-FD79-4AFD-ABCA-28CA475EA54B}"/>
    <dgm:cxn modelId="{3E69D963-8EE3-43AF-8D99-D9A2C42AF90E}" type="presParOf" srcId="{4CA88FB0-E1C2-449C-807B-C6C43C7818CE}" destId="{3DC38250-2167-4006-998B-D858CC7B69F5}" srcOrd="0" destOrd="0" presId="urn:microsoft.com/office/officeart/2005/8/layout/hList1"/>
    <dgm:cxn modelId="{73C53548-594B-4B3C-8906-530EADAAE495}" type="presParOf" srcId="{3DC38250-2167-4006-998B-D858CC7B69F5}" destId="{ADCBEECA-77A7-4EAA-914A-6DD6CBBA2B1B}" srcOrd="0" destOrd="0" presId="urn:microsoft.com/office/officeart/2005/8/layout/hList1"/>
    <dgm:cxn modelId="{7316DBF3-1A30-4046-8E4F-413E4E53E3EA}" type="presParOf" srcId="{3DC38250-2167-4006-998B-D858CC7B69F5}" destId="{813A33DE-64B7-40BE-84A3-68CC46E0AC48}" srcOrd="1" destOrd="0" presId="urn:microsoft.com/office/officeart/2005/8/layout/hList1"/>
    <dgm:cxn modelId="{5CCBEAF1-EACD-4440-A5A3-A35EA7284435}" type="presParOf" srcId="{4CA88FB0-E1C2-449C-807B-C6C43C7818CE}" destId="{3E44FEC5-9CCF-496B-B271-723CC9218E23}" srcOrd="1" destOrd="0" presId="urn:microsoft.com/office/officeart/2005/8/layout/hList1"/>
    <dgm:cxn modelId="{93DDD3B0-9C55-4793-83BF-B536E40DF441}" type="presParOf" srcId="{4CA88FB0-E1C2-449C-807B-C6C43C7818CE}" destId="{496FE7F0-A59F-4DB1-9738-1BEDBAC9497C}" srcOrd="2" destOrd="0" presId="urn:microsoft.com/office/officeart/2005/8/layout/hList1"/>
    <dgm:cxn modelId="{8C120A41-1455-4DF2-8193-A83BAE7A328F}" type="presParOf" srcId="{496FE7F0-A59F-4DB1-9738-1BEDBAC9497C}" destId="{E3406F7C-28AD-4259-89CF-31102E4A395E}" srcOrd="0" destOrd="0" presId="urn:microsoft.com/office/officeart/2005/8/layout/hList1"/>
    <dgm:cxn modelId="{C2C32086-6CEA-4349-A2F8-213B0EB54BA5}" type="presParOf" srcId="{496FE7F0-A59F-4DB1-9738-1BEDBAC9497C}" destId="{EFEE8A20-B279-4458-933E-A179A022B841}" srcOrd="1" destOrd="0" presId="urn:microsoft.com/office/officeart/2005/8/layout/hList1"/>
    <dgm:cxn modelId="{69369AE2-5C32-4580-ABF7-8D05140AFED4}" type="presParOf" srcId="{4CA88FB0-E1C2-449C-807B-C6C43C7818CE}" destId="{EDF4721D-5F65-4556-934A-C176976AB3C7}" srcOrd="3" destOrd="0" presId="urn:microsoft.com/office/officeart/2005/8/layout/hList1"/>
    <dgm:cxn modelId="{B165866A-B6D6-4C6A-9DA3-2CD47FB30A84}" type="presParOf" srcId="{4CA88FB0-E1C2-449C-807B-C6C43C7818CE}" destId="{BFA917B1-AC99-48A1-A141-0EDE4A25DF11}" srcOrd="4" destOrd="0" presId="urn:microsoft.com/office/officeart/2005/8/layout/hList1"/>
    <dgm:cxn modelId="{FC307AE7-0158-429D-8BCF-FA263B7ACC70}" type="presParOf" srcId="{BFA917B1-AC99-48A1-A141-0EDE4A25DF11}" destId="{564C2FF9-FDE1-40BB-94C6-F9555F8E5D55}" srcOrd="0" destOrd="0" presId="urn:microsoft.com/office/officeart/2005/8/layout/hList1"/>
    <dgm:cxn modelId="{0CC361E1-E6B4-4864-B814-E2F2836EA679}" type="presParOf" srcId="{BFA917B1-AC99-48A1-A141-0EDE4A25DF11}" destId="{1D2D9B1F-0D80-4175-A0AA-B671D120DA8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62E14-A98C-400C-98A6-DF9C25DE3A1D}">
      <dsp:nvSpPr>
        <dsp:cNvPr id="0" name=""/>
        <dsp:cNvSpPr/>
      </dsp:nvSpPr>
      <dsp:spPr>
        <a:xfrm>
          <a:off x="0" y="327630"/>
          <a:ext cx="7696200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58216" rIns="59731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Information describing an executing program</a:t>
          </a:r>
          <a:endParaRPr lang="en-SG" sz="2200" kern="1200" dirty="0"/>
        </a:p>
      </dsp:txBody>
      <dsp:txXfrm>
        <a:off x="0" y="327630"/>
        <a:ext cx="7696200" cy="918224"/>
      </dsp:txXfrm>
    </dsp:sp>
    <dsp:sp modelId="{A0F1045D-1404-448F-A99E-5A525546E0A0}">
      <dsp:nvSpPr>
        <dsp:cNvPr id="0" name=""/>
        <dsp:cNvSpPr/>
      </dsp:nvSpPr>
      <dsp:spPr>
        <a:xfrm>
          <a:off x="384810" y="2910"/>
          <a:ext cx="5387339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Process Abstraction</a:t>
          </a:r>
          <a:endParaRPr lang="en-SG" sz="2200" b="1" i="0" kern="1200" dirty="0"/>
        </a:p>
      </dsp:txBody>
      <dsp:txXfrm>
        <a:off x="416513" y="34613"/>
        <a:ext cx="5323933" cy="586034"/>
      </dsp:txXfrm>
    </dsp:sp>
    <dsp:sp modelId="{9452430F-0D41-48E6-9EFF-D0BD9AF10AE5}">
      <dsp:nvSpPr>
        <dsp:cNvPr id="0" name=""/>
        <dsp:cNvSpPr/>
      </dsp:nvSpPr>
      <dsp:spPr>
        <a:xfrm>
          <a:off x="0" y="1689375"/>
          <a:ext cx="7696200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3022401"/>
              <a:satOff val="1745"/>
              <a:lumOff val="-32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58216" rIns="59731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Deciding which process get to execute</a:t>
          </a:r>
          <a:endParaRPr lang="en-SG" sz="2200" kern="1200" dirty="0"/>
        </a:p>
      </dsp:txBody>
      <dsp:txXfrm>
        <a:off x="0" y="1689375"/>
        <a:ext cx="7696200" cy="918224"/>
      </dsp:txXfrm>
    </dsp:sp>
    <dsp:sp modelId="{5F21E593-7E76-4519-9E50-0F90DEFA97F1}">
      <dsp:nvSpPr>
        <dsp:cNvPr id="0" name=""/>
        <dsp:cNvSpPr/>
      </dsp:nvSpPr>
      <dsp:spPr>
        <a:xfrm>
          <a:off x="384810" y="1364655"/>
          <a:ext cx="5387339" cy="649440"/>
        </a:xfrm>
        <a:prstGeom prst="roundRect">
          <a:avLst/>
        </a:prstGeom>
        <a:solidFill>
          <a:schemeClr val="accent2">
            <a:hueOff val="-3022401"/>
            <a:satOff val="1745"/>
            <a:lumOff val="-32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Process Scheduling</a:t>
          </a:r>
          <a:endParaRPr lang="en-SG" sz="2200" b="1" kern="1200" dirty="0"/>
        </a:p>
      </dsp:txBody>
      <dsp:txXfrm>
        <a:off x="416513" y="1396358"/>
        <a:ext cx="5323933" cy="586034"/>
      </dsp:txXfrm>
    </dsp:sp>
    <dsp:sp modelId="{76DFFF08-9C74-4D9A-B9A5-AFC5EBEC37F1}">
      <dsp:nvSpPr>
        <dsp:cNvPr id="0" name=""/>
        <dsp:cNvSpPr/>
      </dsp:nvSpPr>
      <dsp:spPr>
        <a:xfrm>
          <a:off x="0" y="3051120"/>
          <a:ext cx="7696200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6044802"/>
              <a:satOff val="3491"/>
              <a:lumOff val="-64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58216" rIns="59731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Passing information between processes</a:t>
          </a:r>
          <a:endParaRPr lang="en-SG" sz="2200" kern="1200" dirty="0"/>
        </a:p>
      </dsp:txBody>
      <dsp:txXfrm>
        <a:off x="0" y="3051120"/>
        <a:ext cx="7696200" cy="918224"/>
      </dsp:txXfrm>
    </dsp:sp>
    <dsp:sp modelId="{9A6DF595-0921-4B96-89D8-7C40037CDB5A}">
      <dsp:nvSpPr>
        <dsp:cNvPr id="0" name=""/>
        <dsp:cNvSpPr/>
      </dsp:nvSpPr>
      <dsp:spPr>
        <a:xfrm>
          <a:off x="384810" y="2726400"/>
          <a:ext cx="5387339" cy="649440"/>
        </a:xfrm>
        <a:prstGeom prst="roundRect">
          <a:avLst/>
        </a:prstGeom>
        <a:solidFill>
          <a:schemeClr val="accent2">
            <a:hueOff val="-6044802"/>
            <a:satOff val="3491"/>
            <a:lumOff val="-64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Inter-Process Communication &amp; Synchronization</a:t>
          </a:r>
          <a:endParaRPr lang="en-SG" sz="2200" b="1" kern="1200" dirty="0"/>
        </a:p>
      </dsp:txBody>
      <dsp:txXfrm>
        <a:off x="416513" y="2758103"/>
        <a:ext cx="5323933" cy="586034"/>
      </dsp:txXfrm>
    </dsp:sp>
    <dsp:sp modelId="{BA67F212-3F26-4FE0-B59D-98A3840EC922}">
      <dsp:nvSpPr>
        <dsp:cNvPr id="0" name=""/>
        <dsp:cNvSpPr/>
      </dsp:nvSpPr>
      <dsp:spPr>
        <a:xfrm>
          <a:off x="0" y="4412864"/>
          <a:ext cx="7696200" cy="9182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-9067202"/>
              <a:satOff val="5236"/>
              <a:lumOff val="-96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7311" tIns="458216" rIns="59731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Light-weight process aka Thread</a:t>
          </a:r>
          <a:endParaRPr lang="en-SG" sz="2200" kern="1200" dirty="0"/>
        </a:p>
      </dsp:txBody>
      <dsp:txXfrm>
        <a:off x="0" y="4412864"/>
        <a:ext cx="7696200" cy="918224"/>
      </dsp:txXfrm>
    </dsp:sp>
    <dsp:sp modelId="{F6A65EFE-1807-4F2C-894E-605C3C8AC652}">
      <dsp:nvSpPr>
        <dsp:cNvPr id="0" name=""/>
        <dsp:cNvSpPr/>
      </dsp:nvSpPr>
      <dsp:spPr>
        <a:xfrm>
          <a:off x="384810" y="4088144"/>
          <a:ext cx="5387339" cy="649440"/>
        </a:xfrm>
        <a:prstGeom prst="roundRect">
          <a:avLst/>
        </a:prstGeom>
        <a:solidFill>
          <a:schemeClr val="accent2">
            <a:hueOff val="-9067202"/>
            <a:satOff val="5236"/>
            <a:lumOff val="-96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629" tIns="0" rIns="20362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Alternative to Process</a:t>
          </a:r>
          <a:endParaRPr lang="en-SG" sz="2200" b="1" kern="1200" dirty="0"/>
        </a:p>
      </dsp:txBody>
      <dsp:txXfrm>
        <a:off x="416513" y="4119847"/>
        <a:ext cx="5323933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BEECA-77A7-4EAA-914A-6DD6CBBA2B1B}">
      <dsp:nvSpPr>
        <dsp:cNvPr id="0" name=""/>
        <dsp:cNvSpPr/>
      </dsp:nvSpPr>
      <dsp:spPr>
        <a:xfrm>
          <a:off x="2500" y="29350"/>
          <a:ext cx="2437804" cy="931913"/>
        </a:xfrm>
        <a:prstGeom prst="rect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Memory Context</a:t>
          </a:r>
          <a:endParaRPr lang="en-SG" sz="2700" kern="1200" dirty="0"/>
        </a:p>
      </dsp:txBody>
      <dsp:txXfrm>
        <a:off x="2500" y="29350"/>
        <a:ext cx="2437804" cy="931913"/>
      </dsp:txXfrm>
    </dsp:sp>
    <dsp:sp modelId="{813A33DE-64B7-40BE-84A3-68CC46E0AC48}">
      <dsp:nvSpPr>
        <dsp:cNvPr id="0" name=""/>
        <dsp:cNvSpPr/>
      </dsp:nvSpPr>
      <dsp:spPr>
        <a:xfrm>
          <a:off x="2500" y="961264"/>
          <a:ext cx="2437804" cy="2285984"/>
        </a:xfrm>
        <a:prstGeom prst="rect">
          <a:avLst/>
        </a:prstGeom>
        <a:solidFill>
          <a:schemeClr val="accent5">
            <a:lumMod val="20000"/>
            <a:lumOff val="80000"/>
            <a:alpha val="90000"/>
          </a:schemeClr>
        </a:solidFill>
        <a:ln w="25400" cap="flat" cmpd="sng" algn="ctr">
          <a:solidFill>
            <a:schemeClr val="tx2">
              <a:lumMod val="60000"/>
              <a:lumOff val="40000"/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Code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Data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...</a:t>
          </a:r>
          <a:endParaRPr lang="en-SG" sz="2700" kern="1200" dirty="0"/>
        </a:p>
      </dsp:txBody>
      <dsp:txXfrm>
        <a:off x="2500" y="961264"/>
        <a:ext cx="2437804" cy="2285984"/>
      </dsp:txXfrm>
    </dsp:sp>
    <dsp:sp modelId="{E3406F7C-28AD-4259-89CF-31102E4A395E}">
      <dsp:nvSpPr>
        <dsp:cNvPr id="0" name=""/>
        <dsp:cNvSpPr/>
      </dsp:nvSpPr>
      <dsp:spPr>
        <a:xfrm>
          <a:off x="2781597" y="29350"/>
          <a:ext cx="2437804" cy="931913"/>
        </a:xfrm>
        <a:prstGeom prst="rect">
          <a:avLst/>
        </a:prstGeom>
        <a:solidFill>
          <a:srgbClr val="008000"/>
        </a:solidFill>
        <a:ln w="25400" cap="flat" cmpd="sng" algn="ctr">
          <a:solidFill>
            <a:srgbClr val="0066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Hardware Context</a:t>
          </a:r>
          <a:endParaRPr lang="en-SG" sz="2700" kern="1200" dirty="0"/>
        </a:p>
      </dsp:txBody>
      <dsp:txXfrm>
        <a:off x="2781597" y="29350"/>
        <a:ext cx="2437804" cy="931913"/>
      </dsp:txXfrm>
    </dsp:sp>
    <dsp:sp modelId="{EFEE8A20-B279-4458-933E-A179A022B841}">
      <dsp:nvSpPr>
        <dsp:cNvPr id="0" name=""/>
        <dsp:cNvSpPr/>
      </dsp:nvSpPr>
      <dsp:spPr>
        <a:xfrm>
          <a:off x="2781597" y="961264"/>
          <a:ext cx="2437804" cy="2285984"/>
        </a:xfrm>
        <a:prstGeom prst="rect">
          <a:avLst/>
        </a:prstGeom>
        <a:solidFill>
          <a:srgbClr val="CCFFCC">
            <a:alpha val="90000"/>
          </a:srgbClr>
        </a:solidFill>
        <a:ln w="25400" cap="flat" cmpd="sng" algn="ctr">
          <a:solidFill>
            <a:srgbClr val="006600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Registers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PC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…</a:t>
          </a:r>
          <a:endParaRPr lang="en-SG" sz="2700" kern="1200" dirty="0"/>
        </a:p>
      </dsp:txBody>
      <dsp:txXfrm>
        <a:off x="2781597" y="961264"/>
        <a:ext cx="2437804" cy="2285984"/>
      </dsp:txXfrm>
    </dsp:sp>
    <dsp:sp modelId="{564C2FF9-FDE1-40BB-94C6-F9555F8E5D55}">
      <dsp:nvSpPr>
        <dsp:cNvPr id="0" name=""/>
        <dsp:cNvSpPr/>
      </dsp:nvSpPr>
      <dsp:spPr>
        <a:xfrm>
          <a:off x="5560695" y="29350"/>
          <a:ext cx="2437804" cy="931913"/>
        </a:xfrm>
        <a:prstGeom prst="rect">
          <a:avLst/>
        </a:prstGeom>
        <a:solidFill>
          <a:srgbClr val="002060"/>
        </a:solidFill>
        <a:ln w="25400" cap="flat" cmpd="sng" algn="ctr">
          <a:solidFill>
            <a:srgbClr val="0066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OS </a:t>
          </a:r>
          <a:br>
            <a:rPr lang="en-US" sz="2700" kern="1200" dirty="0"/>
          </a:br>
          <a:r>
            <a:rPr lang="en-US" sz="2700" kern="1200" dirty="0"/>
            <a:t>Context</a:t>
          </a:r>
          <a:endParaRPr lang="en-SG" sz="2700" kern="1200" dirty="0"/>
        </a:p>
      </dsp:txBody>
      <dsp:txXfrm>
        <a:off x="5560695" y="29350"/>
        <a:ext cx="2437804" cy="931913"/>
      </dsp:txXfrm>
    </dsp:sp>
    <dsp:sp modelId="{1D2D9B1F-0D80-4175-A0AA-B671D120DA8F}">
      <dsp:nvSpPr>
        <dsp:cNvPr id="0" name=""/>
        <dsp:cNvSpPr/>
      </dsp:nvSpPr>
      <dsp:spPr>
        <a:xfrm>
          <a:off x="5560695" y="961264"/>
          <a:ext cx="2437804" cy="2285984"/>
        </a:xfrm>
        <a:prstGeom prst="rect">
          <a:avLst/>
        </a:prstGeom>
        <a:solidFill>
          <a:srgbClr val="CCECFF">
            <a:alpha val="89804"/>
          </a:srgbClr>
        </a:solidFill>
        <a:ln w="25400" cap="flat" cmpd="sng" algn="ctr">
          <a:solidFill>
            <a:srgbClr val="0066FF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Process Properties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Resources used</a:t>
          </a:r>
          <a:endParaRPr lang="en-SG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...</a:t>
          </a:r>
          <a:endParaRPr lang="en-SG" sz="2700" kern="1200" dirty="0"/>
        </a:p>
      </dsp:txBody>
      <dsp:txXfrm>
        <a:off x="5560695" y="961264"/>
        <a:ext cx="2437804" cy="2285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29" tIns="47414" rIns="94829" bIns="47414" numCol="1" anchor="t" anchorCtr="0" compatLnSpc="1">
            <a:prstTxWarp prst="textNoShape">
              <a:avLst/>
            </a:prstTxWarp>
          </a:bodyPr>
          <a:lstStyle>
            <a:lvl1pPr defTabSz="947738">
              <a:defRPr sz="12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8925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29" tIns="47414" rIns="94829" bIns="47414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29" tIns="47414" rIns="94829" bIns="474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29" tIns="47414" rIns="94829" bIns="47414" numCol="1" anchor="b" anchorCtr="0" compatLnSpc="1">
            <a:prstTxWarp prst="textNoShape">
              <a:avLst/>
            </a:prstTxWarp>
          </a:bodyPr>
          <a:lstStyle>
            <a:lvl1pPr defTabSz="947738">
              <a:defRPr sz="12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8925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29" tIns="47414" rIns="94829" bIns="47414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fld id="{5108F02C-060D-4161-8216-FCB92CCEAF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6946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4951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ACA26B-B4A8-4861-B14B-0D6756754EF3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507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823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0781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  <a:r>
              <a:rPr lang="en-US" baseline="0" dirty="0"/>
              <a:t> </a:t>
            </a:r>
            <a:r>
              <a:rPr lang="en-US" baseline="0"/>
              <a:t>the convention to match MIPS?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095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  <a:r>
              <a:rPr lang="en-US" baseline="0" dirty="0"/>
              <a:t> </a:t>
            </a:r>
            <a:r>
              <a:rPr lang="en-US" baseline="0"/>
              <a:t>the convention to match MIPS?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7623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652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  <a:r>
              <a:rPr lang="en-US" baseline="0" dirty="0"/>
              <a:t> </a:t>
            </a:r>
            <a:r>
              <a:rPr lang="en-US" baseline="0"/>
              <a:t>the convention to match MIPS?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F38872-BAE3-431E-9821-6E2B45FB74E3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5554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BF1E53-9491-4ED7-8D42-7B3C0FC4804E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166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52176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9A74B6-9672-4F47-852F-6E61290DCFEB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3055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24BA39-9B12-4BED-98EA-1C79CF4B5D5F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326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703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DA41D5-8188-4593-89F1-5BF907EBCFBB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328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28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980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49FD95-02BC-4426-A834-9741AD3652CF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33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11820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A3B4C7-9C18-47E8-811F-BECFB442D608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7706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B84281-3C33-4F7E-AB62-B77A6DD7AFFA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887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03CA84-14AF-4882-9122-ACED62931278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336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36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7069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7D83FC-9F97-4EFD-9B4B-50E0CF5B5394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33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4075" y="742950"/>
            <a:ext cx="4965700" cy="3724275"/>
          </a:xfrm>
          <a:ln/>
        </p:spPr>
      </p:sp>
      <p:sp>
        <p:nvSpPr>
          <p:cNvPr id="338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r>
              <a:rPr lang="en-US" altLang="en-US" dirty="0"/>
              <a:t>Beautify</a:t>
            </a:r>
          </a:p>
        </p:txBody>
      </p:sp>
    </p:spTree>
    <p:extLst>
      <p:ext uri="{BB962C8B-B14F-4D97-AF65-F5344CB8AC3E}">
        <p14:creationId xmlns:p14="http://schemas.microsoft.com/office/powerpoint/2010/main" val="30559196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BF5897-94E5-4331-8AFE-AF331B864AA3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9687" cy="3838575"/>
          </a:xfrm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21591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3489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2407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8FFE08-5A23-4E88-A705-23FF4C9B8D3F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29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2488" y="742950"/>
            <a:ext cx="4965700" cy="3724275"/>
          </a:xfrm>
          <a:ln/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4714875"/>
            <a:ext cx="5335588" cy="44688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7477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613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7632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4434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38543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4136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72892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4340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51244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24702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69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06757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08F02C-060D-4161-8216-FCB92CCEAF67}" type="slidenum">
              <a:rPr lang="en-US" altLang="en-US" smtClean="0"/>
              <a:pPr/>
              <a:t>77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734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69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098E6A6-25AB-4DC4-A700-7562046CD0B6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519151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B6746CE-4950-4E48-862F-8AFEDA29EA2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324474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A367C4-FB8D-4A8B-B3C0-606BABB89E0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39096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95A6C6-5D2F-4DB0-A0DA-97880AA7BD5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04627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7AA240-C8A9-4D58-9A89-1F3DC590387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89363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00B4F42-F48B-49D6-A90D-AAE9425B0C8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458946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4E4F7F7-688B-4E8D-B2A8-E3535D30752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713829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1976E0-F662-4477-A186-18A6F7DAE07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69672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DF1B653-98DA-4E95-8011-CF2CFB3F8AD3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17446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22BCDA-35AA-4A62-9D1C-DD479B308ED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4083494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E70FAAF0-29BF-401E-8C1D-F1D24C0D42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325395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004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1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35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32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12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87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28841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84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E70FAAF0-29BF-401E-8C1D-F1D24C0D42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17526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44398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CG2271 Lecture 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1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Process Management</a:t>
            </a:r>
            <a:br>
              <a:rPr lang="en-US" altLang="en-US" dirty="0"/>
            </a:br>
            <a:r>
              <a:rPr lang="en-US" altLang="en-US" b="1" dirty="0">
                <a:solidFill>
                  <a:srgbClr val="C00000"/>
                </a:solidFill>
              </a:rPr>
              <a:t>Process Abstraction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2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Introduction to Process Management</a:t>
            </a:r>
          </a:p>
          <a:p>
            <a:r>
              <a:rPr lang="en-US" altLang="en-US" dirty="0"/>
              <a:t>Process Abstraction:</a:t>
            </a:r>
          </a:p>
          <a:p>
            <a:pPr lvl="1"/>
            <a:r>
              <a:rPr lang="en-US" altLang="en-US" dirty="0"/>
              <a:t>Memory Context</a:t>
            </a:r>
          </a:p>
          <a:p>
            <a:pPr lvl="2"/>
            <a:r>
              <a:rPr lang="en-US" altLang="en-US" dirty="0"/>
              <a:t>Code &amp; Data</a:t>
            </a:r>
          </a:p>
          <a:p>
            <a:pPr lvl="2"/>
            <a:r>
              <a:rPr lang="en-US" altLang="en-US" dirty="0"/>
              <a:t>Function call</a:t>
            </a:r>
          </a:p>
          <a:p>
            <a:pPr lvl="2"/>
            <a:r>
              <a:rPr lang="en-US" altLang="en-US" dirty="0"/>
              <a:t>Dynamically allocated memory</a:t>
            </a:r>
          </a:p>
          <a:p>
            <a:pPr lvl="1"/>
            <a:r>
              <a:rPr lang="en-US" altLang="en-US" dirty="0"/>
              <a:t>Hardware Context</a:t>
            </a:r>
          </a:p>
          <a:p>
            <a:pPr lvl="1"/>
            <a:r>
              <a:rPr lang="en-US" altLang="en-US" dirty="0"/>
              <a:t>OS Context</a:t>
            </a:r>
          </a:p>
          <a:p>
            <a:pPr lvl="2"/>
            <a:r>
              <a:rPr lang="en-US" altLang="en-US" dirty="0"/>
              <a:t>Process State</a:t>
            </a:r>
          </a:p>
          <a:p>
            <a:pPr lvl="1"/>
            <a:r>
              <a:rPr lang="en-US" altLang="en-US" dirty="0"/>
              <a:t>Process Control Block and Process Table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OS interaction with Process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F1DF3-81C1-9E17-3CBC-641FC5E8C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ECDC9-80F3-B624-E56E-0E5C913A1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Recap: </a:t>
            </a:r>
            <a:r>
              <a:rPr lang="en-US" altLang="en-US" sz="3800" b="1" dirty="0">
                <a:solidFill>
                  <a:srgbClr val="C00000"/>
                </a:solidFill>
              </a:rPr>
              <a:t>Efficient Hardware Utilization </a:t>
            </a:r>
            <a:endParaRPr lang="en-US" altLang="en-US" sz="3800" dirty="0">
              <a:solidFill>
                <a:srgbClr val="C00000"/>
              </a:solidFill>
            </a:endParaRPr>
          </a:p>
        </p:txBody>
      </p:sp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OS should provide efficient use of the hardware resource: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by managing the programs executing on the hardware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sz="12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there is only </a:t>
            </a:r>
            <a:r>
              <a:rPr lang="en-US" altLang="en-US" b="1" dirty="0">
                <a:solidFill>
                  <a:srgbClr val="660066"/>
                </a:solidFill>
              </a:rPr>
              <a:t>one program executing at any point in time</a:t>
            </a:r>
            <a:r>
              <a:rPr lang="en-US" altLang="en-US" dirty="0">
                <a:solidFill>
                  <a:srgbClr val="660066"/>
                </a:solidFill>
              </a:rPr>
              <a:t>,</a:t>
            </a:r>
            <a:r>
              <a:rPr lang="en-US" altLang="en-US" dirty="0"/>
              <a:t> how can we utilize hardware resources effectively?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sz="1200" dirty="0"/>
          </a:p>
          <a:p>
            <a:pPr>
              <a:lnSpc>
                <a:spcPct val="90000"/>
              </a:lnSpc>
            </a:pPr>
            <a:r>
              <a:rPr lang="en-US" altLang="en-US" dirty="0"/>
              <a:t>Solution: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Allow </a:t>
            </a:r>
            <a:r>
              <a:rPr lang="en-US" altLang="en-US" b="1" dirty="0">
                <a:solidFill>
                  <a:srgbClr val="C00000"/>
                </a:solidFill>
              </a:rPr>
              <a:t>multiple programs </a:t>
            </a:r>
            <a:r>
              <a:rPr lang="en-US" altLang="en-US" b="1" dirty="0"/>
              <a:t>to share the hardware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AF5E2D-06DF-63E4-D254-44BAE68916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AA56D-8C69-E84D-325C-43A3D604C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07229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Introduction to </a:t>
            </a:r>
            <a:r>
              <a:rPr lang="en-US" altLang="en-US" sz="3800" b="1" dirty="0">
                <a:solidFill>
                  <a:srgbClr val="C00000"/>
                </a:solidFill>
              </a:rPr>
              <a:t>Process Management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As the OS, to be able to switch from running </a:t>
            </a:r>
            <a:r>
              <a:rPr lang="en-US" altLang="en-US" b="1" dirty="0">
                <a:solidFill>
                  <a:srgbClr val="660066"/>
                </a:solidFill>
              </a:rPr>
              <a:t>program A </a:t>
            </a:r>
            <a:r>
              <a:rPr lang="en-US" altLang="en-US" dirty="0"/>
              <a:t>to </a:t>
            </a:r>
            <a:r>
              <a:rPr lang="en-US" altLang="en-US" b="1" dirty="0">
                <a:solidFill>
                  <a:srgbClr val="006600"/>
                </a:solidFill>
              </a:rPr>
              <a:t>program B</a:t>
            </a:r>
            <a:r>
              <a:rPr lang="en-US" altLang="en-US" dirty="0"/>
              <a:t> requires: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Information regarding the execution of </a:t>
            </a:r>
            <a:r>
              <a:rPr lang="en-US" altLang="en-US" b="1" dirty="0">
                <a:solidFill>
                  <a:srgbClr val="660066"/>
                </a:solidFill>
              </a:rPr>
              <a:t>program A </a:t>
            </a:r>
            <a:r>
              <a:rPr lang="en-US" altLang="en-US" dirty="0"/>
              <a:t>needs to be stored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660066"/>
                </a:solidFill>
              </a:rPr>
              <a:t>Program A's </a:t>
            </a:r>
            <a:r>
              <a:rPr lang="en-US" altLang="en-US" dirty="0"/>
              <a:t>information is replaced with the information required to run </a:t>
            </a:r>
            <a:r>
              <a:rPr lang="en-US" altLang="en-US" b="1" dirty="0">
                <a:solidFill>
                  <a:srgbClr val="006600"/>
                </a:solidFill>
              </a:rPr>
              <a:t>program B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Hence, we need:</a:t>
            </a:r>
          </a:p>
          <a:p>
            <a:pPr lvl="1"/>
            <a:r>
              <a:rPr lang="en-US" altLang="en-US" dirty="0"/>
              <a:t>An abstraction to describe a running program</a:t>
            </a:r>
          </a:p>
          <a:p>
            <a:pPr lvl="1"/>
            <a:r>
              <a:rPr lang="en-US" altLang="en-US" dirty="0"/>
              <a:t>aka </a:t>
            </a:r>
            <a:r>
              <a:rPr lang="en-US" altLang="en-US" b="1" dirty="0">
                <a:solidFill>
                  <a:srgbClr val="660066"/>
                </a:solidFill>
              </a:rPr>
              <a:t>process</a:t>
            </a:r>
            <a:endParaRPr lang="en-US" altLang="en-US" dirty="0">
              <a:solidFill>
                <a:srgbClr val="660066"/>
              </a:solidFill>
            </a:endParaRPr>
          </a:p>
          <a:p>
            <a:pPr marL="671512" lvl="2" indent="0">
              <a:buNone/>
            </a:pPr>
            <a:endParaRPr lang="en-US" altLang="en-US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7646BB-D6C0-386C-59E3-FAE4E4E82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BA91F-2081-0AF2-BB8C-BC66CA66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69495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Key Topics</a:t>
            </a:r>
            <a:endParaRPr lang="en-SG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239505120"/>
              </p:ext>
            </p:extLst>
          </p:nvPr>
        </p:nvGraphicFramePr>
        <p:xfrm>
          <a:off x="685800" y="1066800"/>
          <a:ext cx="76962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18DD-5E93-7881-F0AC-D330FFA2DE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E23D2-29D3-E417-7C4A-8B7BB4E2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89080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0F1045D-1404-448F-A99E-5A525546E0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21E593-7E76-4519-9E50-0F90DEFA9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A6DF595-0921-4B96-89D8-7C40037CDB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6A65EFE-1807-4F2C-894E-605C3C8AC6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8862E14-A98C-400C-98A6-DF9C25DE3A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452430F-0D41-48E6-9EFF-D0BD9AF10A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6DFFF08-9C74-4D9A-B9A5-AFC5EBEC3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A67F212-3F26-4FE0-B59D-98A3840EC9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lvl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Process Abstraction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1981200"/>
          </a:xfrm>
        </p:spPr>
        <p:txBody>
          <a:bodyPr>
            <a:normAutofit/>
          </a:bodyPr>
          <a:lstStyle/>
          <a:p>
            <a:r>
              <a:rPr lang="en-US" altLang="en-US" dirty="0"/>
              <a:t>(</a:t>
            </a:r>
            <a:r>
              <a:rPr lang="en-US" altLang="en-US" b="1" dirty="0"/>
              <a:t>Process / Task / Job</a:t>
            </a:r>
            <a:r>
              <a:rPr lang="en-US" altLang="en-US" dirty="0"/>
              <a:t>) is a </a:t>
            </a:r>
            <a:r>
              <a:rPr lang="en-US" altLang="en-US" i="1" dirty="0"/>
              <a:t>dynamic abstraction </a:t>
            </a:r>
            <a:r>
              <a:rPr lang="en-US" altLang="en-US" dirty="0"/>
              <a:t>for executing program</a:t>
            </a:r>
          </a:p>
          <a:p>
            <a:pPr lvl="1"/>
            <a:r>
              <a:rPr lang="en-US" altLang="en-US" b="1" dirty="0"/>
              <a:t>information required to describe a running program</a:t>
            </a:r>
          </a:p>
          <a:p>
            <a:endParaRPr lang="en-US" alt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873859866"/>
              </p:ext>
            </p:extLst>
          </p:nvPr>
        </p:nvGraphicFramePr>
        <p:xfrm>
          <a:off x="609600" y="3048000"/>
          <a:ext cx="8001000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Isosceles Triangle 6"/>
          <p:cNvSpPr/>
          <p:nvPr/>
        </p:nvSpPr>
        <p:spPr>
          <a:xfrm>
            <a:off x="8458200" y="6629400"/>
            <a:ext cx="2286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F4F836-2338-846B-DD6D-7F46397F0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F76EBD-F333-A255-0301-039FA34EE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84491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DCBEECA-77A7-4EAA-914A-6DD6CBBA2B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3406F7C-28AD-4259-89CF-31102E4A39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64C2FF9-FDE1-40BB-94C6-F9555F8E5D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13A33DE-64B7-40BE-84A3-68CC46E0AC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EE8A20-B279-4458-933E-A179A022B8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D2D9B1F-0D80-4175-A0AA-B671D120D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b="1" dirty="0"/>
              <a:t>Recap: </a:t>
            </a:r>
            <a:r>
              <a:rPr lang="en-US" altLang="en-US" sz="3800" dirty="0"/>
              <a:t>C Sample Program and Assembly Code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096296" y="959643"/>
            <a:ext cx="2514600" cy="1567042"/>
            <a:chOff x="533400" y="1219200"/>
            <a:chExt cx="2514600" cy="1567042"/>
          </a:xfrm>
        </p:grpSpPr>
        <p:sp>
          <p:nvSpPr>
            <p:cNvPr id="119812" name="Text Box 4"/>
            <p:cNvSpPr txBox="1">
              <a:spLocks noChangeArrowheads="1"/>
            </p:cNvSpPr>
            <p:nvPr/>
          </p:nvSpPr>
          <p:spPr bwMode="auto">
            <a:xfrm>
              <a:off x="533400" y="1219200"/>
              <a:ext cx="2514600" cy="1200329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bg2">
                  <a:lumMod val="75000"/>
                </a:schemeClr>
              </a:solidFill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sz="2400" b="1" dirty="0" err="1">
                  <a:solidFill>
                    <a:srgbClr val="006600"/>
                  </a:solidFill>
                  <a:latin typeface="Courier New" pitchFamily="49" charset="0"/>
                </a:rPr>
                <a:t>int</a:t>
              </a:r>
              <a:r>
                <a:rPr lang="en-US" altLang="en-US" sz="2400" b="1" dirty="0">
                  <a:latin typeface="Courier New" pitchFamily="49" charset="0"/>
                </a:rPr>
                <a:t> </a:t>
              </a:r>
              <a:r>
                <a:rPr lang="en-US" altLang="en-US" sz="2400" b="1" dirty="0" err="1">
                  <a:latin typeface="Courier New" pitchFamily="49" charset="0"/>
                </a:rPr>
                <a:t>i</a:t>
              </a:r>
              <a:r>
                <a:rPr lang="en-US" altLang="en-US" sz="2400" b="1" dirty="0">
                  <a:latin typeface="Courier New" pitchFamily="49" charset="0"/>
                </a:rPr>
                <a:t> = 0;</a:t>
              </a:r>
            </a:p>
            <a:p>
              <a:pPr eaLnBrk="0" hangingPunct="0"/>
              <a:endParaRPr lang="en-US" altLang="en-US" sz="2400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sz="2400" b="1" dirty="0" err="1">
                  <a:latin typeface="Courier New" pitchFamily="49" charset="0"/>
                </a:rPr>
                <a:t>i</a:t>
              </a:r>
              <a:r>
                <a:rPr lang="en-US" altLang="en-US" sz="2400" b="1" dirty="0">
                  <a:latin typeface="Courier New" pitchFamily="49" charset="0"/>
                </a:rPr>
                <a:t> = </a:t>
              </a:r>
              <a:r>
                <a:rPr lang="en-US" altLang="en-US" sz="2400" b="1" dirty="0" err="1">
                  <a:latin typeface="Courier New" pitchFamily="49" charset="0"/>
                </a:rPr>
                <a:t>i</a:t>
              </a:r>
              <a:r>
                <a:rPr lang="en-US" altLang="en-US" sz="2400" b="1" dirty="0">
                  <a:latin typeface="Courier New" pitchFamily="49" charset="0"/>
                </a:rPr>
                <a:t> + 20;</a:t>
              </a:r>
            </a:p>
          </p:txBody>
        </p:sp>
        <p:sp>
          <p:nvSpPr>
            <p:cNvPr id="119814" name="Text Box 6"/>
            <p:cNvSpPr txBox="1">
              <a:spLocks noChangeArrowheads="1"/>
            </p:cNvSpPr>
            <p:nvPr/>
          </p:nvSpPr>
          <p:spPr bwMode="auto">
            <a:xfrm>
              <a:off x="914400" y="2419529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C Program</a:t>
              </a:r>
            </a:p>
          </p:txBody>
        </p:sp>
      </p:grpSp>
      <p:sp>
        <p:nvSpPr>
          <p:cNvPr id="119813" name="Text Box 5"/>
          <p:cNvSpPr txBox="1">
            <a:spLocks noChangeArrowheads="1"/>
          </p:cNvSpPr>
          <p:nvPr/>
        </p:nvSpPr>
        <p:spPr bwMode="auto">
          <a:xfrm>
            <a:off x="533400" y="2971800"/>
            <a:ext cx="4058410" cy="267765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lw</a:t>
            </a:r>
            <a:r>
              <a:rPr lang="en-US" altLang="en-US" sz="24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sz="2400" b="1" dirty="0">
                <a:latin typeface="Courier New" pitchFamily="49" charset="0"/>
              </a:rPr>
              <a:t>	$1, 4096</a:t>
            </a:r>
            <a:endParaRPr lang="en-US" altLang="en-US" sz="2400" dirty="0"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addi</a:t>
            </a:r>
            <a:r>
              <a:rPr lang="en-US" altLang="en-US" sz="2400" b="1" dirty="0">
                <a:latin typeface="Courier New" pitchFamily="49" charset="0"/>
              </a:rPr>
              <a:t> $1, $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400" b="1" dirty="0">
                <a:latin typeface="Courier New" pitchFamily="49" charset="0"/>
              </a:rPr>
              <a:t>, 0</a:t>
            </a:r>
            <a:endParaRPr lang="en-US" altLang="en-US" sz="2400" dirty="0"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sw</a:t>
            </a:r>
            <a:r>
              <a:rPr lang="en-US" altLang="en-US" sz="2400" b="1" dirty="0">
                <a:latin typeface="Courier New" pitchFamily="49" charset="0"/>
              </a:rPr>
              <a:t>  	$1, 4096</a:t>
            </a:r>
          </a:p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  	</a:t>
            </a:r>
          </a:p>
          <a:p>
            <a:pPr eaLnBrk="0" hangingPunct="0"/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lw</a:t>
            </a:r>
            <a:r>
              <a:rPr lang="en-US" altLang="en-US" sz="2400" b="1" dirty="0">
                <a:latin typeface="Courier New" pitchFamily="49" charset="0"/>
              </a:rPr>
              <a:t>   	$2, 4096   	</a:t>
            </a:r>
            <a:br>
              <a:rPr lang="en-US" altLang="en-US" sz="2400" b="1" dirty="0">
                <a:latin typeface="Courier New" pitchFamily="49" charset="0"/>
              </a:rPr>
            </a:br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addi</a:t>
            </a:r>
            <a:r>
              <a:rPr lang="en-US" altLang="en-US" sz="2400" b="1" dirty="0">
                <a:latin typeface="Courier New" pitchFamily="49" charset="0"/>
              </a:rPr>
              <a:t> $3, $2, 20 	</a:t>
            </a:r>
          </a:p>
          <a:p>
            <a:pPr eaLnBrk="0" hangingPunct="0"/>
            <a:r>
              <a:rPr lang="en-US" altLang="en-US" sz="2400" b="1" dirty="0" err="1">
                <a:solidFill>
                  <a:srgbClr val="660066"/>
                </a:solidFill>
                <a:latin typeface="Courier New" pitchFamily="49" charset="0"/>
              </a:rPr>
              <a:t>sw</a:t>
            </a:r>
            <a:r>
              <a:rPr lang="en-US" altLang="en-US" sz="2400" b="1" dirty="0">
                <a:latin typeface="Courier New" pitchFamily="49" charset="0"/>
              </a:rPr>
              <a:t>  	$3, 4096 		</a:t>
            </a: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119815" name="Text Box 7"/>
          <p:cNvSpPr txBox="1">
            <a:spLocks noChangeArrowheads="1"/>
          </p:cNvSpPr>
          <p:nvPr/>
        </p:nvSpPr>
        <p:spPr bwMode="auto">
          <a:xfrm>
            <a:off x="553210" y="5649456"/>
            <a:ext cx="40386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Corresponding MIPS-like Assembly Code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903F2E-081D-3F52-5105-1DEEDE70E6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AF6664-62AF-FD75-FB5F-FEE12B6BA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70471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 uiExpand="1" build="p" animBg="1"/>
      <p:bldP spid="11981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471870" y="2514600"/>
            <a:ext cx="5986330" cy="990600"/>
            <a:chOff x="2471870" y="2514600"/>
            <a:chExt cx="5986330" cy="990600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2471870" y="2514600"/>
              <a:ext cx="2667000" cy="990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13" name="Right Bracket 12"/>
            <p:cNvSpPr/>
            <p:nvPr/>
          </p:nvSpPr>
          <p:spPr>
            <a:xfrm>
              <a:off x="5334000" y="2514600"/>
              <a:ext cx="228600" cy="9906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715000" y="2563561"/>
              <a:ext cx="2743200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Data 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(for global variables)</a:t>
              </a:r>
              <a:endParaRPr lang="en-SG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Recap: </a:t>
            </a:r>
            <a:r>
              <a:rPr lang="en-US" dirty="0"/>
              <a:t>Program Execution (Memory)</a:t>
            </a:r>
            <a:endParaRPr lang="en-SG" dirty="0"/>
          </a:p>
        </p:txBody>
      </p:sp>
      <p:grpSp>
        <p:nvGrpSpPr>
          <p:cNvPr id="8" name="Group 7"/>
          <p:cNvGrpSpPr/>
          <p:nvPr/>
        </p:nvGrpSpPr>
        <p:grpSpPr>
          <a:xfrm>
            <a:off x="1447800" y="2726822"/>
            <a:ext cx="3691070" cy="266700"/>
            <a:chOff x="1447800" y="2726822"/>
            <a:chExt cx="3691070" cy="266700"/>
          </a:xfrm>
        </p:grpSpPr>
        <p:sp>
          <p:nvSpPr>
            <p:cNvPr id="15" name="Rectangle 14"/>
            <p:cNvSpPr/>
            <p:nvPr/>
          </p:nvSpPr>
          <p:spPr>
            <a:xfrm>
              <a:off x="1447800" y="2726822"/>
              <a:ext cx="990600" cy="266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200" b="1" dirty="0">
                  <a:solidFill>
                    <a:srgbClr val="C00000"/>
                  </a:solidFill>
                </a:rPr>
                <a:t>4096</a:t>
              </a:r>
              <a:endParaRPr lang="en-SG" sz="1200" b="1" dirty="0">
                <a:solidFill>
                  <a:srgbClr val="C00000"/>
                </a:solidFill>
              </a:endParaRP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2471870" y="2726822"/>
              <a:ext cx="2667000" cy="2667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altLang="en-US" sz="2000" b="1" dirty="0">
                <a:latin typeface="Courier New" pitchFamily="49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471870" y="1295400"/>
            <a:ext cx="6062530" cy="1219200"/>
            <a:chOff x="2471870" y="1295400"/>
            <a:chExt cx="6062530" cy="121920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471870" y="1295400"/>
              <a:ext cx="2667000" cy="121920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lw</a:t>
              </a:r>
              <a:r>
                <a:rPr lang="en-US" altLang="en-US" sz="1200" b="1" dirty="0">
                  <a:latin typeface="Courier New" pitchFamily="49" charset="0"/>
                </a:rPr>
                <a:t>    $1, 4096   		</a:t>
              </a:r>
              <a:endParaRPr lang="en-US" altLang="en-US" sz="1200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addi</a:t>
              </a:r>
              <a:r>
                <a:rPr lang="en-US" altLang="en-US" sz="1200" b="1" dirty="0">
                  <a:latin typeface="Courier New" pitchFamily="49" charset="0"/>
                </a:rPr>
                <a:t>  $1, $1, 0      </a:t>
              </a:r>
              <a:r>
                <a:rPr lang="en-US" altLang="en-US" sz="1200" dirty="0">
                  <a:latin typeface="Courier New" pitchFamily="49" charset="0"/>
                </a:rPr>
                <a:t>	</a:t>
              </a:r>
            </a:p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sw</a:t>
              </a:r>
              <a:r>
                <a:rPr lang="en-US" altLang="en-US" sz="1200" b="1" dirty="0">
                  <a:latin typeface="Courier New" pitchFamily="49" charset="0"/>
                </a:rPr>
                <a:t>    $1, 4096   	</a:t>
              </a:r>
            </a:p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lw</a:t>
              </a:r>
              <a:r>
                <a:rPr lang="en-US" altLang="en-US" sz="1200" b="1" dirty="0">
                  <a:latin typeface="Courier New" pitchFamily="49" charset="0"/>
                </a:rPr>
                <a:t>    $2, 4096   	</a:t>
              </a:r>
            </a:p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addi</a:t>
              </a:r>
              <a:r>
                <a:rPr lang="en-US" altLang="en-US" sz="1200" b="1" dirty="0">
                  <a:latin typeface="Courier New" pitchFamily="49" charset="0"/>
                </a:rPr>
                <a:t>  $3, $2, 20 		</a:t>
              </a:r>
            </a:p>
            <a:p>
              <a:pPr eaLnBrk="0" hangingPunct="0"/>
              <a:r>
                <a:rPr lang="en-US" altLang="en-US" sz="1200" b="1" dirty="0" err="1">
                  <a:latin typeface="Courier New" pitchFamily="49" charset="0"/>
                </a:rPr>
                <a:t>sw</a:t>
              </a:r>
              <a:r>
                <a:rPr lang="en-US" altLang="en-US" sz="1200" b="1" dirty="0">
                  <a:latin typeface="Courier New" pitchFamily="49" charset="0"/>
                </a:rPr>
                <a:t>    $3, 4096</a:t>
              </a:r>
            </a:p>
          </p:txBody>
        </p:sp>
        <p:sp>
          <p:nvSpPr>
            <p:cNvPr id="21" name="Right Bracket 20"/>
            <p:cNvSpPr/>
            <p:nvPr/>
          </p:nvSpPr>
          <p:spPr>
            <a:xfrm>
              <a:off x="5334000" y="1328158"/>
              <a:ext cx="228600" cy="1186441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791200" y="1475039"/>
              <a:ext cx="2743200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Text 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(for instructions)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52400" y="1295400"/>
            <a:ext cx="4986470" cy="4538173"/>
            <a:chOff x="152400" y="1295400"/>
            <a:chExt cx="4986470" cy="4538173"/>
          </a:xfrm>
        </p:grpSpPr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2471870" y="1295400"/>
              <a:ext cx="2667000" cy="4533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52400" y="1295400"/>
              <a:ext cx="1581150" cy="4538173"/>
              <a:chOff x="152400" y="1295400"/>
              <a:chExt cx="1581150" cy="4538173"/>
            </a:xfrm>
          </p:grpSpPr>
          <p:sp>
            <p:nvSpPr>
              <p:cNvPr id="18" name="Right Bracket 17"/>
              <p:cNvSpPr/>
              <p:nvPr/>
            </p:nvSpPr>
            <p:spPr>
              <a:xfrm flipH="1">
                <a:off x="1524000" y="1295400"/>
                <a:ext cx="209550" cy="4538173"/>
              </a:xfrm>
              <a:prstGeom prst="rightBracket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SG" b="1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152400" y="3189539"/>
                <a:ext cx="1295400" cy="8599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002060"/>
                    </a:solidFill>
                  </a:rPr>
                  <a:t>The entire</a:t>
                </a:r>
              </a:p>
              <a:p>
                <a:pPr algn="ctr"/>
                <a:r>
                  <a:rPr lang="en-US" dirty="0">
                    <a:solidFill>
                      <a:srgbClr val="002060"/>
                    </a:solidFill>
                  </a:rPr>
                  <a:t>memory space</a:t>
                </a:r>
                <a:endParaRPr lang="en-SG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2514600" y="4321678"/>
              <a:ext cx="2542373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"Free" Memory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B3218B-8583-1E55-B9DD-AA978107B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8F9F1-82A2-B577-7B1B-7E8E92A3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81034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Computer Organization: </a:t>
            </a:r>
            <a:r>
              <a:rPr lang="en-US" altLang="en-US" sz="3800" b="1" dirty="0">
                <a:solidFill>
                  <a:srgbClr val="C00000"/>
                </a:solidFill>
              </a:rPr>
              <a:t>Review</a:t>
            </a:r>
          </a:p>
        </p:txBody>
      </p:sp>
      <p:sp>
        <p:nvSpPr>
          <p:cNvPr id="277528" name="Line 24"/>
          <p:cNvSpPr>
            <a:spLocks noChangeShapeType="1"/>
          </p:cNvSpPr>
          <p:nvPr/>
        </p:nvSpPr>
        <p:spPr bwMode="auto">
          <a:xfrm>
            <a:off x="6781800" y="990600"/>
            <a:ext cx="0" cy="49530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509" name="Rectangle 5"/>
          <p:cNvSpPr>
            <a:spLocks noChangeArrowheads="1"/>
          </p:cNvSpPr>
          <p:nvPr/>
        </p:nvSpPr>
        <p:spPr bwMode="auto">
          <a:xfrm rot="10800000">
            <a:off x="7620000" y="1143000"/>
            <a:ext cx="1066800" cy="441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Memory</a:t>
            </a:r>
          </a:p>
        </p:txBody>
      </p:sp>
      <p:grpSp>
        <p:nvGrpSpPr>
          <p:cNvPr id="277535" name="Group 31"/>
          <p:cNvGrpSpPr>
            <a:grpSpLocks/>
          </p:cNvGrpSpPr>
          <p:nvPr/>
        </p:nvGrpSpPr>
        <p:grpSpPr bwMode="auto">
          <a:xfrm>
            <a:off x="6400800" y="1143000"/>
            <a:ext cx="1295400" cy="2057400"/>
            <a:chOff x="4032" y="720"/>
            <a:chExt cx="816" cy="1296"/>
          </a:xfrm>
        </p:grpSpPr>
        <p:sp>
          <p:nvSpPr>
            <p:cNvPr id="277510" name="Rectangle 6"/>
            <p:cNvSpPr>
              <a:spLocks noChangeArrowheads="1"/>
            </p:cNvSpPr>
            <p:nvPr/>
          </p:nvSpPr>
          <p:spPr bwMode="auto">
            <a:xfrm rot="10800000">
              <a:off x="4032" y="720"/>
              <a:ext cx="528" cy="129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Instruction Cache</a:t>
              </a:r>
            </a:p>
          </p:txBody>
        </p:sp>
        <p:sp>
          <p:nvSpPr>
            <p:cNvPr id="277520" name="AutoShape 16"/>
            <p:cNvSpPr>
              <a:spLocks noChangeArrowheads="1"/>
            </p:cNvSpPr>
            <p:nvPr/>
          </p:nvSpPr>
          <p:spPr bwMode="auto">
            <a:xfrm>
              <a:off x="4512" y="1296"/>
              <a:ext cx="336" cy="240"/>
            </a:xfrm>
            <a:prstGeom prst="leftArrow">
              <a:avLst>
                <a:gd name="adj1" fmla="val 50000"/>
                <a:gd name="adj2" fmla="val 3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7536" name="Group 32"/>
          <p:cNvGrpSpPr>
            <a:grpSpLocks/>
          </p:cNvGrpSpPr>
          <p:nvPr/>
        </p:nvGrpSpPr>
        <p:grpSpPr bwMode="auto">
          <a:xfrm>
            <a:off x="2362200" y="1295400"/>
            <a:ext cx="4114800" cy="685800"/>
            <a:chOff x="1488" y="816"/>
            <a:chExt cx="2592" cy="432"/>
          </a:xfrm>
        </p:grpSpPr>
        <p:sp>
          <p:nvSpPr>
            <p:cNvPr id="277512" name="Rectangle 8"/>
            <p:cNvSpPr>
              <a:spLocks noChangeArrowheads="1"/>
            </p:cNvSpPr>
            <p:nvPr/>
          </p:nvSpPr>
          <p:spPr bwMode="auto">
            <a:xfrm rot="16200000">
              <a:off x="1920" y="384"/>
              <a:ext cx="432" cy="12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Fetch Unit</a:t>
              </a:r>
            </a:p>
          </p:txBody>
        </p:sp>
        <p:sp>
          <p:nvSpPr>
            <p:cNvPr id="277521" name="AutoShape 17"/>
            <p:cNvSpPr>
              <a:spLocks noChangeArrowheads="1"/>
            </p:cNvSpPr>
            <p:nvPr/>
          </p:nvSpPr>
          <p:spPr bwMode="auto">
            <a:xfrm>
              <a:off x="2736" y="912"/>
              <a:ext cx="1344" cy="240"/>
            </a:xfrm>
            <a:prstGeom prst="leftArrow">
              <a:avLst>
                <a:gd name="adj1" fmla="val 50000"/>
                <a:gd name="adj2" fmla="val 140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7541" name="Group 37"/>
          <p:cNvGrpSpPr>
            <a:grpSpLocks/>
          </p:cNvGrpSpPr>
          <p:nvPr/>
        </p:nvGrpSpPr>
        <p:grpSpPr bwMode="auto">
          <a:xfrm>
            <a:off x="2362200" y="1828800"/>
            <a:ext cx="2057400" cy="1447800"/>
            <a:chOff x="1488" y="1152"/>
            <a:chExt cx="1296" cy="912"/>
          </a:xfrm>
        </p:grpSpPr>
        <p:sp>
          <p:nvSpPr>
            <p:cNvPr id="277513" name="Rectangle 9"/>
            <p:cNvSpPr>
              <a:spLocks noChangeArrowheads="1"/>
            </p:cNvSpPr>
            <p:nvPr/>
          </p:nvSpPr>
          <p:spPr bwMode="auto">
            <a:xfrm rot="16200000">
              <a:off x="1920" y="1200"/>
              <a:ext cx="432" cy="12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Dispatch Unit</a:t>
              </a:r>
            </a:p>
          </p:txBody>
        </p:sp>
        <p:sp>
          <p:nvSpPr>
            <p:cNvPr id="277519" name="Text Box 15"/>
            <p:cNvSpPr txBox="1">
              <a:spLocks noChangeArrowheads="1"/>
            </p:cNvSpPr>
            <p:nvPr/>
          </p:nvSpPr>
          <p:spPr bwMode="auto">
            <a:xfrm>
              <a:off x="1824" y="124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Courier New" panose="02070309020205020404" pitchFamily="49" charset="0"/>
                </a:rPr>
                <a:t>… … …</a:t>
              </a:r>
            </a:p>
          </p:txBody>
        </p:sp>
        <p:sp>
          <p:nvSpPr>
            <p:cNvPr id="277522" name="AutoShape 18"/>
            <p:cNvSpPr>
              <a:spLocks noChangeArrowheads="1"/>
            </p:cNvSpPr>
            <p:nvPr/>
          </p:nvSpPr>
          <p:spPr bwMode="auto">
            <a:xfrm rot="16200000">
              <a:off x="1872" y="1296"/>
              <a:ext cx="528" cy="240"/>
            </a:xfrm>
            <a:prstGeom prst="leftArrow">
              <a:avLst>
                <a:gd name="adj1" fmla="val 50000"/>
                <a:gd name="adj2" fmla="val 5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7538" name="Group 34"/>
          <p:cNvGrpSpPr>
            <a:grpSpLocks/>
          </p:cNvGrpSpPr>
          <p:nvPr/>
        </p:nvGrpSpPr>
        <p:grpSpPr bwMode="auto">
          <a:xfrm>
            <a:off x="1828800" y="3200400"/>
            <a:ext cx="3429000" cy="1828800"/>
            <a:chOff x="1152" y="2016"/>
            <a:chExt cx="2160" cy="1152"/>
          </a:xfrm>
        </p:grpSpPr>
        <p:sp>
          <p:nvSpPr>
            <p:cNvPr id="277514" name="Rectangle 10"/>
            <p:cNvSpPr>
              <a:spLocks noChangeArrowheads="1"/>
            </p:cNvSpPr>
            <p:nvPr/>
          </p:nvSpPr>
          <p:spPr bwMode="auto">
            <a:xfrm rot="16200000">
              <a:off x="1824" y="1680"/>
              <a:ext cx="816" cy="216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endParaRPr lang="en-US" altLang="en-US"/>
            </a:p>
            <a:p>
              <a:pPr algn="ctr"/>
              <a:r>
                <a:rPr lang="en-US" altLang="en-US"/>
                <a:t>Functional Units</a:t>
              </a:r>
            </a:p>
          </p:txBody>
        </p:sp>
        <p:sp>
          <p:nvSpPr>
            <p:cNvPr id="277515" name="Rectangle 11"/>
            <p:cNvSpPr>
              <a:spLocks noChangeArrowheads="1"/>
            </p:cNvSpPr>
            <p:nvPr/>
          </p:nvSpPr>
          <p:spPr bwMode="auto">
            <a:xfrm rot="16200000">
              <a:off x="1272" y="2424"/>
              <a:ext cx="432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INT</a:t>
              </a:r>
            </a:p>
          </p:txBody>
        </p:sp>
        <p:sp>
          <p:nvSpPr>
            <p:cNvPr id="277516" name="Rectangle 12"/>
            <p:cNvSpPr>
              <a:spLocks noChangeArrowheads="1"/>
            </p:cNvSpPr>
            <p:nvPr/>
          </p:nvSpPr>
          <p:spPr bwMode="auto">
            <a:xfrm rot="16200000">
              <a:off x="1752" y="2424"/>
              <a:ext cx="432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FP</a:t>
              </a:r>
            </a:p>
          </p:txBody>
        </p:sp>
        <p:sp>
          <p:nvSpPr>
            <p:cNvPr id="277517" name="Rectangle 13"/>
            <p:cNvSpPr>
              <a:spLocks noChangeArrowheads="1"/>
            </p:cNvSpPr>
            <p:nvPr/>
          </p:nvSpPr>
          <p:spPr bwMode="auto">
            <a:xfrm rot="16200000">
              <a:off x="2808" y="2424"/>
              <a:ext cx="432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MEM</a:t>
              </a:r>
            </a:p>
          </p:txBody>
        </p:sp>
        <p:sp>
          <p:nvSpPr>
            <p:cNvPr id="277523" name="AutoShape 19"/>
            <p:cNvSpPr>
              <a:spLocks noChangeArrowheads="1"/>
            </p:cNvSpPr>
            <p:nvPr/>
          </p:nvSpPr>
          <p:spPr bwMode="auto">
            <a:xfrm rot="16200000">
              <a:off x="1968" y="2064"/>
              <a:ext cx="336" cy="240"/>
            </a:xfrm>
            <a:prstGeom prst="leftArrow">
              <a:avLst>
                <a:gd name="adj1" fmla="val 50000"/>
                <a:gd name="adj2" fmla="val 3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527" name="Rectangle 23"/>
            <p:cNvSpPr>
              <a:spLocks noChangeArrowheads="1"/>
            </p:cNvSpPr>
            <p:nvPr/>
          </p:nvSpPr>
          <p:spPr bwMode="auto">
            <a:xfrm rot="16200000">
              <a:off x="2280" y="2376"/>
              <a:ext cx="432" cy="48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……</a:t>
              </a:r>
            </a:p>
          </p:txBody>
        </p:sp>
      </p:grpSp>
      <p:grpSp>
        <p:nvGrpSpPr>
          <p:cNvPr id="277533" name="Group 29"/>
          <p:cNvGrpSpPr>
            <a:grpSpLocks/>
          </p:cNvGrpSpPr>
          <p:nvPr/>
        </p:nvGrpSpPr>
        <p:grpSpPr bwMode="auto">
          <a:xfrm>
            <a:off x="381000" y="5715000"/>
            <a:ext cx="6400800" cy="595313"/>
            <a:chOff x="240" y="3600"/>
            <a:chExt cx="4032" cy="375"/>
          </a:xfrm>
        </p:grpSpPr>
        <p:sp>
          <p:nvSpPr>
            <p:cNvPr id="277529" name="AutoShape 25"/>
            <p:cNvSpPr>
              <a:spLocks/>
            </p:cNvSpPr>
            <p:nvPr/>
          </p:nvSpPr>
          <p:spPr bwMode="auto">
            <a:xfrm rot="5400000">
              <a:off x="2184" y="1656"/>
              <a:ext cx="144" cy="4032"/>
            </a:xfrm>
            <a:prstGeom prst="rightBrace">
              <a:avLst>
                <a:gd name="adj1" fmla="val 23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530" name="Text Box 26"/>
            <p:cNvSpPr txBox="1">
              <a:spLocks noChangeArrowheads="1"/>
            </p:cNvSpPr>
            <p:nvPr/>
          </p:nvSpPr>
          <p:spPr bwMode="auto">
            <a:xfrm>
              <a:off x="1584" y="3744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/>
                <a:t>On CPU Chip</a:t>
              </a:r>
            </a:p>
          </p:txBody>
        </p:sp>
      </p:grpSp>
      <p:grpSp>
        <p:nvGrpSpPr>
          <p:cNvPr id="277534" name="Group 30"/>
          <p:cNvGrpSpPr>
            <a:grpSpLocks/>
          </p:cNvGrpSpPr>
          <p:nvPr/>
        </p:nvGrpSpPr>
        <p:grpSpPr bwMode="auto">
          <a:xfrm>
            <a:off x="6705600" y="5715000"/>
            <a:ext cx="2057400" cy="595313"/>
            <a:chOff x="4224" y="3600"/>
            <a:chExt cx="1296" cy="375"/>
          </a:xfrm>
        </p:grpSpPr>
        <p:sp>
          <p:nvSpPr>
            <p:cNvPr id="277531" name="AutoShape 27"/>
            <p:cNvSpPr>
              <a:spLocks/>
            </p:cNvSpPr>
            <p:nvPr/>
          </p:nvSpPr>
          <p:spPr bwMode="auto">
            <a:xfrm rot="5400000">
              <a:off x="4800" y="3072"/>
              <a:ext cx="144" cy="1200"/>
            </a:xfrm>
            <a:prstGeom prst="rightBrace">
              <a:avLst>
                <a:gd name="adj1" fmla="val 69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7532" name="Text Box 28"/>
            <p:cNvSpPr txBox="1">
              <a:spLocks noChangeArrowheads="1"/>
            </p:cNvSpPr>
            <p:nvPr/>
          </p:nvSpPr>
          <p:spPr bwMode="auto">
            <a:xfrm>
              <a:off x="4224" y="3744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/>
                <a:t>Off CPU Chip</a:t>
              </a:r>
            </a:p>
          </p:txBody>
        </p:sp>
      </p:grpSp>
      <p:grpSp>
        <p:nvGrpSpPr>
          <p:cNvPr id="277540" name="Group 36"/>
          <p:cNvGrpSpPr>
            <a:grpSpLocks/>
          </p:cNvGrpSpPr>
          <p:nvPr/>
        </p:nvGrpSpPr>
        <p:grpSpPr bwMode="auto">
          <a:xfrm>
            <a:off x="5105400" y="3733800"/>
            <a:ext cx="2133600" cy="1752600"/>
            <a:chOff x="3216" y="2352"/>
            <a:chExt cx="1344" cy="1104"/>
          </a:xfrm>
        </p:grpSpPr>
        <p:sp>
          <p:nvSpPr>
            <p:cNvPr id="277511" name="Rectangle 7"/>
            <p:cNvSpPr>
              <a:spLocks noChangeArrowheads="1"/>
            </p:cNvSpPr>
            <p:nvPr/>
          </p:nvSpPr>
          <p:spPr bwMode="auto">
            <a:xfrm rot="10800000">
              <a:off x="4032" y="2352"/>
              <a:ext cx="528" cy="110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Data Cache</a:t>
              </a:r>
            </a:p>
          </p:txBody>
        </p:sp>
        <p:sp>
          <p:nvSpPr>
            <p:cNvPr id="277524" name="AutoShape 20"/>
            <p:cNvSpPr>
              <a:spLocks noChangeArrowheads="1"/>
            </p:cNvSpPr>
            <p:nvPr/>
          </p:nvSpPr>
          <p:spPr bwMode="auto">
            <a:xfrm>
              <a:off x="3216" y="2496"/>
              <a:ext cx="864" cy="240"/>
            </a:xfrm>
            <a:prstGeom prst="leftRightArrow">
              <a:avLst>
                <a:gd name="adj1" fmla="val 50000"/>
                <a:gd name="adj2" fmla="val 72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77539" name="Group 35"/>
          <p:cNvGrpSpPr>
            <a:grpSpLocks/>
          </p:cNvGrpSpPr>
          <p:nvPr/>
        </p:nvGrpSpPr>
        <p:grpSpPr bwMode="auto">
          <a:xfrm>
            <a:off x="304800" y="3886200"/>
            <a:ext cx="1600200" cy="990600"/>
            <a:chOff x="192" y="2448"/>
            <a:chExt cx="1008" cy="624"/>
          </a:xfrm>
        </p:grpSpPr>
        <p:sp>
          <p:nvSpPr>
            <p:cNvPr id="277518" name="Rectangle 14"/>
            <p:cNvSpPr>
              <a:spLocks noChangeArrowheads="1"/>
            </p:cNvSpPr>
            <p:nvPr/>
          </p:nvSpPr>
          <p:spPr bwMode="auto">
            <a:xfrm rot="16200000">
              <a:off x="264" y="2376"/>
              <a:ext cx="624" cy="768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Registers</a:t>
              </a:r>
            </a:p>
          </p:txBody>
        </p:sp>
        <p:sp>
          <p:nvSpPr>
            <p:cNvPr id="277526" name="AutoShape 22"/>
            <p:cNvSpPr>
              <a:spLocks noChangeArrowheads="1"/>
            </p:cNvSpPr>
            <p:nvPr/>
          </p:nvSpPr>
          <p:spPr bwMode="auto">
            <a:xfrm>
              <a:off x="912" y="2640"/>
              <a:ext cx="288" cy="240"/>
            </a:xfrm>
            <a:prstGeom prst="leftRightArrow">
              <a:avLst>
                <a:gd name="adj1" fmla="val 50000"/>
                <a:gd name="adj2" fmla="val 24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7525" name="AutoShape 21"/>
          <p:cNvSpPr>
            <a:spLocks noChangeArrowheads="1"/>
          </p:cNvSpPr>
          <p:nvPr/>
        </p:nvSpPr>
        <p:spPr bwMode="auto">
          <a:xfrm>
            <a:off x="7162800" y="4495800"/>
            <a:ext cx="533400" cy="381000"/>
          </a:xfrm>
          <a:prstGeom prst="leftRightArrow">
            <a:avLst>
              <a:gd name="adj1" fmla="val 50000"/>
              <a:gd name="adj2" fmla="val 28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80D39C-317D-BE9D-CB45-FE7C33CF97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12FB4-7728-9DDE-421D-30CD6A20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28" grpId="0" animBg="1"/>
      <p:bldP spid="277509" grpId="0" animBg="1"/>
      <p:bldP spid="2775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Component Description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Memory:</a:t>
            </a:r>
          </a:p>
          <a:p>
            <a:pPr lvl="1"/>
            <a:r>
              <a:rPr lang="en-US" altLang="en-US" dirty="0"/>
              <a:t>Storage for instruction and data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Cache:</a:t>
            </a:r>
          </a:p>
          <a:p>
            <a:pPr lvl="1"/>
            <a:r>
              <a:rPr lang="en-US" altLang="en-US" dirty="0"/>
              <a:t>Duplicate part of the memory for faster access</a:t>
            </a:r>
          </a:p>
          <a:p>
            <a:pPr lvl="1"/>
            <a:r>
              <a:rPr lang="en-US" altLang="en-US" dirty="0"/>
              <a:t>Usually split into instruction cache and data cache 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Fetch unit: </a:t>
            </a:r>
          </a:p>
          <a:p>
            <a:pPr lvl="1"/>
            <a:r>
              <a:rPr lang="en-US" altLang="en-US" dirty="0"/>
              <a:t>Loads instruction from memory</a:t>
            </a:r>
          </a:p>
          <a:p>
            <a:pPr lvl="1"/>
            <a:r>
              <a:rPr lang="en-US" altLang="en-US" dirty="0"/>
              <a:t>Location indicated by a special register: </a:t>
            </a:r>
          </a:p>
          <a:p>
            <a:pPr lvl="2"/>
            <a:r>
              <a:rPr lang="en-US" altLang="en-US" b="1" dirty="0"/>
              <a:t>P</a:t>
            </a:r>
            <a:r>
              <a:rPr lang="en-US" altLang="en-US" dirty="0"/>
              <a:t>rogram </a:t>
            </a:r>
            <a:r>
              <a:rPr lang="en-US" altLang="en-US" b="1" dirty="0"/>
              <a:t>C</a:t>
            </a:r>
            <a:r>
              <a:rPr lang="en-US" altLang="en-US" dirty="0"/>
              <a:t>ounter (PC)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DA56F2-44BB-1CA8-C9E0-68D8E34AE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A11A1D-EC10-0302-1565-236729EEA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Component Description (cont)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Functional units: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Carry out the instruction execution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Dedicated to different instruction type 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Registers: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Internal storage for the fastest access speed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General Purpose Register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/>
              <a:t>(GPR):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Accessible by user program (i.e. visible to compiler)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Special Register</a:t>
            </a:r>
            <a:r>
              <a:rPr lang="en-US" altLang="en-US" dirty="0">
                <a:solidFill>
                  <a:srgbClr val="C00000"/>
                </a:solidFill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Program Counter (PC)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Stack Pointer (SP)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Frame Pointer (FP)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Program Status Word (PSW)</a:t>
            </a:r>
          </a:p>
          <a:p>
            <a:pPr lvl="2">
              <a:lnSpc>
                <a:spcPct val="90000"/>
              </a:lnSpc>
            </a:pPr>
            <a:r>
              <a:rPr lang="en-US" altLang="en-US" dirty="0" err="1"/>
              <a:t>etc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E1AE5C-51CD-F117-BA77-7805B4A800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634E8-F36B-6D62-4219-D0665D33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Basic Instruction Execution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Instruction X is fetched</a:t>
            </a:r>
            <a:endParaRPr lang="en-US" altLang="en-US" i="1"/>
          </a:p>
          <a:p>
            <a:pPr lvl="1"/>
            <a:r>
              <a:rPr lang="en-US" altLang="en-US"/>
              <a:t>Memory location indicated by </a:t>
            </a:r>
            <a:r>
              <a:rPr lang="en-US" altLang="en-US" b="1"/>
              <a:t>P</a:t>
            </a:r>
            <a:r>
              <a:rPr lang="en-US" altLang="en-US"/>
              <a:t>rogram </a:t>
            </a:r>
            <a:r>
              <a:rPr lang="en-US" altLang="en-US" b="1"/>
              <a:t>C</a:t>
            </a:r>
            <a:r>
              <a:rPr lang="en-US" altLang="en-US"/>
              <a:t>ounter</a:t>
            </a:r>
          </a:p>
          <a:p>
            <a:r>
              <a:rPr lang="en-US" altLang="en-US"/>
              <a:t>Instruction X dispatched to the corresponding Functional Unit</a:t>
            </a:r>
          </a:p>
          <a:p>
            <a:pPr lvl="1"/>
            <a:r>
              <a:rPr lang="en-US" altLang="en-US"/>
              <a:t>Read operands if applicable</a:t>
            </a:r>
          </a:p>
          <a:p>
            <a:pPr lvl="2"/>
            <a:r>
              <a:rPr lang="en-US" altLang="en-US"/>
              <a:t>Usually from memory or GPR</a:t>
            </a:r>
          </a:p>
          <a:p>
            <a:pPr lvl="1"/>
            <a:r>
              <a:rPr lang="en-US" altLang="en-US"/>
              <a:t>Result computed</a:t>
            </a:r>
          </a:p>
          <a:p>
            <a:pPr lvl="1"/>
            <a:r>
              <a:rPr lang="en-US" altLang="en-US"/>
              <a:t>Write value if applicable</a:t>
            </a:r>
          </a:p>
          <a:p>
            <a:pPr lvl="2"/>
            <a:r>
              <a:rPr lang="en-US" altLang="en-US"/>
              <a:t>Usually to memory or GPR</a:t>
            </a:r>
          </a:p>
          <a:p>
            <a:r>
              <a:rPr lang="en-US" altLang="en-US"/>
              <a:t>Instruction X is completed</a:t>
            </a:r>
          </a:p>
          <a:p>
            <a:pPr lvl="1"/>
            <a:r>
              <a:rPr lang="en-US" altLang="en-US"/>
              <a:t>PC updated for the next instruction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396031-A115-6A42-79E3-03E9E5E8D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DAF52-1F13-3DE1-33E3-B251540F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Recap:</a:t>
            </a:r>
            <a:r>
              <a:rPr lang="en-US" altLang="en-US" sz="3800" dirty="0"/>
              <a:t> What you should know </a:t>
            </a:r>
            <a:r>
              <a:rPr lang="en-US" altLang="en-US" sz="3800" dirty="0">
                <a:sym typeface="Wingdings" panose="05000000000000000000" pitchFamily="2" charset="2"/>
              </a:rPr>
              <a:t></a:t>
            </a:r>
            <a:endParaRPr lang="en-US" altLang="en-US" sz="3800" dirty="0"/>
          </a:p>
        </p:txBody>
      </p:sp>
      <p:sp>
        <p:nvSpPr>
          <p:cNvPr id="1822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4267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An executable (binary) consists of two major components: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Instructions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6600"/>
                </a:solidFill>
              </a:rPr>
              <a:t>Data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b="1" dirty="0"/>
          </a:p>
          <a:p>
            <a:pPr>
              <a:lnSpc>
                <a:spcPct val="90000"/>
              </a:lnSpc>
            </a:pPr>
            <a:r>
              <a:rPr lang="en-US" altLang="en-US" dirty="0"/>
              <a:t>When a program is </a:t>
            </a:r>
            <a:r>
              <a:rPr lang="en-US" altLang="en-US" b="1" dirty="0">
                <a:solidFill>
                  <a:srgbClr val="C00000"/>
                </a:solidFill>
              </a:rPr>
              <a:t>under execution</a:t>
            </a:r>
            <a:r>
              <a:rPr lang="en-US" altLang="en-US" dirty="0"/>
              <a:t>, there are </a:t>
            </a:r>
            <a:r>
              <a:rPr lang="en-US" altLang="en-US" b="1" dirty="0"/>
              <a:t>more information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Memory context</a:t>
            </a:r>
            <a:r>
              <a:rPr lang="en-US" altLang="en-US" dirty="0"/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Text </a:t>
            </a:r>
            <a:r>
              <a:rPr lang="en-US" altLang="en-US" dirty="0"/>
              <a:t>and </a:t>
            </a:r>
            <a:r>
              <a:rPr lang="en-US" altLang="en-US" b="1" dirty="0"/>
              <a:t>Data</a:t>
            </a:r>
            <a:r>
              <a:rPr lang="en-US" altLang="en-US" dirty="0"/>
              <a:t>, …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Hardware context</a:t>
            </a:r>
            <a:r>
              <a:rPr lang="en-US" altLang="en-US" dirty="0"/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General purpose registers, Program Counter</a:t>
            </a:r>
            <a:r>
              <a:rPr lang="en-US" altLang="en-US" dirty="0"/>
              <a:t>, …</a:t>
            </a:r>
            <a:endParaRPr lang="en-US" altLang="en-US" b="1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671512" lvl="2" indent="0">
              <a:lnSpc>
                <a:spcPct val="90000"/>
              </a:lnSpc>
              <a:buNone/>
            </a:pPr>
            <a:endParaRPr lang="en-US" altLang="en-US" b="1" dirty="0"/>
          </a:p>
        </p:txBody>
      </p:sp>
      <p:sp>
        <p:nvSpPr>
          <p:cNvPr id="4" name="Rounded Rectangle 3"/>
          <p:cNvSpPr/>
          <p:nvPr/>
        </p:nvSpPr>
        <p:spPr>
          <a:xfrm>
            <a:off x="685800" y="5029200"/>
            <a:ext cx="7772400" cy="1295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022350" lvl="2" indent="-350838">
              <a:lnSpc>
                <a:spcPct val="90000"/>
              </a:lnSpc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endParaRPr lang="en-US" altLang="en-US" sz="2200" kern="0" dirty="0">
              <a:solidFill>
                <a:prstClr val="black"/>
              </a:solidFill>
            </a:endParaRPr>
          </a:p>
          <a:p>
            <a:pPr lvl="0" algn="ctr">
              <a:lnSpc>
                <a:spcPct val="90000"/>
              </a:lnSpc>
              <a:spcBef>
                <a:spcPct val="20000"/>
              </a:spcBef>
              <a:buClr>
                <a:srgbClr val="F07F09"/>
              </a:buClr>
              <a:buSzPct val="65000"/>
            </a:pPr>
            <a:r>
              <a:rPr lang="en-US" altLang="en-US" sz="3000" kern="0" dirty="0">
                <a:solidFill>
                  <a:prstClr val="black"/>
                </a:solidFill>
              </a:rPr>
              <a:t>Actually, there are </a:t>
            </a:r>
            <a:r>
              <a:rPr lang="en-US" altLang="en-US" sz="3000" b="1" kern="0" dirty="0">
                <a:solidFill>
                  <a:srgbClr val="C00000"/>
                </a:solidFill>
              </a:rPr>
              <a:t>other types of memory usage</a:t>
            </a:r>
            <a:r>
              <a:rPr lang="en-US" altLang="en-US" sz="3000" b="1" kern="0" dirty="0">
                <a:solidFill>
                  <a:prstClr val="black"/>
                </a:solidFill>
              </a:rPr>
              <a:t> </a:t>
            </a:r>
            <a:r>
              <a:rPr lang="en-US" altLang="en-US" sz="3000" kern="0" dirty="0">
                <a:solidFill>
                  <a:prstClr val="black"/>
                </a:solidFill>
              </a:rPr>
              <a:t>during program execution</a:t>
            </a:r>
          </a:p>
          <a:p>
            <a:pPr algn="ctr"/>
            <a:endParaRPr lang="en-S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6660F4-33AE-EA6A-AF7A-919FA31C3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A62EEE-085C-C049-0BFD-333FABC1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421966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/>
              <a:t>Memory Context</a:t>
            </a:r>
            <a:br>
              <a:rPr lang="en-US" altLang="en-US" dirty="0"/>
            </a:br>
            <a:r>
              <a:rPr lang="en-US" altLang="en-US" b="1" dirty="0">
                <a:solidFill>
                  <a:srgbClr val="C00000"/>
                </a:solidFill>
              </a:rPr>
              <a:t>Function Call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What if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f()</a:t>
            </a:r>
            <a:r>
              <a:rPr lang="en-US" altLang="en-US" dirty="0"/>
              <a:t> calls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u()</a:t>
            </a:r>
            <a:r>
              <a:rPr lang="en-US" altLang="en-US" dirty="0"/>
              <a:t> calls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n()</a:t>
            </a:r>
            <a:r>
              <a:rPr lang="en-US" alt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72157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Function Call : </a:t>
            </a:r>
            <a:r>
              <a:rPr lang="en-US" altLang="en-US" b="1" dirty="0">
                <a:solidFill>
                  <a:srgbClr val="660066"/>
                </a:solidFill>
              </a:rPr>
              <a:t>Challenges</a:t>
            </a:r>
          </a:p>
        </p:txBody>
      </p:sp>
      <p:sp>
        <p:nvSpPr>
          <p:cNvPr id="184328" name="Rectangle 8"/>
          <p:cNvSpPr>
            <a:spLocks noGrp="1" noChangeArrowheads="1"/>
          </p:cNvSpPr>
          <p:nvPr>
            <p:ph idx="1"/>
          </p:nvPr>
        </p:nvSpPr>
        <p:spPr>
          <a:xfrm>
            <a:off x="457200" y="3810000"/>
            <a:ext cx="8229600" cy="26670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Consider:</a:t>
            </a:r>
          </a:p>
          <a:p>
            <a:pPr lvl="1"/>
            <a:r>
              <a:rPr lang="en-US" altLang="en-US" dirty="0"/>
              <a:t>How do we allocate memory space for variables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dirty="0"/>
              <a:t>?</a:t>
            </a:r>
          </a:p>
          <a:p>
            <a:pPr lvl="2"/>
            <a:r>
              <a:rPr lang="en-US" altLang="en-US" dirty="0"/>
              <a:t>Can we just make use of the "</a:t>
            </a:r>
            <a:r>
              <a:rPr lang="en-US" altLang="en-US" b="1" dirty="0"/>
              <a:t>data</a:t>
            </a:r>
            <a:r>
              <a:rPr lang="en-US" altLang="en-US" dirty="0"/>
              <a:t>" memory space?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/>
              <a:t>What are the </a:t>
            </a:r>
            <a:r>
              <a:rPr lang="en-US" altLang="en-US" b="1" dirty="0">
                <a:solidFill>
                  <a:srgbClr val="C00000"/>
                </a:solidFill>
              </a:rPr>
              <a:t>key issues</a:t>
            </a:r>
            <a:r>
              <a:rPr lang="en-US" altLang="en-US" dirty="0"/>
              <a:t>?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609600" y="1691343"/>
            <a:ext cx="2514600" cy="10064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0;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+ 20;</a:t>
            </a: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609600" y="2697818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C Code Fragment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429000" y="1071197"/>
            <a:ext cx="4876800" cy="2592321"/>
            <a:chOff x="3429000" y="1071197"/>
            <a:chExt cx="4876800" cy="2592321"/>
          </a:xfrm>
        </p:grpSpPr>
        <p:sp>
          <p:nvSpPr>
            <p:cNvPr id="184324" name="Text Box 4"/>
            <p:cNvSpPr txBox="1">
              <a:spLocks noChangeArrowheads="1"/>
            </p:cNvSpPr>
            <p:nvPr/>
          </p:nvSpPr>
          <p:spPr bwMode="auto">
            <a:xfrm>
              <a:off x="4724400" y="1071197"/>
              <a:ext cx="3581400" cy="2246769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000" b="1" dirty="0" err="1">
                  <a:solidFill>
                    <a:srgbClr val="008000"/>
                  </a:solidFill>
                  <a:latin typeface="Courier New" pitchFamily="49" charset="0"/>
                </a:rPr>
                <a:t>int</a:t>
              </a:r>
              <a:r>
                <a:rPr lang="en-US" altLang="en-US" sz="2000" b="1" dirty="0">
                  <a:latin typeface="Courier New" pitchFamily="49" charset="0"/>
                </a:rPr>
                <a:t> </a:t>
              </a:r>
              <a:r>
                <a:rPr lang="en-US" altLang="en-US" sz="2000" b="1" i="1" dirty="0">
                  <a:solidFill>
                    <a:srgbClr val="002060"/>
                  </a:solidFill>
                  <a:latin typeface="Courier New" pitchFamily="49" charset="0"/>
                </a:rPr>
                <a:t>g</a:t>
              </a:r>
              <a:r>
                <a:rPr lang="en-US" altLang="en-US" sz="2000" b="1" dirty="0">
                  <a:latin typeface="Courier New" pitchFamily="49" charset="0"/>
                </a:rPr>
                <a:t>(</a:t>
              </a:r>
              <a:r>
                <a:rPr lang="en-US" altLang="en-US" sz="2000" b="1" dirty="0" err="1">
                  <a:solidFill>
                    <a:srgbClr val="008000"/>
                  </a:solidFill>
                  <a:latin typeface="Courier New" pitchFamily="49" charset="0"/>
                </a:rPr>
                <a:t>int</a:t>
              </a:r>
              <a:r>
                <a:rPr lang="en-US" altLang="en-US" sz="2000" b="1" dirty="0">
                  <a:latin typeface="Courier New" pitchFamily="49" charset="0"/>
                </a:rPr>
                <a:t> </a:t>
              </a:r>
              <a:r>
                <a:rPr lang="en-US" altLang="en-US" sz="2000" b="1" dirty="0" err="1">
                  <a:latin typeface="Courier New" pitchFamily="49" charset="0"/>
                </a:rPr>
                <a:t>i</a:t>
              </a:r>
              <a:r>
                <a:rPr lang="en-US" altLang="en-US" sz="2000" b="1" dirty="0">
                  <a:latin typeface="Courier New" pitchFamily="49" charset="0"/>
                </a:rPr>
                <a:t>, </a:t>
              </a:r>
              <a:r>
                <a:rPr lang="en-US" altLang="en-US" sz="2000" b="1" dirty="0" err="1">
                  <a:solidFill>
                    <a:srgbClr val="008000"/>
                  </a:solidFill>
                  <a:latin typeface="Courier New" pitchFamily="49" charset="0"/>
                </a:rPr>
                <a:t>int</a:t>
              </a:r>
              <a:r>
                <a:rPr lang="en-US" altLang="en-US" sz="2000" b="1" dirty="0">
                  <a:latin typeface="Courier New" pitchFamily="49" charset="0"/>
                </a:rPr>
                <a:t> j)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{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    </a:t>
              </a:r>
              <a:r>
                <a:rPr lang="en-US" altLang="en-US" sz="2000" b="1" dirty="0" err="1">
                  <a:solidFill>
                    <a:srgbClr val="008000"/>
                  </a:solidFill>
                  <a:latin typeface="Courier New" pitchFamily="49" charset="0"/>
                </a:rPr>
                <a:t>int</a:t>
              </a:r>
              <a:r>
                <a:rPr lang="en-US" altLang="en-US" sz="2000" b="1" dirty="0">
                  <a:latin typeface="Courier New" pitchFamily="49" charset="0"/>
                </a:rPr>
                <a:t> a;</a:t>
              </a:r>
            </a:p>
            <a:p>
              <a:pPr eaLnBrk="0" hangingPunct="0"/>
              <a:endParaRPr lang="en-US" altLang="en-US" sz="2000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    a = </a:t>
              </a:r>
              <a:r>
                <a:rPr lang="en-US" altLang="en-US" sz="2000" b="1" dirty="0" err="1">
                  <a:latin typeface="Courier New" pitchFamily="49" charset="0"/>
                </a:rPr>
                <a:t>i</a:t>
              </a:r>
              <a:r>
                <a:rPr lang="en-US" altLang="en-US" sz="2000" b="1" dirty="0">
                  <a:latin typeface="Courier New" pitchFamily="49" charset="0"/>
                </a:rPr>
                <a:t> + j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    </a:t>
              </a:r>
              <a:r>
                <a:rPr lang="en-US" altLang="en-US" sz="2000" b="1" dirty="0">
                  <a:solidFill>
                    <a:srgbClr val="660066"/>
                  </a:solidFill>
                  <a:latin typeface="Courier New" pitchFamily="49" charset="0"/>
                </a:rPr>
                <a:t>return</a:t>
              </a:r>
              <a:r>
                <a:rPr lang="en-US" altLang="en-US" sz="2000" b="1" dirty="0">
                  <a:latin typeface="Courier New" pitchFamily="49" charset="0"/>
                </a:rPr>
                <a:t> a;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4722222" y="3294186"/>
              <a:ext cx="358357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C Code with Function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429000" y="1905000"/>
              <a:ext cx="1066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C00000"/>
                  </a:solidFill>
                </a:rPr>
                <a:t>VS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DBEA4C-EEB6-EE38-04F6-268F195B1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5B1293-D52B-800E-3BD0-C97DC33D8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36224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8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Function Call : </a:t>
            </a:r>
            <a:r>
              <a:rPr lang="en-US" altLang="en-US" sz="3800" b="1" dirty="0">
                <a:solidFill>
                  <a:srgbClr val="C00000"/>
                </a:solidFill>
              </a:rPr>
              <a:t>Control Flow </a:t>
            </a:r>
            <a:r>
              <a:rPr lang="en-US" altLang="en-US" sz="3800" b="1" dirty="0"/>
              <a:t>and </a:t>
            </a:r>
            <a:r>
              <a:rPr lang="en-US" altLang="en-US" sz="3800" b="1" dirty="0">
                <a:solidFill>
                  <a:srgbClr val="660066"/>
                </a:solidFill>
              </a:rPr>
              <a:t>Data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863723" y="1050093"/>
            <a:ext cx="3962400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accent4">
                <a:lumMod val="75000"/>
                <a:lumOff val="2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7030A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anose="02070309020205020404" pitchFamily="49" charset="0"/>
              </a:rPr>
              <a:t>f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a,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b 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c;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c =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anose="02070309020205020404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(a, b);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....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901823" y="3505200"/>
            <a:ext cx="3924300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accent4">
                <a:lumMod val="75000"/>
                <a:lumOff val="2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anose="02070309020205020404" pitchFamily="49" charset="0"/>
              </a:rPr>
              <a:t>g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</a:rPr>
              <a:t>,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j 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a;</a:t>
            </a:r>
          </a:p>
          <a:p>
            <a:pPr eaLnBrk="0" hangingPunct="0"/>
            <a:endParaRPr lang="en-US" altLang="en-US" sz="2000" b="1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......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>
                <a:solidFill>
                  <a:srgbClr val="7030A0"/>
                </a:solidFill>
                <a:latin typeface="Courier New" panose="02070309020205020404" pitchFamily="49" charset="0"/>
              </a:rPr>
              <a:t>return </a:t>
            </a:r>
            <a:r>
              <a:rPr lang="en-US" altLang="en-US" sz="2000" b="1" dirty="0">
                <a:solidFill>
                  <a:srgbClr val="660066"/>
                </a:solidFill>
                <a:latin typeface="Courier New" pitchFamily="49" charset="0"/>
              </a:rPr>
              <a:t>...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1323" y="2313743"/>
            <a:ext cx="609600" cy="304800"/>
          </a:xfrm>
          <a:prstGeom prst="rightArrow">
            <a:avLst/>
          </a:prstGeom>
          <a:solidFill>
            <a:schemeClr val="tx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500B6C-C28F-9B9B-6475-554A32ED50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CAA44-DBC2-B8D8-4D16-2D9E8AC8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02288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Function Call : </a:t>
            </a:r>
            <a:r>
              <a:rPr lang="en-US" altLang="en-US" sz="3800" b="1" dirty="0"/>
              <a:t>Control Flow and Data</a:t>
            </a:r>
            <a:endParaRPr lang="en-US" altLang="en-US" sz="3800" dirty="0"/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>
                <a:solidFill>
                  <a:srgbClr val="C00000"/>
                </a:solidFill>
              </a:rPr>
              <a:t>Control Flow </a:t>
            </a:r>
            <a:r>
              <a:rPr lang="en-US" altLang="en-US" dirty="0"/>
              <a:t>Issues:</a:t>
            </a:r>
          </a:p>
          <a:p>
            <a:pPr lvl="1"/>
            <a:r>
              <a:rPr lang="en-US" altLang="en-US" dirty="0"/>
              <a:t>Need to jump to the function body</a:t>
            </a:r>
          </a:p>
          <a:p>
            <a:pPr lvl="1"/>
            <a:r>
              <a:rPr lang="en-US" altLang="en-US" dirty="0"/>
              <a:t>Need to resume when the function call is done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en-US" dirty="0">
                <a:sym typeface="Wingdings" panose="05000000000000000000" pitchFamily="2" charset="2"/>
              </a:rPr>
              <a:t>Minimally, need to store the PC of the caller </a:t>
            </a:r>
          </a:p>
          <a:p>
            <a:pPr lvl="0">
              <a:buClr>
                <a:srgbClr val="D34817"/>
              </a:buClr>
            </a:pPr>
            <a:endParaRPr lang="en-US" altLang="en-US" dirty="0">
              <a:solidFill>
                <a:prstClr val="black"/>
              </a:solidFill>
            </a:endParaRPr>
          </a:p>
          <a:p>
            <a:pPr lvl="0">
              <a:buClr>
                <a:srgbClr val="D34817"/>
              </a:buClr>
            </a:pPr>
            <a:r>
              <a:rPr lang="en-US" altLang="en-US" dirty="0">
                <a:solidFill>
                  <a:srgbClr val="660066"/>
                </a:solidFill>
              </a:rPr>
              <a:t>Data Storage </a:t>
            </a:r>
            <a:r>
              <a:rPr lang="en-US" altLang="en-US" dirty="0">
                <a:solidFill>
                  <a:prstClr val="black"/>
                </a:solidFill>
              </a:rPr>
              <a:t>Issues:</a:t>
            </a:r>
          </a:p>
          <a:p>
            <a:pPr lvl="1"/>
            <a:r>
              <a:rPr lang="en-US" altLang="en-US" dirty="0"/>
              <a:t>Need to pass parameters to the function</a:t>
            </a:r>
          </a:p>
          <a:p>
            <a:pPr lvl="1"/>
            <a:r>
              <a:rPr lang="en-US" altLang="en-US" dirty="0"/>
              <a:t>Need to capture the return result</a:t>
            </a:r>
          </a:p>
          <a:p>
            <a:pPr lvl="1"/>
            <a:r>
              <a:rPr lang="en-US" altLang="en-US" dirty="0"/>
              <a:t>May have local variables declaration</a:t>
            </a:r>
          </a:p>
          <a:p>
            <a:pPr lvl="1"/>
            <a:endParaRPr lang="en-US" altLang="en-US" dirty="0"/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Need a </a:t>
            </a:r>
            <a:r>
              <a:rPr lang="en-US" alt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new region of memory </a:t>
            </a:r>
            <a:r>
              <a:rPr lang="en-US" altLang="en-US" dirty="0">
                <a:sym typeface="Wingdings" panose="05000000000000000000" pitchFamily="2" charset="2"/>
              </a:rPr>
              <a:t>that dynamically used by function invocations</a:t>
            </a:r>
            <a:endParaRPr lang="en-US" altLang="en-US" dirty="0"/>
          </a:p>
          <a:p>
            <a:pPr marL="344487" lvl="1" indent="0"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F9CD83-C25D-F0D9-131D-68A7520EC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B48139-9E35-CA69-FEA7-A863BF9B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11628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Introducing </a:t>
            </a:r>
            <a:r>
              <a:rPr lang="en-US" altLang="en-US" sz="3800" b="1" dirty="0"/>
              <a:t>Stack Memory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Stack Memory Region</a:t>
            </a:r>
            <a:r>
              <a:rPr lang="en-US" altLang="en-US" b="1" dirty="0"/>
              <a:t>: </a:t>
            </a:r>
          </a:p>
          <a:p>
            <a:pPr marL="898525" lvl="1" indent="-571500">
              <a:lnSpc>
                <a:spcPct val="90000"/>
              </a:lnSpc>
            </a:pPr>
            <a:r>
              <a:rPr lang="en-US" altLang="en-US" dirty="0"/>
              <a:t>The new memory region to store information function invocation</a:t>
            </a:r>
          </a:p>
          <a:p>
            <a:pPr marL="327025" lvl="1" indent="0">
              <a:lnSpc>
                <a:spcPct val="90000"/>
              </a:lnSpc>
              <a:buNone/>
            </a:pPr>
            <a:endParaRPr lang="en-US" altLang="en-US" dirty="0"/>
          </a:p>
          <a:p>
            <a:pPr marL="512763" indent="-495300">
              <a:lnSpc>
                <a:spcPct val="90000"/>
              </a:lnSpc>
            </a:pPr>
            <a:r>
              <a:rPr lang="en-US" altLang="en-US" dirty="0"/>
              <a:t>Information of a function invocation is described by a </a:t>
            </a:r>
            <a:r>
              <a:rPr lang="en-US" altLang="en-US" b="1" dirty="0"/>
              <a:t>stack frame</a:t>
            </a:r>
          </a:p>
          <a:p>
            <a:pPr marL="17463" indent="0">
              <a:lnSpc>
                <a:spcPct val="90000"/>
              </a:lnSpc>
              <a:buNone/>
            </a:pPr>
            <a:endParaRPr lang="en-US" altLang="en-US" dirty="0"/>
          </a:p>
          <a:p>
            <a:pPr marL="512763" indent="-495300">
              <a:lnSpc>
                <a:spcPct val="90000"/>
              </a:lnSpc>
            </a:pPr>
            <a:r>
              <a:rPr lang="en-US" altLang="en-US" dirty="0"/>
              <a:t>Stack frame contains: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Return address of the caller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Arguments (Parameters) for the function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Storage for local variables</a:t>
            </a:r>
          </a:p>
          <a:p>
            <a:pPr marL="839788" lvl="1" indent="-495300">
              <a:lnSpc>
                <a:spcPct val="90000"/>
              </a:lnSpc>
            </a:pPr>
            <a:r>
              <a:rPr lang="en-US" altLang="en-US" dirty="0"/>
              <a:t>Other information…. (more later)</a:t>
            </a:r>
          </a:p>
          <a:p>
            <a:pPr marL="839788" lvl="1" indent="-495300">
              <a:lnSpc>
                <a:spcPct val="90000"/>
              </a:lnSpc>
              <a:buFont typeface="Wingdings" pitchFamily="2" charset="2"/>
              <a:buAutoNum type="arabicPeriod"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FCA33E-04ED-B1D2-614E-03301B0921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2D5AB6-AFD3-946D-2482-42BE18CF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868620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Stack Pointer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top of stack region (first unused location) is logically indicated by a </a:t>
            </a:r>
            <a:r>
              <a:rPr lang="en-US" altLang="en-US" b="1" dirty="0"/>
              <a:t>Stack Pointer</a:t>
            </a:r>
            <a:r>
              <a:rPr lang="en-US" altLang="en-US" dirty="0"/>
              <a:t>: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Most CPU has a specialized register for this purpose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Stack frame is added on top when a function is invoked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Stack “grows” taller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Stack frame is removed from top when a function call ends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Stack </a:t>
            </a:r>
            <a:r>
              <a:rPr lang="en-US" altLang="en-US"/>
              <a:t>"shrinks"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155AAD-0700-DED8-A146-151B1CE853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9D065-86A6-9D5E-83E1-E0307318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551660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Illustration: </a:t>
            </a:r>
            <a:r>
              <a:rPr lang="en-US" b="1" dirty="0">
                <a:solidFill>
                  <a:srgbClr val="C00000"/>
                </a:solidFill>
              </a:rPr>
              <a:t>Stack Memory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18" name="Right Bracket 17"/>
          <p:cNvSpPr/>
          <p:nvPr/>
        </p:nvSpPr>
        <p:spPr>
          <a:xfrm flipH="1">
            <a:off x="1143000" y="1143000"/>
            <a:ext cx="209550" cy="51054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-76200" y="3445336"/>
            <a:ext cx="1295400" cy="967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The entire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memory space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55679" y="2584088"/>
            <a:ext cx="2743200" cy="9674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Data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global variables)</a:t>
            </a:r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68142" y="1326665"/>
            <a:ext cx="2743200" cy="9674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Text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instructions)</a:t>
            </a: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1524000" y="1144602"/>
            <a:ext cx="2667000" cy="1371588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lw</a:t>
            </a:r>
            <a:r>
              <a:rPr lang="en-US" altLang="en-US" sz="1200" b="1" dirty="0">
                <a:latin typeface="Courier New" pitchFamily="49" charset="0"/>
              </a:rPr>
              <a:t>    $1, 4096   		</a:t>
            </a:r>
            <a:endParaRPr lang="en-US" altLang="en-US" sz="1200" dirty="0">
              <a:latin typeface="Courier New" pitchFamily="49" charset="0"/>
            </a:endParaRPr>
          </a:p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addi</a:t>
            </a:r>
            <a:r>
              <a:rPr lang="en-US" altLang="en-US" sz="1200" b="1" dirty="0">
                <a:latin typeface="Courier New" pitchFamily="49" charset="0"/>
              </a:rPr>
              <a:t>  $1, $1, 0      </a:t>
            </a:r>
            <a:r>
              <a:rPr lang="en-US" altLang="en-US" sz="1200" dirty="0">
                <a:latin typeface="Courier New" pitchFamily="49" charset="0"/>
              </a:rPr>
              <a:t>	</a:t>
            </a:r>
          </a:p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sw</a:t>
            </a:r>
            <a:r>
              <a:rPr lang="en-US" altLang="en-US" sz="1200" b="1" dirty="0">
                <a:latin typeface="Courier New" pitchFamily="49" charset="0"/>
              </a:rPr>
              <a:t>    $1, 4096   	</a:t>
            </a:r>
          </a:p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lw</a:t>
            </a:r>
            <a:r>
              <a:rPr lang="en-US" altLang="en-US" sz="1200" b="1" dirty="0">
                <a:latin typeface="Courier New" pitchFamily="49" charset="0"/>
              </a:rPr>
              <a:t>    $2, 4096   	</a:t>
            </a:r>
          </a:p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addi</a:t>
            </a:r>
            <a:r>
              <a:rPr lang="en-US" altLang="en-US" sz="1200" b="1" dirty="0">
                <a:latin typeface="Courier New" pitchFamily="49" charset="0"/>
              </a:rPr>
              <a:t>  $3, $2, 20 		</a:t>
            </a:r>
          </a:p>
          <a:p>
            <a:pPr eaLnBrk="0" hangingPunct="0"/>
            <a:r>
              <a:rPr lang="en-US" altLang="en-US" sz="1200" b="1" dirty="0" err="1">
                <a:latin typeface="Courier New" pitchFamily="49" charset="0"/>
              </a:rPr>
              <a:t>sw</a:t>
            </a:r>
            <a:r>
              <a:rPr lang="en-US" altLang="en-US" sz="1200" b="1" dirty="0">
                <a:latin typeface="Courier New" pitchFamily="49" charset="0"/>
              </a:rPr>
              <a:t>    $3, 4096</a:t>
            </a: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1524000" y="1143000"/>
            <a:ext cx="2667000" cy="510059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1524000" y="2510582"/>
            <a:ext cx="2667000" cy="11144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1524000" y="5129178"/>
            <a:ext cx="2667000" cy="1114415"/>
          </a:xfrm>
          <a:prstGeom prst="rect">
            <a:avLst/>
          </a:prstGeom>
          <a:solidFill>
            <a:srgbClr val="FF99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31" name="Right Bracket 30"/>
          <p:cNvSpPr/>
          <p:nvPr/>
        </p:nvSpPr>
        <p:spPr>
          <a:xfrm>
            <a:off x="4431708" y="2499366"/>
            <a:ext cx="228600" cy="1114415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32" name="Right Bracket 31"/>
          <p:cNvSpPr/>
          <p:nvPr/>
        </p:nvSpPr>
        <p:spPr>
          <a:xfrm>
            <a:off x="4427079" y="1143000"/>
            <a:ext cx="228600" cy="1334734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239284" y="5086316"/>
            <a:ext cx="2990316" cy="1114415"/>
            <a:chOff x="5239284" y="5086316"/>
            <a:chExt cx="2990316" cy="1114415"/>
          </a:xfrm>
        </p:grpSpPr>
        <p:sp>
          <p:nvSpPr>
            <p:cNvPr id="30" name="Rectangle 29"/>
            <p:cNvSpPr/>
            <p:nvPr/>
          </p:nvSpPr>
          <p:spPr>
            <a:xfrm>
              <a:off x="5467884" y="5167229"/>
              <a:ext cx="2761716" cy="9674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Stack</a:t>
              </a:r>
            </a:p>
            <a:p>
              <a:pPr algn="ctr"/>
              <a:r>
                <a:rPr lang="en-US" sz="2400" dirty="0">
                  <a:solidFill>
                    <a:srgbClr val="C00000"/>
                  </a:solidFill>
                </a:rPr>
                <a:t>(for function invocations)</a:t>
              </a:r>
              <a:endParaRPr lang="en-SG" sz="2400" b="1" dirty="0">
                <a:solidFill>
                  <a:srgbClr val="C00000"/>
                </a:solidFill>
              </a:endParaRPr>
            </a:p>
          </p:txBody>
        </p:sp>
        <p:sp>
          <p:nvSpPr>
            <p:cNvPr id="33" name="Right Bracket 32"/>
            <p:cNvSpPr/>
            <p:nvPr/>
          </p:nvSpPr>
          <p:spPr>
            <a:xfrm>
              <a:off x="5239284" y="5086316"/>
              <a:ext cx="228600" cy="1114415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114800" y="5019820"/>
            <a:ext cx="1307507" cy="734791"/>
            <a:chOff x="4114800" y="5019820"/>
            <a:chExt cx="1307507" cy="734791"/>
          </a:xfrm>
        </p:grpSpPr>
        <p:sp>
          <p:nvSpPr>
            <p:cNvPr id="34" name="AutoShape 21"/>
            <p:cNvSpPr>
              <a:spLocks noChangeArrowheads="1"/>
            </p:cNvSpPr>
            <p:nvPr/>
          </p:nvSpPr>
          <p:spPr bwMode="auto">
            <a:xfrm>
              <a:off x="4203108" y="5019820"/>
              <a:ext cx="457200" cy="215112"/>
            </a:xfrm>
            <a:prstGeom prst="leftArrow">
              <a:avLst>
                <a:gd name="adj1" fmla="val 50000"/>
                <a:gd name="adj2" fmla="val 73799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4114800" y="5169836"/>
              <a:ext cx="1307507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solidFill>
                    <a:srgbClr val="66006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Stack Pointer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133600" y="3971900"/>
            <a:ext cx="1459906" cy="1371588"/>
            <a:chOff x="2133600" y="3971900"/>
            <a:chExt cx="1459906" cy="1371588"/>
          </a:xfrm>
        </p:grpSpPr>
        <p:sp>
          <p:nvSpPr>
            <p:cNvPr id="6" name="Striped Right Arrow 5"/>
            <p:cNvSpPr/>
            <p:nvPr/>
          </p:nvSpPr>
          <p:spPr>
            <a:xfrm rot="16200000">
              <a:off x="2453080" y="4443769"/>
              <a:ext cx="808839" cy="990600"/>
            </a:xfrm>
            <a:prstGeom prst="stripedRightArrow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2133600" y="3971900"/>
              <a:ext cx="1459906" cy="6578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/>
                <a:t>Stack growth direction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7983C-89E6-4D11-AD7A-C8B30E408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C2271-C549-5FDC-4480-6431D55E6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75806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323232"/>
                </a:solidFill>
              </a:rPr>
              <a:t>Illustration: </a:t>
            </a:r>
            <a:r>
              <a:rPr lang="en-US" altLang="en-US" sz="3800" b="1" dirty="0">
                <a:solidFill>
                  <a:srgbClr val="323232"/>
                </a:solidFill>
              </a:rPr>
              <a:t>Stack Memory Usage </a:t>
            </a:r>
            <a:r>
              <a:rPr lang="en-US" altLang="en-US" sz="3800" dirty="0">
                <a:solidFill>
                  <a:srgbClr val="323232"/>
                </a:solidFill>
              </a:rPr>
              <a:t>(1 / 5) </a:t>
            </a:r>
            <a:endParaRPr lang="en-US" altLang="en-US" dirty="0"/>
          </a:p>
        </p:txBody>
      </p:sp>
      <p:sp>
        <p:nvSpPr>
          <p:cNvPr id="193540" name="Text Box 4"/>
          <p:cNvSpPr txBox="1">
            <a:spLocks noChangeArrowheads="1"/>
          </p:cNvSpPr>
          <p:nvPr/>
        </p:nvSpPr>
        <p:spPr bwMode="auto">
          <a:xfrm>
            <a:off x="533400" y="1143000"/>
            <a:ext cx="33528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g();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93541" name="Line 5"/>
          <p:cNvSpPr>
            <a:spLocks noChangeShapeType="1"/>
          </p:cNvSpPr>
          <p:nvPr/>
        </p:nvSpPr>
        <p:spPr bwMode="auto">
          <a:xfrm>
            <a:off x="4953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542" name="Rectangle 6"/>
          <p:cNvSpPr>
            <a:spLocks noChangeArrowheads="1"/>
          </p:cNvSpPr>
          <p:nvPr/>
        </p:nvSpPr>
        <p:spPr bwMode="auto">
          <a:xfrm>
            <a:off x="5257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193543" name="Rectangle 7"/>
          <p:cNvSpPr>
            <a:spLocks noChangeArrowheads="1"/>
          </p:cNvSpPr>
          <p:nvPr/>
        </p:nvSpPr>
        <p:spPr bwMode="auto">
          <a:xfrm>
            <a:off x="5257800" y="4495800"/>
            <a:ext cx="26670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f()</a:t>
            </a:r>
          </a:p>
        </p:txBody>
      </p:sp>
      <p:sp>
        <p:nvSpPr>
          <p:cNvPr id="193545" name="AutoShape 9"/>
          <p:cNvSpPr>
            <a:spLocks noChangeArrowheads="1"/>
          </p:cNvSpPr>
          <p:nvPr/>
        </p:nvSpPr>
        <p:spPr bwMode="auto">
          <a:xfrm>
            <a:off x="1828800" y="17526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3546" name="Text Box 10"/>
          <p:cNvSpPr txBox="1">
            <a:spLocks noChangeArrowheads="1"/>
          </p:cNvSpPr>
          <p:nvPr/>
        </p:nvSpPr>
        <p:spPr bwMode="auto">
          <a:xfrm>
            <a:off x="2514600" y="1600200"/>
            <a:ext cx="9906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At this point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33400" y="3200400"/>
            <a:ext cx="3352800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g()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h();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33400" y="4982789"/>
            <a:ext cx="33528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h()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4AC772-D466-7DDD-EDEC-39B66E46A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113E15-7791-4532-0A28-4FECCCD2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33400" y="1143000"/>
            <a:ext cx="33528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g();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33400" y="3200400"/>
            <a:ext cx="3352800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g()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h();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33400" y="4982789"/>
            <a:ext cx="33528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h()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323232"/>
                </a:solidFill>
              </a:rPr>
              <a:t>Illustration: </a:t>
            </a:r>
            <a:r>
              <a:rPr lang="en-US" altLang="en-US" sz="3800" b="1" dirty="0">
                <a:solidFill>
                  <a:srgbClr val="323232"/>
                </a:solidFill>
              </a:rPr>
              <a:t>Stack Memory Usage </a:t>
            </a:r>
            <a:r>
              <a:rPr lang="en-US" altLang="en-US" sz="3800" dirty="0">
                <a:solidFill>
                  <a:srgbClr val="323232"/>
                </a:solidFill>
              </a:rPr>
              <a:t>(2 / 5) </a:t>
            </a:r>
            <a:endParaRPr lang="en-US" altLang="en-US" dirty="0"/>
          </a:p>
        </p:txBody>
      </p:sp>
      <p:sp>
        <p:nvSpPr>
          <p:cNvPr id="244740" name="Line 4"/>
          <p:cNvSpPr>
            <a:spLocks noChangeShapeType="1"/>
          </p:cNvSpPr>
          <p:nvPr/>
        </p:nvSpPr>
        <p:spPr bwMode="auto">
          <a:xfrm>
            <a:off x="4953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4741" name="Rectangle 5"/>
          <p:cNvSpPr>
            <a:spLocks noChangeArrowheads="1"/>
          </p:cNvSpPr>
          <p:nvPr/>
        </p:nvSpPr>
        <p:spPr bwMode="auto">
          <a:xfrm>
            <a:off x="5257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44742" name="Rectangle 6"/>
          <p:cNvSpPr>
            <a:spLocks noChangeArrowheads="1"/>
          </p:cNvSpPr>
          <p:nvPr/>
        </p:nvSpPr>
        <p:spPr bwMode="auto">
          <a:xfrm>
            <a:off x="5257800" y="4495800"/>
            <a:ext cx="26670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f()</a:t>
            </a:r>
          </a:p>
        </p:txBody>
      </p:sp>
      <p:sp>
        <p:nvSpPr>
          <p:cNvPr id="244743" name="AutoShape 7"/>
          <p:cNvSpPr>
            <a:spLocks noChangeArrowheads="1"/>
          </p:cNvSpPr>
          <p:nvPr/>
        </p:nvSpPr>
        <p:spPr bwMode="auto">
          <a:xfrm>
            <a:off x="1752600" y="38862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4744" name="Text Box 8"/>
          <p:cNvSpPr txBox="1">
            <a:spLocks noChangeArrowheads="1"/>
          </p:cNvSpPr>
          <p:nvPr/>
        </p:nvSpPr>
        <p:spPr bwMode="auto">
          <a:xfrm>
            <a:off x="2438400" y="3733800"/>
            <a:ext cx="9906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At this point</a:t>
            </a:r>
          </a:p>
        </p:txBody>
      </p:sp>
      <p:sp>
        <p:nvSpPr>
          <p:cNvPr id="244745" name="Rectangle 9"/>
          <p:cNvSpPr>
            <a:spLocks noChangeArrowheads="1"/>
          </p:cNvSpPr>
          <p:nvPr/>
        </p:nvSpPr>
        <p:spPr bwMode="auto">
          <a:xfrm>
            <a:off x="5257800" y="3505200"/>
            <a:ext cx="2667000" cy="990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g()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BDB2EB-BB28-9CC8-224A-BE94B08EA0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25A8-17B8-449C-0402-9E3327772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33400" y="1143000"/>
            <a:ext cx="33528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g();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33400" y="3200400"/>
            <a:ext cx="3352800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g()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h();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33400" y="4982789"/>
            <a:ext cx="33528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h()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323232"/>
                </a:solidFill>
              </a:rPr>
              <a:t>Illustration: </a:t>
            </a:r>
            <a:r>
              <a:rPr lang="en-US" altLang="en-US" sz="3800" b="1" dirty="0">
                <a:solidFill>
                  <a:srgbClr val="323232"/>
                </a:solidFill>
              </a:rPr>
              <a:t>Stack Memory Usage </a:t>
            </a:r>
            <a:r>
              <a:rPr lang="en-US" altLang="en-US" sz="3800" dirty="0">
                <a:solidFill>
                  <a:srgbClr val="323232"/>
                </a:solidFill>
              </a:rPr>
              <a:t>(3 / 5) </a:t>
            </a:r>
            <a:endParaRPr lang="en-US" altLang="en-US" dirty="0"/>
          </a:p>
        </p:txBody>
      </p:sp>
      <p:sp>
        <p:nvSpPr>
          <p:cNvPr id="245764" name="Line 4"/>
          <p:cNvSpPr>
            <a:spLocks noChangeShapeType="1"/>
          </p:cNvSpPr>
          <p:nvPr/>
        </p:nvSpPr>
        <p:spPr bwMode="auto">
          <a:xfrm>
            <a:off x="4953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765" name="Rectangle 5"/>
          <p:cNvSpPr>
            <a:spLocks noChangeArrowheads="1"/>
          </p:cNvSpPr>
          <p:nvPr/>
        </p:nvSpPr>
        <p:spPr bwMode="auto">
          <a:xfrm>
            <a:off x="5257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45766" name="Rectangle 6"/>
          <p:cNvSpPr>
            <a:spLocks noChangeArrowheads="1"/>
          </p:cNvSpPr>
          <p:nvPr/>
        </p:nvSpPr>
        <p:spPr bwMode="auto">
          <a:xfrm>
            <a:off x="5257800" y="4495800"/>
            <a:ext cx="26670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f()</a:t>
            </a:r>
          </a:p>
        </p:txBody>
      </p:sp>
      <p:sp>
        <p:nvSpPr>
          <p:cNvPr id="245767" name="AutoShape 7"/>
          <p:cNvSpPr>
            <a:spLocks noChangeArrowheads="1"/>
          </p:cNvSpPr>
          <p:nvPr/>
        </p:nvSpPr>
        <p:spPr bwMode="auto">
          <a:xfrm>
            <a:off x="1676400" y="5667642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768" name="Text Box 8"/>
          <p:cNvSpPr txBox="1">
            <a:spLocks noChangeArrowheads="1"/>
          </p:cNvSpPr>
          <p:nvPr/>
        </p:nvSpPr>
        <p:spPr bwMode="auto">
          <a:xfrm>
            <a:off x="2362200" y="5515242"/>
            <a:ext cx="9906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At this point</a:t>
            </a:r>
          </a:p>
        </p:txBody>
      </p:sp>
      <p:sp>
        <p:nvSpPr>
          <p:cNvPr id="245769" name="Rectangle 9"/>
          <p:cNvSpPr>
            <a:spLocks noChangeArrowheads="1"/>
          </p:cNvSpPr>
          <p:nvPr/>
        </p:nvSpPr>
        <p:spPr bwMode="auto">
          <a:xfrm>
            <a:off x="5257800" y="3505200"/>
            <a:ext cx="2667000" cy="990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g()</a:t>
            </a:r>
          </a:p>
        </p:txBody>
      </p:sp>
      <p:sp>
        <p:nvSpPr>
          <p:cNvPr id="245770" name="Rectangle 10"/>
          <p:cNvSpPr>
            <a:spLocks noChangeArrowheads="1"/>
          </p:cNvSpPr>
          <p:nvPr/>
        </p:nvSpPr>
        <p:spPr bwMode="auto">
          <a:xfrm>
            <a:off x="5257800" y="2514600"/>
            <a:ext cx="2667000" cy="990600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h()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13C92F-EC2D-C944-4373-AD8787F89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47FD8-FF7A-5676-F169-ADA5F26E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33400" y="1143000"/>
            <a:ext cx="33528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g();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33400" y="3200400"/>
            <a:ext cx="3352800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g()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h();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33400" y="4982789"/>
            <a:ext cx="33528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h()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323232"/>
                </a:solidFill>
              </a:rPr>
              <a:t>Illustration: </a:t>
            </a:r>
            <a:r>
              <a:rPr lang="en-US" altLang="en-US" sz="3800" b="1" dirty="0">
                <a:solidFill>
                  <a:srgbClr val="323232"/>
                </a:solidFill>
              </a:rPr>
              <a:t>Stack Memory Usage </a:t>
            </a:r>
            <a:r>
              <a:rPr lang="en-US" altLang="en-US" sz="3800" dirty="0">
                <a:solidFill>
                  <a:srgbClr val="323232"/>
                </a:solidFill>
              </a:rPr>
              <a:t>(4 / 5) </a:t>
            </a:r>
            <a:endParaRPr lang="en-US" altLang="en-US" dirty="0"/>
          </a:p>
        </p:txBody>
      </p:sp>
      <p:sp>
        <p:nvSpPr>
          <p:cNvPr id="246788" name="Line 4"/>
          <p:cNvSpPr>
            <a:spLocks noChangeShapeType="1"/>
          </p:cNvSpPr>
          <p:nvPr/>
        </p:nvSpPr>
        <p:spPr bwMode="auto">
          <a:xfrm>
            <a:off x="4953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789" name="Rectangle 5"/>
          <p:cNvSpPr>
            <a:spLocks noChangeArrowheads="1"/>
          </p:cNvSpPr>
          <p:nvPr/>
        </p:nvSpPr>
        <p:spPr bwMode="auto">
          <a:xfrm>
            <a:off x="5257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46790" name="Rectangle 6"/>
          <p:cNvSpPr>
            <a:spLocks noChangeArrowheads="1"/>
          </p:cNvSpPr>
          <p:nvPr/>
        </p:nvSpPr>
        <p:spPr bwMode="auto">
          <a:xfrm>
            <a:off x="5257800" y="4495800"/>
            <a:ext cx="26670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f()</a:t>
            </a:r>
          </a:p>
        </p:txBody>
      </p:sp>
      <p:sp>
        <p:nvSpPr>
          <p:cNvPr id="246791" name="AutoShape 7"/>
          <p:cNvSpPr>
            <a:spLocks noChangeArrowheads="1"/>
          </p:cNvSpPr>
          <p:nvPr/>
        </p:nvSpPr>
        <p:spPr bwMode="auto">
          <a:xfrm>
            <a:off x="1676400" y="4183879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792" name="Text Box 8"/>
          <p:cNvSpPr txBox="1">
            <a:spLocks noChangeArrowheads="1"/>
          </p:cNvSpPr>
          <p:nvPr/>
        </p:nvSpPr>
        <p:spPr bwMode="auto">
          <a:xfrm>
            <a:off x="2362200" y="4031479"/>
            <a:ext cx="9906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At this point</a:t>
            </a:r>
          </a:p>
        </p:txBody>
      </p:sp>
      <p:sp>
        <p:nvSpPr>
          <p:cNvPr id="246793" name="Rectangle 9"/>
          <p:cNvSpPr>
            <a:spLocks noChangeArrowheads="1"/>
          </p:cNvSpPr>
          <p:nvPr/>
        </p:nvSpPr>
        <p:spPr bwMode="auto">
          <a:xfrm>
            <a:off x="5257800" y="3505200"/>
            <a:ext cx="2667000" cy="9906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g()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7B2941-B283-00C3-AAFD-32DA817945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6ED251-0E65-0B62-0391-620CCBD32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33400" y="1143000"/>
            <a:ext cx="33528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g();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33400" y="3200400"/>
            <a:ext cx="3352800" cy="1631216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g()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h();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33400" y="4982789"/>
            <a:ext cx="33528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2000" b="1" dirty="0">
                <a:latin typeface="Courier New" panose="02070309020205020404" pitchFamily="49" charset="0"/>
              </a:rPr>
              <a:t> h()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>
                <a:solidFill>
                  <a:srgbClr val="323232"/>
                </a:solidFill>
              </a:rPr>
              <a:t>Illustration: </a:t>
            </a:r>
            <a:r>
              <a:rPr lang="en-US" altLang="en-US" sz="3800" b="1" dirty="0">
                <a:solidFill>
                  <a:srgbClr val="323232"/>
                </a:solidFill>
              </a:rPr>
              <a:t>Stack Memory Usage </a:t>
            </a:r>
            <a:r>
              <a:rPr lang="en-US" altLang="en-US" sz="3800" dirty="0">
                <a:solidFill>
                  <a:srgbClr val="323232"/>
                </a:solidFill>
              </a:rPr>
              <a:t>(5 / 5) </a:t>
            </a:r>
            <a:endParaRPr lang="en-US" altLang="en-US" dirty="0"/>
          </a:p>
        </p:txBody>
      </p:sp>
      <p:sp>
        <p:nvSpPr>
          <p:cNvPr id="247812" name="Line 4"/>
          <p:cNvSpPr>
            <a:spLocks noChangeShapeType="1"/>
          </p:cNvSpPr>
          <p:nvPr/>
        </p:nvSpPr>
        <p:spPr bwMode="auto">
          <a:xfrm>
            <a:off x="4953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813" name="Rectangle 5"/>
          <p:cNvSpPr>
            <a:spLocks noChangeArrowheads="1"/>
          </p:cNvSpPr>
          <p:nvPr/>
        </p:nvSpPr>
        <p:spPr bwMode="auto">
          <a:xfrm>
            <a:off x="5257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47814" name="Rectangle 6"/>
          <p:cNvSpPr>
            <a:spLocks noChangeArrowheads="1"/>
          </p:cNvSpPr>
          <p:nvPr/>
        </p:nvSpPr>
        <p:spPr bwMode="auto">
          <a:xfrm>
            <a:off x="5257800" y="4495800"/>
            <a:ext cx="26670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Stack Frame</a:t>
            </a:r>
            <a:br>
              <a:rPr lang="en-US" altLang="en-US" sz="2400" b="1">
                <a:latin typeface="Courier New" panose="02070309020205020404" pitchFamily="49" charset="0"/>
              </a:rPr>
            </a:br>
            <a:r>
              <a:rPr lang="en-US" altLang="en-US" sz="2400" b="1">
                <a:latin typeface="Courier New" panose="02070309020205020404" pitchFamily="49" charset="0"/>
              </a:rPr>
              <a:t>for f()</a:t>
            </a:r>
          </a:p>
        </p:txBody>
      </p:sp>
      <p:sp>
        <p:nvSpPr>
          <p:cNvPr id="247815" name="AutoShape 7"/>
          <p:cNvSpPr>
            <a:spLocks noChangeArrowheads="1"/>
          </p:cNvSpPr>
          <p:nvPr/>
        </p:nvSpPr>
        <p:spPr bwMode="auto">
          <a:xfrm>
            <a:off x="1828800" y="2438400"/>
            <a:ext cx="609600" cy="2286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7816" name="Text Box 8"/>
          <p:cNvSpPr txBox="1">
            <a:spLocks noChangeArrowheads="1"/>
          </p:cNvSpPr>
          <p:nvPr/>
        </p:nvSpPr>
        <p:spPr bwMode="auto">
          <a:xfrm>
            <a:off x="2514600" y="2286000"/>
            <a:ext cx="9906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At this point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791784-2283-3EF1-DD12-0FC856DE1C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541AA-29FB-62B5-B260-0394E492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Illustration: </a:t>
            </a:r>
            <a:r>
              <a:rPr lang="en-US" altLang="en-US" sz="3800" b="1" dirty="0">
                <a:solidFill>
                  <a:srgbClr val="C00000"/>
                </a:solidFill>
              </a:rPr>
              <a:t>Stack Frame v1.0</a:t>
            </a:r>
          </a:p>
        </p:txBody>
      </p:sp>
      <p:sp>
        <p:nvSpPr>
          <p:cNvPr id="190468" name="Line 4"/>
          <p:cNvSpPr>
            <a:spLocks noChangeShapeType="1"/>
          </p:cNvSpPr>
          <p:nvPr/>
        </p:nvSpPr>
        <p:spPr bwMode="auto">
          <a:xfrm>
            <a:off x="1524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69" name="Rectangle 5"/>
          <p:cNvSpPr>
            <a:spLocks noChangeArrowheads="1"/>
          </p:cNvSpPr>
          <p:nvPr/>
        </p:nvSpPr>
        <p:spPr bwMode="auto">
          <a:xfrm>
            <a:off x="1828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itchFamily="49" charset="0"/>
              </a:rPr>
              <a:t>…</a:t>
            </a:r>
          </a:p>
        </p:txBody>
      </p:sp>
      <p:sp>
        <p:nvSpPr>
          <p:cNvPr id="190471" name="Rectangle 7"/>
          <p:cNvSpPr>
            <a:spLocks noChangeArrowheads="1"/>
          </p:cNvSpPr>
          <p:nvPr/>
        </p:nvSpPr>
        <p:spPr bwMode="auto">
          <a:xfrm>
            <a:off x="1828800" y="4495800"/>
            <a:ext cx="2667000" cy="990600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Stack Frame</a:t>
            </a:r>
            <a:br>
              <a:rPr lang="en-US" altLang="en-US" sz="2400" b="1">
                <a:latin typeface="Courier New" pitchFamily="49" charset="0"/>
              </a:rPr>
            </a:br>
            <a:r>
              <a:rPr lang="en-US" altLang="en-US" sz="2400" b="1">
                <a:latin typeface="Courier New" pitchFamily="49" charset="0"/>
              </a:rPr>
              <a:t>for f()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781800" y="1752600"/>
            <a:ext cx="2057400" cy="2667000"/>
            <a:chOff x="6781800" y="1752600"/>
            <a:chExt cx="2057400" cy="2667000"/>
          </a:xfrm>
        </p:grpSpPr>
        <p:sp>
          <p:nvSpPr>
            <p:cNvPr id="190481" name="AutoShape 17"/>
            <p:cNvSpPr>
              <a:spLocks/>
            </p:cNvSpPr>
            <p:nvPr/>
          </p:nvSpPr>
          <p:spPr bwMode="auto">
            <a:xfrm>
              <a:off x="6781800" y="1752600"/>
              <a:ext cx="381000" cy="2667000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90482" name="Text Box 18"/>
            <p:cNvSpPr txBox="1">
              <a:spLocks noChangeArrowheads="1"/>
            </p:cNvSpPr>
            <p:nvPr/>
          </p:nvSpPr>
          <p:spPr bwMode="auto">
            <a:xfrm>
              <a:off x="7239000" y="2819400"/>
              <a:ext cx="160020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</a:rPr>
                <a:t>Stack Frame </a:t>
              </a:r>
              <a:r>
                <a:rPr lang="en-US" altLang="en-US" b="1" dirty="0"/>
                <a:t>for </a:t>
              </a:r>
              <a:r>
                <a:rPr lang="en-US" altLang="en-US" b="1" dirty="0">
                  <a:latin typeface="Courier New" pitchFamily="49" charset="0"/>
                </a:rPr>
                <a:t>g()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572000" y="1371600"/>
            <a:ext cx="2209800" cy="641350"/>
            <a:chOff x="4572000" y="1371600"/>
            <a:chExt cx="2209800" cy="641350"/>
          </a:xfrm>
        </p:grpSpPr>
        <p:sp>
          <p:nvSpPr>
            <p:cNvPr id="190485" name="AutoShape 21"/>
            <p:cNvSpPr>
              <a:spLocks noChangeArrowheads="1"/>
            </p:cNvSpPr>
            <p:nvPr/>
          </p:nvSpPr>
          <p:spPr bwMode="auto">
            <a:xfrm>
              <a:off x="4572000" y="1524000"/>
              <a:ext cx="1219200" cy="457200"/>
            </a:xfrm>
            <a:prstGeom prst="leftArrow">
              <a:avLst>
                <a:gd name="adj1" fmla="val 50000"/>
                <a:gd name="adj2" fmla="val 66667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90486" name="Text Box 22"/>
            <p:cNvSpPr txBox="1">
              <a:spLocks noChangeArrowheads="1"/>
            </p:cNvSpPr>
            <p:nvPr/>
          </p:nvSpPr>
          <p:spPr bwMode="auto">
            <a:xfrm>
              <a:off x="5791200" y="1371600"/>
              <a:ext cx="9906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Stack Pointer</a:t>
              </a:r>
              <a:endParaRPr lang="en-US" altLang="en-US" b="1">
                <a:latin typeface="Courier New" pitchFamily="49" charset="0"/>
              </a:endParaRPr>
            </a:p>
          </p:txBody>
        </p:sp>
      </p:grpSp>
      <p:sp>
        <p:nvSpPr>
          <p:cNvPr id="190487" name="Line 23"/>
          <p:cNvSpPr>
            <a:spLocks noChangeShapeType="1"/>
          </p:cNvSpPr>
          <p:nvPr/>
        </p:nvSpPr>
        <p:spPr bwMode="auto">
          <a:xfrm flipV="1">
            <a:off x="1828800" y="914400"/>
            <a:ext cx="0" cy="370664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88" name="Line 24"/>
          <p:cNvSpPr>
            <a:spLocks noChangeShapeType="1"/>
          </p:cNvSpPr>
          <p:nvPr/>
        </p:nvSpPr>
        <p:spPr bwMode="auto">
          <a:xfrm flipV="1">
            <a:off x="4495800" y="914399"/>
            <a:ext cx="0" cy="3794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89" name="Text Box 25"/>
          <p:cNvSpPr txBox="1">
            <a:spLocks noChangeArrowheads="1"/>
          </p:cNvSpPr>
          <p:nvPr/>
        </p:nvSpPr>
        <p:spPr bwMode="auto">
          <a:xfrm>
            <a:off x="1981200" y="990600"/>
            <a:ext cx="2362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000" b="1" dirty="0">
                <a:latin typeface="+mn-lt"/>
              </a:rPr>
              <a:t>Free Memory</a:t>
            </a:r>
          </a:p>
        </p:txBody>
      </p: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1828800" y="1752600"/>
            <a:ext cx="2667000" cy="2743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31" name="Rectangle 30"/>
          <p:cNvSpPr/>
          <p:nvPr/>
        </p:nvSpPr>
        <p:spPr>
          <a:xfrm rot="16200000">
            <a:off x="-347166" y="3192743"/>
            <a:ext cx="1606607" cy="859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Stack</a:t>
            </a:r>
          </a:p>
        </p:txBody>
      </p:sp>
      <p:sp>
        <p:nvSpPr>
          <p:cNvPr id="32" name="Right Bracket 31"/>
          <p:cNvSpPr/>
          <p:nvPr/>
        </p:nvSpPr>
        <p:spPr>
          <a:xfrm flipH="1">
            <a:off x="768949" y="1752600"/>
            <a:ext cx="210084" cy="44196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4572000" y="4098925"/>
            <a:ext cx="2209800" cy="641350"/>
            <a:chOff x="4572000" y="1371600"/>
            <a:chExt cx="2209800" cy="641350"/>
          </a:xfrm>
        </p:grpSpPr>
        <p:sp>
          <p:nvSpPr>
            <p:cNvPr id="27" name="AutoShape 21"/>
            <p:cNvSpPr>
              <a:spLocks noChangeArrowheads="1"/>
            </p:cNvSpPr>
            <p:nvPr/>
          </p:nvSpPr>
          <p:spPr bwMode="auto">
            <a:xfrm>
              <a:off x="4572000" y="1524000"/>
              <a:ext cx="1219200" cy="457200"/>
            </a:xfrm>
            <a:prstGeom prst="leftArrow">
              <a:avLst>
                <a:gd name="adj1" fmla="val 50000"/>
                <a:gd name="adj2" fmla="val 66667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8" name="Text Box 22"/>
            <p:cNvSpPr txBox="1">
              <a:spLocks noChangeArrowheads="1"/>
            </p:cNvSpPr>
            <p:nvPr/>
          </p:nvSpPr>
          <p:spPr bwMode="auto">
            <a:xfrm>
              <a:off x="5791200" y="1371600"/>
              <a:ext cx="9906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Stack Pointer</a:t>
              </a:r>
              <a:endParaRPr lang="en-US" altLang="en-US" b="1">
                <a:latin typeface="Courier New" pitchFamily="49" charset="0"/>
              </a:endParaRPr>
            </a:p>
          </p:txBody>
        </p:sp>
      </p:grpSp>
      <p:sp>
        <p:nvSpPr>
          <p:cNvPr id="45" name="Rectangle 9"/>
          <p:cNvSpPr>
            <a:spLocks noChangeArrowheads="1"/>
          </p:cNvSpPr>
          <p:nvPr/>
        </p:nvSpPr>
        <p:spPr bwMode="auto">
          <a:xfrm>
            <a:off x="1828800" y="2685365"/>
            <a:ext cx="2667000" cy="45720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Return PC</a:t>
            </a: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1828800" y="2228165"/>
            <a:ext cx="2667000" cy="45720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Parameters</a:t>
            </a: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1828800" y="1770965"/>
            <a:ext cx="2667000" cy="45720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Local Variables</a:t>
            </a:r>
          </a:p>
        </p:txBody>
      </p:sp>
      <p:sp>
        <p:nvSpPr>
          <p:cNvPr id="48" name="Rectangle 9"/>
          <p:cNvSpPr>
            <a:spLocks noChangeArrowheads="1"/>
          </p:cNvSpPr>
          <p:nvPr/>
        </p:nvSpPr>
        <p:spPr bwMode="auto">
          <a:xfrm>
            <a:off x="1828800" y="3142565"/>
            <a:ext cx="2667000" cy="13715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Other info</a:t>
            </a: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830" y="-1"/>
            <a:ext cx="2237370" cy="14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0"/>
            <a:ext cx="2209800" cy="1429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82A4BC-FDE1-D46D-E6AF-20B87F35B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D6F082-8F1C-BC49-0BAE-0EA6D2CBF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55621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Function Call Convention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Different ways to setup stack frame:</a:t>
            </a:r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pPr marL="0" indent="0">
              <a:buNone/>
            </a:pPr>
            <a:endParaRPr lang="en-US" altLang="en-US" sz="1400" dirty="0"/>
          </a:p>
          <a:p>
            <a:r>
              <a:rPr lang="en-US" altLang="en-US" b="1" dirty="0">
                <a:solidFill>
                  <a:srgbClr val="660066"/>
                </a:solidFill>
              </a:rPr>
              <a:t>No universal way</a:t>
            </a:r>
          </a:p>
          <a:p>
            <a:pPr lvl="1"/>
            <a:r>
              <a:rPr lang="en-US" altLang="en-US" dirty="0"/>
              <a:t>Hardware and programming language dependent</a:t>
            </a:r>
          </a:p>
          <a:p>
            <a:endParaRPr lang="en-US" altLang="en-US" sz="1400" dirty="0"/>
          </a:p>
          <a:p>
            <a:r>
              <a:rPr lang="en-US" altLang="en-US" dirty="0"/>
              <a:t>An </a:t>
            </a:r>
            <a:r>
              <a:rPr lang="en-US" altLang="en-US" b="1" dirty="0">
                <a:solidFill>
                  <a:srgbClr val="C00000"/>
                </a:solidFill>
              </a:rPr>
              <a:t>example scheme </a:t>
            </a:r>
            <a:r>
              <a:rPr lang="en-US" altLang="en-US" dirty="0"/>
              <a:t>is described next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668261"/>
            <a:ext cx="4361262" cy="4522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DAAB7F-ACBD-47B2-0136-25549CE62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0FE524-543B-8E30-2D30-7A50463FD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415213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6471557" y="455567"/>
            <a:ext cx="2139043" cy="1676400"/>
            <a:chOff x="5410200" y="4572000"/>
            <a:chExt cx="2438401" cy="1828800"/>
          </a:xfrm>
          <a:solidFill>
            <a:schemeClr val="bg1">
              <a:lumMod val="95000"/>
            </a:schemeClr>
          </a:solidFill>
        </p:grpSpPr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5410201" y="4572000"/>
              <a:ext cx="2438400" cy="18288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b="1">
                <a:latin typeface="Courier New" pitchFamily="49" charset="0"/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/>
          </p:nvSpPr>
          <p:spPr bwMode="auto">
            <a:xfrm>
              <a:off x="5410200" y="4572000"/>
              <a:ext cx="2438400" cy="4572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Local Variable</a:t>
              </a:r>
            </a:p>
          </p:txBody>
        </p:sp>
        <p:sp>
          <p:nvSpPr>
            <p:cNvPr id="20" name="Rectangle 7"/>
            <p:cNvSpPr>
              <a:spLocks noChangeArrowheads="1"/>
            </p:cNvSpPr>
            <p:nvPr/>
          </p:nvSpPr>
          <p:spPr bwMode="auto">
            <a:xfrm>
              <a:off x="5410200" y="5943600"/>
              <a:ext cx="2438400" cy="4572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Return PC</a:t>
              </a:r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5410200" y="5486400"/>
              <a:ext cx="2438400" cy="4572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itchFamily="49" charset="0"/>
                </a:rPr>
                <a:t>Saved SP</a:t>
              </a:r>
            </a:p>
          </p:txBody>
        </p:sp>
        <p:sp>
          <p:nvSpPr>
            <p:cNvPr id="22" name="Rectangle 11"/>
            <p:cNvSpPr>
              <a:spLocks noChangeArrowheads="1"/>
            </p:cNvSpPr>
            <p:nvPr/>
          </p:nvSpPr>
          <p:spPr bwMode="auto">
            <a:xfrm>
              <a:off x="5410200" y="5029200"/>
              <a:ext cx="2438400" cy="4572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Parameters</a:t>
              </a:r>
            </a:p>
          </p:txBody>
        </p:sp>
      </p:grp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Stack Frame </a:t>
            </a:r>
            <a:r>
              <a:rPr lang="en-US" altLang="en-US" sz="3800" b="1" dirty="0">
                <a:solidFill>
                  <a:srgbClr val="C00000"/>
                </a:solidFill>
              </a:rPr>
              <a:t>Setup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>
          <a:xfrm>
            <a:off x="406551" y="1970859"/>
            <a:ext cx="8229600" cy="42775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600" dirty="0"/>
              <a:t>Prepare to make a function call: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Pass parameters with registers and/or stack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Save Return PC on stack 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/>
              <a:t>Transfer Control from Caller to </a:t>
            </a:r>
            <a:r>
              <a:rPr lang="en-US" altLang="en-US" sz="2200" b="1" dirty="0" err="1"/>
              <a:t>Callee</a:t>
            </a:r>
            <a:endParaRPr lang="en-US" altLang="en-US" sz="2200" b="1" dirty="0"/>
          </a:p>
          <a:p>
            <a:pPr lvl="1">
              <a:lnSpc>
                <a:spcPct val="15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Save the old Stack Pointer (SP)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Allocate space for local variables of </a:t>
            </a:r>
            <a:r>
              <a:rPr lang="en-US" altLang="en-US" sz="2200" dirty="0" err="1"/>
              <a:t>callee</a:t>
            </a:r>
            <a:r>
              <a:rPr lang="en-US" altLang="en-US" sz="2200" dirty="0"/>
              <a:t> on stack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Adjust SP to point to new stack top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200" dirty="0"/>
          </a:p>
        </p:txBody>
      </p:sp>
      <p:sp>
        <p:nvSpPr>
          <p:cNvPr id="6" name="Rectangle 5"/>
          <p:cNvSpPr/>
          <p:nvPr/>
        </p:nvSpPr>
        <p:spPr>
          <a:xfrm>
            <a:off x="599289" y="2656659"/>
            <a:ext cx="7928005" cy="105482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607997" y="4409259"/>
            <a:ext cx="7928005" cy="1676400"/>
          </a:xfrm>
          <a:prstGeom prst="rect">
            <a:avLst/>
          </a:prstGeom>
          <a:solidFill>
            <a:srgbClr val="99FF99">
              <a:alpha val="20000"/>
            </a:srgb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25"/>
          <p:cNvSpPr>
            <a:spLocks noChangeArrowheads="1"/>
          </p:cNvSpPr>
          <p:nvPr/>
        </p:nvSpPr>
        <p:spPr bwMode="auto">
          <a:xfrm>
            <a:off x="6471557" y="455567"/>
            <a:ext cx="2139042" cy="4191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>
                <a:latin typeface="Courier New" pitchFamily="49" charset="0"/>
              </a:rPr>
              <a:t>Local Variable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6471557" y="1712867"/>
            <a:ext cx="2139042" cy="419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b="1" dirty="0">
                <a:latin typeface="Courier New" pitchFamily="49" charset="0"/>
              </a:rPr>
              <a:t>Return PC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6471557" y="1293767"/>
            <a:ext cx="2139042" cy="4191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>
                <a:latin typeface="Courier New" pitchFamily="49" charset="0"/>
              </a:rPr>
              <a:t>Saved SP</a:t>
            </a: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6471557" y="874667"/>
            <a:ext cx="2139042" cy="419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b="1" dirty="0">
                <a:latin typeface="Courier New" pitchFamily="49" charset="0"/>
              </a:rPr>
              <a:t>Parameters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51619E-E9A8-1835-CF07-B4A8095D1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BD71C7-8A25-670B-9730-14A27AF4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65005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37" name="Rectangle 25"/>
          <p:cNvSpPr>
            <a:spLocks noChangeArrowheads="1"/>
          </p:cNvSpPr>
          <p:nvPr/>
        </p:nvSpPr>
        <p:spPr bwMode="auto">
          <a:xfrm>
            <a:off x="4876800" y="25003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123</a:t>
            </a:r>
          </a:p>
        </p:txBody>
      </p:sp>
      <p:sp>
        <p:nvSpPr>
          <p:cNvPr id="192523" name="Rectangle 11"/>
          <p:cNvSpPr>
            <a:spLocks noChangeArrowheads="1"/>
          </p:cNvSpPr>
          <p:nvPr/>
        </p:nvSpPr>
        <p:spPr bwMode="auto">
          <a:xfrm>
            <a:off x="4876800" y="29575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456</a:t>
            </a:r>
          </a:p>
        </p:txBody>
      </p:sp>
      <p:sp>
        <p:nvSpPr>
          <p:cNvPr id="192524" name="Rectangle 12"/>
          <p:cNvSpPr>
            <a:spLocks noChangeArrowheads="1"/>
          </p:cNvSpPr>
          <p:nvPr/>
        </p:nvSpPr>
        <p:spPr bwMode="auto">
          <a:xfrm>
            <a:off x="4876800" y="20431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local </a:t>
            </a:r>
            <a:r>
              <a:rPr lang="en-US" altLang="en-US" sz="2000" b="1" dirty="0" err="1">
                <a:latin typeface="Courier New" pitchFamily="49" charset="0"/>
              </a:rPr>
              <a:t>var</a:t>
            </a:r>
            <a:r>
              <a:rPr lang="en-US" altLang="en-US" sz="2000" b="1" dirty="0">
                <a:latin typeface="Courier New" pitchFamily="49" charset="0"/>
              </a:rPr>
              <a:t> "a" </a:t>
            </a: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609600" y="1011207"/>
            <a:ext cx="3581400" cy="532453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008000"/>
                </a:solidFill>
                <a:latin typeface="Courier New" pitchFamily="49" charset="0"/>
              </a:rPr>
              <a:t>void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f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a,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b)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c;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a = 123;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b = 456;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c =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(a, b);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....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,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j)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a;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a =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+ j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>
                <a:solidFill>
                  <a:srgbClr val="660066"/>
                </a:solidFill>
                <a:latin typeface="Courier New" pitchFamily="49" charset="0"/>
              </a:rPr>
              <a:t>return </a:t>
            </a:r>
            <a:r>
              <a:rPr lang="en-US" altLang="en-US" sz="2000" b="1" dirty="0">
                <a:latin typeface="Courier New" pitchFamily="49" charset="0"/>
              </a:rPr>
              <a:t>a * 2;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Illustration: Calling function </a:t>
            </a:r>
            <a:r>
              <a:rPr lang="en-US" altLang="en-US" sz="3800" b="1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3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4880066" y="4329113"/>
            <a:ext cx="23622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Stack Frame</a:t>
            </a:r>
            <a:br>
              <a:rPr lang="en-US" altLang="en-US" sz="2400" b="1">
                <a:latin typeface="Courier New" pitchFamily="49" charset="0"/>
              </a:rPr>
            </a:br>
            <a:r>
              <a:rPr lang="en-US" altLang="en-US" sz="2400" b="1">
                <a:latin typeface="Courier New" pitchFamily="49" charset="0"/>
              </a:rPr>
              <a:t>for f()</a:t>
            </a:r>
          </a:p>
        </p:txBody>
      </p:sp>
      <p:sp>
        <p:nvSpPr>
          <p:cNvPr id="192519" name="Rectangle 7"/>
          <p:cNvSpPr>
            <a:spLocks noChangeArrowheads="1"/>
          </p:cNvSpPr>
          <p:nvPr/>
        </p:nvSpPr>
        <p:spPr bwMode="auto">
          <a:xfrm>
            <a:off x="4880066" y="38719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Return PC</a:t>
            </a:r>
          </a:p>
        </p:txBody>
      </p:sp>
      <p:sp>
        <p:nvSpPr>
          <p:cNvPr id="192521" name="Rectangle 9"/>
          <p:cNvSpPr>
            <a:spLocks noChangeArrowheads="1"/>
          </p:cNvSpPr>
          <p:nvPr/>
        </p:nvSpPr>
        <p:spPr bwMode="auto">
          <a:xfrm>
            <a:off x="4880066" y="34147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Saved SP</a:t>
            </a:r>
          </a:p>
        </p:txBody>
      </p:sp>
      <p:sp>
        <p:nvSpPr>
          <p:cNvPr id="192525" name="Rectangle 13"/>
          <p:cNvSpPr>
            <a:spLocks noChangeArrowheads="1"/>
          </p:cNvSpPr>
          <p:nvPr/>
        </p:nvSpPr>
        <p:spPr bwMode="auto">
          <a:xfrm>
            <a:off x="4880066" y="2043113"/>
            <a:ext cx="2362200" cy="2286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grpSp>
        <p:nvGrpSpPr>
          <p:cNvPr id="192532" name="Group 20"/>
          <p:cNvGrpSpPr>
            <a:grpSpLocks/>
          </p:cNvGrpSpPr>
          <p:nvPr/>
        </p:nvGrpSpPr>
        <p:grpSpPr bwMode="auto">
          <a:xfrm>
            <a:off x="7332616" y="3901442"/>
            <a:ext cx="1617617" cy="609601"/>
            <a:chOff x="4560" y="720"/>
            <a:chExt cx="480" cy="384"/>
          </a:xfrm>
        </p:grpSpPr>
        <p:sp>
          <p:nvSpPr>
            <p:cNvPr id="192528" name="AutoShape 16"/>
            <p:cNvSpPr>
              <a:spLocks noChangeArrowheads="1"/>
            </p:cNvSpPr>
            <p:nvPr/>
          </p:nvSpPr>
          <p:spPr bwMode="auto">
            <a:xfrm>
              <a:off x="4560" y="864"/>
              <a:ext cx="458" cy="24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92529" name="Text Box 17"/>
            <p:cNvSpPr txBox="1">
              <a:spLocks noChangeArrowheads="1"/>
            </p:cNvSpPr>
            <p:nvPr/>
          </p:nvSpPr>
          <p:spPr bwMode="auto">
            <a:xfrm>
              <a:off x="4623" y="720"/>
              <a:ext cx="4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Old SP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sp>
        <p:nvSpPr>
          <p:cNvPr id="192536" name="Freeform 24"/>
          <p:cNvSpPr>
            <a:spLocks/>
          </p:cNvSpPr>
          <p:nvPr/>
        </p:nvSpPr>
        <p:spPr bwMode="auto">
          <a:xfrm>
            <a:off x="3352800" y="3013075"/>
            <a:ext cx="1752600" cy="1133475"/>
          </a:xfrm>
          <a:custGeom>
            <a:avLst/>
            <a:gdLst>
              <a:gd name="T0" fmla="*/ 1941 w 1941"/>
              <a:gd name="T1" fmla="*/ 821 h 821"/>
              <a:gd name="T2" fmla="*/ 1121 w 1941"/>
              <a:gd name="T3" fmla="*/ 821 h 821"/>
              <a:gd name="T4" fmla="*/ 1121 w 1941"/>
              <a:gd name="T5" fmla="*/ 8 h 821"/>
              <a:gd name="T6" fmla="*/ 0 w 1941"/>
              <a:gd name="T7" fmla="*/ 0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41" h="821">
                <a:moveTo>
                  <a:pt x="1941" y="821"/>
                </a:moveTo>
                <a:lnTo>
                  <a:pt x="1121" y="821"/>
                </a:lnTo>
                <a:lnTo>
                  <a:pt x="1121" y="8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FF0000"/>
            </a:solidFill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1" name="Rectangle 30"/>
          <p:cNvSpPr/>
          <p:nvPr/>
        </p:nvSpPr>
        <p:spPr>
          <a:xfrm>
            <a:off x="1828800" y="2819400"/>
            <a:ext cx="1371600" cy="435338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6" name="Group 20"/>
          <p:cNvGrpSpPr>
            <a:grpSpLocks/>
          </p:cNvGrpSpPr>
          <p:nvPr/>
        </p:nvGrpSpPr>
        <p:grpSpPr bwMode="auto">
          <a:xfrm>
            <a:off x="7295545" y="1617621"/>
            <a:ext cx="1617617" cy="609601"/>
            <a:chOff x="4560" y="720"/>
            <a:chExt cx="480" cy="384"/>
          </a:xfrm>
        </p:grpSpPr>
        <p:sp>
          <p:nvSpPr>
            <p:cNvPr id="47" name="AutoShape 16"/>
            <p:cNvSpPr>
              <a:spLocks noChangeArrowheads="1"/>
            </p:cNvSpPr>
            <p:nvPr/>
          </p:nvSpPr>
          <p:spPr bwMode="auto">
            <a:xfrm>
              <a:off x="4560" y="864"/>
              <a:ext cx="458" cy="24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8" name="Text Box 17"/>
            <p:cNvSpPr txBox="1">
              <a:spLocks noChangeArrowheads="1"/>
            </p:cNvSpPr>
            <p:nvPr/>
          </p:nvSpPr>
          <p:spPr bwMode="auto">
            <a:xfrm>
              <a:off x="4623" y="720"/>
              <a:ext cx="4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New SP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sp>
        <p:nvSpPr>
          <p:cNvPr id="23" name="AutoShape 24"/>
          <p:cNvSpPr>
            <a:spLocks noChangeArrowheads="1"/>
          </p:cNvSpPr>
          <p:nvPr/>
        </p:nvSpPr>
        <p:spPr bwMode="auto">
          <a:xfrm flipH="1">
            <a:off x="381000" y="4685560"/>
            <a:ext cx="621030" cy="381000"/>
          </a:xfrm>
          <a:prstGeom prst="leftArrow">
            <a:avLst>
              <a:gd name="adj1" fmla="val 50000"/>
              <a:gd name="adj2" fmla="val 55000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F211B-E114-4A31-4D73-DD099D2D51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5A37D-BC29-D609-A011-3DAE5B9F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70234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37" grpId="0" animBg="1"/>
      <p:bldP spid="192523" grpId="0" animBg="1"/>
      <p:bldP spid="192524" grpId="0" animBg="1"/>
      <p:bldP spid="192519" grpId="0" animBg="1"/>
      <p:bldP spid="192521" grpId="0" animBg="1"/>
      <p:bldP spid="192525" grpId="0" animBg="1"/>
      <p:bldP spid="192536" grpId="0" animBg="1"/>
      <p:bldP spid="192536" grpId="1" animBg="1"/>
      <p:bldP spid="31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Stack Frame </a:t>
            </a:r>
            <a:r>
              <a:rPr lang="en-US" altLang="en-US" sz="3800" b="1" dirty="0">
                <a:solidFill>
                  <a:srgbClr val="C00000"/>
                </a:solidFill>
              </a:rPr>
              <a:t>Teardown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774871"/>
            <a:ext cx="8229600" cy="3200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 dirty="0"/>
              <a:t>On returning from function call: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b="1" dirty="0"/>
              <a:t>: </a:t>
            </a:r>
            <a:r>
              <a:rPr lang="en-US" altLang="en-US" sz="2200" dirty="0"/>
              <a:t>Place return result on stack (if applicable)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Restore saved Stack Pointer 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/>
              <a:t>Transfer control back to caller using saved PC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Utilize return result (if applicable)</a:t>
            </a:r>
          </a:p>
          <a:p>
            <a:pPr lvl="1">
              <a:lnSpc>
                <a:spcPct val="150000"/>
              </a:lnSpc>
            </a:pPr>
            <a:r>
              <a:rPr lang="en-US" altLang="en-US" sz="2200" b="1" dirty="0"/>
              <a:t>Caller:</a:t>
            </a:r>
            <a:r>
              <a:rPr lang="en-US" altLang="en-US" sz="2200" dirty="0"/>
              <a:t> Continues execution in caller</a:t>
            </a:r>
          </a:p>
          <a:p>
            <a:pPr>
              <a:lnSpc>
                <a:spcPct val="90000"/>
              </a:lnSpc>
            </a:pPr>
            <a:endParaRPr lang="en-US" altLang="en-US" sz="2600" dirty="0"/>
          </a:p>
        </p:txBody>
      </p:sp>
      <p:sp>
        <p:nvSpPr>
          <p:cNvPr id="9" name="Rectangle 8"/>
          <p:cNvSpPr/>
          <p:nvPr/>
        </p:nvSpPr>
        <p:spPr>
          <a:xfrm>
            <a:off x="663214" y="4832271"/>
            <a:ext cx="6967672" cy="114300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661037" y="3234502"/>
            <a:ext cx="6967672" cy="880329"/>
          </a:xfrm>
          <a:prstGeom prst="rect">
            <a:avLst/>
          </a:prstGeom>
          <a:solidFill>
            <a:srgbClr val="99FF99">
              <a:alpha val="20000"/>
            </a:srgb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" name="Group 3"/>
          <p:cNvGrpSpPr/>
          <p:nvPr/>
        </p:nvGrpSpPr>
        <p:grpSpPr>
          <a:xfrm>
            <a:off x="6705600" y="1053797"/>
            <a:ext cx="2139043" cy="1676400"/>
            <a:chOff x="6471557" y="4686300"/>
            <a:chExt cx="2139043" cy="1676400"/>
          </a:xfrm>
        </p:grpSpPr>
        <p:sp>
          <p:nvSpPr>
            <p:cNvPr id="13" name="Rectangle 25"/>
            <p:cNvSpPr>
              <a:spLocks noChangeArrowheads="1"/>
            </p:cNvSpPr>
            <p:nvPr/>
          </p:nvSpPr>
          <p:spPr bwMode="auto">
            <a:xfrm>
              <a:off x="6471557" y="4686300"/>
              <a:ext cx="2139042" cy="4191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Local Variable</a:t>
              </a: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6471557" y="5943600"/>
              <a:ext cx="2139042" cy="4191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Return PC</a:t>
              </a: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6471557" y="5524500"/>
              <a:ext cx="2139042" cy="4191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itchFamily="49" charset="0"/>
                </a:rPr>
                <a:t>Saved SP</a:t>
              </a: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6471557" y="5105400"/>
              <a:ext cx="2139042" cy="4191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Parameters</a:t>
              </a: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6471558" y="4686300"/>
              <a:ext cx="2139042" cy="16764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b="1">
                <a:latin typeface="Courier New" pitchFamily="49" charset="0"/>
              </a:endParaRPr>
            </a:p>
          </p:txBody>
        </p:sp>
      </p:grpSp>
      <p:sp>
        <p:nvSpPr>
          <p:cNvPr id="19" name="Rectangle 25"/>
          <p:cNvSpPr>
            <a:spLocks noChangeArrowheads="1"/>
          </p:cNvSpPr>
          <p:nvPr/>
        </p:nvSpPr>
        <p:spPr bwMode="auto">
          <a:xfrm>
            <a:off x="6705601" y="641114"/>
            <a:ext cx="2139042" cy="4191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dirty="0">
                <a:latin typeface="Courier New" pitchFamily="49" charset="0"/>
              </a:rPr>
              <a:t>Return Result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E5CC2B-BC93-6E0B-ADCC-43B7ECA91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CC3154-46E7-17E4-7A58-8573A731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41393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4880066" y="1554841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1158</a:t>
            </a: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609600" y="1011207"/>
            <a:ext cx="3581400" cy="532453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008000"/>
                </a:solidFill>
                <a:latin typeface="Courier New" pitchFamily="49" charset="0"/>
              </a:rPr>
              <a:t>void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f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a,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b)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c;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a = 123;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b = 456;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c =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(a, b);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....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,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j)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a;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a =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+ j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>
                <a:solidFill>
                  <a:srgbClr val="660066"/>
                </a:solidFill>
                <a:latin typeface="Courier New" pitchFamily="49" charset="0"/>
              </a:rPr>
              <a:t>return </a:t>
            </a:r>
            <a:r>
              <a:rPr lang="en-US" altLang="en-US" sz="2000" b="1" dirty="0">
                <a:latin typeface="Courier New" pitchFamily="49" charset="0"/>
              </a:rPr>
              <a:t>a * 2;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sp>
        <p:nvSpPr>
          <p:cNvPr id="192537" name="Rectangle 25"/>
          <p:cNvSpPr>
            <a:spLocks noChangeArrowheads="1"/>
          </p:cNvSpPr>
          <p:nvPr/>
        </p:nvSpPr>
        <p:spPr bwMode="auto">
          <a:xfrm>
            <a:off x="4876800" y="25003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123</a:t>
            </a:r>
          </a:p>
        </p:txBody>
      </p:sp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Illustration: Function </a:t>
            </a:r>
            <a:r>
              <a:rPr lang="en-US" altLang="en-US" sz="3800" b="1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altLang="en-US" sz="3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3800" dirty="0"/>
              <a:t>finishes</a:t>
            </a:r>
            <a:r>
              <a:rPr lang="en-US" altLang="en-US" sz="3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4880066" y="4329113"/>
            <a:ext cx="2362200" cy="9906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Stack Frame</a:t>
            </a:r>
            <a:br>
              <a:rPr lang="en-US" altLang="en-US" sz="2400" b="1">
                <a:latin typeface="Courier New" pitchFamily="49" charset="0"/>
              </a:rPr>
            </a:br>
            <a:r>
              <a:rPr lang="en-US" altLang="en-US" sz="2400" b="1">
                <a:latin typeface="Courier New" pitchFamily="49" charset="0"/>
              </a:rPr>
              <a:t>for f()</a:t>
            </a:r>
          </a:p>
        </p:txBody>
      </p:sp>
      <p:sp>
        <p:nvSpPr>
          <p:cNvPr id="192519" name="Rectangle 7"/>
          <p:cNvSpPr>
            <a:spLocks noChangeArrowheads="1"/>
          </p:cNvSpPr>
          <p:nvPr/>
        </p:nvSpPr>
        <p:spPr bwMode="auto">
          <a:xfrm>
            <a:off x="4880066" y="38719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Return PC</a:t>
            </a:r>
          </a:p>
        </p:txBody>
      </p:sp>
      <p:sp>
        <p:nvSpPr>
          <p:cNvPr id="192521" name="Rectangle 9"/>
          <p:cNvSpPr>
            <a:spLocks noChangeArrowheads="1"/>
          </p:cNvSpPr>
          <p:nvPr/>
        </p:nvSpPr>
        <p:spPr bwMode="auto">
          <a:xfrm>
            <a:off x="4880066" y="34147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>
                <a:latin typeface="Courier New" pitchFamily="49" charset="0"/>
              </a:rPr>
              <a:t>Saved SP</a:t>
            </a:r>
          </a:p>
        </p:txBody>
      </p:sp>
      <p:sp>
        <p:nvSpPr>
          <p:cNvPr id="192523" name="Rectangle 11"/>
          <p:cNvSpPr>
            <a:spLocks noChangeArrowheads="1"/>
          </p:cNvSpPr>
          <p:nvPr/>
        </p:nvSpPr>
        <p:spPr bwMode="auto">
          <a:xfrm>
            <a:off x="4876800" y="29575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456</a:t>
            </a:r>
          </a:p>
        </p:txBody>
      </p:sp>
      <p:sp>
        <p:nvSpPr>
          <p:cNvPr id="192524" name="Rectangle 12"/>
          <p:cNvSpPr>
            <a:spLocks noChangeArrowheads="1"/>
          </p:cNvSpPr>
          <p:nvPr/>
        </p:nvSpPr>
        <p:spPr bwMode="auto">
          <a:xfrm>
            <a:off x="4876800" y="2043113"/>
            <a:ext cx="2362200" cy="457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579</a:t>
            </a:r>
          </a:p>
        </p:txBody>
      </p:sp>
      <p:sp>
        <p:nvSpPr>
          <p:cNvPr id="192525" name="Rectangle 13"/>
          <p:cNvSpPr>
            <a:spLocks noChangeArrowheads="1"/>
          </p:cNvSpPr>
          <p:nvPr/>
        </p:nvSpPr>
        <p:spPr bwMode="auto">
          <a:xfrm>
            <a:off x="4880066" y="2043113"/>
            <a:ext cx="2362200" cy="2286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grpSp>
        <p:nvGrpSpPr>
          <p:cNvPr id="192532" name="Group 20"/>
          <p:cNvGrpSpPr>
            <a:grpSpLocks/>
          </p:cNvGrpSpPr>
          <p:nvPr/>
        </p:nvGrpSpPr>
        <p:grpSpPr bwMode="auto">
          <a:xfrm>
            <a:off x="7332616" y="3901442"/>
            <a:ext cx="1617617" cy="609601"/>
            <a:chOff x="4560" y="720"/>
            <a:chExt cx="480" cy="384"/>
          </a:xfrm>
        </p:grpSpPr>
        <p:sp>
          <p:nvSpPr>
            <p:cNvPr id="192528" name="AutoShape 16"/>
            <p:cNvSpPr>
              <a:spLocks noChangeArrowheads="1"/>
            </p:cNvSpPr>
            <p:nvPr/>
          </p:nvSpPr>
          <p:spPr bwMode="auto">
            <a:xfrm>
              <a:off x="4560" y="864"/>
              <a:ext cx="458" cy="24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92529" name="Text Box 17"/>
            <p:cNvSpPr txBox="1">
              <a:spLocks noChangeArrowheads="1"/>
            </p:cNvSpPr>
            <p:nvPr/>
          </p:nvSpPr>
          <p:spPr bwMode="auto">
            <a:xfrm>
              <a:off x="4600" y="720"/>
              <a:ext cx="4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Restored SP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1295400" y="5638800"/>
            <a:ext cx="2057400" cy="381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" name="Group 3"/>
          <p:cNvGrpSpPr/>
          <p:nvPr/>
        </p:nvGrpSpPr>
        <p:grpSpPr>
          <a:xfrm>
            <a:off x="2350770" y="3032125"/>
            <a:ext cx="2514600" cy="641350"/>
            <a:chOff x="2350770" y="3032125"/>
            <a:chExt cx="2514600" cy="641350"/>
          </a:xfrm>
        </p:grpSpPr>
        <p:sp>
          <p:nvSpPr>
            <p:cNvPr id="23" name="AutoShape 24"/>
            <p:cNvSpPr>
              <a:spLocks noChangeArrowheads="1"/>
            </p:cNvSpPr>
            <p:nvPr/>
          </p:nvSpPr>
          <p:spPr bwMode="auto">
            <a:xfrm>
              <a:off x="2350770" y="3184525"/>
              <a:ext cx="838200" cy="381000"/>
            </a:xfrm>
            <a:prstGeom prst="leftArrow">
              <a:avLst>
                <a:gd name="adj1" fmla="val 50000"/>
                <a:gd name="adj2" fmla="val 55000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4" name="Text Box 25"/>
            <p:cNvSpPr txBox="1">
              <a:spLocks noChangeArrowheads="1"/>
            </p:cNvSpPr>
            <p:nvPr/>
          </p:nvSpPr>
          <p:spPr bwMode="auto">
            <a:xfrm>
              <a:off x="3265170" y="3032125"/>
              <a:ext cx="16002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Execution resumes here</a:t>
              </a:r>
              <a:endParaRPr lang="en-US" altLang="en-US" b="1">
                <a:latin typeface="Courier New" pitchFamily="49" charset="0"/>
              </a:endParaRPr>
            </a:p>
          </p:txBody>
        </p:sp>
      </p:grpSp>
      <p:grpSp>
        <p:nvGrpSpPr>
          <p:cNvPr id="29" name="Group 20"/>
          <p:cNvGrpSpPr>
            <a:grpSpLocks/>
          </p:cNvGrpSpPr>
          <p:nvPr/>
        </p:nvGrpSpPr>
        <p:grpSpPr bwMode="auto">
          <a:xfrm>
            <a:off x="7295545" y="1617621"/>
            <a:ext cx="1617617" cy="609601"/>
            <a:chOff x="4560" y="720"/>
            <a:chExt cx="480" cy="384"/>
          </a:xfrm>
        </p:grpSpPr>
        <p:sp>
          <p:nvSpPr>
            <p:cNvPr id="30" name="AutoShape 16"/>
            <p:cNvSpPr>
              <a:spLocks noChangeArrowheads="1"/>
            </p:cNvSpPr>
            <p:nvPr/>
          </p:nvSpPr>
          <p:spPr bwMode="auto">
            <a:xfrm>
              <a:off x="4560" y="864"/>
              <a:ext cx="458" cy="24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2" name="Text Box 17"/>
            <p:cNvSpPr txBox="1">
              <a:spLocks noChangeArrowheads="1"/>
            </p:cNvSpPr>
            <p:nvPr/>
          </p:nvSpPr>
          <p:spPr bwMode="auto">
            <a:xfrm>
              <a:off x="4623" y="720"/>
              <a:ext cx="4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SP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sp>
        <p:nvSpPr>
          <p:cNvPr id="5" name="Isosceles Triangle 4"/>
          <p:cNvSpPr/>
          <p:nvPr/>
        </p:nvSpPr>
        <p:spPr>
          <a:xfrm>
            <a:off x="8458200" y="6629400"/>
            <a:ext cx="2286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8CC15B-3E46-4DBE-3CC7-34C5530EF5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92A96-898E-8353-B6D1-C7B7018C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932517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Information in Stack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described the basic idea of:</a:t>
            </a:r>
          </a:p>
          <a:p>
            <a:pPr lvl="1"/>
            <a:r>
              <a:rPr lang="en-US" b="1" dirty="0">
                <a:solidFill>
                  <a:srgbClr val="006600"/>
                </a:solidFill>
              </a:rPr>
              <a:t>Stack frame</a:t>
            </a:r>
          </a:p>
          <a:p>
            <a:pPr lvl="1"/>
            <a:r>
              <a:rPr lang="en-US" b="1" dirty="0">
                <a:solidFill>
                  <a:schemeClr val="accent2"/>
                </a:solidFill>
              </a:rPr>
              <a:t>Calling Convention</a:t>
            </a:r>
            <a:r>
              <a:rPr lang="en-US" dirty="0"/>
              <a:t>: Setup and Teardown</a:t>
            </a:r>
          </a:p>
          <a:p>
            <a:pPr lvl="1"/>
            <a:endParaRPr lang="en-US" dirty="0"/>
          </a:p>
          <a:p>
            <a:r>
              <a:rPr lang="en-US" b="1" dirty="0"/>
              <a:t>Common additional information</a:t>
            </a:r>
            <a:r>
              <a:rPr lang="en-US" dirty="0"/>
              <a:t> in the stack frame:</a:t>
            </a:r>
          </a:p>
          <a:p>
            <a:pPr lvl="1"/>
            <a:r>
              <a:rPr lang="en-US" b="1" dirty="0">
                <a:solidFill>
                  <a:srgbClr val="660066"/>
                </a:solidFill>
              </a:rPr>
              <a:t>Frame Pointer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Saved Registers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8373A-5DFF-954C-DB03-DABC5F4A7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15063-5187-F2E4-F758-BEBA815C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96501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Frame Pointer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To facilitate the access of various stack frame items:</a:t>
            </a:r>
          </a:p>
          <a:p>
            <a:pPr lvl="1"/>
            <a:r>
              <a:rPr lang="en-US" altLang="en-US" dirty="0"/>
              <a:t>Stack Pointer is hard to use as it can change 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en-US" dirty="0"/>
              <a:t>Some processors provide a dedicated register </a:t>
            </a:r>
            <a:r>
              <a:rPr lang="en-US" altLang="en-US" b="1" i="1" dirty="0"/>
              <a:t>Frame Pointer</a:t>
            </a:r>
          </a:p>
          <a:p>
            <a:pPr lvl="1">
              <a:buFont typeface="Wingdings" panose="05000000000000000000" pitchFamily="2" charset="2"/>
              <a:buChar char="è"/>
            </a:pPr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Frame pointer</a:t>
            </a:r>
            <a:r>
              <a:rPr lang="en-US" altLang="en-US" dirty="0"/>
              <a:t> points to a </a:t>
            </a:r>
            <a:r>
              <a:rPr lang="en-US" altLang="en-US" b="1" dirty="0"/>
              <a:t>fixed location </a:t>
            </a:r>
            <a:r>
              <a:rPr lang="en-US" altLang="en-US" dirty="0"/>
              <a:t>in a stack frame</a:t>
            </a:r>
          </a:p>
          <a:p>
            <a:pPr lvl="1"/>
            <a:r>
              <a:rPr lang="en-US" altLang="en-US" dirty="0"/>
              <a:t>Other items are accessed as a displacement from the frame pointer </a:t>
            </a:r>
          </a:p>
          <a:p>
            <a:pPr lvl="1"/>
            <a:endParaRPr lang="en-US" altLang="en-US" dirty="0"/>
          </a:p>
          <a:p>
            <a:r>
              <a:rPr lang="en-US" altLang="en-US" b="1" dirty="0"/>
              <a:t>The usage of FP is platform dependent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09FB92-99C9-F1A8-5F62-EFC1621D64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33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C7FE9F-0C16-536F-12E3-8AED1F5D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416794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Saved Registers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GPRs</a:t>
            </a:r>
            <a:r>
              <a:rPr lang="en-US" dirty="0"/>
              <a:t> on most processors are very limited:</a:t>
            </a:r>
          </a:p>
          <a:p>
            <a:pPr lvl="1"/>
            <a:r>
              <a:rPr lang="en-US" dirty="0"/>
              <a:t>E.g. MIPS has 32 GPRs, x86 has 16 GPRs</a:t>
            </a:r>
          </a:p>
          <a:p>
            <a:pPr lvl="1"/>
            <a:endParaRPr lang="en-US" dirty="0"/>
          </a:p>
          <a:p>
            <a:r>
              <a:rPr lang="en-US" dirty="0"/>
              <a:t>When GPRs are exhausted:</a:t>
            </a:r>
          </a:p>
          <a:p>
            <a:pPr lvl="1"/>
            <a:r>
              <a:rPr lang="en-US" dirty="0"/>
              <a:t>Use memory to temporary hold the GPR value</a:t>
            </a:r>
          </a:p>
          <a:p>
            <a:pPr lvl="1"/>
            <a:r>
              <a:rPr lang="en-US" dirty="0"/>
              <a:t>That GPR can then be reused for other purpose</a:t>
            </a:r>
          </a:p>
          <a:p>
            <a:pPr lvl="1"/>
            <a:r>
              <a:rPr lang="en-US" dirty="0"/>
              <a:t>The GPR value can be restored afterwards</a:t>
            </a:r>
          </a:p>
          <a:p>
            <a:pPr lvl="1"/>
            <a:r>
              <a:rPr lang="en-US" dirty="0"/>
              <a:t>known as </a:t>
            </a:r>
            <a:r>
              <a:rPr lang="en-US" b="1" dirty="0">
                <a:solidFill>
                  <a:srgbClr val="660066"/>
                </a:solidFill>
              </a:rPr>
              <a:t>register spilling</a:t>
            </a:r>
          </a:p>
          <a:p>
            <a:pPr lvl="1"/>
            <a:endParaRPr lang="en-US" b="1" dirty="0"/>
          </a:p>
          <a:p>
            <a:r>
              <a:rPr lang="en-US" dirty="0"/>
              <a:t>Function can spill the registers it intend to use before the function starts</a:t>
            </a:r>
          </a:p>
          <a:p>
            <a:pPr lvl="1"/>
            <a:r>
              <a:rPr lang="en-US" dirty="0"/>
              <a:t>Restore those registers at the end of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EBDB5-923E-031E-7A64-844AEEC3D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85DD1-52B8-DE0B-757B-D363F2449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73085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Illustration: </a:t>
            </a:r>
            <a:r>
              <a:rPr lang="en-US" altLang="en-US" sz="3800" b="1" dirty="0"/>
              <a:t>Stack Frame v2.0</a:t>
            </a:r>
          </a:p>
        </p:txBody>
      </p:sp>
      <p:sp>
        <p:nvSpPr>
          <p:cNvPr id="190468" name="Line 4"/>
          <p:cNvSpPr>
            <a:spLocks noChangeShapeType="1"/>
          </p:cNvSpPr>
          <p:nvPr/>
        </p:nvSpPr>
        <p:spPr bwMode="auto">
          <a:xfrm>
            <a:off x="1524000" y="61722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69" name="Rectangle 5"/>
          <p:cNvSpPr>
            <a:spLocks noChangeArrowheads="1"/>
          </p:cNvSpPr>
          <p:nvPr/>
        </p:nvSpPr>
        <p:spPr bwMode="auto">
          <a:xfrm>
            <a:off x="1828800" y="5486400"/>
            <a:ext cx="2667000" cy="6858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…</a:t>
            </a:r>
          </a:p>
          <a:p>
            <a:pPr algn="ctr"/>
            <a:r>
              <a:rPr lang="en-US" altLang="en-US" sz="2400" b="1">
                <a:latin typeface="Courier New" pitchFamily="49" charset="0"/>
              </a:rPr>
              <a:t>…</a:t>
            </a:r>
          </a:p>
        </p:txBody>
      </p:sp>
      <p:sp>
        <p:nvSpPr>
          <p:cNvPr id="190471" name="Rectangle 7"/>
          <p:cNvSpPr>
            <a:spLocks noChangeArrowheads="1"/>
          </p:cNvSpPr>
          <p:nvPr/>
        </p:nvSpPr>
        <p:spPr bwMode="auto">
          <a:xfrm>
            <a:off x="1828800" y="4495800"/>
            <a:ext cx="2667000" cy="990600"/>
          </a:xfrm>
          <a:prstGeom prst="rect">
            <a:avLst/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itchFamily="49" charset="0"/>
              </a:rPr>
              <a:t>Stack Frame</a:t>
            </a:r>
            <a:br>
              <a:rPr lang="en-US" altLang="en-US" sz="2400" b="1">
                <a:latin typeface="Courier New" pitchFamily="49" charset="0"/>
              </a:rPr>
            </a:br>
            <a:r>
              <a:rPr lang="en-US" altLang="en-US" sz="2400" b="1">
                <a:latin typeface="Courier New" pitchFamily="49" charset="0"/>
              </a:rPr>
              <a:t>for f()</a:t>
            </a:r>
          </a:p>
        </p:txBody>
      </p:sp>
      <p:grpSp>
        <p:nvGrpSpPr>
          <p:cNvPr id="190480" name="Group 16"/>
          <p:cNvGrpSpPr>
            <a:grpSpLocks/>
          </p:cNvGrpSpPr>
          <p:nvPr/>
        </p:nvGrpSpPr>
        <p:grpSpPr bwMode="auto">
          <a:xfrm>
            <a:off x="1828800" y="1752600"/>
            <a:ext cx="2667000" cy="2743200"/>
            <a:chOff x="2880" y="1104"/>
            <a:chExt cx="1680" cy="1728"/>
          </a:xfrm>
        </p:grpSpPr>
        <p:sp>
          <p:nvSpPr>
            <p:cNvPr id="190473" name="Rectangle 9"/>
            <p:cNvSpPr>
              <a:spLocks noChangeArrowheads="1"/>
            </p:cNvSpPr>
            <p:nvPr/>
          </p:nvSpPr>
          <p:spPr bwMode="auto">
            <a:xfrm>
              <a:off x="2880" y="2544"/>
              <a:ext cx="1680" cy="2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 b="1">
                  <a:latin typeface="Courier New" pitchFamily="49" charset="0"/>
                </a:rPr>
                <a:t>Return PC</a:t>
              </a:r>
            </a:p>
          </p:txBody>
        </p:sp>
        <p:sp>
          <p:nvSpPr>
            <p:cNvPr id="190475" name="Rectangle 11"/>
            <p:cNvSpPr>
              <a:spLocks noChangeArrowheads="1"/>
            </p:cNvSpPr>
            <p:nvPr/>
          </p:nvSpPr>
          <p:spPr bwMode="auto">
            <a:xfrm>
              <a:off x="2880" y="1968"/>
              <a:ext cx="1680" cy="2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 b="1">
                  <a:latin typeface="Courier New" pitchFamily="49" charset="0"/>
                </a:rPr>
                <a:t>Saved SP</a:t>
              </a:r>
            </a:p>
          </p:txBody>
        </p:sp>
        <p:sp>
          <p:nvSpPr>
            <p:cNvPr id="190477" name="Rectangle 13"/>
            <p:cNvSpPr>
              <a:spLocks noChangeArrowheads="1"/>
            </p:cNvSpPr>
            <p:nvPr/>
          </p:nvSpPr>
          <p:spPr bwMode="auto">
            <a:xfrm>
              <a:off x="2880" y="1392"/>
              <a:ext cx="1680" cy="2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 b="1">
                  <a:latin typeface="Courier New" pitchFamily="49" charset="0"/>
                </a:rPr>
                <a:t>Parameters</a:t>
              </a:r>
            </a:p>
          </p:txBody>
        </p:sp>
        <p:sp>
          <p:nvSpPr>
            <p:cNvPr id="190472" name="Rectangle 8"/>
            <p:cNvSpPr>
              <a:spLocks noChangeArrowheads="1"/>
            </p:cNvSpPr>
            <p:nvPr/>
          </p:nvSpPr>
          <p:spPr bwMode="auto">
            <a:xfrm>
              <a:off x="2880" y="1104"/>
              <a:ext cx="1680" cy="172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</p:grpSp>
      <p:sp>
        <p:nvSpPr>
          <p:cNvPr id="190481" name="AutoShape 17"/>
          <p:cNvSpPr>
            <a:spLocks/>
          </p:cNvSpPr>
          <p:nvPr/>
        </p:nvSpPr>
        <p:spPr bwMode="auto">
          <a:xfrm>
            <a:off x="6781800" y="1752600"/>
            <a:ext cx="381000" cy="2667000"/>
          </a:xfrm>
          <a:prstGeom prst="righ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90482" name="Text Box 18"/>
          <p:cNvSpPr txBox="1">
            <a:spLocks noChangeArrowheads="1"/>
          </p:cNvSpPr>
          <p:nvPr/>
        </p:nvSpPr>
        <p:spPr bwMode="auto">
          <a:xfrm>
            <a:off x="7239000" y="2819400"/>
            <a:ext cx="1600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Stack Frame for </a:t>
            </a:r>
            <a:r>
              <a:rPr lang="en-US" altLang="en-US" b="1" dirty="0">
                <a:latin typeface="Courier New" pitchFamily="49" charset="0"/>
              </a:rPr>
              <a:t>g()</a:t>
            </a:r>
          </a:p>
        </p:txBody>
      </p:sp>
      <p:sp>
        <p:nvSpPr>
          <p:cNvPr id="190484" name="Freeform 20"/>
          <p:cNvSpPr>
            <a:spLocks/>
          </p:cNvSpPr>
          <p:nvPr/>
        </p:nvSpPr>
        <p:spPr bwMode="auto">
          <a:xfrm>
            <a:off x="1219200" y="3352800"/>
            <a:ext cx="790575" cy="1143000"/>
          </a:xfrm>
          <a:custGeom>
            <a:avLst/>
            <a:gdLst>
              <a:gd name="T0" fmla="*/ 498 w 498"/>
              <a:gd name="T1" fmla="*/ 1 h 820"/>
              <a:gd name="T2" fmla="*/ 0 w 498"/>
              <a:gd name="T3" fmla="*/ 0 h 820"/>
              <a:gd name="T4" fmla="*/ 0 w 498"/>
              <a:gd name="T5" fmla="*/ 820 h 820"/>
              <a:gd name="T6" fmla="*/ 489 w 498"/>
              <a:gd name="T7" fmla="*/ 820 h 8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98" h="820">
                <a:moveTo>
                  <a:pt x="498" y="1"/>
                </a:moveTo>
                <a:lnTo>
                  <a:pt x="0" y="0"/>
                </a:lnTo>
                <a:lnTo>
                  <a:pt x="0" y="820"/>
                </a:lnTo>
                <a:lnTo>
                  <a:pt x="489" y="820"/>
                </a:lnTo>
              </a:path>
            </a:pathLst>
          </a:custGeom>
          <a:noFill/>
          <a:ln w="25400">
            <a:solidFill>
              <a:srgbClr val="FF0000"/>
            </a:solidFill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85" name="AutoShape 21"/>
          <p:cNvSpPr>
            <a:spLocks noChangeArrowheads="1"/>
          </p:cNvSpPr>
          <p:nvPr/>
        </p:nvSpPr>
        <p:spPr bwMode="auto">
          <a:xfrm>
            <a:off x="4572000" y="1524000"/>
            <a:ext cx="1219200" cy="457200"/>
          </a:xfrm>
          <a:prstGeom prst="leftArrow">
            <a:avLst>
              <a:gd name="adj1" fmla="val 50000"/>
              <a:gd name="adj2" fmla="val 66667"/>
            </a:avLst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90486" name="Text Box 22"/>
          <p:cNvSpPr txBox="1">
            <a:spLocks noChangeArrowheads="1"/>
          </p:cNvSpPr>
          <p:nvPr/>
        </p:nvSpPr>
        <p:spPr bwMode="auto">
          <a:xfrm>
            <a:off x="5791200" y="1371600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Stack Pointer</a:t>
            </a:r>
            <a:endParaRPr lang="en-US" altLang="en-US" b="1">
              <a:latin typeface="Courier New" pitchFamily="49" charset="0"/>
            </a:endParaRPr>
          </a:p>
        </p:txBody>
      </p:sp>
      <p:sp>
        <p:nvSpPr>
          <p:cNvPr id="190487" name="Line 23"/>
          <p:cNvSpPr>
            <a:spLocks noChangeShapeType="1"/>
          </p:cNvSpPr>
          <p:nvPr/>
        </p:nvSpPr>
        <p:spPr bwMode="auto">
          <a:xfrm flipV="1">
            <a:off x="1828800" y="9144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88" name="Line 24"/>
          <p:cNvSpPr>
            <a:spLocks noChangeShapeType="1"/>
          </p:cNvSpPr>
          <p:nvPr/>
        </p:nvSpPr>
        <p:spPr bwMode="auto">
          <a:xfrm flipV="1">
            <a:off x="4495800" y="9144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90489" name="Text Box 25"/>
          <p:cNvSpPr txBox="1">
            <a:spLocks noChangeArrowheads="1"/>
          </p:cNvSpPr>
          <p:nvPr/>
        </p:nvSpPr>
        <p:spPr bwMode="auto">
          <a:xfrm>
            <a:off x="2286000" y="990600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>
                <a:latin typeface="Courier New" pitchFamily="49" charset="0"/>
              </a:rPr>
              <a:t>Free Memory</a:t>
            </a:r>
            <a:endParaRPr lang="en-US" altLang="en-US" b="1">
              <a:latin typeface="Courier New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572000" y="2819400"/>
            <a:ext cx="2286000" cy="641350"/>
            <a:chOff x="4572000" y="2819400"/>
            <a:chExt cx="2286000" cy="641350"/>
          </a:xfrm>
        </p:grpSpPr>
        <p:sp>
          <p:nvSpPr>
            <p:cNvPr id="190490" name="AutoShape 26"/>
            <p:cNvSpPr>
              <a:spLocks noChangeArrowheads="1"/>
            </p:cNvSpPr>
            <p:nvPr/>
          </p:nvSpPr>
          <p:spPr bwMode="auto">
            <a:xfrm>
              <a:off x="4572000" y="2895600"/>
              <a:ext cx="1219200" cy="457200"/>
            </a:xfrm>
            <a:prstGeom prst="leftArrow">
              <a:avLst>
                <a:gd name="adj1" fmla="val 50000"/>
                <a:gd name="adj2" fmla="val 66667"/>
              </a:avLst>
            </a:prstGeom>
            <a:solidFill>
              <a:srgbClr val="9933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90491" name="Text Box 27"/>
            <p:cNvSpPr txBox="1">
              <a:spLocks noChangeArrowheads="1"/>
            </p:cNvSpPr>
            <p:nvPr/>
          </p:nvSpPr>
          <p:spPr bwMode="auto">
            <a:xfrm>
              <a:off x="5867400" y="2819400"/>
              <a:ext cx="9906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Frame Pointer</a:t>
              </a:r>
              <a:endParaRPr lang="en-US" altLang="en-US" b="1">
                <a:latin typeface="Courier New" pitchFamily="49" charset="0"/>
              </a:endParaRPr>
            </a:p>
          </p:txBody>
        </p:sp>
      </p:grpSp>
      <p:sp>
        <p:nvSpPr>
          <p:cNvPr id="190492" name="Text Box 28"/>
          <p:cNvSpPr txBox="1">
            <a:spLocks noChangeArrowheads="1"/>
          </p:cNvSpPr>
          <p:nvPr/>
        </p:nvSpPr>
        <p:spPr bwMode="auto">
          <a:xfrm>
            <a:off x="5486400" y="4876800"/>
            <a:ext cx="3124200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After function </a:t>
            </a:r>
            <a:r>
              <a:rPr lang="en-US" altLang="en-US" b="1">
                <a:latin typeface="Courier New" pitchFamily="49" charset="0"/>
              </a:rPr>
              <a:t>f()</a:t>
            </a:r>
            <a:r>
              <a:rPr lang="en-US" altLang="en-US"/>
              <a:t> calls </a:t>
            </a:r>
            <a:r>
              <a:rPr lang="en-US" altLang="en-US" b="1">
                <a:latin typeface="Courier New" pitchFamily="49" charset="0"/>
              </a:rPr>
              <a:t>g()</a:t>
            </a:r>
          </a:p>
          <a:p>
            <a:pPr algn="ctr">
              <a:spcBef>
                <a:spcPct val="50000"/>
              </a:spcBef>
            </a:pPr>
            <a:r>
              <a:rPr lang="en-US" altLang="en-US"/>
              <a:t>Topmost stack frame belongs to </a:t>
            </a:r>
            <a:r>
              <a:rPr lang="en-US" altLang="en-US" b="1">
                <a:latin typeface="Courier New" pitchFamily="49" charset="0"/>
              </a:rPr>
              <a:t>g()</a:t>
            </a:r>
          </a:p>
        </p:txBody>
      </p:sp>
      <p:sp>
        <p:nvSpPr>
          <p:cNvPr id="30" name="Rectangle 7"/>
          <p:cNvSpPr>
            <a:spLocks noChangeArrowheads="1"/>
          </p:cNvSpPr>
          <p:nvPr/>
        </p:nvSpPr>
        <p:spPr bwMode="auto">
          <a:xfrm>
            <a:off x="1828800" y="1752600"/>
            <a:ext cx="2667000" cy="2743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31" name="Rectangle 30"/>
          <p:cNvSpPr/>
          <p:nvPr/>
        </p:nvSpPr>
        <p:spPr>
          <a:xfrm rot="16200000">
            <a:off x="-347166" y="3192743"/>
            <a:ext cx="1606607" cy="859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Stack</a:t>
            </a:r>
          </a:p>
        </p:txBody>
      </p:sp>
      <p:sp>
        <p:nvSpPr>
          <p:cNvPr id="32" name="Right Bracket 31"/>
          <p:cNvSpPr/>
          <p:nvPr/>
        </p:nvSpPr>
        <p:spPr>
          <a:xfrm flipH="1">
            <a:off x="768949" y="1752600"/>
            <a:ext cx="210084" cy="44196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462087" y="3581400"/>
            <a:ext cx="3033713" cy="1528763"/>
            <a:chOff x="1462087" y="3581400"/>
            <a:chExt cx="3033713" cy="1528763"/>
          </a:xfrm>
        </p:grpSpPr>
        <p:sp>
          <p:nvSpPr>
            <p:cNvPr id="190483" name="Freeform 19"/>
            <p:cNvSpPr>
              <a:spLocks/>
            </p:cNvSpPr>
            <p:nvPr/>
          </p:nvSpPr>
          <p:spPr bwMode="auto">
            <a:xfrm>
              <a:off x="1462087" y="3808413"/>
              <a:ext cx="595313" cy="1301750"/>
            </a:xfrm>
            <a:custGeom>
              <a:avLst/>
              <a:gdLst>
                <a:gd name="T0" fmla="*/ 498 w 498"/>
                <a:gd name="T1" fmla="*/ 1 h 820"/>
                <a:gd name="T2" fmla="*/ 0 w 498"/>
                <a:gd name="T3" fmla="*/ 0 h 820"/>
                <a:gd name="T4" fmla="*/ 0 w 498"/>
                <a:gd name="T5" fmla="*/ 820 h 820"/>
                <a:gd name="T6" fmla="*/ 489 w 498"/>
                <a:gd name="T7" fmla="*/ 82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8" h="820">
                  <a:moveTo>
                    <a:pt x="498" y="1"/>
                  </a:moveTo>
                  <a:lnTo>
                    <a:pt x="0" y="0"/>
                  </a:lnTo>
                  <a:lnTo>
                    <a:pt x="0" y="820"/>
                  </a:lnTo>
                  <a:lnTo>
                    <a:pt x="489" y="82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none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3" name="Rectangle 10"/>
            <p:cNvSpPr>
              <a:spLocks noChangeArrowheads="1"/>
            </p:cNvSpPr>
            <p:nvPr/>
          </p:nvSpPr>
          <p:spPr bwMode="auto">
            <a:xfrm>
              <a:off x="1828800" y="3581400"/>
              <a:ext cx="2667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lgDashDot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000" b="1">
                  <a:latin typeface="Courier New" pitchFamily="49" charset="0"/>
                </a:rPr>
                <a:t>Saved FP</a:t>
              </a:r>
            </a:p>
          </p:txBody>
        </p:sp>
      </p:grp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1828800" y="1752600"/>
            <a:ext cx="266700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Local Variables</a:t>
            </a: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1828800" y="2667000"/>
            <a:ext cx="266700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>
                <a:latin typeface="Courier New" pitchFamily="49" charset="0"/>
              </a:rPr>
              <a:t>Saved Registers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06B444-58EC-2FBD-A5F0-1A148A01C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AFEFF-ABCE-94BC-93BE-68295695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51692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/>
              <a:t>Stack Frame Setup / Teardown [</a:t>
            </a:r>
            <a:r>
              <a:rPr lang="en-US" altLang="en-US" sz="3800" b="1" dirty="0"/>
              <a:t>Updated</a:t>
            </a:r>
            <a:r>
              <a:rPr lang="en-US" altLang="en-US" sz="3800" dirty="0"/>
              <a:t>]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600" dirty="0"/>
              <a:t>On executing function call: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Pass arguments with registers and/or stack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Save Return PC on stack 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/>
              <a:t>Transfer control from caller to </a:t>
            </a:r>
            <a:r>
              <a:rPr lang="en-US" altLang="en-US" sz="2200" b="1" dirty="0" err="1"/>
              <a:t>callee</a:t>
            </a:r>
            <a:endParaRPr lang="en-US" altLang="en-US" sz="2200" b="1" dirty="0"/>
          </a:p>
          <a:p>
            <a:pPr lvl="1">
              <a:lnSpc>
                <a:spcPct val="9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</a:t>
            </a:r>
            <a:r>
              <a:rPr lang="en-US" altLang="en-US" sz="2200" u="sng" dirty="0"/>
              <a:t>Save registers used by </a:t>
            </a:r>
            <a:r>
              <a:rPr lang="en-US" altLang="en-US" sz="2200" u="sng" dirty="0" err="1"/>
              <a:t>callee</a:t>
            </a:r>
            <a:r>
              <a:rPr lang="en-US" altLang="en-US" sz="2200" dirty="0"/>
              <a:t>. Save old </a:t>
            </a:r>
            <a:r>
              <a:rPr lang="en-US" altLang="en-US" sz="2200" u="sng" dirty="0"/>
              <a:t>FP</a:t>
            </a:r>
            <a:r>
              <a:rPr lang="en-US" altLang="en-US" sz="2200" dirty="0"/>
              <a:t>, SP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Allocate space for local variables of </a:t>
            </a:r>
            <a:r>
              <a:rPr lang="en-US" altLang="en-US" sz="2200" dirty="0" err="1"/>
              <a:t>callee</a:t>
            </a:r>
            <a:r>
              <a:rPr lang="en-US" altLang="en-US" sz="2200" dirty="0"/>
              <a:t> on stack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Adjust SP to point to new stack top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200" dirty="0"/>
          </a:p>
          <a:p>
            <a:pPr>
              <a:lnSpc>
                <a:spcPct val="90000"/>
              </a:lnSpc>
            </a:pPr>
            <a:r>
              <a:rPr lang="en-US" altLang="en-US" sz="2600" dirty="0"/>
              <a:t>On returning from function call: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 err="1"/>
              <a:t>Callee</a:t>
            </a:r>
            <a:r>
              <a:rPr lang="en-US" altLang="en-US" sz="2200" dirty="0"/>
              <a:t>: </a:t>
            </a:r>
            <a:r>
              <a:rPr lang="en-US" altLang="en-US" sz="2200" u="sng" dirty="0"/>
              <a:t>Restore saved registers</a:t>
            </a:r>
            <a:r>
              <a:rPr lang="en-US" altLang="en-US" sz="2200" dirty="0"/>
              <a:t>, </a:t>
            </a:r>
            <a:r>
              <a:rPr lang="en-US" altLang="en-US" sz="2200" u="sng" dirty="0"/>
              <a:t>FP</a:t>
            </a:r>
            <a:r>
              <a:rPr lang="en-US" altLang="en-US" sz="2200" dirty="0"/>
              <a:t>, SP 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/>
              <a:t>Transfer control from </a:t>
            </a:r>
            <a:r>
              <a:rPr lang="en-US" altLang="en-US" sz="2200" dirty="0" err="1"/>
              <a:t>callee</a:t>
            </a:r>
            <a:r>
              <a:rPr lang="en-US" altLang="en-US" sz="2200" dirty="0"/>
              <a:t> to caller using saved PC</a:t>
            </a:r>
          </a:p>
          <a:p>
            <a:pPr lvl="1">
              <a:lnSpc>
                <a:spcPct val="90000"/>
              </a:lnSpc>
            </a:pPr>
            <a:r>
              <a:rPr lang="en-US" altLang="en-US" sz="2200" b="1" dirty="0"/>
              <a:t>Caller</a:t>
            </a:r>
            <a:r>
              <a:rPr lang="en-US" altLang="en-US" sz="2200" dirty="0"/>
              <a:t>: Continues execution in caller</a:t>
            </a:r>
          </a:p>
          <a:p>
            <a:pPr lvl="1">
              <a:lnSpc>
                <a:spcPct val="90000"/>
              </a:lnSpc>
            </a:pPr>
            <a:endParaRPr lang="en-US" altLang="en-US" sz="2200" dirty="0"/>
          </a:p>
          <a:p>
            <a:pPr>
              <a:lnSpc>
                <a:spcPct val="90000"/>
              </a:lnSpc>
            </a:pPr>
            <a:r>
              <a:rPr lang="en-US" altLang="en-US" dirty="0"/>
              <a:t>Remember, </a:t>
            </a:r>
            <a:r>
              <a:rPr lang="en-US" altLang="en-US" b="1" dirty="0">
                <a:solidFill>
                  <a:srgbClr val="C00000"/>
                </a:solidFill>
              </a:rPr>
              <a:t>just an example</a:t>
            </a:r>
            <a:r>
              <a:rPr lang="en-US" altLang="en-US" dirty="0"/>
              <a:t>!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685799" y="1447800"/>
            <a:ext cx="7928005" cy="76200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694630" y="5258216"/>
            <a:ext cx="7961475" cy="45720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682595" y="2635873"/>
            <a:ext cx="7928005" cy="1098135"/>
          </a:xfrm>
          <a:prstGeom prst="rect">
            <a:avLst/>
          </a:prstGeom>
          <a:solidFill>
            <a:srgbClr val="99FF99">
              <a:alpha val="20000"/>
            </a:srgb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694630" y="4495592"/>
            <a:ext cx="7928005" cy="381000"/>
          </a:xfrm>
          <a:prstGeom prst="rect">
            <a:avLst/>
          </a:prstGeom>
          <a:solidFill>
            <a:srgbClr val="99FF99">
              <a:alpha val="20000"/>
            </a:srgb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A692FD-8615-E466-3336-413F55522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0FE75-BA10-0670-238B-529C31A6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20680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Function Call Summary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this part, we learned:</a:t>
            </a:r>
          </a:p>
          <a:p>
            <a:pPr lvl="1"/>
            <a:r>
              <a:rPr lang="en-US" altLang="en-US" dirty="0"/>
              <a:t>Another portion of memory space is used as a </a:t>
            </a:r>
            <a:r>
              <a:rPr lang="en-US" altLang="en-US" b="1" dirty="0">
                <a:solidFill>
                  <a:srgbClr val="660066"/>
                </a:solidFill>
              </a:rPr>
              <a:t>Stack Memory</a:t>
            </a:r>
          </a:p>
          <a:p>
            <a:pPr marL="344487" lvl="1" indent="0">
              <a:buNone/>
            </a:pPr>
            <a:endParaRPr lang="en-US" altLang="en-US" b="1" dirty="0"/>
          </a:p>
          <a:p>
            <a:pPr lvl="1"/>
            <a:r>
              <a:rPr lang="en-US" altLang="en-US" dirty="0"/>
              <a:t>Stack Memory stores the executing function using </a:t>
            </a:r>
            <a:r>
              <a:rPr lang="en-US" altLang="en-US" b="1" dirty="0">
                <a:solidFill>
                  <a:srgbClr val="C00000"/>
                </a:solidFill>
              </a:rPr>
              <a:t>Stack Frame</a:t>
            </a:r>
          </a:p>
          <a:p>
            <a:pPr lvl="2"/>
            <a:r>
              <a:rPr lang="en-US" altLang="en-US" dirty="0"/>
              <a:t>Typical information stored on a stack frame</a:t>
            </a:r>
          </a:p>
          <a:p>
            <a:pPr lvl="2"/>
            <a:r>
              <a:rPr lang="en-US" altLang="en-US" dirty="0"/>
              <a:t>Typical scheme of setting up and tearing down a stack frame </a:t>
            </a:r>
          </a:p>
          <a:p>
            <a:pPr lvl="2"/>
            <a:endParaRPr lang="en-US" altLang="en-US" dirty="0"/>
          </a:p>
          <a:p>
            <a:pPr lvl="1"/>
            <a:r>
              <a:rPr lang="en-US" altLang="en-US" dirty="0"/>
              <a:t>The usage of </a:t>
            </a:r>
            <a:r>
              <a:rPr lang="en-US" altLang="en-US" b="1" dirty="0"/>
              <a:t>Stack Pointer </a:t>
            </a:r>
            <a:r>
              <a:rPr lang="en-US" altLang="en-US" dirty="0"/>
              <a:t>and </a:t>
            </a:r>
            <a:r>
              <a:rPr lang="en-US" altLang="en-US" b="1" dirty="0"/>
              <a:t>Frame Pointer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979C7F-7720-8E21-2ABE-3DB98230BC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4A1C74-8001-AB3C-7C87-F50C8398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77830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/>
              <a:t>Memory Context</a:t>
            </a:r>
            <a:br>
              <a:rPr lang="en-US" altLang="en-US" dirty="0"/>
            </a:br>
            <a:r>
              <a:rPr lang="en-US" altLang="en-US" sz="4200" b="1" dirty="0">
                <a:solidFill>
                  <a:schemeClr val="accent2"/>
                </a:solidFill>
              </a:rPr>
              <a:t>Dynamically Allocated Memory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Hmm… I need more memory</a:t>
            </a:r>
          </a:p>
        </p:txBody>
      </p:sp>
    </p:spTree>
    <p:extLst>
      <p:ext uri="{BB962C8B-B14F-4D97-AF65-F5344CB8AC3E}">
        <p14:creationId xmlns:p14="http://schemas.microsoft.com/office/powerpoint/2010/main" val="3712566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Dynamically Allocated Memory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Most programming languages allow dynamically allocated memory:</a:t>
            </a:r>
          </a:p>
          <a:p>
            <a:pPr lvl="1"/>
            <a:r>
              <a:rPr lang="en-US" dirty="0"/>
              <a:t>i.e. acquire memory space during </a:t>
            </a:r>
            <a:r>
              <a:rPr lang="en-US" b="1" dirty="0"/>
              <a:t>execution time</a:t>
            </a:r>
          </a:p>
          <a:p>
            <a:pPr lvl="1"/>
            <a:endParaRPr lang="en-US" b="1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In C, the </a:t>
            </a:r>
            <a:r>
              <a:rPr lang="en-US" b="1" i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function call</a:t>
            </a:r>
          </a:p>
          <a:p>
            <a:pPr lvl="1"/>
            <a:r>
              <a:rPr lang="en-US" dirty="0"/>
              <a:t>In C++, the </a:t>
            </a:r>
            <a:r>
              <a:rPr lang="en-US" b="1" i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/>
              <a:t> keyword</a:t>
            </a:r>
          </a:p>
          <a:p>
            <a:pPr lvl="1"/>
            <a:r>
              <a:rPr lang="en-US" dirty="0"/>
              <a:t>In Java, the </a:t>
            </a:r>
            <a:r>
              <a:rPr lang="en-US" b="1" i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/>
              <a:t> keyword</a:t>
            </a:r>
          </a:p>
          <a:p>
            <a:pPr lvl="1"/>
            <a:endParaRPr lang="en-US" dirty="0"/>
          </a:p>
          <a:p>
            <a:r>
              <a:rPr lang="en-US" b="1" dirty="0"/>
              <a:t>Question:</a:t>
            </a:r>
          </a:p>
          <a:p>
            <a:pPr lvl="1"/>
            <a:r>
              <a:rPr lang="en-US" dirty="0"/>
              <a:t>Can we use the existing "</a:t>
            </a:r>
            <a:r>
              <a:rPr lang="en-US" b="1" dirty="0"/>
              <a:t>Data</a:t>
            </a:r>
            <a:r>
              <a:rPr lang="en-US" dirty="0"/>
              <a:t>" or "</a:t>
            </a:r>
            <a:r>
              <a:rPr lang="en-US" b="1" dirty="0"/>
              <a:t>Stack</a:t>
            </a:r>
            <a:r>
              <a:rPr lang="en-US" dirty="0"/>
              <a:t>" memory regions?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4D94E-47B5-9029-00ED-A50540171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39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4F4A5-5042-CA71-1F5D-5BCAAC0F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42652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Dynamically Allocated Memory</a:t>
            </a:r>
            <a:endParaRPr lang="en-SG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memory blocks have </a:t>
            </a:r>
            <a:r>
              <a:rPr lang="en-US" b="1" dirty="0"/>
              <a:t>different behaviors: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b="1" dirty="0"/>
              <a:t>Allocated only at runtime </a:t>
            </a:r>
            <a:r>
              <a:rPr lang="en-US" dirty="0">
                <a:sym typeface="Wingdings" panose="05000000000000000000" pitchFamily="2" charset="2"/>
              </a:rPr>
              <a:t> Cannot place in </a:t>
            </a:r>
            <a:r>
              <a:rPr 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Data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region</a:t>
            </a:r>
          </a:p>
          <a:p>
            <a:pPr marL="344487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858837" lvl="1" indent="-514350">
              <a:buFont typeface="+mj-lt"/>
              <a:buAutoNum type="arabicPeriod" startAt="2"/>
            </a:pPr>
            <a:r>
              <a:rPr lang="en-US" b="1" dirty="0">
                <a:sym typeface="Wingdings" panose="05000000000000000000" pitchFamily="2" charset="2"/>
              </a:rPr>
              <a:t>No definite </a:t>
            </a:r>
            <a:r>
              <a:rPr lang="en-US" b="1" dirty="0" err="1">
                <a:sym typeface="Wingdings" panose="05000000000000000000" pitchFamily="2" charset="2"/>
              </a:rPr>
              <a:t>deallocation</a:t>
            </a:r>
            <a:r>
              <a:rPr lang="en-US" b="1" dirty="0">
                <a:sym typeface="Wingdings" panose="05000000000000000000" pitchFamily="2" charset="2"/>
              </a:rPr>
              <a:t> timing</a:t>
            </a:r>
            <a:r>
              <a:rPr lang="en-US" dirty="0">
                <a:sym typeface="Wingdings" panose="05000000000000000000" pitchFamily="2" charset="2"/>
              </a:rPr>
              <a:t>  Cannot place in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Stack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region</a:t>
            </a:r>
          </a:p>
          <a:p>
            <a:pPr marL="858837" lvl="1" indent="-514350">
              <a:buFont typeface="+mj-lt"/>
              <a:buAutoNum type="arabicPeriod" startAt="2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Solution: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Setup a separate </a:t>
            </a:r>
            <a:r>
              <a:rPr lang="en-US" b="1" dirty="0">
                <a:sym typeface="Wingdings" panose="05000000000000000000" pitchFamily="2" charset="2"/>
              </a:rPr>
              <a:t>heap memory region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5494D-BE3C-0820-9A2C-B4B16D1F2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44F84-9DED-9F60-1E45-9120F883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414806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 for </a:t>
            </a:r>
            <a:r>
              <a:rPr lang="en-US" b="1" dirty="0">
                <a:solidFill>
                  <a:schemeClr val="accent2"/>
                </a:solidFill>
              </a:rPr>
              <a:t>Heap Memory</a:t>
            </a:r>
            <a:endParaRPr lang="en-SG" b="1" dirty="0">
              <a:solidFill>
                <a:schemeClr val="accent2"/>
              </a:solidFill>
            </a:endParaRPr>
          </a:p>
        </p:txBody>
      </p:sp>
      <p:sp>
        <p:nvSpPr>
          <p:cNvPr id="18" name="Right Bracket 17"/>
          <p:cNvSpPr/>
          <p:nvPr/>
        </p:nvSpPr>
        <p:spPr>
          <a:xfrm flipH="1">
            <a:off x="1143000" y="1143000"/>
            <a:ext cx="209550" cy="4538173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-76200" y="3189539"/>
            <a:ext cx="1295400" cy="859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The entire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memory space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655679" y="2423978"/>
            <a:ext cx="2743200" cy="85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Data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global variables)</a:t>
            </a:r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68142" y="1306259"/>
            <a:ext cx="2743200" cy="85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Text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instructions)</a:t>
            </a: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1524000" y="1144424"/>
            <a:ext cx="2667000" cy="12192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altLang="en-US" sz="1200" b="1" dirty="0">
              <a:latin typeface="Courier New" pitchFamily="49" charset="0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1524000" y="1143000"/>
            <a:ext cx="2667000" cy="4533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1524000" y="2358639"/>
            <a:ext cx="2667000" cy="990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1524000" y="4686300"/>
            <a:ext cx="2667000" cy="990600"/>
          </a:xfrm>
          <a:prstGeom prst="rect">
            <a:avLst/>
          </a:prstGeom>
          <a:solidFill>
            <a:srgbClr val="FF99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06185" y="4720124"/>
            <a:ext cx="2861415" cy="8599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Stack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(for function invocations)</a:t>
            </a:r>
            <a:endParaRPr lang="en-SG" b="1" dirty="0">
              <a:solidFill>
                <a:schemeClr val="tx1"/>
              </a:solidFill>
            </a:endParaRPr>
          </a:p>
        </p:txBody>
      </p:sp>
      <p:sp>
        <p:nvSpPr>
          <p:cNvPr id="31" name="Right Bracket 30"/>
          <p:cNvSpPr/>
          <p:nvPr/>
        </p:nvSpPr>
        <p:spPr>
          <a:xfrm>
            <a:off x="4431708" y="2348669"/>
            <a:ext cx="228600" cy="9906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32" name="Right Bracket 31"/>
          <p:cNvSpPr/>
          <p:nvPr/>
        </p:nvSpPr>
        <p:spPr>
          <a:xfrm>
            <a:off x="4427079" y="1143000"/>
            <a:ext cx="228600" cy="1186441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33" name="Right Bracket 32"/>
          <p:cNvSpPr/>
          <p:nvPr/>
        </p:nvSpPr>
        <p:spPr>
          <a:xfrm>
            <a:off x="4377585" y="4648200"/>
            <a:ext cx="228600" cy="9906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524000" y="3352800"/>
            <a:ext cx="5985615" cy="931846"/>
            <a:chOff x="1524000" y="3352800"/>
            <a:chExt cx="5985615" cy="931846"/>
          </a:xfrm>
        </p:grpSpPr>
        <p:sp>
          <p:nvSpPr>
            <p:cNvPr id="23" name="Rectangle 22"/>
            <p:cNvSpPr/>
            <p:nvPr/>
          </p:nvSpPr>
          <p:spPr>
            <a:xfrm>
              <a:off x="4648200" y="3424724"/>
              <a:ext cx="2861415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Heap</a:t>
              </a:r>
            </a:p>
            <a:p>
              <a:pPr algn="ctr"/>
              <a:r>
                <a:rPr lang="en-US" dirty="0">
                  <a:solidFill>
                    <a:srgbClr val="C00000"/>
                  </a:solidFill>
                </a:rPr>
                <a:t>(for dynamic allocation)</a:t>
              </a:r>
              <a:endParaRPr lang="en-SG" b="1" dirty="0">
                <a:solidFill>
                  <a:srgbClr val="C00000"/>
                </a:solidFill>
              </a:endParaRPr>
            </a:p>
          </p:txBody>
        </p:sp>
        <p:sp>
          <p:nvSpPr>
            <p:cNvPr id="28" name="Right Bracket 27"/>
            <p:cNvSpPr/>
            <p:nvPr/>
          </p:nvSpPr>
          <p:spPr>
            <a:xfrm>
              <a:off x="4419600" y="3352800"/>
              <a:ext cx="228600" cy="7620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  <p:sp>
          <p:nvSpPr>
            <p:cNvPr id="36" name="Rectangle 5"/>
            <p:cNvSpPr>
              <a:spLocks noChangeArrowheads="1"/>
            </p:cNvSpPr>
            <p:nvPr/>
          </p:nvSpPr>
          <p:spPr bwMode="auto">
            <a:xfrm>
              <a:off x="1524000" y="3352800"/>
              <a:ext cx="2667000" cy="762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78AFC7-8E41-1317-5F3E-60A01F55F0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41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6B4AD-7744-B06A-E756-19275AAC8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88206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Managing Heap Memory</a:t>
            </a:r>
            <a:endParaRPr lang="en-SG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Heap memory is a lot trickier to manage:</a:t>
            </a:r>
          </a:p>
          <a:p>
            <a:pPr lvl="1"/>
            <a:r>
              <a:rPr lang="en-US" dirty="0"/>
              <a:t>Variable size</a:t>
            </a:r>
          </a:p>
          <a:p>
            <a:pPr lvl="1"/>
            <a:r>
              <a:rPr lang="en-US" dirty="0"/>
              <a:t>Variable allocation / </a:t>
            </a:r>
            <a:r>
              <a:rPr lang="en-US" dirty="0" err="1"/>
              <a:t>deallocation</a:t>
            </a:r>
            <a:r>
              <a:rPr lang="en-US" dirty="0"/>
              <a:t> timing </a:t>
            </a:r>
          </a:p>
          <a:p>
            <a:pPr lvl="1"/>
            <a:endParaRPr lang="en-US" dirty="0"/>
          </a:p>
          <a:p>
            <a:r>
              <a:rPr lang="en-US" dirty="0"/>
              <a:t>Tricky scenario: heap memory are allocated /</a:t>
            </a:r>
            <a:r>
              <a:rPr lang="en-US" dirty="0" err="1"/>
              <a:t>deallocated</a:t>
            </a:r>
            <a:r>
              <a:rPr lang="en-US" dirty="0"/>
              <a:t> in such a way to create "holes" in the memory</a:t>
            </a:r>
          </a:p>
          <a:p>
            <a:pPr lvl="1"/>
            <a:r>
              <a:rPr lang="en-US" dirty="0"/>
              <a:t>Free memory block squeezed in between of occupied memory block</a:t>
            </a:r>
          </a:p>
          <a:p>
            <a:pPr marL="344487" lvl="1" indent="0">
              <a:buNone/>
            </a:pPr>
            <a:endParaRPr lang="en-US" dirty="0"/>
          </a:p>
          <a:p>
            <a:r>
              <a:rPr lang="en-US" dirty="0"/>
              <a:t>Discussed in the memory management (much) later in the course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845303-1B05-EFF9-67D3-96560F35E2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42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D46E0C-0D5F-E52D-F16B-A76FCF51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19576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Checkpoint: </a:t>
            </a:r>
            <a:r>
              <a:rPr lang="en-US" dirty="0"/>
              <a:t>Contexts updated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Information describing a </a:t>
            </a:r>
            <a:r>
              <a:rPr lang="en-US" altLang="en-US" b="1" dirty="0"/>
              <a:t>process</a:t>
            </a:r>
            <a:r>
              <a:rPr lang="en-US" altLang="en-US" dirty="0"/>
              <a:t>: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Memory context: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Text, Data, </a:t>
            </a:r>
            <a:r>
              <a:rPr lang="en-US" altLang="en-US" b="1" dirty="0"/>
              <a:t>Stack</a:t>
            </a:r>
            <a:r>
              <a:rPr lang="en-US" altLang="en-US" dirty="0"/>
              <a:t> and </a:t>
            </a:r>
            <a:r>
              <a:rPr lang="en-US" altLang="en-US" b="1" dirty="0"/>
              <a:t>Heap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b="1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context: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General purpose registers, Program Counter, </a:t>
            </a:r>
            <a:r>
              <a:rPr lang="en-US" altLang="en-US" b="1" dirty="0"/>
              <a:t>Stack pointer, Stack frame pointer, </a:t>
            </a:r>
            <a:r>
              <a:rPr lang="en-US" altLang="en-US" dirty="0"/>
              <a:t>….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D802E-BC13-6CDB-4CE1-323774E74F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00A55-E56E-7507-540A-CCC5C834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7512600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/>
              <a:t>OS Context</a:t>
            </a:r>
            <a:br>
              <a:rPr lang="en-US" altLang="en-US" dirty="0"/>
            </a:br>
            <a:r>
              <a:rPr lang="en-US" altLang="en-US" b="1" dirty="0">
                <a:solidFill>
                  <a:srgbClr val="C00000"/>
                </a:solidFill>
              </a:rPr>
              <a:t>Process Id </a:t>
            </a:r>
            <a:r>
              <a:rPr lang="en-US" altLang="en-US" dirty="0"/>
              <a:t>&amp; </a:t>
            </a:r>
            <a:r>
              <a:rPr lang="en-US" altLang="en-US" b="1" dirty="0">
                <a:solidFill>
                  <a:srgbClr val="660066"/>
                </a:solidFill>
              </a:rPr>
              <a:t>Process State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Your ID? Give me a status report!</a:t>
            </a:r>
          </a:p>
        </p:txBody>
      </p:sp>
    </p:spTree>
    <p:extLst>
      <p:ext uri="{BB962C8B-B14F-4D97-AF65-F5344CB8AC3E}">
        <p14:creationId xmlns:p14="http://schemas.microsoft.com/office/powerpoint/2010/main" val="39723488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Process Identification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 distinguish processes from each other</a:t>
            </a:r>
          </a:p>
          <a:p>
            <a:pPr lvl="1"/>
            <a:r>
              <a:rPr lang="en-US" altLang="en-US" dirty="0"/>
              <a:t>Common approach is to use process ID (</a:t>
            </a:r>
            <a:r>
              <a:rPr lang="en-US" altLang="en-US" b="1" dirty="0">
                <a:solidFill>
                  <a:srgbClr val="C00000"/>
                </a:solidFill>
              </a:rPr>
              <a:t>PID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Unique among processes</a:t>
            </a:r>
          </a:p>
          <a:p>
            <a:endParaRPr lang="en-US" altLang="en-US" dirty="0"/>
          </a:p>
          <a:p>
            <a:r>
              <a:rPr lang="en-US" altLang="en-US" dirty="0"/>
              <a:t>There are a couple of OS dependent issues:</a:t>
            </a:r>
          </a:p>
          <a:p>
            <a:pPr lvl="1"/>
            <a:r>
              <a:rPr lang="en-US" altLang="en-US" dirty="0"/>
              <a:t>Are PIDs reused?</a:t>
            </a:r>
          </a:p>
          <a:p>
            <a:pPr lvl="1"/>
            <a:r>
              <a:rPr lang="en-US" altLang="en-US" dirty="0"/>
              <a:t>Does it limit the maximum no. of processes?</a:t>
            </a:r>
          </a:p>
          <a:p>
            <a:pPr lvl="1"/>
            <a:r>
              <a:rPr lang="en-US" altLang="en-US" dirty="0"/>
              <a:t>Are there reserved PIDs?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106C6C-E896-2BAB-B64A-298BAE2D8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DBA3D-5828-9ADE-FFD4-29FED919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9097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Introducing </a:t>
            </a:r>
            <a:r>
              <a:rPr lang="en-US" altLang="en-US" b="1" dirty="0">
                <a:solidFill>
                  <a:srgbClr val="660066"/>
                </a:solidFill>
              </a:rPr>
              <a:t>Process State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the multitasking scenario:</a:t>
            </a:r>
          </a:p>
          <a:p>
            <a:pPr lvl="1"/>
            <a:r>
              <a:rPr lang="en-US" altLang="en-US" dirty="0"/>
              <a:t>A process can be:</a:t>
            </a:r>
          </a:p>
          <a:p>
            <a:pPr lvl="2"/>
            <a:r>
              <a:rPr lang="en-US" altLang="en-US" b="1" dirty="0">
                <a:solidFill>
                  <a:srgbClr val="006600"/>
                </a:solidFill>
              </a:rPr>
              <a:t>Running</a:t>
            </a:r>
            <a:r>
              <a:rPr lang="en-US" altLang="en-US" dirty="0"/>
              <a:t> OR</a:t>
            </a:r>
          </a:p>
          <a:p>
            <a:pPr lvl="2"/>
            <a:r>
              <a:rPr lang="en-US" altLang="en-US" b="1" dirty="0">
                <a:solidFill>
                  <a:srgbClr val="002060"/>
                </a:solidFill>
              </a:rPr>
              <a:t>Not-running</a:t>
            </a:r>
          </a:p>
          <a:p>
            <a:endParaRPr lang="en-US" altLang="en-US" dirty="0"/>
          </a:p>
          <a:p>
            <a:r>
              <a:rPr lang="en-US" altLang="en-US" dirty="0"/>
              <a:t>A process can be </a:t>
            </a:r>
            <a:r>
              <a:rPr lang="en-US" altLang="en-US" dirty="0">
                <a:solidFill>
                  <a:srgbClr val="C00000"/>
                </a:solidFill>
              </a:rPr>
              <a:t>ready to run</a:t>
            </a:r>
          </a:p>
          <a:p>
            <a:pPr lvl="1"/>
            <a:r>
              <a:rPr lang="en-US" altLang="en-US" dirty="0">
                <a:solidFill>
                  <a:schemeClr val="bg2"/>
                </a:solidFill>
              </a:rPr>
              <a:t> </a:t>
            </a:r>
            <a:r>
              <a:rPr lang="en-US" altLang="en-US" dirty="0"/>
              <a:t>But not actually executing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Hence, each process should have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660066"/>
                </a:solidFill>
              </a:rPr>
              <a:t>process state</a:t>
            </a:r>
            <a:r>
              <a:rPr lang="en-US" altLang="en-US" dirty="0">
                <a:solidFill>
                  <a:srgbClr val="660066"/>
                </a:solidFill>
              </a:rPr>
              <a:t>:</a:t>
            </a:r>
          </a:p>
          <a:p>
            <a:pPr lvl="1"/>
            <a:r>
              <a:rPr lang="en-US" altLang="en-US" dirty="0"/>
              <a:t>As an indication of the execution status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B0907F-728B-F126-37A1-EED2D18F1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92AB47-423F-E8C3-5352-14FF255E9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75409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rgbClr val="C00000"/>
                </a:solidFill>
              </a:rPr>
              <a:t>(Simple) </a:t>
            </a:r>
            <a:r>
              <a:rPr lang="en-US" altLang="en-US" sz="3600" b="1" dirty="0">
                <a:solidFill>
                  <a:srgbClr val="C00000"/>
                </a:solidFill>
              </a:rPr>
              <a:t>Process Model State Diagram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5257800"/>
            <a:ext cx="8229600" cy="1219200"/>
          </a:xfrm>
        </p:spPr>
        <p:txBody>
          <a:bodyPr/>
          <a:lstStyle/>
          <a:p>
            <a:r>
              <a:rPr lang="en-US" dirty="0"/>
              <a:t>The set of states and transitions are known as </a:t>
            </a:r>
            <a:r>
              <a:rPr lang="en-US" b="1" dirty="0">
                <a:solidFill>
                  <a:srgbClr val="7030A0"/>
                </a:solidFill>
              </a:rPr>
              <a:t>process model</a:t>
            </a:r>
            <a:endParaRPr lang="en-US" dirty="0">
              <a:solidFill>
                <a:srgbClr val="7030A0"/>
              </a:solidFill>
            </a:endParaRPr>
          </a:p>
          <a:p>
            <a:endParaRPr lang="en-SG" dirty="0"/>
          </a:p>
        </p:txBody>
      </p:sp>
      <p:grpSp>
        <p:nvGrpSpPr>
          <p:cNvPr id="4" name="Group 3"/>
          <p:cNvGrpSpPr/>
          <p:nvPr/>
        </p:nvGrpSpPr>
        <p:grpSpPr>
          <a:xfrm>
            <a:off x="3124200" y="1573996"/>
            <a:ext cx="3124200" cy="945559"/>
            <a:chOff x="3124200" y="1573996"/>
            <a:chExt cx="3124200" cy="945559"/>
          </a:xfrm>
        </p:grpSpPr>
        <p:sp>
          <p:nvSpPr>
            <p:cNvPr id="325637" name="Freeform 5"/>
            <p:cNvSpPr>
              <a:spLocks/>
            </p:cNvSpPr>
            <p:nvPr/>
          </p:nvSpPr>
          <p:spPr bwMode="auto">
            <a:xfrm>
              <a:off x="3124200" y="2099583"/>
              <a:ext cx="3124200" cy="419972"/>
            </a:xfrm>
            <a:custGeom>
              <a:avLst/>
              <a:gdLst>
                <a:gd name="T0" fmla="*/ 0 w 1056"/>
                <a:gd name="T1" fmla="*/ 192 h 192"/>
                <a:gd name="T2" fmla="*/ 240 w 1056"/>
                <a:gd name="T3" fmla="*/ 48 h 192"/>
                <a:gd name="T4" fmla="*/ 528 w 1056"/>
                <a:gd name="T5" fmla="*/ 0 h 192"/>
                <a:gd name="T6" fmla="*/ 816 w 1056"/>
                <a:gd name="T7" fmla="*/ 48 h 192"/>
                <a:gd name="T8" fmla="*/ 1056 w 1056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192">
                  <a:moveTo>
                    <a:pt x="0" y="192"/>
                  </a:moveTo>
                  <a:cubicBezTo>
                    <a:pt x="76" y="136"/>
                    <a:pt x="152" y="80"/>
                    <a:pt x="240" y="48"/>
                  </a:cubicBezTo>
                  <a:cubicBezTo>
                    <a:pt x="328" y="16"/>
                    <a:pt x="432" y="0"/>
                    <a:pt x="528" y="0"/>
                  </a:cubicBezTo>
                  <a:cubicBezTo>
                    <a:pt x="624" y="0"/>
                    <a:pt x="728" y="16"/>
                    <a:pt x="816" y="48"/>
                  </a:cubicBezTo>
                  <a:cubicBezTo>
                    <a:pt x="904" y="80"/>
                    <a:pt x="980" y="136"/>
                    <a:pt x="1056" y="192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5639" name="Text Box 7"/>
            <p:cNvSpPr txBox="1">
              <a:spLocks noChangeArrowheads="1"/>
            </p:cNvSpPr>
            <p:nvPr/>
          </p:nvSpPr>
          <p:spPr bwMode="auto">
            <a:xfrm>
              <a:off x="3518282" y="1573996"/>
              <a:ext cx="2300012" cy="450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400" b="1" dirty="0"/>
                <a:t>context switch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124200" y="3889867"/>
            <a:ext cx="3124200" cy="986933"/>
            <a:chOff x="3124200" y="3889867"/>
            <a:chExt cx="3124200" cy="986933"/>
          </a:xfrm>
        </p:grpSpPr>
        <p:sp>
          <p:nvSpPr>
            <p:cNvPr id="325638" name="Freeform 6"/>
            <p:cNvSpPr>
              <a:spLocks/>
            </p:cNvSpPr>
            <p:nvPr/>
          </p:nvSpPr>
          <p:spPr bwMode="auto">
            <a:xfrm rot="10800000">
              <a:off x="3124200" y="3889867"/>
              <a:ext cx="3124200" cy="422373"/>
            </a:xfrm>
            <a:custGeom>
              <a:avLst/>
              <a:gdLst>
                <a:gd name="T0" fmla="*/ 0 w 1056"/>
                <a:gd name="T1" fmla="*/ 192 h 192"/>
                <a:gd name="T2" fmla="*/ 240 w 1056"/>
                <a:gd name="T3" fmla="*/ 48 h 192"/>
                <a:gd name="T4" fmla="*/ 528 w 1056"/>
                <a:gd name="T5" fmla="*/ 0 h 192"/>
                <a:gd name="T6" fmla="*/ 816 w 1056"/>
                <a:gd name="T7" fmla="*/ 48 h 192"/>
                <a:gd name="T8" fmla="*/ 1056 w 1056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192">
                  <a:moveTo>
                    <a:pt x="0" y="192"/>
                  </a:moveTo>
                  <a:cubicBezTo>
                    <a:pt x="76" y="136"/>
                    <a:pt x="152" y="80"/>
                    <a:pt x="240" y="48"/>
                  </a:cubicBezTo>
                  <a:cubicBezTo>
                    <a:pt x="328" y="16"/>
                    <a:pt x="432" y="0"/>
                    <a:pt x="528" y="0"/>
                  </a:cubicBezTo>
                  <a:cubicBezTo>
                    <a:pt x="624" y="0"/>
                    <a:pt x="728" y="16"/>
                    <a:pt x="816" y="48"/>
                  </a:cubicBezTo>
                  <a:cubicBezTo>
                    <a:pt x="904" y="80"/>
                    <a:pt x="980" y="136"/>
                    <a:pt x="1056" y="192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3739875" y="4425865"/>
              <a:ext cx="2300012" cy="450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400" b="1" dirty="0"/>
                <a:t>context switch</a:t>
              </a: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1219200" y="2519555"/>
            <a:ext cx="2418885" cy="137031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Ready</a:t>
            </a:r>
            <a:endParaRPr lang="en-SG" sz="48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53000" y="2519555"/>
            <a:ext cx="3131112" cy="13703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Running</a:t>
            </a:r>
            <a:endParaRPr lang="en-SG" sz="4800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E69DF4-7606-66B4-6146-ABE94FF633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47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5ABA6-E09F-2D34-4577-E6272222E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12797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4" grpId="0" animBg="1"/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/>
          <p:cNvSpPr/>
          <p:nvPr/>
        </p:nvSpPr>
        <p:spPr>
          <a:xfrm>
            <a:off x="2619555" y="2911411"/>
            <a:ext cx="1426982" cy="7620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Ready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Generic </a:t>
            </a:r>
            <a:r>
              <a:rPr lang="en-US" altLang="en-US" b="1" dirty="0">
                <a:solidFill>
                  <a:srgbClr val="C00000"/>
                </a:solidFill>
              </a:rPr>
              <a:t>5-State Process Model</a:t>
            </a:r>
          </a:p>
        </p:txBody>
      </p:sp>
      <p:grpSp>
        <p:nvGrpSpPr>
          <p:cNvPr id="327688" name="Group 8"/>
          <p:cNvGrpSpPr>
            <a:grpSpLocks/>
          </p:cNvGrpSpPr>
          <p:nvPr/>
        </p:nvGrpSpPr>
        <p:grpSpPr bwMode="auto">
          <a:xfrm>
            <a:off x="1812925" y="2133600"/>
            <a:ext cx="1041400" cy="808038"/>
            <a:chOff x="1142" y="1344"/>
            <a:chExt cx="656" cy="509"/>
          </a:xfrm>
        </p:grpSpPr>
        <p:sp>
          <p:nvSpPr>
            <p:cNvPr id="327689" name="Line 9"/>
            <p:cNvSpPr>
              <a:spLocks noChangeShapeType="1"/>
            </p:cNvSpPr>
            <p:nvPr/>
          </p:nvSpPr>
          <p:spPr bwMode="auto">
            <a:xfrm>
              <a:off x="1142" y="1370"/>
              <a:ext cx="621" cy="4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690" name="Text Box 10"/>
            <p:cNvSpPr txBox="1">
              <a:spLocks noChangeArrowheads="1"/>
            </p:cNvSpPr>
            <p:nvPr/>
          </p:nvSpPr>
          <p:spPr bwMode="auto">
            <a:xfrm>
              <a:off x="1344" y="1344"/>
              <a:ext cx="454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dirty="0"/>
                <a:t>admit</a:t>
              </a:r>
            </a:p>
          </p:txBody>
        </p:sp>
      </p:grpSp>
      <p:grpSp>
        <p:nvGrpSpPr>
          <p:cNvPr id="327691" name="Group 11"/>
          <p:cNvGrpSpPr>
            <a:grpSpLocks/>
          </p:cNvGrpSpPr>
          <p:nvPr/>
        </p:nvGrpSpPr>
        <p:grpSpPr bwMode="auto">
          <a:xfrm>
            <a:off x="3657600" y="2590806"/>
            <a:ext cx="2041525" cy="457201"/>
            <a:chOff x="2304" y="1632"/>
            <a:chExt cx="1286" cy="288"/>
          </a:xfrm>
        </p:grpSpPr>
        <p:sp>
          <p:nvSpPr>
            <p:cNvPr id="327692" name="Line 12"/>
            <p:cNvSpPr>
              <a:spLocks noChangeShapeType="1"/>
            </p:cNvSpPr>
            <p:nvPr/>
          </p:nvSpPr>
          <p:spPr bwMode="auto">
            <a:xfrm>
              <a:off x="2544" y="1920"/>
              <a:ext cx="8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693" name="Text Box 13"/>
            <p:cNvSpPr txBox="1">
              <a:spLocks noChangeArrowheads="1"/>
            </p:cNvSpPr>
            <p:nvPr/>
          </p:nvSpPr>
          <p:spPr bwMode="auto">
            <a:xfrm>
              <a:off x="2304" y="1632"/>
              <a:ext cx="1286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 dirty="0"/>
                <a:t>switch</a:t>
              </a:r>
              <a:r>
                <a:rPr lang="en-US" altLang="en-US" dirty="0"/>
                <a:t>: scheduled</a:t>
              </a:r>
            </a:p>
          </p:txBody>
        </p:sp>
      </p:grpSp>
      <p:grpSp>
        <p:nvGrpSpPr>
          <p:cNvPr id="327694" name="Group 14"/>
          <p:cNvGrpSpPr>
            <a:grpSpLocks/>
          </p:cNvGrpSpPr>
          <p:nvPr/>
        </p:nvGrpSpPr>
        <p:grpSpPr bwMode="auto">
          <a:xfrm>
            <a:off x="6542088" y="2244725"/>
            <a:ext cx="828675" cy="627063"/>
            <a:chOff x="4121" y="1414"/>
            <a:chExt cx="522" cy="395"/>
          </a:xfrm>
        </p:grpSpPr>
        <p:sp>
          <p:nvSpPr>
            <p:cNvPr id="327695" name="Line 15"/>
            <p:cNvSpPr>
              <a:spLocks noChangeShapeType="1"/>
            </p:cNvSpPr>
            <p:nvPr/>
          </p:nvSpPr>
          <p:spPr bwMode="auto">
            <a:xfrm flipV="1">
              <a:off x="4121" y="1414"/>
              <a:ext cx="373" cy="3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696" name="Text Box 16"/>
            <p:cNvSpPr txBox="1">
              <a:spLocks noChangeArrowheads="1"/>
            </p:cNvSpPr>
            <p:nvPr/>
          </p:nvSpPr>
          <p:spPr bwMode="auto">
            <a:xfrm>
              <a:off x="4328" y="1546"/>
              <a:ext cx="315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/>
                <a:t>exit</a:t>
              </a:r>
            </a:p>
          </p:txBody>
        </p:sp>
      </p:grpSp>
      <p:grpSp>
        <p:nvGrpSpPr>
          <p:cNvPr id="327697" name="Group 17"/>
          <p:cNvGrpSpPr>
            <a:grpSpLocks/>
          </p:cNvGrpSpPr>
          <p:nvPr/>
        </p:nvGrpSpPr>
        <p:grpSpPr bwMode="auto">
          <a:xfrm>
            <a:off x="5294313" y="3673475"/>
            <a:ext cx="1922462" cy="1150938"/>
            <a:chOff x="3335" y="2314"/>
            <a:chExt cx="1211" cy="725"/>
          </a:xfrm>
        </p:grpSpPr>
        <p:sp>
          <p:nvSpPr>
            <p:cNvPr id="327698" name="Line 18"/>
            <p:cNvSpPr>
              <a:spLocks noChangeShapeType="1"/>
            </p:cNvSpPr>
            <p:nvPr/>
          </p:nvSpPr>
          <p:spPr bwMode="auto">
            <a:xfrm flipH="1">
              <a:off x="3335" y="2314"/>
              <a:ext cx="624" cy="7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699" name="Text Box 19"/>
            <p:cNvSpPr txBox="1">
              <a:spLocks noChangeArrowheads="1"/>
            </p:cNvSpPr>
            <p:nvPr/>
          </p:nvSpPr>
          <p:spPr bwMode="auto">
            <a:xfrm>
              <a:off x="3796" y="2545"/>
              <a:ext cx="750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/>
                <a:t>event wait</a:t>
              </a:r>
            </a:p>
          </p:txBody>
        </p:sp>
      </p:grpSp>
      <p:grpSp>
        <p:nvGrpSpPr>
          <p:cNvPr id="327700" name="Group 20"/>
          <p:cNvGrpSpPr>
            <a:grpSpLocks/>
          </p:cNvGrpSpPr>
          <p:nvPr/>
        </p:nvGrpSpPr>
        <p:grpSpPr bwMode="auto">
          <a:xfrm>
            <a:off x="2420938" y="3673475"/>
            <a:ext cx="1846262" cy="1150938"/>
            <a:chOff x="1525" y="2314"/>
            <a:chExt cx="1163" cy="725"/>
          </a:xfrm>
        </p:grpSpPr>
        <p:sp>
          <p:nvSpPr>
            <p:cNvPr id="327701" name="Line 21"/>
            <p:cNvSpPr>
              <a:spLocks noChangeShapeType="1"/>
            </p:cNvSpPr>
            <p:nvPr/>
          </p:nvSpPr>
          <p:spPr bwMode="auto">
            <a:xfrm flipH="1" flipV="1">
              <a:off x="2100" y="2314"/>
              <a:ext cx="588" cy="7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02" name="Text Box 22"/>
            <p:cNvSpPr txBox="1">
              <a:spLocks noChangeArrowheads="1"/>
            </p:cNvSpPr>
            <p:nvPr/>
          </p:nvSpPr>
          <p:spPr bwMode="auto">
            <a:xfrm>
              <a:off x="1525" y="2668"/>
              <a:ext cx="881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dirty="0"/>
                <a:t>event occurs</a:t>
              </a:r>
            </a:p>
          </p:txBody>
        </p:sp>
      </p:grpSp>
      <p:grpSp>
        <p:nvGrpSpPr>
          <p:cNvPr id="327703" name="Group 23"/>
          <p:cNvGrpSpPr>
            <a:grpSpLocks/>
          </p:cNvGrpSpPr>
          <p:nvPr/>
        </p:nvGrpSpPr>
        <p:grpSpPr bwMode="auto">
          <a:xfrm>
            <a:off x="914400" y="2362200"/>
            <a:ext cx="796925" cy="1044575"/>
            <a:chOff x="576" y="1590"/>
            <a:chExt cx="502" cy="658"/>
          </a:xfrm>
        </p:grpSpPr>
        <p:sp>
          <p:nvSpPr>
            <p:cNvPr id="327704" name="Line 24"/>
            <p:cNvSpPr>
              <a:spLocks noChangeShapeType="1"/>
            </p:cNvSpPr>
            <p:nvPr/>
          </p:nvSpPr>
          <p:spPr bwMode="auto">
            <a:xfrm flipV="1">
              <a:off x="604" y="1590"/>
              <a:ext cx="0" cy="6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05" name="Text Box 25"/>
            <p:cNvSpPr txBox="1">
              <a:spLocks noChangeArrowheads="1"/>
            </p:cNvSpPr>
            <p:nvPr/>
          </p:nvSpPr>
          <p:spPr bwMode="auto">
            <a:xfrm>
              <a:off x="576" y="1824"/>
              <a:ext cx="502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/>
                <a:t>create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5360988" y="2886778"/>
            <a:ext cx="1847148" cy="762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Running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66139" y="1600200"/>
            <a:ext cx="1426982" cy="762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New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915162" y="4824413"/>
            <a:ext cx="1705765" cy="762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Blocked</a:t>
            </a:r>
            <a:endParaRPr lang="en-SG" sz="2800" b="1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446132" y="1462766"/>
            <a:ext cx="2209800" cy="76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Terminated</a:t>
            </a:r>
            <a:endParaRPr lang="en-SG" sz="2800" b="1" dirty="0">
              <a:solidFill>
                <a:schemeClr val="tx1"/>
              </a:solidFill>
            </a:endParaRPr>
          </a:p>
        </p:txBody>
      </p:sp>
      <p:grpSp>
        <p:nvGrpSpPr>
          <p:cNvPr id="327706" name="Group 26"/>
          <p:cNvGrpSpPr>
            <a:grpSpLocks/>
          </p:cNvGrpSpPr>
          <p:nvPr/>
        </p:nvGrpSpPr>
        <p:grpSpPr bwMode="auto">
          <a:xfrm>
            <a:off x="3810000" y="3520542"/>
            <a:ext cx="1762125" cy="696912"/>
            <a:chOff x="2400" y="2117"/>
            <a:chExt cx="1110" cy="439"/>
          </a:xfrm>
        </p:grpSpPr>
        <p:sp>
          <p:nvSpPr>
            <p:cNvPr id="327707" name="Line 27"/>
            <p:cNvSpPr>
              <a:spLocks noChangeShapeType="1"/>
            </p:cNvSpPr>
            <p:nvPr/>
          </p:nvSpPr>
          <p:spPr bwMode="auto">
            <a:xfrm>
              <a:off x="2549" y="2117"/>
              <a:ext cx="8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708" name="Text Box 28"/>
            <p:cNvSpPr txBox="1">
              <a:spLocks noChangeArrowheads="1"/>
            </p:cNvSpPr>
            <p:nvPr/>
          </p:nvSpPr>
          <p:spPr bwMode="auto">
            <a:xfrm>
              <a:off x="2400" y="2160"/>
              <a:ext cx="1110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 dirty="0"/>
                <a:t>switch:</a:t>
              </a:r>
              <a:r>
                <a:rPr lang="en-US" altLang="en-US" dirty="0"/>
                <a:t> release</a:t>
              </a:r>
            </a:p>
            <a:p>
              <a:r>
                <a:rPr lang="en-US" altLang="en-US" dirty="0"/>
                <a:t>	CPU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6B1155-6D6A-3A84-563A-589171602B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48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A5F33-B908-2EB0-66DD-ED55935F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85064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1" grpId="0" animBg="1"/>
      <p:bldP spid="33" grpId="0" animBg="1"/>
      <p:bldP spid="34" grpId="0" animBg="1"/>
      <p:bldP spid="3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 States for 5-Stage Model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New</a:t>
            </a:r>
            <a:r>
              <a:rPr lang="en-US" altLang="en-US" sz="2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</a:p>
          <a:p>
            <a:pPr lvl="1"/>
            <a:r>
              <a:rPr lang="en-US" altLang="en-US" sz="2200" dirty="0"/>
              <a:t>New process created</a:t>
            </a:r>
          </a:p>
          <a:p>
            <a:pPr lvl="1"/>
            <a:r>
              <a:rPr lang="en-US" altLang="en-US" sz="2200" dirty="0"/>
              <a:t>May still be under initialization </a:t>
            </a:r>
            <a:r>
              <a:rPr lang="en-US" altLang="en-US" sz="2200" dirty="0">
                <a:sym typeface="Wingdings" pitchFamily="2" charset="2"/>
              </a:rPr>
              <a:t> </a:t>
            </a:r>
            <a:r>
              <a:rPr lang="en-US" altLang="en-US" sz="2200" dirty="0"/>
              <a:t>not yet ready</a:t>
            </a:r>
          </a:p>
          <a:p>
            <a:r>
              <a:rPr lang="en-US" altLang="en-US" sz="2600" b="1" dirty="0">
                <a:solidFill>
                  <a:srgbClr val="002060"/>
                </a:solidFill>
              </a:rPr>
              <a:t>Ready</a:t>
            </a:r>
            <a:r>
              <a:rPr lang="en-US" altLang="en-US" sz="2600" dirty="0">
                <a:solidFill>
                  <a:schemeClr val="accent6"/>
                </a:solidFill>
              </a:rPr>
              <a:t>: </a:t>
            </a:r>
          </a:p>
          <a:p>
            <a:pPr lvl="1"/>
            <a:r>
              <a:rPr lang="en-US" altLang="en-US" sz="2200" dirty="0"/>
              <a:t>process is waiting to run</a:t>
            </a:r>
          </a:p>
          <a:p>
            <a:r>
              <a:rPr lang="en-US" altLang="en-US" sz="2600" b="1" dirty="0">
                <a:solidFill>
                  <a:srgbClr val="006600"/>
                </a:solidFill>
              </a:rPr>
              <a:t>Running</a:t>
            </a:r>
            <a:r>
              <a:rPr lang="en-US" altLang="en-US" sz="2600" dirty="0">
                <a:solidFill>
                  <a:srgbClr val="003300"/>
                </a:solidFill>
              </a:rPr>
              <a:t>: </a:t>
            </a:r>
          </a:p>
          <a:p>
            <a:pPr lvl="1"/>
            <a:r>
              <a:rPr lang="en-US" altLang="en-US" sz="2200" dirty="0"/>
              <a:t>Process being executed on CPU </a:t>
            </a:r>
          </a:p>
          <a:p>
            <a:r>
              <a:rPr lang="en-US" altLang="en-US" sz="2600" b="1" dirty="0">
                <a:solidFill>
                  <a:schemeClr val="accent6">
                    <a:lumMod val="75000"/>
                  </a:schemeClr>
                </a:solidFill>
              </a:rPr>
              <a:t>Blocked</a:t>
            </a:r>
            <a:r>
              <a:rPr lang="en-US" altLang="en-US" sz="2600" dirty="0"/>
              <a:t>: </a:t>
            </a:r>
          </a:p>
          <a:p>
            <a:pPr lvl="1"/>
            <a:r>
              <a:rPr lang="en-US" altLang="en-US" sz="2200" dirty="0"/>
              <a:t>Process waiting (sleeping) for event</a:t>
            </a:r>
          </a:p>
          <a:p>
            <a:pPr lvl="1"/>
            <a:r>
              <a:rPr lang="en-US" altLang="en-US" sz="2200" dirty="0"/>
              <a:t>Cannot execute until event is available</a:t>
            </a:r>
          </a:p>
          <a:p>
            <a:r>
              <a:rPr lang="en-US" altLang="en-US" sz="2600" b="1" dirty="0">
                <a:solidFill>
                  <a:srgbClr val="C00000"/>
                </a:solidFill>
              </a:rPr>
              <a:t>Terminated</a:t>
            </a:r>
            <a:r>
              <a:rPr lang="en-US" altLang="en-US" sz="2600" dirty="0">
                <a:solidFill>
                  <a:srgbClr val="C00000"/>
                </a:solidFill>
              </a:rPr>
              <a:t>: </a:t>
            </a:r>
          </a:p>
          <a:p>
            <a:pPr lvl="1"/>
            <a:r>
              <a:rPr lang="en-US" altLang="en-US" sz="2200" dirty="0"/>
              <a:t>Process has finished execution, may require OS cleanup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044179-1EDE-9C64-7262-2E382D364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49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99077-1E62-BB8B-A56C-80C27E18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1511724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Process State Transitions in 5-Stage Model</a:t>
            </a:r>
          </a:p>
        </p:txBody>
      </p:sp>
      <p:sp>
        <p:nvSpPr>
          <p:cNvPr id="331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</a:t>
            </a:r>
            <a:r>
              <a:rPr lang="en-US" altLang="en-US" dirty="0"/>
              <a:t> (nil </a:t>
            </a:r>
            <a:r>
              <a:rPr lang="en-US" altLang="en-US" dirty="0">
                <a:cs typeface="Arial" charset="0"/>
              </a:rPr>
              <a:t>→ New)</a:t>
            </a:r>
            <a:r>
              <a:rPr lang="en-US" altLang="en-US" dirty="0"/>
              <a:t>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New process is created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Admit</a:t>
            </a:r>
            <a:r>
              <a:rPr lang="en-US" altLang="en-US" dirty="0"/>
              <a:t> (New </a:t>
            </a:r>
            <a:r>
              <a:rPr lang="en-US" altLang="en-US" dirty="0">
                <a:cs typeface="Arial" charset="0"/>
              </a:rPr>
              <a:t>→ Ready):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Process ready to be scheduled for running</a:t>
            </a:r>
          </a:p>
          <a:p>
            <a:pPr lvl="1">
              <a:lnSpc>
                <a:spcPct val="90000"/>
              </a:lnSpc>
            </a:pPr>
            <a:endParaRPr lang="en-US" altLang="en-US" dirty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</a:t>
            </a:r>
            <a:r>
              <a:rPr lang="en-US" altLang="en-US" dirty="0">
                <a:cs typeface="Arial" charset="0"/>
              </a:rPr>
              <a:t> (Ready → Running):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Process selected to run</a:t>
            </a:r>
          </a:p>
          <a:p>
            <a:pPr lvl="1">
              <a:lnSpc>
                <a:spcPct val="90000"/>
              </a:lnSpc>
            </a:pPr>
            <a:endParaRPr lang="en-US" altLang="en-US" dirty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</a:t>
            </a:r>
            <a:r>
              <a:rPr lang="en-US" altLang="en-US" dirty="0">
                <a:cs typeface="Arial" charset="0"/>
              </a:rPr>
              <a:t> (Running → Ready):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Process gives up CPU voluntarily or </a:t>
            </a:r>
            <a:r>
              <a:rPr lang="en-US" altLang="en-US" i="1" dirty="0">
                <a:cs typeface="Arial" charset="0"/>
              </a:rPr>
              <a:t>preempted </a:t>
            </a:r>
            <a:r>
              <a:rPr lang="en-US" altLang="en-US" dirty="0">
                <a:cs typeface="Arial" charset="0"/>
              </a:rPr>
              <a:t>by scheduler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4088C5-C47A-6389-68B7-D1E77CEB9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50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9F105-7697-7ECC-1C7B-585156F4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727235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 State Transitions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</a:t>
            </a:r>
            <a:r>
              <a:rPr lang="en-US" altLang="en-US" dirty="0">
                <a:solidFill>
                  <a:srgbClr val="C00000"/>
                </a:solidFill>
                <a:cs typeface="Arial" charset="0"/>
              </a:rPr>
              <a:t> </a:t>
            </a: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wait</a:t>
            </a:r>
            <a:r>
              <a:rPr lang="en-US" altLang="en-US" dirty="0">
                <a:solidFill>
                  <a:srgbClr val="C00000"/>
                </a:solidFill>
                <a:cs typeface="Arial" charset="0"/>
              </a:rPr>
              <a:t> </a:t>
            </a:r>
            <a:r>
              <a:rPr lang="en-US" altLang="en-US" dirty="0">
                <a:cs typeface="Arial" charset="0"/>
              </a:rPr>
              <a:t>(Running → Blocked):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Process requests event/resource/service which is not available/in progress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Example events: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System call, waiting for I/O, </a:t>
            </a:r>
            <a:r>
              <a:rPr lang="en-US" altLang="en-US" i="1" dirty="0">
                <a:cs typeface="Arial" charset="0"/>
              </a:rPr>
              <a:t>(more later)</a:t>
            </a:r>
          </a:p>
          <a:p>
            <a:pPr lvl="2">
              <a:lnSpc>
                <a:spcPct val="90000"/>
              </a:lnSpc>
            </a:pPr>
            <a:endParaRPr lang="en-US" altLang="en-US" dirty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Event</a:t>
            </a:r>
            <a:r>
              <a:rPr lang="en-US" altLang="en-US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occurs</a:t>
            </a:r>
            <a:r>
              <a:rPr lang="en-US" altLang="en-US" dirty="0">
                <a:cs typeface="Arial" charset="0"/>
              </a:rPr>
              <a:t> (Blocked → Ready):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Event occurs </a:t>
            </a:r>
            <a:r>
              <a:rPr lang="en-US" altLang="en-US" dirty="0">
                <a:cs typeface="Arial" charset="0"/>
                <a:sym typeface="Wingdings" panose="05000000000000000000" pitchFamily="2" charset="2"/>
              </a:rPr>
              <a:t> </a:t>
            </a:r>
            <a:r>
              <a:rPr lang="en-US" altLang="en-US" dirty="0">
                <a:cs typeface="Arial" charset="0"/>
              </a:rPr>
              <a:t>process can continue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6F9B4-5D7F-49D7-A3DA-91C09C9A71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51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A2E97-735A-0852-375E-4FD78E0D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1429646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Global View of </a:t>
            </a:r>
            <a:r>
              <a:rPr lang="en-US" altLang="en-US" b="1" dirty="0">
                <a:solidFill>
                  <a:srgbClr val="C00000"/>
                </a:solidFill>
              </a:rPr>
              <a:t>Process States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Given </a:t>
            </a:r>
            <a:r>
              <a:rPr lang="en-US" altLang="en-US" b="1" i="1" dirty="0">
                <a:solidFill>
                  <a:srgbClr val="0033CC"/>
                </a:solidFill>
              </a:rPr>
              <a:t>n</a:t>
            </a:r>
            <a:r>
              <a:rPr lang="en-US" altLang="en-US" dirty="0"/>
              <a:t> processes: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With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CPU</a:t>
            </a:r>
            <a:r>
              <a:rPr lang="en-US" altLang="en-US" b="1" dirty="0">
                <a:solidFill>
                  <a:srgbClr val="660066"/>
                </a:solidFill>
              </a:rPr>
              <a:t>: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 1 process in running state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conceptually 1 transition at a time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8000"/>
                </a:solidFill>
                <a:sym typeface="Symbol" panose="05050102010706020507" pitchFamily="18" charset="2"/>
              </a:rPr>
              <a:t>With </a:t>
            </a:r>
            <a:r>
              <a:rPr lang="en-US" altLang="en-US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m</a:t>
            </a:r>
            <a:r>
              <a:rPr lang="en-US" altLang="en-US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CPUs</a:t>
            </a:r>
            <a:r>
              <a:rPr lang="en-US" altLang="en-US" b="1" dirty="0">
                <a:solidFill>
                  <a:srgbClr val="008000"/>
                </a:solidFill>
                <a:sym typeface="Symbol" panose="05050102010706020507" pitchFamily="18" charset="2"/>
              </a:rPr>
              <a:t>: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m</a:t>
            </a:r>
            <a:r>
              <a:rPr lang="en-US" altLang="en-US" dirty="0">
                <a:sym typeface="Symbol" panose="05050102010706020507" pitchFamily="18" charset="2"/>
              </a:rPr>
              <a:t> process in running state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possibly parallel transitions</a:t>
            </a:r>
          </a:p>
          <a:p>
            <a:pPr lvl="2">
              <a:lnSpc>
                <a:spcPct val="90000"/>
              </a:lnSpc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Different processes may be in different states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each process may be in different part of its state diagram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7608EA-7C49-0369-E108-90B7D7016D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52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B91DD-CD41-E50B-B042-9F9FE33D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57729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5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/>
              <a:t>Queuing Model of 5 State Transition</a:t>
            </a:r>
          </a:p>
        </p:txBody>
      </p:sp>
      <p:sp>
        <p:nvSpPr>
          <p:cNvPr id="337923" name="Line 3"/>
          <p:cNvSpPr>
            <a:spLocks noChangeShapeType="1"/>
          </p:cNvSpPr>
          <p:nvPr/>
        </p:nvSpPr>
        <p:spPr bwMode="auto">
          <a:xfrm>
            <a:off x="890588" y="2571750"/>
            <a:ext cx="1247775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24" name="Rectangle 4"/>
          <p:cNvSpPr>
            <a:spLocks noChangeArrowheads="1"/>
          </p:cNvSpPr>
          <p:nvPr/>
        </p:nvSpPr>
        <p:spPr bwMode="auto">
          <a:xfrm>
            <a:off x="2270125" y="2362200"/>
            <a:ext cx="328613" cy="349250"/>
          </a:xfrm>
          <a:prstGeom prst="rect">
            <a:avLst/>
          </a:prstGeom>
          <a:solidFill>
            <a:srgbClr val="D9FFB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25" name="Rectangle 5"/>
          <p:cNvSpPr>
            <a:spLocks noChangeArrowheads="1"/>
          </p:cNvSpPr>
          <p:nvPr/>
        </p:nvSpPr>
        <p:spPr bwMode="auto">
          <a:xfrm>
            <a:off x="2598738" y="2362200"/>
            <a:ext cx="328612" cy="349250"/>
          </a:xfrm>
          <a:prstGeom prst="rect">
            <a:avLst/>
          </a:prstGeom>
          <a:solidFill>
            <a:srgbClr val="D9FFB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26" name="Rectangle 6"/>
          <p:cNvSpPr>
            <a:spLocks noChangeArrowheads="1"/>
          </p:cNvSpPr>
          <p:nvPr/>
        </p:nvSpPr>
        <p:spPr bwMode="auto">
          <a:xfrm>
            <a:off x="2927350" y="2362200"/>
            <a:ext cx="328613" cy="349250"/>
          </a:xfrm>
          <a:prstGeom prst="rect">
            <a:avLst/>
          </a:prstGeom>
          <a:solidFill>
            <a:srgbClr val="D9FFB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27" name="Rectangle 7"/>
          <p:cNvSpPr>
            <a:spLocks noChangeArrowheads="1"/>
          </p:cNvSpPr>
          <p:nvPr/>
        </p:nvSpPr>
        <p:spPr bwMode="auto">
          <a:xfrm>
            <a:off x="3255963" y="2362200"/>
            <a:ext cx="328612" cy="349250"/>
          </a:xfrm>
          <a:prstGeom prst="rect">
            <a:avLst/>
          </a:prstGeom>
          <a:solidFill>
            <a:srgbClr val="D9FFB3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28" name="Line 8"/>
          <p:cNvSpPr>
            <a:spLocks noChangeShapeType="1"/>
          </p:cNvSpPr>
          <p:nvPr/>
        </p:nvSpPr>
        <p:spPr bwMode="auto">
          <a:xfrm>
            <a:off x="3584575" y="2571750"/>
            <a:ext cx="1312863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0" name="Line 10"/>
          <p:cNvSpPr>
            <a:spLocks noChangeShapeType="1"/>
          </p:cNvSpPr>
          <p:nvPr/>
        </p:nvSpPr>
        <p:spPr bwMode="auto">
          <a:xfrm flipV="1">
            <a:off x="6744587" y="2393242"/>
            <a:ext cx="1637414" cy="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3" name="Rectangle 13"/>
          <p:cNvSpPr>
            <a:spLocks noChangeArrowheads="1"/>
          </p:cNvSpPr>
          <p:nvPr/>
        </p:nvSpPr>
        <p:spPr bwMode="auto">
          <a:xfrm>
            <a:off x="2270125" y="4821237"/>
            <a:ext cx="328613" cy="347663"/>
          </a:xfrm>
          <a:prstGeom prst="rect">
            <a:avLst/>
          </a:prstGeom>
          <a:solidFill>
            <a:srgbClr val="A1ED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34" name="Rectangle 14"/>
          <p:cNvSpPr>
            <a:spLocks noChangeArrowheads="1"/>
          </p:cNvSpPr>
          <p:nvPr/>
        </p:nvSpPr>
        <p:spPr bwMode="auto">
          <a:xfrm>
            <a:off x="2598738" y="4821237"/>
            <a:ext cx="328612" cy="347663"/>
          </a:xfrm>
          <a:prstGeom prst="rect">
            <a:avLst/>
          </a:prstGeom>
          <a:solidFill>
            <a:srgbClr val="A1ED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35" name="Rectangle 15"/>
          <p:cNvSpPr>
            <a:spLocks noChangeArrowheads="1"/>
          </p:cNvSpPr>
          <p:nvPr/>
        </p:nvSpPr>
        <p:spPr bwMode="auto">
          <a:xfrm>
            <a:off x="2927350" y="4821237"/>
            <a:ext cx="328613" cy="347663"/>
          </a:xfrm>
          <a:prstGeom prst="rect">
            <a:avLst/>
          </a:prstGeom>
          <a:solidFill>
            <a:srgbClr val="A1ED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36" name="Rectangle 16"/>
          <p:cNvSpPr>
            <a:spLocks noChangeArrowheads="1"/>
          </p:cNvSpPr>
          <p:nvPr/>
        </p:nvSpPr>
        <p:spPr bwMode="auto">
          <a:xfrm>
            <a:off x="3255963" y="4821237"/>
            <a:ext cx="328612" cy="347663"/>
          </a:xfrm>
          <a:prstGeom prst="rect">
            <a:avLst/>
          </a:prstGeom>
          <a:solidFill>
            <a:srgbClr val="A1ED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37" name="Freeform 17"/>
          <p:cNvSpPr>
            <a:spLocks/>
          </p:cNvSpPr>
          <p:nvPr/>
        </p:nvSpPr>
        <p:spPr bwMode="auto">
          <a:xfrm>
            <a:off x="3649663" y="3886200"/>
            <a:ext cx="3810000" cy="1144587"/>
          </a:xfrm>
          <a:custGeom>
            <a:avLst/>
            <a:gdLst>
              <a:gd name="T0" fmla="*/ 2784 w 2784"/>
              <a:gd name="T1" fmla="*/ 0 h 624"/>
              <a:gd name="T2" fmla="*/ 2784 w 2784"/>
              <a:gd name="T3" fmla="*/ 624 h 624"/>
              <a:gd name="T4" fmla="*/ 0 w 2784"/>
              <a:gd name="T5" fmla="*/ 624 h 6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84" h="624">
                <a:moveTo>
                  <a:pt x="2784" y="0"/>
                </a:moveTo>
                <a:lnTo>
                  <a:pt x="2784" y="624"/>
                </a:lnTo>
                <a:lnTo>
                  <a:pt x="0" y="624"/>
                </a:lnTo>
              </a:path>
            </a:pathLst>
          </a:custGeom>
          <a:noFill/>
          <a:ln w="28575" cmpd="sng">
            <a:solidFill>
              <a:srgbClr val="3333CC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8" name="Freeform 18"/>
          <p:cNvSpPr>
            <a:spLocks/>
          </p:cNvSpPr>
          <p:nvPr/>
        </p:nvSpPr>
        <p:spPr bwMode="auto">
          <a:xfrm>
            <a:off x="1350963" y="3886200"/>
            <a:ext cx="854075" cy="1144587"/>
          </a:xfrm>
          <a:custGeom>
            <a:avLst/>
            <a:gdLst>
              <a:gd name="T0" fmla="*/ 624 w 624"/>
              <a:gd name="T1" fmla="*/ 576 h 576"/>
              <a:gd name="T2" fmla="*/ 0 w 624"/>
              <a:gd name="T3" fmla="*/ 576 h 576"/>
              <a:gd name="T4" fmla="*/ 0 w 624"/>
              <a:gd name="T5" fmla="*/ 0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24" h="576">
                <a:moveTo>
                  <a:pt x="624" y="576"/>
                </a:moveTo>
                <a:lnTo>
                  <a:pt x="0" y="576"/>
                </a:lnTo>
                <a:lnTo>
                  <a:pt x="0" y="0"/>
                </a:lnTo>
              </a:path>
            </a:pathLst>
          </a:custGeom>
          <a:noFill/>
          <a:ln w="28575" cmpd="sng">
            <a:solidFill>
              <a:srgbClr val="3333CC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39" name="Text Box 19"/>
          <p:cNvSpPr txBox="1">
            <a:spLocks noChangeArrowheads="1"/>
          </p:cNvSpPr>
          <p:nvPr/>
        </p:nvSpPr>
        <p:spPr bwMode="auto">
          <a:xfrm>
            <a:off x="3832225" y="2163763"/>
            <a:ext cx="881354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/>
              <a:t>switch</a:t>
            </a:r>
          </a:p>
        </p:txBody>
      </p:sp>
      <p:sp>
        <p:nvSpPr>
          <p:cNvPr id="337940" name="Text Box 20"/>
          <p:cNvSpPr txBox="1">
            <a:spLocks noChangeArrowheads="1"/>
          </p:cNvSpPr>
          <p:nvPr/>
        </p:nvSpPr>
        <p:spPr bwMode="auto">
          <a:xfrm>
            <a:off x="3494913" y="2711450"/>
            <a:ext cx="1586675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/>
              <a:t>by scheduler</a:t>
            </a:r>
          </a:p>
        </p:txBody>
      </p:sp>
      <p:sp>
        <p:nvSpPr>
          <p:cNvPr id="337941" name="Text Box 21"/>
          <p:cNvSpPr txBox="1">
            <a:spLocks noChangeArrowheads="1"/>
          </p:cNvSpPr>
          <p:nvPr/>
        </p:nvSpPr>
        <p:spPr bwMode="auto">
          <a:xfrm>
            <a:off x="961582" y="2213942"/>
            <a:ext cx="778762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/>
              <a:t>admit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350963" y="2641602"/>
            <a:ext cx="6108700" cy="1206969"/>
            <a:chOff x="1350963" y="2641600"/>
            <a:chExt cx="6108700" cy="939280"/>
          </a:xfrm>
        </p:grpSpPr>
        <p:sp>
          <p:nvSpPr>
            <p:cNvPr id="337931" name="Freeform 11"/>
            <p:cNvSpPr>
              <a:spLocks/>
            </p:cNvSpPr>
            <p:nvPr/>
          </p:nvSpPr>
          <p:spPr bwMode="auto">
            <a:xfrm>
              <a:off x="6744586" y="2641600"/>
              <a:ext cx="715077" cy="906463"/>
            </a:xfrm>
            <a:custGeom>
              <a:avLst/>
              <a:gdLst>
                <a:gd name="T0" fmla="*/ 0 w 432"/>
                <a:gd name="T1" fmla="*/ 0 h 624"/>
                <a:gd name="T2" fmla="*/ 432 w 432"/>
                <a:gd name="T3" fmla="*/ 0 h 624"/>
                <a:gd name="T4" fmla="*/ 432 w 432"/>
                <a:gd name="T5" fmla="*/ 576 h 624"/>
                <a:gd name="T6" fmla="*/ 432 w 432"/>
                <a:gd name="T7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2" h="624">
                  <a:moveTo>
                    <a:pt x="0" y="0"/>
                  </a:moveTo>
                  <a:lnTo>
                    <a:pt x="432" y="0"/>
                  </a:lnTo>
                  <a:lnTo>
                    <a:pt x="432" y="576"/>
                  </a:lnTo>
                  <a:lnTo>
                    <a:pt x="432" y="624"/>
                  </a:lnTo>
                </a:path>
              </a:pathLst>
            </a:custGeom>
            <a:noFill/>
            <a:ln w="28575" cmpd="sng">
              <a:solidFill>
                <a:srgbClr val="E287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932" name="Freeform 12"/>
            <p:cNvSpPr>
              <a:spLocks/>
            </p:cNvSpPr>
            <p:nvPr/>
          </p:nvSpPr>
          <p:spPr bwMode="auto">
            <a:xfrm>
              <a:off x="1350963" y="2641600"/>
              <a:ext cx="6108700" cy="906463"/>
            </a:xfrm>
            <a:custGeom>
              <a:avLst/>
              <a:gdLst>
                <a:gd name="T0" fmla="*/ 4464 w 4464"/>
                <a:gd name="T1" fmla="*/ 624 h 624"/>
                <a:gd name="T2" fmla="*/ 0 w 4464"/>
                <a:gd name="T3" fmla="*/ 624 h 624"/>
                <a:gd name="T4" fmla="*/ 0 w 4464"/>
                <a:gd name="T5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64" h="624">
                  <a:moveTo>
                    <a:pt x="4464" y="624"/>
                  </a:moveTo>
                  <a:lnTo>
                    <a:pt x="0" y="624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E287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7942" name="Text Box 22"/>
            <p:cNvSpPr txBox="1">
              <a:spLocks noChangeArrowheads="1"/>
            </p:cNvSpPr>
            <p:nvPr/>
          </p:nvSpPr>
          <p:spPr bwMode="auto">
            <a:xfrm>
              <a:off x="5104618" y="3222278"/>
              <a:ext cx="1432787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 dirty="0"/>
                <a:t>release </a:t>
              </a:r>
              <a:r>
                <a:rPr lang="en-US" altLang="en-US" b="1" dirty="0" err="1"/>
                <a:t>cpu</a:t>
              </a:r>
              <a:endParaRPr lang="en-US" altLang="en-US" b="1" dirty="0"/>
            </a:p>
          </p:txBody>
        </p:sp>
      </p:grpSp>
      <p:sp>
        <p:nvSpPr>
          <p:cNvPr id="337943" name="Text Box 23"/>
          <p:cNvSpPr txBox="1">
            <a:spLocks noChangeArrowheads="1"/>
          </p:cNvSpPr>
          <p:nvPr/>
        </p:nvSpPr>
        <p:spPr bwMode="auto">
          <a:xfrm>
            <a:off x="5081588" y="4621212"/>
            <a:ext cx="1278898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/>
              <a:t>event wait</a:t>
            </a:r>
          </a:p>
        </p:txBody>
      </p:sp>
      <p:sp>
        <p:nvSpPr>
          <p:cNvPr id="337944" name="Text Box 24"/>
          <p:cNvSpPr txBox="1">
            <a:spLocks noChangeArrowheads="1"/>
          </p:cNvSpPr>
          <p:nvPr/>
        </p:nvSpPr>
        <p:spPr bwMode="auto">
          <a:xfrm>
            <a:off x="2500312" y="1604525"/>
            <a:ext cx="854075" cy="635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ready</a:t>
            </a:r>
          </a:p>
          <a:p>
            <a:r>
              <a:rPr lang="en-US" altLang="en-US" dirty="0"/>
              <a:t>queue</a:t>
            </a:r>
          </a:p>
        </p:txBody>
      </p:sp>
      <p:sp>
        <p:nvSpPr>
          <p:cNvPr id="337945" name="Text Box 25"/>
          <p:cNvSpPr txBox="1">
            <a:spLocks noChangeArrowheads="1"/>
          </p:cNvSpPr>
          <p:nvPr/>
        </p:nvSpPr>
        <p:spPr bwMode="auto">
          <a:xfrm>
            <a:off x="2466975" y="5238750"/>
            <a:ext cx="9493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/>
              <a:t>blocked</a:t>
            </a:r>
          </a:p>
          <a:p>
            <a:r>
              <a:rPr lang="en-US" altLang="en-US"/>
              <a:t>queue</a:t>
            </a:r>
          </a:p>
        </p:txBody>
      </p:sp>
      <p:sp>
        <p:nvSpPr>
          <p:cNvPr id="337947" name="Text Box 27"/>
          <p:cNvSpPr txBox="1">
            <a:spLocks noChangeArrowheads="1"/>
          </p:cNvSpPr>
          <p:nvPr/>
        </p:nvSpPr>
        <p:spPr bwMode="auto">
          <a:xfrm>
            <a:off x="7219720" y="1999019"/>
            <a:ext cx="560753" cy="358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/>
              <a:t>exit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934652" y="1199712"/>
            <a:ext cx="1847148" cy="1598613"/>
            <a:chOff x="5131151" y="-149879"/>
            <a:chExt cx="1847148" cy="1598613"/>
          </a:xfrm>
        </p:grpSpPr>
        <p:sp>
          <p:nvSpPr>
            <p:cNvPr id="30" name="Rounded Rectangle 29"/>
            <p:cNvSpPr/>
            <p:nvPr/>
          </p:nvSpPr>
          <p:spPr>
            <a:xfrm>
              <a:off x="5131151" y="686734"/>
              <a:ext cx="1847148" cy="762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Running</a:t>
              </a:r>
            </a:p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Process</a:t>
              </a:r>
              <a:endParaRPr lang="en-SG" sz="2000" b="1" dirty="0">
                <a:solidFill>
                  <a:schemeClr val="tx1"/>
                </a:solidFill>
              </a:endParaRPr>
            </a:p>
          </p:txBody>
        </p:sp>
        <p:pic>
          <p:nvPicPr>
            <p:cNvPr id="31" name="Picture 2" descr="https://lh3.googleusercontent.com/3xgXI2Pgv8nIrFBOvsDaucRGIRjTAYX90w7NWkJRQdssgbMD5bSLeH2Kb4_3Nap9Jq0=w17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772" y="-149879"/>
              <a:ext cx="809625" cy="809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1CFD7-7EB5-799B-5299-2D3005178E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36267-2486-1C68-C561-78315E2B2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96256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3" grpId="0" animBg="1"/>
      <p:bldP spid="337924" grpId="0" animBg="1"/>
      <p:bldP spid="337925" grpId="0" animBg="1"/>
      <p:bldP spid="337926" grpId="0" animBg="1"/>
      <p:bldP spid="337927" grpId="0" animBg="1"/>
      <p:bldP spid="337928" grpId="0" animBg="1"/>
      <p:bldP spid="337930" grpId="0" animBg="1"/>
      <p:bldP spid="337933" grpId="0" animBg="1"/>
      <p:bldP spid="337934" grpId="0" animBg="1"/>
      <p:bldP spid="337935" grpId="0" animBg="1"/>
      <p:bldP spid="337936" grpId="0" animBg="1"/>
      <p:bldP spid="337937" grpId="0" animBg="1"/>
      <p:bldP spid="337938" grpId="0" animBg="1"/>
      <p:bldP spid="337939" grpId="0"/>
      <p:bldP spid="337940" grpId="0"/>
      <p:bldP spid="337941" grpId="0"/>
      <p:bldP spid="337943" grpId="0"/>
      <p:bldP spid="337944" grpId="0"/>
      <p:bldP spid="337945" grpId="0"/>
      <p:bldP spid="33794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Checkpoint: </a:t>
            </a:r>
            <a:r>
              <a:rPr lang="en-US" dirty="0"/>
              <a:t>Contexts updated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When a program is </a:t>
            </a:r>
            <a:r>
              <a:rPr lang="en-US" altLang="en-US" b="1" dirty="0"/>
              <a:t>under execution</a:t>
            </a:r>
            <a:r>
              <a:rPr lang="en-US" altLang="en-US" dirty="0"/>
              <a:t>, there are </a:t>
            </a:r>
            <a:r>
              <a:rPr lang="en-US" altLang="en-US" b="1" dirty="0"/>
              <a:t>more information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Memory context: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Text and Data, Stack and Heap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b="1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context: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General purpose registers, Program Counter, Stack pointer, Stack frame pointer, …</a:t>
            </a:r>
          </a:p>
          <a:p>
            <a:pPr lvl="2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OS context: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Process ID</a:t>
            </a:r>
            <a:r>
              <a:rPr lang="en-US" altLang="en-US" b="1" dirty="0"/>
              <a:t>, </a:t>
            </a:r>
            <a:r>
              <a:rPr lang="en-US" altLang="en-US" b="1" dirty="0">
                <a:solidFill>
                  <a:srgbClr val="C00000"/>
                </a:solidFill>
              </a:rPr>
              <a:t>Process State</a:t>
            </a:r>
            <a:r>
              <a:rPr lang="en-US" altLang="en-US" b="1" dirty="0"/>
              <a:t>, …</a:t>
            </a:r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2372-BCB7-76E4-6CD6-85D5A7D88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BB9DA-0C8D-2FB2-B140-5DA1F1D4B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3640201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Process Table </a:t>
            </a:r>
            <a:r>
              <a:rPr lang="en-US" altLang="en-US" dirty="0"/>
              <a:t>&amp; </a:t>
            </a:r>
            <a:br>
              <a:rPr lang="en-US" altLang="en-US" dirty="0"/>
            </a:br>
            <a:r>
              <a:rPr lang="en-US" altLang="en-US" dirty="0"/>
              <a:t>     </a:t>
            </a:r>
            <a:r>
              <a:rPr lang="en-US" altLang="en-US" b="1" dirty="0">
                <a:solidFill>
                  <a:srgbClr val="660066"/>
                </a:solidFill>
              </a:rPr>
              <a:t>Process Control Block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Putting it together</a:t>
            </a:r>
          </a:p>
        </p:txBody>
      </p:sp>
    </p:spTree>
    <p:extLst>
      <p:ext uri="{BB962C8B-B14F-4D97-AF65-F5344CB8AC3E}">
        <p14:creationId xmlns:p14="http://schemas.microsoft.com/office/powerpoint/2010/main" val="24145639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Control Block &amp; Table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The entire execution context for a process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P</a:t>
            </a:r>
            <a:r>
              <a:rPr lang="en-US" altLang="en-US" dirty="0">
                <a:solidFill>
                  <a:srgbClr val="660066"/>
                </a:solidFill>
              </a:rPr>
              <a:t>rocess </a:t>
            </a:r>
            <a:r>
              <a:rPr lang="en-US" altLang="en-US" b="1" dirty="0">
                <a:solidFill>
                  <a:srgbClr val="660066"/>
                </a:solidFill>
              </a:rPr>
              <a:t>C</a:t>
            </a:r>
            <a:r>
              <a:rPr lang="en-US" altLang="en-US" dirty="0">
                <a:solidFill>
                  <a:srgbClr val="660066"/>
                </a:solidFill>
              </a:rPr>
              <a:t>ontrol </a:t>
            </a:r>
            <a:r>
              <a:rPr lang="en-US" altLang="en-US" b="1" dirty="0">
                <a:solidFill>
                  <a:srgbClr val="660066"/>
                </a:solidFill>
              </a:rPr>
              <a:t>B</a:t>
            </a:r>
            <a:r>
              <a:rPr lang="en-US" altLang="en-US" dirty="0">
                <a:solidFill>
                  <a:srgbClr val="660066"/>
                </a:solidFill>
              </a:rPr>
              <a:t>lock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660066"/>
                </a:solidFill>
              </a:rPr>
              <a:t>PCB</a:t>
            </a:r>
            <a:r>
              <a:rPr lang="en-US" altLang="en-US" dirty="0"/>
              <a:t>) or </a:t>
            </a:r>
            <a:r>
              <a:rPr lang="en-US" altLang="en-US" b="1" dirty="0">
                <a:solidFill>
                  <a:srgbClr val="660066"/>
                </a:solidFill>
              </a:rPr>
              <a:t>P</a:t>
            </a:r>
            <a:r>
              <a:rPr lang="en-US" altLang="en-US" dirty="0">
                <a:solidFill>
                  <a:srgbClr val="660066"/>
                </a:solidFill>
              </a:rPr>
              <a:t>rocess </a:t>
            </a:r>
            <a:r>
              <a:rPr lang="en-US" altLang="en-US" b="1" dirty="0">
                <a:solidFill>
                  <a:srgbClr val="660066"/>
                </a:solidFill>
              </a:rPr>
              <a:t>T</a:t>
            </a:r>
            <a:r>
              <a:rPr lang="en-US" altLang="en-US" dirty="0">
                <a:solidFill>
                  <a:srgbClr val="660066"/>
                </a:solidFill>
              </a:rPr>
              <a:t>able </a:t>
            </a:r>
            <a:r>
              <a:rPr lang="en-US" altLang="en-US" b="1" dirty="0">
                <a:solidFill>
                  <a:srgbClr val="660066"/>
                </a:solidFill>
              </a:rPr>
              <a:t>E</a:t>
            </a:r>
            <a:r>
              <a:rPr lang="en-US" altLang="en-US" dirty="0">
                <a:solidFill>
                  <a:srgbClr val="660066"/>
                </a:solidFill>
              </a:rPr>
              <a:t>ntry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Kernel maintains </a:t>
            </a:r>
            <a:r>
              <a:rPr lang="en-US" altLang="en-US" b="1" dirty="0">
                <a:solidFill>
                  <a:srgbClr val="660066"/>
                </a:solidFill>
              </a:rPr>
              <a:t>PCB</a:t>
            </a:r>
            <a:r>
              <a:rPr lang="en-US" altLang="en-US" dirty="0"/>
              <a:t> for all processes</a:t>
            </a:r>
          </a:p>
          <a:p>
            <a:pPr lvl="1"/>
            <a:r>
              <a:rPr lang="en-US" altLang="en-US" dirty="0"/>
              <a:t>Conceptually stored as one table representing all processes</a:t>
            </a:r>
          </a:p>
          <a:p>
            <a:endParaRPr lang="en-US" altLang="en-US" dirty="0"/>
          </a:p>
          <a:p>
            <a:pPr>
              <a:buNone/>
            </a:pPr>
            <a:r>
              <a:rPr lang="en-US" altLang="en-US" dirty="0"/>
              <a:t>Interesting Issues: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Scalability</a:t>
            </a:r>
          </a:p>
          <a:p>
            <a:pPr lvl="1"/>
            <a:r>
              <a:rPr lang="en-US" altLang="en-US" dirty="0"/>
              <a:t>How many concurrent processes can you have? </a:t>
            </a:r>
          </a:p>
          <a:p>
            <a:r>
              <a:rPr lang="en-US" altLang="en-US" b="1" dirty="0">
                <a:solidFill>
                  <a:srgbClr val="006600"/>
                </a:solidFill>
                <a:cs typeface="Arial" charset="0"/>
              </a:rPr>
              <a:t>Efficiency</a:t>
            </a:r>
          </a:p>
          <a:p>
            <a:pPr lvl="1"/>
            <a:r>
              <a:rPr lang="en-US" altLang="en-US" dirty="0">
                <a:cs typeface="Arial" charset="0"/>
              </a:rPr>
              <a:t>Should provide efficient access with minimum space wastage</a:t>
            </a:r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96EA3E-505F-7329-EB82-E69F6CF3E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22600E-AA2C-9820-D4E7-BEA299416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69112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Illustration: </a:t>
            </a:r>
            <a:r>
              <a:rPr lang="en-US" b="1" dirty="0">
                <a:solidFill>
                  <a:srgbClr val="C00000"/>
                </a:solidFill>
              </a:rPr>
              <a:t>Process Table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70263" y="2438400"/>
            <a:ext cx="1447800" cy="2178050"/>
            <a:chOff x="1524000" y="1143000"/>
            <a:chExt cx="1447800" cy="2178050"/>
          </a:xfrm>
          <a:solidFill>
            <a:schemeClr val="bg1">
              <a:lumMod val="95000"/>
            </a:schemeClr>
          </a:solidFill>
        </p:grpSpPr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1524000" y="1143000"/>
              <a:ext cx="1447800" cy="217805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524000" y="1144424"/>
              <a:ext cx="1447800" cy="551026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en-US" b="1" dirty="0">
                  <a:latin typeface="Courier New" pitchFamily="49" charset="0"/>
                </a:rPr>
                <a:t>PCB</a:t>
              </a:r>
              <a:r>
                <a:rPr lang="en-US" altLang="en-US" b="1" baseline="-25000" dirty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21" name="Rectangle 5"/>
            <p:cNvSpPr>
              <a:spLocks noChangeArrowheads="1"/>
            </p:cNvSpPr>
            <p:nvPr/>
          </p:nvSpPr>
          <p:spPr bwMode="auto">
            <a:xfrm>
              <a:off x="1524000" y="1682750"/>
              <a:ext cx="1447800" cy="47625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en-US" b="1" dirty="0">
                  <a:latin typeface="Courier New" pitchFamily="49" charset="0"/>
                </a:rPr>
                <a:t>PCB</a:t>
              </a:r>
              <a:r>
                <a:rPr lang="en-US" altLang="en-US" b="1" baseline="-25000" dirty="0">
                  <a:latin typeface="Courier New" pitchFamily="49" charset="0"/>
                </a:rPr>
                <a:t>2</a:t>
              </a:r>
              <a:endParaRPr lang="en-US" altLang="en-US" b="1" dirty="0">
                <a:latin typeface="Courier New" pitchFamily="49" charset="0"/>
              </a:endParaRP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1524000" y="2612312"/>
              <a:ext cx="1447800" cy="708737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………</a:t>
              </a:r>
            </a:p>
          </p:txBody>
        </p:sp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1524000" y="2152650"/>
              <a:ext cx="1447800" cy="463550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itchFamily="49" charset="0"/>
                </a:rPr>
                <a:t>PCB</a:t>
              </a:r>
              <a:r>
                <a:rPr lang="en-US" altLang="en-US" b="1" baseline="-25000" dirty="0">
                  <a:latin typeface="Courier New" pitchFamily="49" charset="0"/>
                </a:rPr>
                <a:t>3</a:t>
              </a:r>
              <a:endParaRPr lang="en-US" altLang="en-US" b="1" dirty="0">
                <a:latin typeface="Courier New" pitchFamily="49" charset="0"/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470263" y="4663349"/>
            <a:ext cx="1371600" cy="441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Table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918063" y="1445322"/>
            <a:ext cx="2939687" cy="3516903"/>
            <a:chOff x="1918063" y="1445322"/>
            <a:chExt cx="2939687" cy="3516903"/>
          </a:xfrm>
        </p:grpSpPr>
        <p:grpSp>
          <p:nvGrpSpPr>
            <p:cNvPr id="34" name="Group 33"/>
            <p:cNvGrpSpPr/>
            <p:nvPr/>
          </p:nvGrpSpPr>
          <p:grpSpPr>
            <a:xfrm>
              <a:off x="3276600" y="1445322"/>
              <a:ext cx="1447800" cy="2990153"/>
              <a:chOff x="2857500" y="1417811"/>
              <a:chExt cx="1447800" cy="2990153"/>
            </a:xfrm>
          </p:grpSpPr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2857500" y="3315967"/>
                <a:ext cx="1447800" cy="39052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PID</a:t>
                </a: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2857500" y="3706492"/>
                <a:ext cx="1447800" cy="69057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Process State</a:t>
                </a:r>
              </a:p>
            </p:txBody>
          </p:sp>
          <p:sp>
            <p:nvSpPr>
              <p:cNvPr id="26" name="Rectangle 5"/>
              <p:cNvSpPr>
                <a:spLocks noChangeArrowheads="1"/>
              </p:cNvSpPr>
              <p:nvPr/>
            </p:nvSpPr>
            <p:spPr bwMode="auto">
              <a:xfrm>
                <a:off x="2857500" y="1430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PC, FP, SP, ……</a:t>
                </a:r>
              </a:p>
            </p:txBody>
          </p:sp>
          <p:sp>
            <p:nvSpPr>
              <p:cNvPr id="29" name="Rectangle 5"/>
              <p:cNvSpPr>
                <a:spLocks noChangeArrowheads="1"/>
              </p:cNvSpPr>
              <p:nvPr/>
            </p:nvSpPr>
            <p:spPr bwMode="auto">
              <a:xfrm>
                <a:off x="2857500" y="1956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GPRs</a:t>
                </a:r>
              </a:p>
            </p:txBody>
          </p:sp>
          <p:sp>
            <p:nvSpPr>
              <p:cNvPr id="31" name="Rectangle 30"/>
              <p:cNvSpPr>
                <a:spLocks noChangeArrowheads="1"/>
              </p:cNvSpPr>
              <p:nvPr/>
            </p:nvSpPr>
            <p:spPr bwMode="auto">
              <a:xfrm>
                <a:off x="2857500" y="1417811"/>
                <a:ext cx="1447800" cy="1103139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  <p:sp>
            <p:nvSpPr>
              <p:cNvPr id="32" name="Rectangle 5"/>
              <p:cNvSpPr>
                <a:spLocks noChangeArrowheads="1"/>
              </p:cNvSpPr>
              <p:nvPr/>
            </p:nvSpPr>
            <p:spPr bwMode="auto">
              <a:xfrm>
                <a:off x="2857500" y="2514600"/>
                <a:ext cx="1447800" cy="800381"/>
              </a:xfrm>
              <a:prstGeom prst="rect">
                <a:avLst/>
              </a:prstGeom>
              <a:pattFill prst="smConfetti">
                <a:fgClr>
                  <a:srgbClr val="34F499"/>
                </a:fgClr>
                <a:bgClr>
                  <a:schemeClr val="bg1"/>
                </a:bgClr>
              </a:pattFill>
              <a:ln w="19050">
                <a:solidFill>
                  <a:srgbClr val="008000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Memory Region Info</a:t>
                </a:r>
              </a:p>
            </p:txBody>
          </p:sp>
          <p:sp>
            <p:nvSpPr>
              <p:cNvPr id="33" name="Rectangle 32"/>
              <p:cNvSpPr>
                <a:spLocks noChangeArrowheads="1"/>
              </p:cNvSpPr>
              <p:nvPr/>
            </p:nvSpPr>
            <p:spPr bwMode="auto">
              <a:xfrm>
                <a:off x="2857500" y="3326617"/>
                <a:ext cx="1447800" cy="1081347"/>
              </a:xfrm>
              <a:prstGeom prst="rect">
                <a:avLst/>
              </a:prstGeom>
              <a:noFill/>
              <a:ln w="19050">
                <a:solidFill>
                  <a:srgbClr val="66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</p:grpSp>
        <p:cxnSp>
          <p:nvCxnSpPr>
            <p:cNvPr id="37" name="Straight Connector 36"/>
            <p:cNvCxnSpPr/>
            <p:nvPr/>
          </p:nvCxnSpPr>
          <p:spPr>
            <a:xfrm flipV="1">
              <a:off x="1918063" y="1457836"/>
              <a:ext cx="1358537" cy="980564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1918063" y="2978150"/>
              <a:ext cx="1358537" cy="1446428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/>
            <p:cNvSpPr/>
            <p:nvPr/>
          </p:nvSpPr>
          <p:spPr>
            <a:xfrm>
              <a:off x="3143250" y="4520900"/>
              <a:ext cx="1714500" cy="441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Process Control Block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724400" y="1676400"/>
            <a:ext cx="3648075" cy="4517772"/>
            <a:chOff x="4724400" y="1676400"/>
            <a:chExt cx="3648075" cy="4517772"/>
          </a:xfrm>
        </p:grpSpPr>
        <p:grpSp>
          <p:nvGrpSpPr>
            <p:cNvPr id="11" name="Group 10"/>
            <p:cNvGrpSpPr/>
            <p:nvPr/>
          </p:nvGrpSpPr>
          <p:grpSpPr>
            <a:xfrm>
              <a:off x="6705600" y="1676400"/>
              <a:ext cx="1447800" cy="3962400"/>
              <a:chOff x="1524000" y="1143000"/>
              <a:chExt cx="1447800" cy="2178050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1524000" y="1144424"/>
                <a:ext cx="1447800" cy="551026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Text</a:t>
                </a:r>
              </a:p>
            </p:txBody>
          </p:sp>
          <p:sp>
            <p:nvSpPr>
              <p:cNvPr id="7" name="Rectangle 13"/>
              <p:cNvSpPr>
                <a:spLocks noChangeArrowheads="1"/>
              </p:cNvSpPr>
              <p:nvPr/>
            </p:nvSpPr>
            <p:spPr bwMode="auto">
              <a:xfrm>
                <a:off x="1524000" y="1143000"/>
                <a:ext cx="1447800" cy="21780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itchFamily="49" charset="0"/>
                </a:endParaRPr>
              </a:p>
            </p:txBody>
          </p:sp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1524000" y="1682750"/>
                <a:ext cx="1447800" cy="4762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Data</a:t>
                </a: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1524000" y="2825750"/>
                <a:ext cx="1447800" cy="495300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Stack</a:t>
                </a:r>
              </a:p>
            </p:txBody>
          </p:sp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1524000" y="2152650"/>
                <a:ext cx="1447800" cy="463550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Heap</a:t>
                </a:r>
              </a:p>
            </p:txBody>
          </p:sp>
        </p:grpSp>
        <p:cxnSp>
          <p:nvCxnSpPr>
            <p:cNvPr id="43" name="Elbow Connector 42"/>
            <p:cNvCxnSpPr>
              <a:stCxn id="32" idx="3"/>
            </p:cNvCxnSpPr>
            <p:nvPr/>
          </p:nvCxnSpPr>
          <p:spPr>
            <a:xfrm flipV="1">
              <a:off x="4724400" y="2160890"/>
              <a:ext cx="1981200" cy="781412"/>
            </a:xfrm>
            <a:prstGeom prst="bentConnector3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/>
            <p:cNvCxnSpPr>
              <a:stCxn id="32" idx="3"/>
            </p:cNvCxnSpPr>
            <p:nvPr/>
          </p:nvCxnSpPr>
          <p:spPr>
            <a:xfrm>
              <a:off x="4724400" y="2942302"/>
              <a:ext cx="1981200" cy="1978788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/>
            <p:cNvSpPr/>
            <p:nvPr/>
          </p:nvSpPr>
          <p:spPr>
            <a:xfrm>
              <a:off x="6486525" y="5752847"/>
              <a:ext cx="1885950" cy="441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Memory Space of a Process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58F26-5776-14E0-A70C-04EAC04C89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57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D3549-6668-EF9D-BABB-E557C22CA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407659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b="1" dirty="0">
                <a:solidFill>
                  <a:prstClr val="black"/>
                </a:solidFill>
              </a:rPr>
              <a:t>Process interaction with OS</a:t>
            </a:r>
            <a:br>
              <a:rPr lang="en-US" altLang="en-US" dirty="0"/>
            </a:br>
            <a:r>
              <a:rPr lang="en-US" altLang="en-US" b="1" dirty="0">
                <a:solidFill>
                  <a:srgbClr val="C00000"/>
                </a:solidFill>
              </a:rPr>
              <a:t>System Calls</a:t>
            </a:r>
          </a:p>
        </p:txBody>
      </p:sp>
      <p:sp>
        <p:nvSpPr>
          <p:cNvPr id="25907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Can you please do this for me?</a:t>
            </a:r>
          </a:p>
        </p:txBody>
      </p:sp>
      <p:sp>
        <p:nvSpPr>
          <p:cNvPr id="2" name="Right Arrow 1"/>
          <p:cNvSpPr/>
          <p:nvPr/>
        </p:nvSpPr>
        <p:spPr>
          <a:xfrm>
            <a:off x="163082" y="1514742"/>
            <a:ext cx="762000" cy="533400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63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System Calls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Application Program Interface (API) to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Provides way of calling facilities/services in kernel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NOT</a:t>
            </a:r>
            <a:r>
              <a:rPr lang="en-US" altLang="en-US" dirty="0"/>
              <a:t> the same as normal function call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have to change from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mode </a:t>
            </a:r>
            <a:r>
              <a:rPr lang="en-US" altLang="en-US" b="1" dirty="0">
                <a:solidFill>
                  <a:srgbClr val="C00000"/>
                </a:solidFill>
              </a:rPr>
              <a:t>to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kernel mode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b="1" dirty="0">
              <a:solidFill>
                <a:srgbClr val="0080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dirty="0"/>
              <a:t>Different OS have different APIs: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</a:t>
            </a:r>
            <a:r>
              <a:rPr lang="en-US" altLang="en-US" b="1" dirty="0">
                <a:solidFill>
                  <a:srgbClr val="660066"/>
                </a:solidFill>
              </a:rPr>
              <a:t>Unix Variants: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Most follows </a:t>
            </a:r>
            <a:r>
              <a:rPr lang="en-US" altLang="en-US" b="1" dirty="0">
                <a:solidFill>
                  <a:srgbClr val="002060"/>
                </a:solidFill>
              </a:rPr>
              <a:t>POSIX</a:t>
            </a:r>
            <a:r>
              <a:rPr lang="en-US" altLang="en-US" dirty="0"/>
              <a:t> standards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Small number of calls: </a:t>
            </a:r>
            <a:r>
              <a:rPr lang="en-US" altLang="en-US" b="1" dirty="0"/>
              <a:t>~100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Windows Family: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Uses </a:t>
            </a:r>
            <a:r>
              <a:rPr lang="en-US" altLang="en-US" b="1" dirty="0">
                <a:solidFill>
                  <a:srgbClr val="660066"/>
                </a:solidFill>
              </a:rPr>
              <a:t>Win API </a:t>
            </a:r>
            <a:r>
              <a:rPr lang="en-US" altLang="en-US" dirty="0"/>
              <a:t>across different Windows versions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New version of windows usually adds more calls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Huge number of calls: </a:t>
            </a:r>
            <a:r>
              <a:rPr lang="en-US" altLang="en-US" b="1" dirty="0"/>
              <a:t>~1000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4BC3A7-A72A-930E-26C4-3D0633D84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59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3D3E7-EB1D-7308-82A6-C8BCEA016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40847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7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Unix System Calls </a:t>
            </a:r>
            <a:r>
              <a:rPr lang="en-US" altLang="en-US" sz="3800" dirty="0"/>
              <a:t>in </a:t>
            </a:r>
            <a:r>
              <a:rPr lang="en-US" altLang="en-US" sz="3800" b="1" dirty="0">
                <a:solidFill>
                  <a:srgbClr val="660066"/>
                </a:solidFill>
              </a:rPr>
              <a:t>C/C++ program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C/C++ program, system call can be invoked </a:t>
            </a:r>
            <a:r>
              <a:rPr lang="en-US" altLang="en-US" i="1" dirty="0">
                <a:solidFill>
                  <a:srgbClr val="008000"/>
                </a:solidFill>
              </a:rPr>
              <a:t>almost directly</a:t>
            </a:r>
          </a:p>
          <a:p>
            <a:endParaRPr lang="en-US" altLang="en-US" i="1" dirty="0">
              <a:solidFill>
                <a:srgbClr val="008000"/>
              </a:solidFill>
            </a:endParaRP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Library version with the </a:t>
            </a:r>
            <a:r>
              <a:rPr lang="en-US" altLang="en-US" b="1" dirty="0"/>
              <a:t>same name</a:t>
            </a:r>
            <a:r>
              <a:rPr lang="en-US" altLang="en-US" dirty="0"/>
              <a:t> and the same parameters</a:t>
            </a:r>
            <a:endParaRPr lang="en-US" altLang="en-US" b="1" dirty="0"/>
          </a:p>
          <a:p>
            <a:pPr lvl="2"/>
            <a:r>
              <a:rPr lang="en-US" altLang="en-US" dirty="0"/>
              <a:t>The library version act as a </a:t>
            </a:r>
            <a:r>
              <a:rPr lang="en-US" altLang="en-US" b="1" dirty="0">
                <a:solidFill>
                  <a:srgbClr val="C00000"/>
                </a:solidFill>
              </a:rPr>
              <a:t>function wrapper</a:t>
            </a:r>
          </a:p>
          <a:p>
            <a:pPr marL="1128712" lvl="2" indent="-457200">
              <a:buFont typeface="+mj-lt"/>
              <a:buAutoNum type="arabicPeriod"/>
            </a:pPr>
            <a:endParaRPr lang="en-US" altLang="en-US" b="1" dirty="0">
              <a:solidFill>
                <a:schemeClr val="bg2"/>
              </a:solidFill>
            </a:endParaRP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User Friendly Library version</a:t>
            </a:r>
          </a:p>
          <a:p>
            <a:pPr lvl="2"/>
            <a:r>
              <a:rPr lang="en-US" altLang="en-US" dirty="0"/>
              <a:t>The library version acts as a </a:t>
            </a:r>
            <a:r>
              <a:rPr lang="en-US" altLang="en-US" b="1" dirty="0">
                <a:solidFill>
                  <a:srgbClr val="660066"/>
                </a:solidFill>
              </a:rPr>
              <a:t>function adapter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B78A12-7815-1A1F-5ECC-B594FC912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60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FD1146-8F78-9311-BDBF-9771E66E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67725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Example ( Unix System Calls )</a:t>
            </a:r>
          </a:p>
        </p:txBody>
      </p:sp>
      <p:sp>
        <p:nvSpPr>
          <p:cNvPr id="301060" name="Rectangle 4"/>
          <p:cNvSpPr>
            <a:spLocks noGrp="1" noChangeArrowheads="1"/>
          </p:cNvSpPr>
          <p:nvPr>
            <p:ph idx="1"/>
          </p:nvPr>
        </p:nvSpPr>
        <p:spPr>
          <a:xfrm>
            <a:off x="381000" y="5410200"/>
            <a:ext cx="8229600" cy="106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100"/>
              <a:t>System Calls in this example: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getpid()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>
                <a:latin typeface="Courier New" panose="02070309020205020404" pitchFamily="49" charset="0"/>
              </a:rPr>
              <a:t>write()</a:t>
            </a:r>
            <a:r>
              <a:rPr lang="en-US" altLang="en-US" sz="2000"/>
              <a:t> – made by </a:t>
            </a:r>
            <a:r>
              <a:rPr lang="en-US" altLang="en-US" sz="2000" b="1">
                <a:latin typeface="Courier New" panose="02070309020205020404" pitchFamily="49" charset="0"/>
              </a:rPr>
              <a:t>printf()</a:t>
            </a:r>
            <a:r>
              <a:rPr lang="en-US" altLang="en-US" sz="2000"/>
              <a:t> library call</a:t>
            </a:r>
          </a:p>
        </p:txBody>
      </p:sp>
      <p:sp>
        <p:nvSpPr>
          <p:cNvPr id="301059" name="Text Box 3"/>
          <p:cNvSpPr txBox="1">
            <a:spLocks noChangeArrowheads="1"/>
          </p:cNvSpPr>
          <p:nvPr/>
        </p:nvSpPr>
        <p:spPr bwMode="auto">
          <a:xfrm>
            <a:off x="381000" y="990600"/>
            <a:ext cx="6248400" cy="43592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r>
              <a:rPr lang="en-US" altLang="en-US" sz="2000" b="1" dirty="0">
                <a:solidFill>
                  <a:srgbClr val="0066FF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en-US" sz="2000" b="1" dirty="0" err="1">
                <a:solidFill>
                  <a:srgbClr val="0066FF"/>
                </a:solidFill>
                <a:latin typeface="Courier New" panose="02070309020205020404" pitchFamily="49" charset="0"/>
              </a:rPr>
              <a:t>unistd.h</a:t>
            </a:r>
            <a:r>
              <a:rPr lang="en-US" altLang="en-US" sz="2000" b="1" dirty="0">
                <a:solidFill>
                  <a:srgbClr val="0066FF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altLang="en-US" sz="2000" b="1" dirty="0">
                <a:solidFill>
                  <a:srgbClr val="0066FF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en-US" sz="2000" b="1" dirty="0" err="1">
                <a:solidFill>
                  <a:srgbClr val="0066FF"/>
                </a:solidFill>
                <a:latin typeface="Courier New" panose="02070309020205020404" pitchFamily="49" charset="0"/>
              </a:rPr>
              <a:t>stdio.h</a:t>
            </a:r>
            <a:r>
              <a:rPr lang="en-US" altLang="en-US" sz="2000" b="1" dirty="0">
                <a:solidFill>
                  <a:srgbClr val="0066FF"/>
                </a:solidFill>
                <a:latin typeface="Courier New" panose="02070309020205020404" pitchFamily="49" charset="0"/>
              </a:rPr>
              <a:t>&gt;</a:t>
            </a:r>
          </a:p>
          <a:p>
            <a:endParaRPr lang="en-US" altLang="en-US" sz="2000" b="1" dirty="0">
              <a:solidFill>
                <a:srgbClr val="0066FF"/>
              </a:solidFill>
              <a:latin typeface="Courier New" panose="02070309020205020404" pitchFamily="49" charset="0"/>
            </a:endParaRPr>
          </a:p>
          <a:p>
            <a:r>
              <a:rPr lang="en-US" alt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main()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pid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endParaRPr lang="en-US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	/* get Process ID */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pid</a:t>
            </a:r>
            <a:r>
              <a:rPr lang="en-US" altLang="en-US" sz="2000" b="1" dirty="0">
                <a:latin typeface="Courier New" panose="02070309020205020404" pitchFamily="49" charset="0"/>
              </a:rPr>
              <a:t> = </a:t>
            </a:r>
            <a:r>
              <a:rPr lang="en-US" altLang="en-US" sz="2000" b="1" dirty="0" err="1">
                <a:solidFill>
                  <a:srgbClr val="FF3300"/>
                </a:solidFill>
                <a:latin typeface="Courier New" panose="02070309020205020404" pitchFamily="49" charset="0"/>
              </a:rPr>
              <a:t>getpid</a:t>
            </a:r>
            <a:r>
              <a:rPr lang="en-US" altLang="en-US" sz="2000" b="1" dirty="0">
                <a:latin typeface="Courier New" panose="02070309020205020404" pitchFamily="49" charset="0"/>
              </a:rPr>
              <a:t>();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rgbClr val="339933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000" b="1" dirty="0">
                <a:latin typeface="Courier New" panose="02070309020205020404" pitchFamily="49" charset="0"/>
              </a:rPr>
              <a:t>("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process id = %d\n</a:t>
            </a:r>
            <a:r>
              <a:rPr lang="en-US" altLang="en-US" sz="2000" b="1" dirty="0">
                <a:latin typeface="Courier New" panose="02070309020205020404" pitchFamily="49" charset="0"/>
              </a:rPr>
              <a:t>",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pid</a:t>
            </a:r>
            <a:r>
              <a:rPr lang="en-US" altLang="en-US" sz="2000" b="1" dirty="0">
                <a:latin typeface="Courier New" panose="02070309020205020404" pitchFamily="49" charset="0"/>
              </a:rPr>
              <a:t>);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	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	return 0;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206894-19B4-1E57-AA6D-A2B5A2F60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61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6FDC5-2857-4E9C-EE20-C534E3F8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85010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0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General System Call Mechanism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/>
              <a:t>User program invokes the library call</a:t>
            </a:r>
          </a:p>
          <a:p>
            <a:pPr marL="839788" lvl="1" indent="-495300">
              <a:buFont typeface="Wingdings" panose="05000000000000000000" pitchFamily="2" charset="2"/>
              <a:buChar char="n"/>
            </a:pPr>
            <a:r>
              <a:rPr lang="en-US" altLang="en-US"/>
              <a:t>Using the normal function call mechanism as discussed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/>
              <a:t>Library call (usually in assembly code) places the </a:t>
            </a:r>
            <a:r>
              <a:rPr lang="en-US" altLang="en-US" b="1"/>
              <a:t>system call number </a:t>
            </a:r>
            <a:r>
              <a:rPr lang="en-US" altLang="en-US"/>
              <a:t>in a designated location</a:t>
            </a:r>
          </a:p>
          <a:p>
            <a:pPr marL="839788" lvl="1" indent="-495300">
              <a:buFont typeface="Wingdings" panose="05000000000000000000" pitchFamily="2" charset="2"/>
              <a:buChar char="n"/>
            </a:pPr>
            <a:r>
              <a:rPr lang="en-US" altLang="en-US"/>
              <a:t>E.g. Register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/>
              <a:t>Library call executes a special instruction to switch from user mode to kernel mode</a:t>
            </a:r>
          </a:p>
          <a:p>
            <a:pPr marL="839788" lvl="1" indent="-495300">
              <a:buFont typeface="Wingdings" panose="05000000000000000000" pitchFamily="2" charset="2"/>
              <a:buChar char="n"/>
            </a:pPr>
            <a:r>
              <a:rPr lang="en-US" altLang="en-US"/>
              <a:t>That instruction is commonly known as </a:t>
            </a:r>
            <a:r>
              <a:rPr lang="en-US" altLang="en-US" b="1"/>
              <a:t>TRAP</a:t>
            </a:r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FEF75D-8030-D8B9-80FD-A01868C9C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62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795AD-FB2E-DFD0-455C-2B21F75F7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5221353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General System Call Mechanism (cont)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 startAt="4"/>
            </a:pPr>
            <a:r>
              <a:rPr lang="en-US" altLang="en-US"/>
              <a:t>Now in kernel mode, the appropriate system call handler is determined: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Using the system call number as index 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Similar to the vectored interrupt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This step is usually handled by a </a:t>
            </a:r>
            <a:r>
              <a:rPr lang="en-US" altLang="en-US" b="1"/>
              <a:t>dispatcher </a:t>
            </a:r>
            <a:endParaRPr lang="en-US" altLang="en-US"/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 startAt="4"/>
            </a:pPr>
            <a:r>
              <a:rPr lang="en-US" altLang="en-US"/>
              <a:t>System call handler is executed: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Carry out the actual request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 startAt="4"/>
            </a:pPr>
            <a:r>
              <a:rPr lang="en-US" altLang="en-US"/>
              <a:t>System call handler ended: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Control return to the library call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Switch from kernel mode to user mode</a:t>
            </a:r>
          </a:p>
          <a:p>
            <a:pPr marL="571500" indent="-571500">
              <a:lnSpc>
                <a:spcPct val="90000"/>
              </a:lnSpc>
              <a:buFont typeface="Wingdings" panose="05000000000000000000" pitchFamily="2" charset="2"/>
              <a:buAutoNum type="arabicPeriod" startAt="4"/>
            </a:pPr>
            <a:r>
              <a:rPr lang="en-US" altLang="en-US"/>
              <a:t>Library call return to the user program: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r>
              <a:rPr lang="en-US" altLang="en-US"/>
              <a:t>via normal function return mechanism</a:t>
            </a:r>
          </a:p>
          <a:p>
            <a:pPr marL="839788" lvl="1" indent="-495300">
              <a:lnSpc>
                <a:spcPct val="90000"/>
              </a:lnSpc>
              <a:buFont typeface="Wingdings" panose="05000000000000000000" pitchFamily="2" charset="2"/>
              <a:buChar char="n"/>
            </a:pPr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81A9A0-9F8B-281A-206B-AD86CA7B7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63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DF4E6-B8B8-57C7-6998-3980ADA5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5500218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System Call Mechanism </a:t>
            </a:r>
            <a:r>
              <a:rPr lang="en-US" altLang="en-US" sz="3800" b="1" dirty="0"/>
              <a:t>Illustration </a:t>
            </a:r>
          </a:p>
        </p:txBody>
      </p:sp>
      <p:sp>
        <p:nvSpPr>
          <p:cNvPr id="302082" name="Text Box 2"/>
          <p:cNvSpPr txBox="1">
            <a:spLocks noChangeArrowheads="1"/>
          </p:cNvSpPr>
          <p:nvPr/>
        </p:nvSpPr>
        <p:spPr bwMode="auto">
          <a:xfrm>
            <a:off x="4738286" y="1774825"/>
            <a:ext cx="4100913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en-US" sz="2000" b="1" i="1" dirty="0">
                <a:solidFill>
                  <a:srgbClr val="660066"/>
                </a:solidFill>
                <a:latin typeface="Courier New" panose="02070309020205020404" pitchFamily="49" charset="0"/>
              </a:rPr>
              <a:t>Dispatcher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Call the right handler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02084" name="Text Box 4"/>
          <p:cNvSpPr txBox="1">
            <a:spLocks noChangeArrowheads="1"/>
          </p:cNvSpPr>
          <p:nvPr/>
        </p:nvSpPr>
        <p:spPr bwMode="auto">
          <a:xfrm>
            <a:off x="304800" y="1447800"/>
            <a:ext cx="4038600" cy="46640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>
            <a:spAutoFit/>
          </a:bodyPr>
          <a:lstStyle/>
          <a:p>
            <a:r>
              <a:rPr lang="en-US" alt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getpid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Setup </a:t>
            </a:r>
            <a:r>
              <a:rPr lang="en-US" altLang="en-US" sz="200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SysCall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 Number</a:t>
            </a:r>
          </a:p>
          <a:p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   TRAP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return ...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...</a:t>
            </a:r>
          </a:p>
          <a:p>
            <a:r>
              <a:rPr lang="en-US" altLang="en-US" sz="20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main()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getpid</a:t>
            </a:r>
            <a:r>
              <a:rPr lang="en-US" altLang="en-US" sz="2000" b="1" dirty="0">
                <a:latin typeface="Courier New" panose="02070309020205020404" pitchFamily="49" charset="0"/>
              </a:rPr>
              <a:t>();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02085" name="Text Box 5"/>
          <p:cNvSpPr txBox="1">
            <a:spLocks noChangeArrowheads="1"/>
          </p:cNvSpPr>
          <p:nvPr/>
        </p:nvSpPr>
        <p:spPr bwMode="auto">
          <a:xfrm>
            <a:off x="4724399" y="4495800"/>
            <a:ext cx="4114799" cy="13112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 i="1">
                <a:solidFill>
                  <a:srgbClr val="660066"/>
                </a:solidFill>
                <a:latin typeface="Courier New" panose="02070309020205020404" pitchFamily="49" charset="0"/>
              </a:defRPr>
            </a:lvl1pPr>
          </a:lstStyle>
          <a:p>
            <a:r>
              <a:rPr lang="en-US" altLang="en-US" dirty="0" err="1"/>
              <a:t>SystemCallHandlerXXX</a:t>
            </a:r>
            <a:r>
              <a:rPr lang="en-US" altLang="en-US" i="0" dirty="0">
                <a:solidFill>
                  <a:schemeClr val="tx1"/>
                </a:solidFill>
              </a:rPr>
              <a:t>()</a:t>
            </a:r>
          </a:p>
          <a:p>
            <a:r>
              <a:rPr lang="en-US" altLang="en-US" i="0" dirty="0">
                <a:solidFill>
                  <a:schemeClr val="tx1"/>
                </a:solidFill>
              </a:rPr>
              <a:t>{</a:t>
            </a:r>
          </a:p>
          <a:p>
            <a:r>
              <a:rPr lang="en-US" altLang="en-US" i="0" dirty="0">
                <a:solidFill>
                  <a:schemeClr val="tx1"/>
                </a:solidFill>
              </a:rPr>
              <a:t>   Perform the task</a:t>
            </a:r>
          </a:p>
          <a:p>
            <a:r>
              <a:rPr lang="en-US" altLang="en-US" i="0" dirty="0">
                <a:solidFill>
                  <a:schemeClr val="tx1"/>
                </a:solidFill>
              </a:rPr>
              <a:t>}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572000" y="990600"/>
            <a:ext cx="0" cy="54102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143712" y="6156781"/>
            <a:ext cx="206057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660066"/>
                </a:solidFill>
              </a:rPr>
              <a:t>User Mode</a:t>
            </a:r>
            <a:endParaRPr lang="en-SG" sz="2400" b="1" dirty="0">
              <a:solidFill>
                <a:srgbClr val="66006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51512" y="6156781"/>
            <a:ext cx="206057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660066"/>
                </a:solidFill>
              </a:rPr>
              <a:t>Kernel Mode</a:t>
            </a:r>
            <a:endParaRPr lang="en-SG" sz="2400" b="1" dirty="0">
              <a:solidFill>
                <a:srgbClr val="660066"/>
              </a:solidFill>
            </a:endParaRPr>
          </a:p>
        </p:txBody>
      </p:sp>
      <p:grpSp>
        <p:nvGrpSpPr>
          <p:cNvPr id="302086" name="Group 6"/>
          <p:cNvGrpSpPr>
            <a:grpSpLocks/>
          </p:cNvGrpSpPr>
          <p:nvPr/>
        </p:nvGrpSpPr>
        <p:grpSpPr bwMode="auto">
          <a:xfrm>
            <a:off x="2971800" y="900113"/>
            <a:ext cx="2438400" cy="457200"/>
            <a:chOff x="1248" y="624"/>
            <a:chExt cx="1536" cy="288"/>
          </a:xfrm>
        </p:grpSpPr>
        <p:sp>
          <p:nvSpPr>
            <p:cNvPr id="302087" name="Rectangle 7"/>
            <p:cNvSpPr>
              <a:spLocks noChangeArrowheads="1"/>
            </p:cNvSpPr>
            <p:nvPr/>
          </p:nvSpPr>
          <p:spPr bwMode="auto">
            <a:xfrm>
              <a:off x="1968" y="624"/>
              <a:ext cx="816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2088" name="Text Box 8"/>
            <p:cNvSpPr txBox="1">
              <a:spLocks noChangeArrowheads="1"/>
            </p:cNvSpPr>
            <p:nvPr/>
          </p:nvSpPr>
          <p:spPr bwMode="auto">
            <a:xfrm>
              <a:off x="1248" y="624"/>
              <a:ext cx="8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>
                  <a:solidFill>
                    <a:schemeClr val="tx2"/>
                  </a:solidFill>
                </a:rPr>
                <a:t>registerX</a:t>
              </a:r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5127346" y="2702640"/>
            <a:ext cx="3657599" cy="4773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Call the right handler</a:t>
            </a: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4738286" y="1777936"/>
            <a:ext cx="4099559" cy="1920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r>
              <a:rPr lang="en-US" altLang="en-US" sz="2000" b="1" i="1" dirty="0">
                <a:solidFill>
                  <a:srgbClr val="660066"/>
                </a:solidFill>
                <a:latin typeface="Courier New" panose="02070309020205020404" pitchFamily="49" charset="0"/>
              </a:rPr>
              <a:t>Dispatcher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Call Handlers[</a:t>
            </a:r>
            <a:r>
              <a:rPr lang="en-US" altLang="en-US" sz="200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SysNum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];</a:t>
            </a:r>
          </a:p>
          <a:p>
            <a:endParaRPr lang="en-US" altLang="en-US" sz="2000" b="1" dirty="0">
              <a:latin typeface="Courier New" panose="02070309020205020404" pitchFamily="49" charset="0"/>
            </a:endParaRPr>
          </a:p>
          <a:p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E8F809-505B-F35C-79CC-7ADD47660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64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28978-27E0-0DC7-083E-50448E02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82458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2" grpId="0" uiExpand="1" animBg="1"/>
      <p:bldP spid="302084" grpId="0" uiExpand="1" build="p" animBg="1"/>
      <p:bldP spid="302085" grpId="0" uiExpand="1" animBg="1"/>
      <p:bldP spid="13" grpId="0"/>
      <p:bldP spid="14" grpId="0"/>
      <p:bldP spid="2" grpId="0" animBg="1"/>
      <p:bldP spid="2" grpId="1" animBg="1"/>
      <p:bldP spid="2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/>
              <a:t>Process interaction with OS</a:t>
            </a:r>
            <a:br>
              <a:rPr lang="en-US" altLang="en-US" dirty="0"/>
            </a:br>
            <a:r>
              <a:rPr lang="en-US" altLang="en-US" b="1" dirty="0">
                <a:solidFill>
                  <a:srgbClr val="C00000"/>
                </a:solidFill>
              </a:rPr>
              <a:t>Exception</a:t>
            </a:r>
            <a:r>
              <a:rPr lang="en-US" altLang="en-US" b="1" dirty="0"/>
              <a:t> and </a:t>
            </a:r>
            <a:r>
              <a:rPr lang="en-US" altLang="en-US" b="1" dirty="0">
                <a:solidFill>
                  <a:srgbClr val="660066"/>
                </a:solidFill>
              </a:rPr>
              <a:t>Interrupt</a:t>
            </a:r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Ops!</a:t>
            </a:r>
          </a:p>
        </p:txBody>
      </p:sp>
    </p:spTree>
    <p:extLst>
      <p:ext uri="{BB962C8B-B14F-4D97-AF65-F5344CB8AC3E}">
        <p14:creationId xmlns:p14="http://schemas.microsoft.com/office/powerpoint/2010/main" val="28973186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Exception</a:t>
            </a:r>
          </a:p>
        </p:txBody>
      </p:sp>
      <p:sp>
        <p:nvSpPr>
          <p:cNvPr id="289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dirty="0"/>
              <a:t>Executing a </a:t>
            </a:r>
            <a:r>
              <a:rPr lang="en-US" altLang="en-US" sz="2600" b="1" dirty="0"/>
              <a:t>machine level instruction </a:t>
            </a:r>
            <a:r>
              <a:rPr lang="en-US" altLang="en-US" sz="2600" dirty="0"/>
              <a:t>can cause exception</a:t>
            </a:r>
          </a:p>
          <a:p>
            <a:pPr marL="0" indent="0">
              <a:buNone/>
            </a:pPr>
            <a:endParaRPr lang="en-US" altLang="en-US" sz="1200" dirty="0"/>
          </a:p>
          <a:p>
            <a:r>
              <a:rPr lang="en-US" altLang="en-US" sz="2600" dirty="0"/>
              <a:t>Examples:</a:t>
            </a:r>
          </a:p>
          <a:p>
            <a:pPr lvl="1"/>
            <a:r>
              <a:rPr lang="en-US" altLang="en-US" sz="2200" b="1" dirty="0"/>
              <a:t>Arithmetic Errors</a:t>
            </a:r>
            <a:r>
              <a:rPr lang="en-US" altLang="en-US" sz="2200" dirty="0"/>
              <a:t>: </a:t>
            </a:r>
            <a:r>
              <a:rPr lang="en-US" altLang="en-US" sz="2000" dirty="0"/>
              <a:t>Overflow, Underflow, Division by Zero</a:t>
            </a:r>
          </a:p>
          <a:p>
            <a:pPr lvl="1"/>
            <a:r>
              <a:rPr lang="en-US" altLang="en-US" sz="2200" b="1" dirty="0"/>
              <a:t>Memory Errors</a:t>
            </a:r>
            <a:r>
              <a:rPr lang="en-US" altLang="en-US" sz="2200" dirty="0"/>
              <a:t>: </a:t>
            </a:r>
            <a:r>
              <a:rPr lang="en-US" altLang="en-US" sz="2000" dirty="0"/>
              <a:t>Illegal memory address, </a:t>
            </a:r>
            <a:r>
              <a:rPr lang="en-US" altLang="en-US" sz="2000" dirty="0" err="1"/>
              <a:t>Mis</a:t>
            </a:r>
            <a:r>
              <a:rPr lang="en-US" altLang="en-US" sz="2000" dirty="0"/>
              <a:t>-alignment memory access</a:t>
            </a:r>
          </a:p>
          <a:p>
            <a:pPr lvl="1"/>
            <a:endParaRPr lang="en-US" altLang="en-US" sz="1200" dirty="0"/>
          </a:p>
          <a:p>
            <a:r>
              <a:rPr lang="en-US" altLang="en-US" sz="2600" dirty="0"/>
              <a:t>Exception is </a:t>
            </a:r>
            <a:r>
              <a:rPr lang="en-US" altLang="en-US" sz="2600" b="1" dirty="0">
                <a:solidFill>
                  <a:srgbClr val="660066"/>
                </a:solidFill>
              </a:rPr>
              <a:t>Synchronous</a:t>
            </a:r>
          </a:p>
          <a:p>
            <a:pPr lvl="1"/>
            <a:r>
              <a:rPr lang="en-US" altLang="en-US" sz="2200" dirty="0"/>
              <a:t> Occur due to program execution</a:t>
            </a:r>
          </a:p>
          <a:p>
            <a:pPr lvl="1"/>
            <a:endParaRPr lang="en-US" altLang="en-US" sz="1200" dirty="0"/>
          </a:p>
          <a:p>
            <a:r>
              <a:rPr lang="en-US" altLang="en-US" sz="2600" dirty="0"/>
              <a:t>Effect of exception:</a:t>
            </a:r>
          </a:p>
          <a:p>
            <a:pPr lvl="1"/>
            <a:r>
              <a:rPr lang="en-US" altLang="en-US" sz="2200" dirty="0"/>
              <a:t>An </a:t>
            </a:r>
            <a:r>
              <a:rPr lang="en-US" altLang="en-US" sz="2200" b="1" dirty="0"/>
              <a:t>exception handler </a:t>
            </a:r>
            <a:r>
              <a:rPr lang="en-US" altLang="en-US" sz="2200" dirty="0"/>
              <a:t>is executed automatically</a:t>
            </a:r>
          </a:p>
          <a:p>
            <a:pPr lvl="1"/>
            <a:r>
              <a:rPr lang="en-US" altLang="en-US" sz="2200" dirty="0"/>
              <a:t>Similar to a </a:t>
            </a:r>
            <a:r>
              <a:rPr lang="en-US" altLang="en-US" sz="2200" b="1" dirty="0"/>
              <a:t>forced function call</a:t>
            </a:r>
            <a:endParaRPr lang="en-US" altLang="en-US" sz="2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CD875-8F01-57ED-5E01-3D31A87B04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66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27CA0E-DC37-3F4A-5F4F-64E6DBCA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5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Interrupt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660066"/>
                </a:solidFill>
              </a:rPr>
              <a:t>External events </a:t>
            </a:r>
            <a:r>
              <a:rPr lang="en-US" altLang="en-US" dirty="0"/>
              <a:t>can interrupt the execution of a program</a:t>
            </a:r>
          </a:p>
          <a:p>
            <a:endParaRPr lang="en-US" altLang="en-US" sz="1200" dirty="0"/>
          </a:p>
          <a:p>
            <a:r>
              <a:rPr lang="en-US" altLang="en-US" dirty="0"/>
              <a:t>Usually hardware related, e.g.: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Timer</a:t>
            </a:r>
            <a:r>
              <a:rPr lang="en-US" altLang="en-US" dirty="0"/>
              <a:t>, Mouse Movement, Keyboard Pressed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endParaRPr lang="en-US" altLang="en-US" sz="1200" dirty="0"/>
          </a:p>
          <a:p>
            <a:r>
              <a:rPr lang="en-US" altLang="en-US" dirty="0"/>
              <a:t>Interrupt is </a:t>
            </a:r>
            <a:r>
              <a:rPr lang="en-US" altLang="en-US" b="1" dirty="0">
                <a:solidFill>
                  <a:srgbClr val="660066"/>
                </a:solidFill>
              </a:rPr>
              <a:t>asynchronous</a:t>
            </a:r>
          </a:p>
          <a:p>
            <a:pPr lvl="1"/>
            <a:r>
              <a:rPr lang="en-US" altLang="en-US" dirty="0"/>
              <a:t>Events that occurs </a:t>
            </a:r>
            <a:r>
              <a:rPr lang="en-US" altLang="en-US" b="1" dirty="0"/>
              <a:t>independent </a:t>
            </a:r>
            <a:r>
              <a:rPr lang="en-US" altLang="en-US" dirty="0"/>
              <a:t>of program execution</a:t>
            </a:r>
          </a:p>
          <a:p>
            <a:pPr lvl="1"/>
            <a:endParaRPr lang="en-US" altLang="en-US" sz="1200" dirty="0"/>
          </a:p>
          <a:p>
            <a:r>
              <a:rPr lang="en-US" altLang="en-US" dirty="0"/>
              <a:t>Effect of interrupt:</a:t>
            </a:r>
          </a:p>
          <a:p>
            <a:pPr lvl="1"/>
            <a:r>
              <a:rPr lang="en-US" altLang="en-US" dirty="0"/>
              <a:t>Program execution is suspended</a:t>
            </a:r>
          </a:p>
          <a:p>
            <a:pPr lvl="1"/>
            <a:r>
              <a:rPr lang="en-US" altLang="en-US" dirty="0"/>
              <a:t>An </a:t>
            </a:r>
            <a:r>
              <a:rPr lang="en-US" altLang="en-US" b="1" dirty="0"/>
              <a:t>interrupt handler </a:t>
            </a:r>
            <a:r>
              <a:rPr lang="en-US" altLang="en-US" dirty="0"/>
              <a:t>is executed automatically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B3AB6E-1D21-3F9D-5DCB-A224A43C5A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67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64028-C785-BAAA-D61E-B27E256B5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9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35915" y="1164104"/>
            <a:ext cx="45720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void f()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008000"/>
                </a:solidFill>
                <a:latin typeface="Courier New" panose="02070309020205020404" pitchFamily="49" charset="0"/>
              </a:rPr>
              <a:t>Statement S1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   ...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/>
              <a:t>Exception/Interrupt </a:t>
            </a:r>
            <a:r>
              <a:rPr lang="en-US" altLang="en-US" sz="3600" b="1" dirty="0">
                <a:solidFill>
                  <a:srgbClr val="C00000"/>
                </a:solidFill>
              </a:rPr>
              <a:t>Handler</a:t>
            </a:r>
            <a:r>
              <a:rPr lang="en-US" altLang="en-US" sz="3600" dirty="0"/>
              <a:t>: Illustration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800600" y="1143000"/>
            <a:ext cx="4038600" cy="5029200"/>
          </a:xfrm>
        </p:spPr>
        <p:txBody>
          <a:bodyPr/>
          <a:lstStyle/>
          <a:p>
            <a:pPr marL="495300" indent="-495300">
              <a:buFont typeface="Wingdings" panose="05000000000000000000" pitchFamily="2" charset="2"/>
              <a:buAutoNum type="arabicPeriod"/>
            </a:pPr>
            <a:r>
              <a:rPr lang="en-US" altLang="en-US" sz="2600" b="1" dirty="0">
                <a:solidFill>
                  <a:srgbClr val="C00000"/>
                </a:solidFill>
              </a:rPr>
              <a:t>Exception/Interrupt occurs:</a:t>
            </a:r>
          </a:p>
          <a:p>
            <a:pPr marL="763588" lvl="1" indent="-419100">
              <a:buFont typeface="Wingdings" panose="05000000000000000000" pitchFamily="2" charset="2"/>
              <a:buChar char="n"/>
            </a:pPr>
            <a:r>
              <a:rPr lang="en-US" altLang="en-US" sz="2200" dirty="0"/>
              <a:t>Control transfer to a handler routine </a:t>
            </a:r>
            <a:r>
              <a:rPr lang="en-US" altLang="en-US" sz="2200" b="1" dirty="0"/>
              <a:t>automatically</a:t>
            </a:r>
          </a:p>
          <a:p>
            <a:pPr marL="344488" lvl="1" indent="0">
              <a:buNone/>
            </a:pPr>
            <a:endParaRPr lang="en-US" altLang="en-US" sz="2200" b="1" dirty="0"/>
          </a:p>
          <a:p>
            <a:pPr marL="495300" indent="-495300">
              <a:buFont typeface="Wingdings" panose="05000000000000000000" pitchFamily="2" charset="2"/>
              <a:buAutoNum type="arabicPeriod"/>
            </a:pPr>
            <a:r>
              <a:rPr lang="en-US" altLang="en-US" sz="2600" b="1" dirty="0">
                <a:solidFill>
                  <a:srgbClr val="660066"/>
                </a:solidFill>
              </a:rPr>
              <a:t>Return from handler routine:</a:t>
            </a:r>
          </a:p>
          <a:p>
            <a:pPr marL="763588" lvl="1" indent="-419100">
              <a:buFont typeface="Wingdings" panose="05000000000000000000" pitchFamily="2" charset="2"/>
              <a:buChar char="n"/>
            </a:pPr>
            <a:r>
              <a:rPr lang="en-US" altLang="en-US" sz="2200" dirty="0"/>
              <a:t>Program execution resume</a:t>
            </a:r>
          </a:p>
          <a:p>
            <a:pPr marL="763588" lvl="1" indent="-419100">
              <a:buFont typeface="Wingdings" panose="05000000000000000000" pitchFamily="2" charset="2"/>
              <a:buChar char="n"/>
            </a:pPr>
            <a:r>
              <a:rPr lang="en-US" altLang="en-US" sz="2200" b="1" dirty="0"/>
              <a:t>May </a:t>
            </a:r>
            <a:r>
              <a:rPr lang="en-US" altLang="en-US" sz="2200" dirty="0"/>
              <a:t>behave as if nothing happened</a:t>
            </a:r>
            <a:endParaRPr lang="en-US" altLang="en-US" sz="2200" b="1" dirty="0"/>
          </a:p>
        </p:txBody>
      </p:sp>
      <p:sp>
        <p:nvSpPr>
          <p:cNvPr id="291844" name="Text Box 4"/>
          <p:cNvSpPr txBox="1">
            <a:spLocks noChangeArrowheads="1"/>
          </p:cNvSpPr>
          <p:nvPr/>
        </p:nvSpPr>
        <p:spPr bwMode="auto">
          <a:xfrm>
            <a:off x="235915" y="3431489"/>
            <a:ext cx="4572000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void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handler</a:t>
            </a:r>
            <a:r>
              <a:rPr lang="en-US" altLang="en-US" sz="2000" b="1" dirty="0">
                <a:latin typeface="Courier New" panose="02070309020205020404" pitchFamily="49" charset="0"/>
              </a:rPr>
              <a:t>()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{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en-US" sz="2000" b="1" dirty="0">
                <a:solidFill>
                  <a:srgbClr val="660066"/>
                </a:solidFill>
                <a:latin typeface="+mn-lt"/>
              </a:rPr>
              <a:t>       1. Save Register/CPU state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en-US" sz="2000" b="1" dirty="0">
                <a:solidFill>
                  <a:srgbClr val="660066"/>
                </a:solidFill>
                <a:latin typeface="+mn-lt"/>
              </a:rPr>
              <a:t>       2. Perform the handler routine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en-US" sz="2000" b="1" dirty="0">
                <a:solidFill>
                  <a:srgbClr val="660066"/>
                </a:solidFill>
                <a:latin typeface="+mn-lt"/>
              </a:rPr>
              <a:t>       3. Restore Register/CPU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en-US" sz="2000" b="1" dirty="0">
                <a:solidFill>
                  <a:srgbClr val="660066"/>
                </a:solidFill>
                <a:latin typeface="+mn-lt"/>
              </a:rPr>
              <a:t>       4. Return from interrupt</a:t>
            </a:r>
          </a:p>
          <a:p>
            <a:pPr eaLnBrk="0" hangingPunct="0"/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Explosion 2 1"/>
          <p:cNvSpPr/>
          <p:nvPr/>
        </p:nvSpPr>
        <p:spPr>
          <a:xfrm>
            <a:off x="2819400" y="1981200"/>
            <a:ext cx="685800" cy="533400"/>
          </a:xfrm>
          <a:prstGeom prst="irregularSeal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81349F-F7D8-2BD1-221D-16C1698A1F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A367C4-FB8D-4A8B-B3C0-606BABB89E01}" type="slidenum">
              <a:rPr lang="en-US" altLang="en-US" smtClean="0"/>
              <a:pPr/>
              <a:t>68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70B99-2BEC-1BF7-4BFC-1C56CFB62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291843" grpId="0" uiExpand="1" build="p"/>
      <p:bldP spid="291844" grpId="0" uiExpand="1" build="p" animBg="1"/>
      <p:bldP spid="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Using process as an abstraction of running program:</a:t>
            </a:r>
          </a:p>
          <a:p>
            <a:pPr lvl="1"/>
            <a:r>
              <a:rPr lang="en-US" altLang="en-US" dirty="0"/>
              <a:t>Necessary information (environment) of execution</a:t>
            </a:r>
          </a:p>
          <a:p>
            <a:pPr lvl="1"/>
            <a:r>
              <a:rPr lang="en-US" altLang="en-US" dirty="0"/>
              <a:t>Memory, Hardware and OS contexts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Process from OS perspective:</a:t>
            </a:r>
          </a:p>
          <a:p>
            <a:pPr lvl="1"/>
            <a:r>
              <a:rPr lang="en-US" altLang="en-US" dirty="0"/>
              <a:t>PCB and process table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OS </a:t>
            </a:r>
            <a:r>
              <a:rPr lang="en-US" altLang="en-US" dirty="0">
                <a:sym typeface="Wingdings" panose="05000000000000000000" pitchFamily="2" charset="2"/>
              </a:rPr>
              <a:t>  Process interactions</a:t>
            </a:r>
          </a:p>
          <a:p>
            <a:pPr lvl="1"/>
            <a:r>
              <a:rPr lang="en-US" altLang="en-US" dirty="0">
                <a:sym typeface="Wingdings" panose="05000000000000000000" pitchFamily="2" charset="2"/>
              </a:rPr>
              <a:t>System calls</a:t>
            </a:r>
          </a:p>
          <a:p>
            <a:pPr lvl="1"/>
            <a:r>
              <a:rPr lang="en-US" altLang="en-US" dirty="0">
                <a:sym typeface="Wingdings" panose="05000000000000000000" pitchFamily="2" charset="2"/>
              </a:rPr>
              <a:t>Exception / Interrupt</a:t>
            </a:r>
            <a:endParaRPr lang="en-US" altLang="en-US" dirty="0"/>
          </a:p>
          <a:p>
            <a:pPr marL="344487" lvl="1" indent="0"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9B6C02-7968-2E59-1C4F-79B2BF9E3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69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05FE6-1E49-E30D-D71C-D64F243EE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113140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Reference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Modern Operating System (3</a:t>
            </a:r>
            <a:r>
              <a:rPr lang="en-US" altLang="en-US" baseline="30000" dirty="0"/>
              <a:t>rd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Section 2.1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Operating System Concepts (8</a:t>
            </a:r>
            <a:r>
              <a:rPr lang="en-US" altLang="en-US" baseline="30000" dirty="0"/>
              <a:t>th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Section 3.1</a:t>
            </a:r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4284BB-AAFB-F9A8-8C47-778F549DD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70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43C6D-B494-0C8C-ACE2-6AE8BA83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4462700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Computer Organization </a:t>
            </a:r>
            <a:r>
              <a:rPr lang="en-US" altLang="en-US" sz="3800" b="1" dirty="0"/>
              <a:t>– </a:t>
            </a:r>
            <a:r>
              <a:rPr lang="en-US" altLang="en-US" sz="3800" b="1" dirty="0">
                <a:solidFill>
                  <a:srgbClr val="660066"/>
                </a:solidFill>
              </a:rPr>
              <a:t>Whoa?!</a:t>
            </a:r>
          </a:p>
        </p:txBody>
      </p:sp>
      <p:pic>
        <p:nvPicPr>
          <p:cNvPr id="28058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14400"/>
            <a:ext cx="5943600" cy="551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0582" name="AutoShape 6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E0D92B-F964-40F2-D004-3CEF50CF9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71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E32AF8-0D6A-F6EA-7EFE-BDA212640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66033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Basic Instruction Execution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5029200" y="1600200"/>
            <a:ext cx="3962400" cy="441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r>
              <a:rPr lang="en-US" altLang="en-US" b="1" dirty="0"/>
              <a:t>Memory</a:t>
            </a:r>
          </a:p>
        </p:txBody>
      </p:sp>
      <p:sp>
        <p:nvSpPr>
          <p:cNvPr id="282633" name="Rectangle 9"/>
          <p:cNvSpPr>
            <a:spLocks noChangeArrowheads="1"/>
          </p:cNvSpPr>
          <p:nvPr/>
        </p:nvSpPr>
        <p:spPr bwMode="auto">
          <a:xfrm rot="16200000">
            <a:off x="2971800" y="1066800"/>
            <a:ext cx="685800" cy="2057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 b="1" dirty="0"/>
              <a:t>Fetch Unit</a:t>
            </a:r>
          </a:p>
        </p:txBody>
      </p:sp>
      <p:sp>
        <p:nvSpPr>
          <p:cNvPr id="282634" name="AutoShape 10"/>
          <p:cNvSpPr>
            <a:spLocks noChangeArrowheads="1"/>
          </p:cNvSpPr>
          <p:nvPr/>
        </p:nvSpPr>
        <p:spPr bwMode="auto">
          <a:xfrm>
            <a:off x="4267200" y="1905000"/>
            <a:ext cx="838200" cy="381000"/>
          </a:xfrm>
          <a:prstGeom prst="leftArrow">
            <a:avLst>
              <a:gd name="adj1" fmla="val 50000"/>
              <a:gd name="adj2" fmla="val 55000"/>
            </a:avLst>
          </a:prstGeom>
          <a:solidFill>
            <a:srgbClr val="33CC33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2635" name="Group 11"/>
          <p:cNvGrpSpPr>
            <a:grpSpLocks/>
          </p:cNvGrpSpPr>
          <p:nvPr/>
        </p:nvGrpSpPr>
        <p:grpSpPr bwMode="auto">
          <a:xfrm>
            <a:off x="2286000" y="2286000"/>
            <a:ext cx="2057400" cy="1447800"/>
            <a:chOff x="1488" y="1152"/>
            <a:chExt cx="1296" cy="912"/>
          </a:xfrm>
        </p:grpSpPr>
        <p:sp>
          <p:nvSpPr>
            <p:cNvPr id="282636" name="Rectangle 12"/>
            <p:cNvSpPr>
              <a:spLocks noChangeArrowheads="1"/>
            </p:cNvSpPr>
            <p:nvPr/>
          </p:nvSpPr>
          <p:spPr bwMode="auto">
            <a:xfrm rot="16200000">
              <a:off x="1920" y="1200"/>
              <a:ext cx="432" cy="12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 b="1" dirty="0"/>
                <a:t>Dispatch Unit</a:t>
              </a:r>
            </a:p>
          </p:txBody>
        </p:sp>
        <p:sp>
          <p:nvSpPr>
            <p:cNvPr id="282637" name="Text Box 13"/>
            <p:cNvSpPr txBox="1">
              <a:spLocks noChangeArrowheads="1"/>
            </p:cNvSpPr>
            <p:nvPr/>
          </p:nvSpPr>
          <p:spPr bwMode="auto">
            <a:xfrm>
              <a:off x="1824" y="124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Courier New" panose="02070309020205020404" pitchFamily="49" charset="0"/>
                </a:rPr>
                <a:t>… … …</a:t>
              </a:r>
            </a:p>
          </p:txBody>
        </p:sp>
        <p:sp>
          <p:nvSpPr>
            <p:cNvPr id="282638" name="AutoShape 14"/>
            <p:cNvSpPr>
              <a:spLocks noChangeArrowheads="1"/>
            </p:cNvSpPr>
            <p:nvPr/>
          </p:nvSpPr>
          <p:spPr bwMode="auto">
            <a:xfrm rot="16200000">
              <a:off x="1872" y="1296"/>
              <a:ext cx="528" cy="240"/>
            </a:xfrm>
            <a:prstGeom prst="leftArrow">
              <a:avLst>
                <a:gd name="adj1" fmla="val 50000"/>
                <a:gd name="adj2" fmla="val 5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2640" name="Rectangle 16"/>
          <p:cNvSpPr>
            <a:spLocks noChangeArrowheads="1"/>
          </p:cNvSpPr>
          <p:nvPr/>
        </p:nvSpPr>
        <p:spPr bwMode="auto">
          <a:xfrm rot="16200000">
            <a:off x="2705100" y="3771900"/>
            <a:ext cx="1295400" cy="2133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r>
              <a:rPr lang="en-US" altLang="en-US" b="1" dirty="0"/>
              <a:t>Functional Units</a:t>
            </a:r>
          </a:p>
        </p:txBody>
      </p:sp>
      <p:sp>
        <p:nvSpPr>
          <p:cNvPr id="282644" name="AutoShape 20"/>
          <p:cNvSpPr>
            <a:spLocks noChangeArrowheads="1"/>
          </p:cNvSpPr>
          <p:nvPr/>
        </p:nvSpPr>
        <p:spPr bwMode="auto">
          <a:xfrm rot="16200000">
            <a:off x="3048000" y="3733800"/>
            <a:ext cx="533400" cy="381000"/>
          </a:xfrm>
          <a:prstGeom prst="leftArrow">
            <a:avLst>
              <a:gd name="adj1" fmla="val 50000"/>
              <a:gd name="adj2" fmla="val 35000"/>
            </a:avLst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5" name="Rectangle 21"/>
          <p:cNvSpPr>
            <a:spLocks noChangeArrowheads="1"/>
          </p:cNvSpPr>
          <p:nvPr/>
        </p:nvSpPr>
        <p:spPr bwMode="auto">
          <a:xfrm rot="16200000">
            <a:off x="3009900" y="3695700"/>
            <a:ext cx="685800" cy="1828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……</a:t>
            </a:r>
          </a:p>
        </p:txBody>
      </p:sp>
      <p:sp>
        <p:nvSpPr>
          <p:cNvPr id="282656" name="Rectangle 32"/>
          <p:cNvSpPr>
            <a:spLocks noChangeArrowheads="1"/>
          </p:cNvSpPr>
          <p:nvPr/>
        </p:nvSpPr>
        <p:spPr bwMode="auto">
          <a:xfrm rot="16200000">
            <a:off x="-609600" y="4114800"/>
            <a:ext cx="3200400" cy="152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endParaRPr lang="en-US" altLang="en-US" b="1" dirty="0"/>
          </a:p>
          <a:p>
            <a:pPr algn="ctr"/>
            <a:r>
              <a:rPr lang="en-US" altLang="en-US" b="1" dirty="0"/>
              <a:t>Registers</a:t>
            </a:r>
          </a:p>
        </p:txBody>
      </p:sp>
      <p:sp>
        <p:nvSpPr>
          <p:cNvPr id="282657" name="AutoShape 33"/>
          <p:cNvSpPr>
            <a:spLocks noChangeArrowheads="1"/>
          </p:cNvSpPr>
          <p:nvPr/>
        </p:nvSpPr>
        <p:spPr bwMode="auto">
          <a:xfrm>
            <a:off x="16764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8" name="AutoShape 34"/>
          <p:cNvSpPr>
            <a:spLocks noChangeArrowheads="1"/>
          </p:cNvSpPr>
          <p:nvPr/>
        </p:nvSpPr>
        <p:spPr bwMode="auto">
          <a:xfrm>
            <a:off x="44196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9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82661" name="Text Box 37"/>
          <p:cNvSpPr txBox="1">
            <a:spLocks noChangeArrowheads="1"/>
          </p:cNvSpPr>
          <p:nvPr/>
        </p:nvSpPr>
        <p:spPr bwMode="auto">
          <a:xfrm>
            <a:off x="5181600" y="1752600"/>
            <a:ext cx="3657600" cy="203132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1200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</a:rPr>
              <a:t>lw</a:t>
            </a:r>
            <a:r>
              <a:rPr lang="en-US" altLang="en-US" b="1" dirty="0">
                <a:latin typeface="Courier New" pitchFamily="49" charset="0"/>
              </a:rPr>
              <a:t> 	$1, 4096 </a:t>
            </a:r>
          </a:p>
          <a:p>
            <a:pPr eaLnBrk="0" hangingPunct="0"/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1204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addi</a:t>
            </a:r>
            <a:r>
              <a:rPr lang="en-US" altLang="en-US" b="1" dirty="0">
                <a:latin typeface="Courier New" panose="02070309020205020404" pitchFamily="49" charset="0"/>
              </a:rPr>
              <a:t>  $1, $0, 0 </a:t>
            </a:r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1208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</a:rPr>
              <a:t>sw</a:t>
            </a:r>
            <a:r>
              <a:rPr lang="en-US" altLang="en-US" b="1" dirty="0">
                <a:latin typeface="Courier New" pitchFamily="49" charset="0"/>
              </a:rPr>
              <a:t>  	$1, 4096 </a:t>
            </a:r>
            <a:endParaRPr lang="en-US" altLang="en-US" b="1" dirty="0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1212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</a:rPr>
              <a:t>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itchFamily="49" charset="0"/>
              </a:rPr>
              <a:t>lw</a:t>
            </a:r>
            <a:r>
              <a:rPr lang="en-US" altLang="en-US" b="1" dirty="0">
                <a:latin typeface="Courier New" pitchFamily="49" charset="0"/>
              </a:rPr>
              <a:t>   	$2, 4096 </a:t>
            </a:r>
            <a:br>
              <a:rPr lang="en-US" altLang="en-US" b="1" dirty="0">
                <a:solidFill>
                  <a:schemeClr val="bg2"/>
                </a:solidFill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1216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addi</a:t>
            </a:r>
            <a:r>
              <a:rPr lang="en-US" altLang="en-US" b="1" dirty="0">
                <a:latin typeface="Courier New" panose="02070309020205020404" pitchFamily="49" charset="0"/>
              </a:rPr>
              <a:t>  $3, $2, 20 </a:t>
            </a:r>
          </a:p>
          <a:p>
            <a:pPr eaLnBrk="0" hangingPunct="0"/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1220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sw</a:t>
            </a:r>
            <a:r>
              <a:rPr lang="en-US" altLang="en-US" b="1" dirty="0">
                <a:latin typeface="Courier New" panose="02070309020205020404" pitchFamily="49" charset="0"/>
              </a:rPr>
              <a:t>  	$3, 4096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282663" name="Text Box 39"/>
          <p:cNvSpPr txBox="1">
            <a:spLocks noChangeArrowheads="1"/>
          </p:cNvSpPr>
          <p:nvPr/>
        </p:nvSpPr>
        <p:spPr bwMode="auto">
          <a:xfrm>
            <a:off x="5181600" y="4495800"/>
            <a:ext cx="3657600" cy="9159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  <a:p>
            <a:pPr eaLnBrk="0" hangingPunct="0"/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4096</a:t>
            </a:r>
            <a:r>
              <a:rPr lang="en-US" altLang="en-US" b="1" dirty="0">
                <a:latin typeface="Courier New" panose="02070309020205020404" pitchFamily="49" charset="0"/>
              </a:rPr>
              <a:t> | 999 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</p:txBody>
      </p:sp>
      <p:grpSp>
        <p:nvGrpSpPr>
          <p:cNvPr id="282666" name="Group 42"/>
          <p:cNvGrpSpPr>
            <a:grpSpLocks/>
          </p:cNvGrpSpPr>
          <p:nvPr/>
        </p:nvGrpSpPr>
        <p:grpSpPr bwMode="auto">
          <a:xfrm>
            <a:off x="381000" y="3657600"/>
            <a:ext cx="1219200" cy="381000"/>
            <a:chOff x="144" y="1152"/>
            <a:chExt cx="768" cy="240"/>
          </a:xfrm>
        </p:grpSpPr>
        <p:sp>
          <p:nvSpPr>
            <p:cNvPr id="282664" name="Rectangle 40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65" name="Text Box 41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$1</a:t>
              </a:r>
            </a:p>
          </p:txBody>
        </p:sp>
      </p:grpSp>
      <p:grpSp>
        <p:nvGrpSpPr>
          <p:cNvPr id="282667" name="Group 43"/>
          <p:cNvGrpSpPr>
            <a:grpSpLocks/>
          </p:cNvGrpSpPr>
          <p:nvPr/>
        </p:nvGrpSpPr>
        <p:grpSpPr bwMode="auto">
          <a:xfrm>
            <a:off x="381000" y="4038600"/>
            <a:ext cx="1219200" cy="381000"/>
            <a:chOff x="144" y="1152"/>
            <a:chExt cx="768" cy="240"/>
          </a:xfrm>
        </p:grpSpPr>
        <p:sp>
          <p:nvSpPr>
            <p:cNvPr id="282668" name="Rectangle 44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69" name="Text Box 45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$2</a:t>
              </a:r>
            </a:p>
          </p:txBody>
        </p:sp>
      </p:grpSp>
      <p:grpSp>
        <p:nvGrpSpPr>
          <p:cNvPr id="282670" name="Group 46"/>
          <p:cNvGrpSpPr>
            <a:grpSpLocks/>
          </p:cNvGrpSpPr>
          <p:nvPr/>
        </p:nvGrpSpPr>
        <p:grpSpPr bwMode="auto">
          <a:xfrm>
            <a:off x="381000" y="4419600"/>
            <a:ext cx="1219200" cy="381000"/>
            <a:chOff x="144" y="1152"/>
            <a:chExt cx="768" cy="240"/>
          </a:xfrm>
        </p:grpSpPr>
        <p:sp>
          <p:nvSpPr>
            <p:cNvPr id="282671" name="Rectangle 47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72" name="Text Box 48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$3</a:t>
              </a:r>
            </a:p>
          </p:txBody>
        </p:sp>
      </p:grpSp>
      <p:grpSp>
        <p:nvGrpSpPr>
          <p:cNvPr id="282673" name="Group 49"/>
          <p:cNvGrpSpPr>
            <a:grpSpLocks/>
          </p:cNvGrpSpPr>
          <p:nvPr/>
        </p:nvGrpSpPr>
        <p:grpSpPr bwMode="auto">
          <a:xfrm>
            <a:off x="381000" y="4724400"/>
            <a:ext cx="1219200" cy="381000"/>
            <a:chOff x="144" y="1152"/>
            <a:chExt cx="768" cy="240"/>
          </a:xfrm>
        </p:grpSpPr>
        <p:sp>
          <p:nvSpPr>
            <p:cNvPr id="282674" name="Rectangle 50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75" name="Text Box 51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$4</a:t>
              </a:r>
            </a:p>
          </p:txBody>
        </p:sp>
      </p:grpSp>
      <p:grpSp>
        <p:nvGrpSpPr>
          <p:cNvPr id="282676" name="Group 52"/>
          <p:cNvGrpSpPr>
            <a:grpSpLocks/>
          </p:cNvGrpSpPr>
          <p:nvPr/>
        </p:nvGrpSpPr>
        <p:grpSpPr bwMode="auto">
          <a:xfrm>
            <a:off x="381000" y="5105400"/>
            <a:ext cx="1219200" cy="381000"/>
            <a:chOff x="144" y="1152"/>
            <a:chExt cx="768" cy="240"/>
          </a:xfrm>
        </p:grpSpPr>
        <p:sp>
          <p:nvSpPr>
            <p:cNvPr id="282677" name="Rectangle 53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78" name="Text Box 54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$5</a:t>
              </a:r>
            </a:p>
          </p:txBody>
        </p:sp>
      </p:grpSp>
      <p:grpSp>
        <p:nvGrpSpPr>
          <p:cNvPr id="282679" name="Group 55"/>
          <p:cNvGrpSpPr>
            <a:grpSpLocks/>
          </p:cNvGrpSpPr>
          <p:nvPr/>
        </p:nvGrpSpPr>
        <p:grpSpPr bwMode="auto">
          <a:xfrm>
            <a:off x="381000" y="5715000"/>
            <a:ext cx="1219200" cy="381000"/>
            <a:chOff x="144" y="1152"/>
            <a:chExt cx="768" cy="240"/>
          </a:xfrm>
        </p:grpSpPr>
        <p:sp>
          <p:nvSpPr>
            <p:cNvPr id="282680" name="Rectangle 56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81" name="Text Box 57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PC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1B23F1-29EE-7D7F-CD0B-073D7B0C2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72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A5901-0E44-3856-0803-3460D9C9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99380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61" grpId="0" animBg="1"/>
      <p:bldP spid="28266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Function Call : </a:t>
            </a:r>
            <a:r>
              <a:rPr lang="en-US" altLang="en-US" b="1" dirty="0">
                <a:solidFill>
                  <a:srgbClr val="660066"/>
                </a:solidFill>
              </a:rPr>
              <a:t>Challenges</a:t>
            </a:r>
            <a:endParaRPr lang="en-SG" dirty="0"/>
          </a:p>
        </p:txBody>
      </p:sp>
      <p:grpSp>
        <p:nvGrpSpPr>
          <p:cNvPr id="11" name="Group 10"/>
          <p:cNvGrpSpPr/>
          <p:nvPr/>
        </p:nvGrpSpPr>
        <p:grpSpPr>
          <a:xfrm>
            <a:off x="5410200" y="1238250"/>
            <a:ext cx="3531477" cy="5086350"/>
            <a:chOff x="5410200" y="1238250"/>
            <a:chExt cx="3531477" cy="5086350"/>
          </a:xfrm>
        </p:grpSpPr>
        <p:grpSp>
          <p:nvGrpSpPr>
            <p:cNvPr id="7" name="Group 6"/>
            <p:cNvGrpSpPr/>
            <p:nvPr/>
          </p:nvGrpSpPr>
          <p:grpSpPr>
            <a:xfrm>
              <a:off x="5410200" y="2457450"/>
              <a:ext cx="3531476" cy="1885950"/>
              <a:chOff x="2471870" y="2514600"/>
              <a:chExt cx="3531476" cy="1885950"/>
            </a:xfrm>
          </p:grpSpPr>
          <p:sp>
            <p:nvSpPr>
              <p:cNvPr id="14" name="Rectangle 5"/>
              <p:cNvSpPr>
                <a:spLocks noChangeArrowheads="1"/>
              </p:cNvSpPr>
              <p:nvPr/>
            </p:nvSpPr>
            <p:spPr bwMode="auto">
              <a:xfrm>
                <a:off x="2471870" y="2514600"/>
                <a:ext cx="2667000" cy="18859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138870" y="2563561"/>
                <a:ext cx="864476" cy="8599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Data </a:t>
                </a: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5410200" y="1238250"/>
              <a:ext cx="3531477" cy="1219200"/>
              <a:chOff x="2471870" y="1295400"/>
              <a:chExt cx="3531477" cy="1219200"/>
            </a:xfrm>
          </p:grpSpPr>
          <p:sp>
            <p:nvSpPr>
              <p:cNvPr id="5" name="Rectangle 5"/>
              <p:cNvSpPr>
                <a:spLocks noChangeArrowheads="1"/>
              </p:cNvSpPr>
              <p:nvPr/>
            </p:nvSpPr>
            <p:spPr bwMode="auto">
              <a:xfrm>
                <a:off x="2471870" y="1295400"/>
                <a:ext cx="2667000" cy="121920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/>
                <a:endParaRPr lang="en-US" altLang="en-US" sz="1200" b="1" dirty="0">
                  <a:latin typeface="Courier New" pitchFamily="49" charset="0"/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5138871" y="1471289"/>
                <a:ext cx="864476" cy="8599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Text </a:t>
                </a:r>
              </a:p>
            </p:txBody>
          </p:sp>
        </p:grp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5410200" y="1238250"/>
              <a:ext cx="2667000" cy="50863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</p:grpSp>
      <p:sp>
        <p:nvSpPr>
          <p:cNvPr id="24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609600" y="1117203"/>
            <a:ext cx="2514600" cy="10064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0;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+ 20;</a:t>
            </a: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609600" y="2123678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C Code Fragment</a:t>
            </a: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459378" y="3111011"/>
            <a:ext cx="3581400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>
                <a:solidFill>
                  <a:srgbClr val="002060"/>
                </a:solidFill>
                <a:latin typeface="Courier New" pitchFamily="49" charset="0"/>
              </a:rPr>
              <a:t>g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,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j)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0080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 a;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a =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+ j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>
                <a:solidFill>
                  <a:srgbClr val="660066"/>
                </a:solidFill>
                <a:latin typeface="Courier New" pitchFamily="49" charset="0"/>
              </a:rPr>
              <a:t>return</a:t>
            </a:r>
            <a:r>
              <a:rPr lang="en-US" altLang="en-US" sz="2000" b="1" dirty="0">
                <a:latin typeface="Courier New" pitchFamily="49" charset="0"/>
              </a:rPr>
              <a:t> a;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457200" y="5334000"/>
            <a:ext cx="35835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C Code with Function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95126-060F-FE4B-7754-A1EEBCBC6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73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78289-5132-5F8B-6134-7E636F08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7139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1: </a:t>
            </a:r>
            <a:r>
              <a:rPr lang="en-US" b="1" dirty="0"/>
              <a:t>Refer to Quiz 1</a:t>
            </a:r>
            <a:endParaRPr lang="en-SG" b="1" dirty="0"/>
          </a:p>
        </p:txBody>
      </p:sp>
      <p:sp>
        <p:nvSpPr>
          <p:cNvPr id="6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D51DC7-7E72-7029-CF24-D267801C3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74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540E4-3733-0F0E-0807-10E0A432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5903239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Function Call: The BIG picture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5029200" y="1600200"/>
            <a:ext cx="3962400" cy="441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r>
              <a:rPr lang="en-US" altLang="en-US" dirty="0"/>
              <a:t>Memory</a:t>
            </a:r>
          </a:p>
        </p:txBody>
      </p:sp>
      <p:sp>
        <p:nvSpPr>
          <p:cNvPr id="282633" name="Rectangle 9"/>
          <p:cNvSpPr>
            <a:spLocks noChangeArrowheads="1"/>
          </p:cNvSpPr>
          <p:nvPr/>
        </p:nvSpPr>
        <p:spPr bwMode="auto">
          <a:xfrm rot="16200000">
            <a:off x="2971800" y="1066800"/>
            <a:ext cx="685800" cy="2057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Fetch Unit</a:t>
            </a:r>
          </a:p>
        </p:txBody>
      </p:sp>
      <p:sp>
        <p:nvSpPr>
          <p:cNvPr id="282634" name="AutoShape 10"/>
          <p:cNvSpPr>
            <a:spLocks noChangeArrowheads="1"/>
          </p:cNvSpPr>
          <p:nvPr/>
        </p:nvSpPr>
        <p:spPr bwMode="auto">
          <a:xfrm>
            <a:off x="4267200" y="1905000"/>
            <a:ext cx="838200" cy="381000"/>
          </a:xfrm>
          <a:prstGeom prst="leftArrow">
            <a:avLst>
              <a:gd name="adj1" fmla="val 50000"/>
              <a:gd name="adj2" fmla="val 55000"/>
            </a:avLst>
          </a:prstGeom>
          <a:solidFill>
            <a:srgbClr val="33CC33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2635" name="Group 11"/>
          <p:cNvGrpSpPr>
            <a:grpSpLocks/>
          </p:cNvGrpSpPr>
          <p:nvPr/>
        </p:nvGrpSpPr>
        <p:grpSpPr bwMode="auto">
          <a:xfrm>
            <a:off x="2286000" y="2286000"/>
            <a:ext cx="2057400" cy="1447800"/>
            <a:chOff x="1488" y="1152"/>
            <a:chExt cx="1296" cy="912"/>
          </a:xfrm>
        </p:grpSpPr>
        <p:sp>
          <p:nvSpPr>
            <p:cNvPr id="282636" name="Rectangle 12"/>
            <p:cNvSpPr>
              <a:spLocks noChangeArrowheads="1"/>
            </p:cNvSpPr>
            <p:nvPr/>
          </p:nvSpPr>
          <p:spPr bwMode="auto">
            <a:xfrm rot="16200000">
              <a:off x="1920" y="1200"/>
              <a:ext cx="432" cy="12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en-US"/>
                <a:t>Dispatch Unit</a:t>
              </a:r>
            </a:p>
          </p:txBody>
        </p:sp>
        <p:sp>
          <p:nvSpPr>
            <p:cNvPr id="282637" name="Text Box 13"/>
            <p:cNvSpPr txBox="1">
              <a:spLocks noChangeArrowheads="1"/>
            </p:cNvSpPr>
            <p:nvPr/>
          </p:nvSpPr>
          <p:spPr bwMode="auto">
            <a:xfrm>
              <a:off x="1824" y="1248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>
                  <a:latin typeface="Courier New" panose="02070309020205020404" pitchFamily="49" charset="0"/>
                </a:rPr>
                <a:t>… … …</a:t>
              </a:r>
            </a:p>
          </p:txBody>
        </p:sp>
        <p:sp>
          <p:nvSpPr>
            <p:cNvPr id="282638" name="AutoShape 14"/>
            <p:cNvSpPr>
              <a:spLocks noChangeArrowheads="1"/>
            </p:cNvSpPr>
            <p:nvPr/>
          </p:nvSpPr>
          <p:spPr bwMode="auto">
            <a:xfrm rot="16200000">
              <a:off x="1872" y="1296"/>
              <a:ext cx="528" cy="240"/>
            </a:xfrm>
            <a:prstGeom prst="leftArrow">
              <a:avLst>
                <a:gd name="adj1" fmla="val 50000"/>
                <a:gd name="adj2" fmla="val 55000"/>
              </a:avLst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2640" name="Rectangle 16"/>
          <p:cNvSpPr>
            <a:spLocks noChangeArrowheads="1"/>
          </p:cNvSpPr>
          <p:nvPr/>
        </p:nvSpPr>
        <p:spPr bwMode="auto">
          <a:xfrm rot="16200000">
            <a:off x="2705100" y="3771900"/>
            <a:ext cx="1295400" cy="2133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endParaRPr lang="en-US" altLang="en-US"/>
          </a:p>
          <a:p>
            <a:pPr algn="ctr"/>
            <a:r>
              <a:rPr lang="en-US" altLang="en-US"/>
              <a:t>Functional Units</a:t>
            </a:r>
          </a:p>
        </p:txBody>
      </p:sp>
      <p:sp>
        <p:nvSpPr>
          <p:cNvPr id="282644" name="AutoShape 20"/>
          <p:cNvSpPr>
            <a:spLocks noChangeArrowheads="1"/>
          </p:cNvSpPr>
          <p:nvPr/>
        </p:nvSpPr>
        <p:spPr bwMode="auto">
          <a:xfrm rot="16200000">
            <a:off x="3048000" y="3733800"/>
            <a:ext cx="533400" cy="381000"/>
          </a:xfrm>
          <a:prstGeom prst="leftArrow">
            <a:avLst>
              <a:gd name="adj1" fmla="val 50000"/>
              <a:gd name="adj2" fmla="val 35000"/>
            </a:avLst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5" name="Rectangle 21"/>
          <p:cNvSpPr>
            <a:spLocks noChangeArrowheads="1"/>
          </p:cNvSpPr>
          <p:nvPr/>
        </p:nvSpPr>
        <p:spPr bwMode="auto">
          <a:xfrm rot="16200000">
            <a:off x="3009900" y="3695700"/>
            <a:ext cx="685800" cy="18288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r>
              <a:rPr lang="en-US" altLang="en-US"/>
              <a:t>……</a:t>
            </a:r>
          </a:p>
        </p:txBody>
      </p:sp>
      <p:sp>
        <p:nvSpPr>
          <p:cNvPr id="282656" name="Rectangle 32"/>
          <p:cNvSpPr>
            <a:spLocks noChangeArrowheads="1"/>
          </p:cNvSpPr>
          <p:nvPr/>
        </p:nvSpPr>
        <p:spPr bwMode="auto">
          <a:xfrm rot="16200000">
            <a:off x="-609600" y="4114800"/>
            <a:ext cx="3200400" cy="152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endParaRPr lang="en-US" altLang="en-US" dirty="0"/>
          </a:p>
          <a:p>
            <a:pPr algn="ctr"/>
            <a:r>
              <a:rPr lang="en-US" altLang="en-US" dirty="0"/>
              <a:t>Registers</a:t>
            </a:r>
          </a:p>
        </p:txBody>
      </p:sp>
      <p:sp>
        <p:nvSpPr>
          <p:cNvPr id="282657" name="AutoShape 33"/>
          <p:cNvSpPr>
            <a:spLocks noChangeArrowheads="1"/>
          </p:cNvSpPr>
          <p:nvPr/>
        </p:nvSpPr>
        <p:spPr bwMode="auto">
          <a:xfrm>
            <a:off x="16764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8" name="AutoShape 34"/>
          <p:cNvSpPr>
            <a:spLocks noChangeArrowheads="1"/>
          </p:cNvSpPr>
          <p:nvPr/>
        </p:nvSpPr>
        <p:spPr bwMode="auto">
          <a:xfrm>
            <a:off x="4419600" y="4495800"/>
            <a:ext cx="609600" cy="381000"/>
          </a:xfrm>
          <a:prstGeom prst="leftRightArrow">
            <a:avLst>
              <a:gd name="adj1" fmla="val 50000"/>
              <a:gd name="adj2" fmla="val 32000"/>
            </a:avLst>
          </a:prstGeom>
          <a:solidFill>
            <a:srgbClr val="0000FF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9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82661" name="Text Box 37"/>
          <p:cNvSpPr txBox="1">
            <a:spLocks noChangeArrowheads="1"/>
          </p:cNvSpPr>
          <p:nvPr/>
        </p:nvSpPr>
        <p:spPr bwMode="auto">
          <a:xfrm>
            <a:off x="5181600" y="1752600"/>
            <a:ext cx="3657600" cy="646331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1200</a:t>
            </a:r>
            <a:r>
              <a:rPr lang="en-US" altLang="en-US" b="1" dirty="0">
                <a:latin typeface="Courier New" panose="02070309020205020404" pitchFamily="49" charset="0"/>
              </a:rPr>
              <a:t> |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282663" name="Text Box 39"/>
          <p:cNvSpPr txBox="1">
            <a:spLocks noChangeArrowheads="1"/>
          </p:cNvSpPr>
          <p:nvPr/>
        </p:nvSpPr>
        <p:spPr bwMode="auto">
          <a:xfrm>
            <a:off x="5181600" y="2538631"/>
            <a:ext cx="3657600" cy="91598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  <a:p>
            <a:pPr eaLnBrk="0" hangingPunct="0"/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4096</a:t>
            </a:r>
            <a:r>
              <a:rPr lang="en-US" altLang="en-US" b="1" dirty="0">
                <a:latin typeface="Courier New" panose="02070309020205020404" pitchFamily="49" charset="0"/>
              </a:rPr>
              <a:t> | 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</p:txBody>
      </p:sp>
      <p:grpSp>
        <p:nvGrpSpPr>
          <p:cNvPr id="282666" name="Group 42"/>
          <p:cNvGrpSpPr>
            <a:grpSpLocks/>
          </p:cNvGrpSpPr>
          <p:nvPr/>
        </p:nvGrpSpPr>
        <p:grpSpPr bwMode="auto">
          <a:xfrm>
            <a:off x="381000" y="3657600"/>
            <a:ext cx="1219200" cy="381000"/>
            <a:chOff x="144" y="1152"/>
            <a:chExt cx="768" cy="240"/>
          </a:xfrm>
        </p:grpSpPr>
        <p:sp>
          <p:nvSpPr>
            <p:cNvPr id="282664" name="Rectangle 40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65" name="Text Box 41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$1</a:t>
              </a:r>
            </a:p>
          </p:txBody>
        </p:sp>
      </p:grpSp>
      <p:grpSp>
        <p:nvGrpSpPr>
          <p:cNvPr id="282667" name="Group 43"/>
          <p:cNvGrpSpPr>
            <a:grpSpLocks/>
          </p:cNvGrpSpPr>
          <p:nvPr/>
        </p:nvGrpSpPr>
        <p:grpSpPr bwMode="auto">
          <a:xfrm>
            <a:off x="381000" y="4038600"/>
            <a:ext cx="1219200" cy="381000"/>
            <a:chOff x="144" y="1152"/>
            <a:chExt cx="768" cy="240"/>
          </a:xfrm>
        </p:grpSpPr>
        <p:sp>
          <p:nvSpPr>
            <p:cNvPr id="282668" name="Rectangle 44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69" name="Text Box 45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$2</a:t>
              </a:r>
            </a:p>
          </p:txBody>
        </p:sp>
      </p:grpSp>
      <p:grpSp>
        <p:nvGrpSpPr>
          <p:cNvPr id="282670" name="Group 46"/>
          <p:cNvGrpSpPr>
            <a:grpSpLocks/>
          </p:cNvGrpSpPr>
          <p:nvPr/>
        </p:nvGrpSpPr>
        <p:grpSpPr bwMode="auto">
          <a:xfrm>
            <a:off x="381000" y="4419600"/>
            <a:ext cx="1219200" cy="381000"/>
            <a:chOff x="144" y="1152"/>
            <a:chExt cx="768" cy="240"/>
          </a:xfrm>
        </p:grpSpPr>
        <p:sp>
          <p:nvSpPr>
            <p:cNvPr id="282671" name="Rectangle 47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72" name="Text Box 48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latin typeface="Courier New" panose="02070309020205020404" pitchFamily="49" charset="0"/>
                </a:rPr>
                <a:t>$3</a:t>
              </a:r>
            </a:p>
          </p:txBody>
        </p:sp>
      </p:grpSp>
      <p:grpSp>
        <p:nvGrpSpPr>
          <p:cNvPr id="282673" name="Group 49"/>
          <p:cNvGrpSpPr>
            <a:grpSpLocks/>
          </p:cNvGrpSpPr>
          <p:nvPr/>
        </p:nvGrpSpPr>
        <p:grpSpPr bwMode="auto">
          <a:xfrm>
            <a:off x="381000" y="4876800"/>
            <a:ext cx="1219200" cy="381000"/>
            <a:chOff x="144" y="1152"/>
            <a:chExt cx="768" cy="240"/>
          </a:xfrm>
        </p:grpSpPr>
        <p:sp>
          <p:nvSpPr>
            <p:cNvPr id="282674" name="Rectangle 50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82675" name="Text Box 51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SP</a:t>
              </a:r>
            </a:p>
          </p:txBody>
        </p:sp>
      </p:grpSp>
      <p:grpSp>
        <p:nvGrpSpPr>
          <p:cNvPr id="282676" name="Group 52"/>
          <p:cNvGrpSpPr>
            <a:grpSpLocks/>
          </p:cNvGrpSpPr>
          <p:nvPr/>
        </p:nvGrpSpPr>
        <p:grpSpPr bwMode="auto">
          <a:xfrm>
            <a:off x="381000" y="5257800"/>
            <a:ext cx="1219200" cy="381000"/>
            <a:chOff x="144" y="1152"/>
            <a:chExt cx="768" cy="240"/>
          </a:xfrm>
        </p:grpSpPr>
        <p:sp>
          <p:nvSpPr>
            <p:cNvPr id="282677" name="Rectangle 53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82678" name="Text Box 54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FP</a:t>
              </a:r>
            </a:p>
          </p:txBody>
        </p:sp>
      </p:grpSp>
      <p:grpSp>
        <p:nvGrpSpPr>
          <p:cNvPr id="282679" name="Group 55"/>
          <p:cNvGrpSpPr>
            <a:grpSpLocks/>
          </p:cNvGrpSpPr>
          <p:nvPr/>
        </p:nvGrpSpPr>
        <p:grpSpPr bwMode="auto">
          <a:xfrm>
            <a:off x="381000" y="5715000"/>
            <a:ext cx="1219200" cy="381000"/>
            <a:chOff x="144" y="1152"/>
            <a:chExt cx="768" cy="240"/>
          </a:xfrm>
        </p:grpSpPr>
        <p:sp>
          <p:nvSpPr>
            <p:cNvPr id="282680" name="Rectangle 56"/>
            <p:cNvSpPr>
              <a:spLocks noChangeArrowheads="1"/>
            </p:cNvSpPr>
            <p:nvPr/>
          </p:nvSpPr>
          <p:spPr bwMode="auto">
            <a:xfrm>
              <a:off x="480" y="1152"/>
              <a:ext cx="432" cy="2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81" name="Text Box 57"/>
            <p:cNvSpPr txBox="1">
              <a:spLocks noChangeArrowheads="1"/>
            </p:cNvSpPr>
            <p:nvPr/>
          </p:nvSpPr>
          <p:spPr bwMode="auto">
            <a:xfrm>
              <a:off x="144" y="11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b="1">
                  <a:latin typeface="Courier New" panose="02070309020205020404" pitchFamily="49" charset="0"/>
                </a:rPr>
                <a:t>PC</a:t>
              </a:r>
            </a:p>
          </p:txBody>
        </p:sp>
      </p:grpSp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5156200" y="4610100"/>
            <a:ext cx="3657600" cy="915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C00000"/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  <a:p>
            <a:pPr eaLnBrk="0" hangingPunct="0"/>
            <a:r>
              <a:rPr lang="en-US" altLang="en-US" b="1" dirty="0">
                <a:solidFill>
                  <a:srgbClr val="0066FF"/>
                </a:solidFill>
                <a:latin typeface="Courier New" panose="02070309020205020404" pitchFamily="49" charset="0"/>
              </a:rPr>
              <a:t>XXXX</a:t>
            </a:r>
            <a:r>
              <a:rPr lang="en-US" altLang="en-US" b="1" dirty="0">
                <a:latin typeface="Courier New" panose="02070309020205020404" pitchFamily="49" charset="0"/>
              </a:rPr>
              <a:t> | </a:t>
            </a:r>
          </a:p>
          <a:p>
            <a:pPr eaLnBrk="0" hangingPunct="0"/>
            <a:r>
              <a:rPr lang="en-US" altLang="en-US" b="1" dirty="0">
                <a:latin typeface="Courier New" panose="02070309020205020404" pitchFamily="49" charset="0"/>
              </a:rPr>
              <a:t>... 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059429-A494-78D8-546F-52A15DAFD3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1E1E8-F15D-5371-005A-E8915941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17434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Illustration: </a:t>
            </a:r>
            <a:r>
              <a:rPr lang="en-US" b="1" dirty="0"/>
              <a:t>Memory Regions</a:t>
            </a:r>
            <a:endParaRPr lang="en-SG" b="1" dirty="0"/>
          </a:p>
        </p:txBody>
      </p:sp>
      <p:sp>
        <p:nvSpPr>
          <p:cNvPr id="18" name="Right Bracket 17"/>
          <p:cNvSpPr/>
          <p:nvPr/>
        </p:nvSpPr>
        <p:spPr>
          <a:xfrm flipH="1">
            <a:off x="1143000" y="1143000"/>
            <a:ext cx="209550" cy="51054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-76200" y="3445336"/>
            <a:ext cx="1295400" cy="967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The entire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memory space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1524000" y="1144602"/>
            <a:ext cx="2667000" cy="1371588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altLang="en-US" sz="1200" b="1" dirty="0">
              <a:latin typeface="Courier New" pitchFamily="49" charset="0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1524000" y="1143000"/>
            <a:ext cx="2667000" cy="510059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1524000" y="2510582"/>
            <a:ext cx="2667000" cy="11144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1524000" y="5129178"/>
            <a:ext cx="2667000" cy="1114415"/>
          </a:xfrm>
          <a:prstGeom prst="rect">
            <a:avLst/>
          </a:prstGeom>
          <a:solidFill>
            <a:srgbClr val="FF99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477284" y="5138258"/>
            <a:ext cx="3218916" cy="1114415"/>
            <a:chOff x="5239284" y="5086316"/>
            <a:chExt cx="3218916" cy="1114415"/>
          </a:xfrm>
        </p:grpSpPr>
        <p:sp>
          <p:nvSpPr>
            <p:cNvPr id="30" name="Rectangle 29"/>
            <p:cNvSpPr/>
            <p:nvPr/>
          </p:nvSpPr>
          <p:spPr>
            <a:xfrm>
              <a:off x="5467884" y="5167229"/>
              <a:ext cx="2990316" cy="96740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Stack</a:t>
              </a:r>
            </a:p>
            <a:p>
              <a:pPr algn="ctr"/>
              <a:r>
                <a:rPr lang="en-US" dirty="0">
                  <a:solidFill>
                    <a:srgbClr val="002060"/>
                  </a:solidFill>
                </a:rPr>
                <a:t>(for function invocations)</a:t>
              </a:r>
              <a:endParaRPr lang="en-SG" dirty="0">
                <a:solidFill>
                  <a:srgbClr val="002060"/>
                </a:solidFill>
              </a:endParaRPr>
            </a:p>
          </p:txBody>
        </p:sp>
        <p:sp>
          <p:nvSpPr>
            <p:cNvPr id="33" name="Right Bracket 32"/>
            <p:cNvSpPr/>
            <p:nvPr/>
          </p:nvSpPr>
          <p:spPr>
            <a:xfrm>
              <a:off x="5239284" y="5086316"/>
              <a:ext cx="228600" cy="1114415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28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47800" y="1326665"/>
            <a:ext cx="2743200" cy="967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Text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instructions)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85900" y="2572871"/>
            <a:ext cx="2743200" cy="967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Data 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(for global variables)</a:t>
            </a:r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6D5C3-45A4-FA84-6741-96276888F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50ACF-288F-3B25-37A9-A4A5FFD78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8360850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Lecture 1</a:t>
            </a:r>
            <a:r>
              <a:rPr lang="en-US" altLang="en-US" dirty="0"/>
              <a:t>: Still remember this?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4090988"/>
            <a:ext cx="8001000" cy="23066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100" b="1" dirty="0"/>
              <a:t>A</a:t>
            </a:r>
            <a:r>
              <a:rPr lang="en-US" altLang="en-US" sz="2100" dirty="0"/>
              <a:t>: OS executing machine instructions</a:t>
            </a:r>
          </a:p>
          <a:p>
            <a:pPr>
              <a:lnSpc>
                <a:spcPct val="80000"/>
              </a:lnSpc>
            </a:pPr>
            <a:r>
              <a:rPr lang="en-US" altLang="en-US" sz="2100" b="1" dirty="0"/>
              <a:t>B</a:t>
            </a:r>
            <a:r>
              <a:rPr lang="en-US" altLang="en-US" sz="2100" dirty="0"/>
              <a:t>: normal machine instructions executed (program/library code)</a:t>
            </a:r>
          </a:p>
          <a:p>
            <a:pPr>
              <a:lnSpc>
                <a:spcPct val="80000"/>
              </a:lnSpc>
            </a:pPr>
            <a:r>
              <a:rPr lang="en-US" altLang="en-US" sz="2100" b="1" dirty="0"/>
              <a:t>C</a:t>
            </a:r>
            <a:r>
              <a:rPr lang="en-US" altLang="en-US" sz="2100" dirty="0"/>
              <a:t>: calling OS using </a:t>
            </a:r>
            <a:r>
              <a:rPr lang="en-US" altLang="en-US" sz="2100" b="1" i="1" dirty="0"/>
              <a:t>system call interface</a:t>
            </a:r>
          </a:p>
          <a:p>
            <a:pPr>
              <a:lnSpc>
                <a:spcPct val="80000"/>
              </a:lnSpc>
            </a:pPr>
            <a:r>
              <a:rPr lang="en-US" altLang="en-US" sz="2100" b="1" dirty="0"/>
              <a:t>D</a:t>
            </a:r>
            <a:r>
              <a:rPr lang="en-US" altLang="en-US" sz="2100" dirty="0"/>
              <a:t>: user program calls library code</a:t>
            </a:r>
          </a:p>
          <a:p>
            <a:pPr>
              <a:lnSpc>
                <a:spcPct val="80000"/>
              </a:lnSpc>
            </a:pPr>
            <a:r>
              <a:rPr lang="en-US" altLang="en-US" sz="2100" b="1" dirty="0"/>
              <a:t>E</a:t>
            </a:r>
            <a:r>
              <a:rPr lang="en-US" altLang="en-US" sz="2100" dirty="0"/>
              <a:t>: system processes</a:t>
            </a:r>
          </a:p>
          <a:p>
            <a:pPr lvl="1">
              <a:lnSpc>
                <a:spcPct val="80000"/>
              </a:lnSpc>
            </a:pPr>
            <a:r>
              <a:rPr lang="en-US" altLang="en-US" sz="1900" dirty="0"/>
              <a:t>Provide high level services, usually part of OS</a:t>
            </a:r>
          </a:p>
        </p:txBody>
      </p:sp>
      <p:grpSp>
        <p:nvGrpSpPr>
          <p:cNvPr id="296965" name="Group 5"/>
          <p:cNvGrpSpPr>
            <a:grpSpLocks/>
          </p:cNvGrpSpPr>
          <p:nvPr/>
        </p:nvGrpSpPr>
        <p:grpSpPr bwMode="auto">
          <a:xfrm>
            <a:off x="1143000" y="1371600"/>
            <a:ext cx="6858000" cy="2590800"/>
            <a:chOff x="720" y="1920"/>
            <a:chExt cx="4320" cy="1632"/>
          </a:xfrm>
        </p:grpSpPr>
        <p:sp>
          <p:nvSpPr>
            <p:cNvPr id="296966" name="Rectangle 6"/>
            <p:cNvSpPr>
              <a:spLocks noChangeArrowheads="1"/>
            </p:cNvSpPr>
            <p:nvPr/>
          </p:nvSpPr>
          <p:spPr bwMode="auto">
            <a:xfrm>
              <a:off x="720" y="3216"/>
              <a:ext cx="4320" cy="336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Hardware</a:t>
              </a:r>
            </a:p>
          </p:txBody>
        </p:sp>
        <p:sp>
          <p:nvSpPr>
            <p:cNvPr id="296967" name="Rectangle 7"/>
            <p:cNvSpPr>
              <a:spLocks noChangeArrowheads="1"/>
            </p:cNvSpPr>
            <p:nvPr/>
          </p:nvSpPr>
          <p:spPr bwMode="auto">
            <a:xfrm>
              <a:off x="720" y="1920"/>
              <a:ext cx="912" cy="864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/>
                <a:t>System Processes</a:t>
              </a:r>
            </a:p>
          </p:txBody>
        </p:sp>
        <p:sp>
          <p:nvSpPr>
            <p:cNvPr id="296968" name="Rectangle 8"/>
            <p:cNvSpPr>
              <a:spLocks noChangeArrowheads="1"/>
            </p:cNvSpPr>
            <p:nvPr/>
          </p:nvSpPr>
          <p:spPr bwMode="auto">
            <a:xfrm>
              <a:off x="720" y="2832"/>
              <a:ext cx="2544" cy="336"/>
            </a:xfrm>
            <a:prstGeom prst="rect">
              <a:avLst/>
            </a:pr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/>
                <a:t>OS</a:t>
              </a:r>
            </a:p>
          </p:txBody>
        </p:sp>
        <p:grpSp>
          <p:nvGrpSpPr>
            <p:cNvPr id="296969" name="Group 9"/>
            <p:cNvGrpSpPr>
              <a:grpSpLocks/>
            </p:cNvGrpSpPr>
            <p:nvPr/>
          </p:nvGrpSpPr>
          <p:grpSpPr bwMode="auto">
            <a:xfrm>
              <a:off x="2400" y="2448"/>
              <a:ext cx="1824" cy="720"/>
              <a:chOff x="2400" y="2448"/>
              <a:chExt cx="1824" cy="720"/>
            </a:xfrm>
          </p:grpSpPr>
          <p:sp>
            <p:nvSpPr>
              <p:cNvPr id="296970" name="Rectangle 10"/>
              <p:cNvSpPr>
                <a:spLocks noChangeArrowheads="1"/>
              </p:cNvSpPr>
              <p:nvPr/>
            </p:nvSpPr>
            <p:spPr bwMode="auto">
              <a:xfrm>
                <a:off x="2400" y="2448"/>
                <a:ext cx="1824" cy="336"/>
              </a:xfrm>
              <a:prstGeom prst="rect">
                <a:avLst/>
              </a:pr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/>
                  <a:t>Library</a:t>
                </a:r>
              </a:p>
            </p:txBody>
          </p:sp>
          <p:sp>
            <p:nvSpPr>
              <p:cNvPr id="296971" name="Rectangle 11"/>
              <p:cNvSpPr>
                <a:spLocks noChangeArrowheads="1"/>
              </p:cNvSpPr>
              <p:nvPr/>
            </p:nvSpPr>
            <p:spPr bwMode="auto">
              <a:xfrm>
                <a:off x="3312" y="2784"/>
                <a:ext cx="912" cy="384"/>
              </a:xfrm>
              <a:prstGeom prst="rect">
                <a:avLst/>
              </a:pr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/>
              </a:p>
            </p:txBody>
          </p:sp>
        </p:grpSp>
        <p:grpSp>
          <p:nvGrpSpPr>
            <p:cNvPr id="296972" name="Group 12"/>
            <p:cNvGrpSpPr>
              <a:grpSpLocks/>
            </p:cNvGrpSpPr>
            <p:nvPr/>
          </p:nvGrpSpPr>
          <p:grpSpPr bwMode="auto">
            <a:xfrm>
              <a:off x="1680" y="1920"/>
              <a:ext cx="3360" cy="1248"/>
              <a:chOff x="1680" y="1920"/>
              <a:chExt cx="3360" cy="1248"/>
            </a:xfrm>
          </p:grpSpPr>
          <p:sp>
            <p:nvSpPr>
              <p:cNvPr id="296973" name="Rectangle 13"/>
              <p:cNvSpPr>
                <a:spLocks noChangeArrowheads="1"/>
              </p:cNvSpPr>
              <p:nvPr/>
            </p:nvSpPr>
            <p:spPr bwMode="auto">
              <a:xfrm>
                <a:off x="1680" y="2400"/>
                <a:ext cx="672" cy="384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/>
              </a:p>
            </p:txBody>
          </p:sp>
          <p:sp>
            <p:nvSpPr>
              <p:cNvPr id="296974" name="Rectangle 14"/>
              <p:cNvSpPr>
                <a:spLocks noChangeArrowheads="1"/>
              </p:cNvSpPr>
              <p:nvPr/>
            </p:nvSpPr>
            <p:spPr bwMode="auto">
              <a:xfrm>
                <a:off x="1680" y="1920"/>
                <a:ext cx="3360" cy="480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/>
                  <a:t>User Programs</a:t>
                </a:r>
              </a:p>
            </p:txBody>
          </p:sp>
          <p:sp>
            <p:nvSpPr>
              <p:cNvPr id="296975" name="Rectangle 15"/>
              <p:cNvSpPr>
                <a:spLocks noChangeArrowheads="1"/>
              </p:cNvSpPr>
              <p:nvPr/>
            </p:nvSpPr>
            <p:spPr bwMode="auto">
              <a:xfrm>
                <a:off x="4320" y="2400"/>
                <a:ext cx="720" cy="768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/>
              </a:p>
            </p:txBody>
          </p:sp>
        </p:grpSp>
      </p:grpSp>
      <p:grpSp>
        <p:nvGrpSpPr>
          <p:cNvPr id="296976" name="Group 16"/>
          <p:cNvGrpSpPr>
            <a:grpSpLocks/>
          </p:cNvGrpSpPr>
          <p:nvPr/>
        </p:nvGrpSpPr>
        <p:grpSpPr bwMode="auto">
          <a:xfrm>
            <a:off x="2133600" y="3048000"/>
            <a:ext cx="457200" cy="685800"/>
            <a:chOff x="1344" y="2112"/>
            <a:chExt cx="288" cy="432"/>
          </a:xfrm>
        </p:grpSpPr>
        <p:sp>
          <p:nvSpPr>
            <p:cNvPr id="296977" name="AutoShape 17"/>
            <p:cNvSpPr>
              <a:spLocks noChangeArrowheads="1"/>
            </p:cNvSpPr>
            <p:nvPr/>
          </p:nvSpPr>
          <p:spPr bwMode="auto">
            <a:xfrm>
              <a:off x="1488" y="2112"/>
              <a:ext cx="144" cy="432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78" name="Oval 18"/>
            <p:cNvSpPr>
              <a:spLocks noChangeArrowheads="1"/>
            </p:cNvSpPr>
            <p:nvPr/>
          </p:nvSpPr>
          <p:spPr bwMode="auto">
            <a:xfrm>
              <a:off x="1344" y="2208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A</a:t>
              </a:r>
            </a:p>
          </p:txBody>
        </p:sp>
      </p:grpSp>
      <p:grpSp>
        <p:nvGrpSpPr>
          <p:cNvPr id="296979" name="Group 19"/>
          <p:cNvGrpSpPr>
            <a:grpSpLocks/>
          </p:cNvGrpSpPr>
          <p:nvPr/>
        </p:nvGrpSpPr>
        <p:grpSpPr bwMode="auto">
          <a:xfrm>
            <a:off x="5867400" y="3124200"/>
            <a:ext cx="457200" cy="685800"/>
            <a:chOff x="1344" y="2112"/>
            <a:chExt cx="288" cy="432"/>
          </a:xfrm>
        </p:grpSpPr>
        <p:sp>
          <p:nvSpPr>
            <p:cNvPr id="296980" name="AutoShape 20"/>
            <p:cNvSpPr>
              <a:spLocks noChangeArrowheads="1"/>
            </p:cNvSpPr>
            <p:nvPr/>
          </p:nvSpPr>
          <p:spPr bwMode="auto">
            <a:xfrm>
              <a:off x="1488" y="2112"/>
              <a:ext cx="144" cy="432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81" name="Oval 21"/>
            <p:cNvSpPr>
              <a:spLocks noChangeArrowheads="1"/>
            </p:cNvSpPr>
            <p:nvPr/>
          </p:nvSpPr>
          <p:spPr bwMode="auto">
            <a:xfrm>
              <a:off x="1344" y="2208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B</a:t>
              </a:r>
            </a:p>
          </p:txBody>
        </p:sp>
      </p:grpSp>
      <p:grpSp>
        <p:nvGrpSpPr>
          <p:cNvPr id="296982" name="Group 22"/>
          <p:cNvGrpSpPr>
            <a:grpSpLocks/>
          </p:cNvGrpSpPr>
          <p:nvPr/>
        </p:nvGrpSpPr>
        <p:grpSpPr bwMode="auto">
          <a:xfrm>
            <a:off x="7086600" y="3124200"/>
            <a:ext cx="457200" cy="685800"/>
            <a:chOff x="1344" y="2112"/>
            <a:chExt cx="288" cy="432"/>
          </a:xfrm>
        </p:grpSpPr>
        <p:sp>
          <p:nvSpPr>
            <p:cNvPr id="296983" name="AutoShape 23"/>
            <p:cNvSpPr>
              <a:spLocks noChangeArrowheads="1"/>
            </p:cNvSpPr>
            <p:nvPr/>
          </p:nvSpPr>
          <p:spPr bwMode="auto">
            <a:xfrm>
              <a:off x="1488" y="2112"/>
              <a:ext cx="144" cy="432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84" name="Oval 24"/>
            <p:cNvSpPr>
              <a:spLocks noChangeArrowheads="1"/>
            </p:cNvSpPr>
            <p:nvPr/>
          </p:nvSpPr>
          <p:spPr bwMode="auto">
            <a:xfrm>
              <a:off x="1344" y="2208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B</a:t>
              </a:r>
            </a:p>
          </p:txBody>
        </p:sp>
      </p:grpSp>
      <p:grpSp>
        <p:nvGrpSpPr>
          <p:cNvPr id="296985" name="Group 25"/>
          <p:cNvGrpSpPr>
            <a:grpSpLocks/>
          </p:cNvGrpSpPr>
          <p:nvPr/>
        </p:nvGrpSpPr>
        <p:grpSpPr bwMode="auto">
          <a:xfrm>
            <a:off x="4038600" y="2438400"/>
            <a:ext cx="457200" cy="533400"/>
            <a:chOff x="2544" y="1824"/>
            <a:chExt cx="288" cy="336"/>
          </a:xfrm>
        </p:grpSpPr>
        <p:sp>
          <p:nvSpPr>
            <p:cNvPr id="296986" name="AutoShape 26"/>
            <p:cNvSpPr>
              <a:spLocks noChangeArrowheads="1"/>
            </p:cNvSpPr>
            <p:nvPr/>
          </p:nvSpPr>
          <p:spPr bwMode="auto">
            <a:xfrm>
              <a:off x="2688" y="1824"/>
              <a:ext cx="144" cy="336"/>
            </a:xfrm>
            <a:prstGeom prst="upDownArrow">
              <a:avLst>
                <a:gd name="adj1" fmla="val 50000"/>
                <a:gd name="adj2" fmla="val 46667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87" name="Oval 27"/>
            <p:cNvSpPr>
              <a:spLocks noChangeArrowheads="1"/>
            </p:cNvSpPr>
            <p:nvPr/>
          </p:nvSpPr>
          <p:spPr bwMode="auto">
            <a:xfrm>
              <a:off x="2544" y="1872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C</a:t>
              </a:r>
            </a:p>
          </p:txBody>
        </p:sp>
      </p:grpSp>
      <p:grpSp>
        <p:nvGrpSpPr>
          <p:cNvPr id="296988" name="Group 28"/>
          <p:cNvGrpSpPr>
            <a:grpSpLocks/>
          </p:cNvGrpSpPr>
          <p:nvPr/>
        </p:nvGrpSpPr>
        <p:grpSpPr bwMode="auto">
          <a:xfrm>
            <a:off x="6172200" y="1752600"/>
            <a:ext cx="457200" cy="685800"/>
            <a:chOff x="1344" y="2112"/>
            <a:chExt cx="288" cy="432"/>
          </a:xfrm>
        </p:grpSpPr>
        <p:sp>
          <p:nvSpPr>
            <p:cNvPr id="296989" name="AutoShape 29"/>
            <p:cNvSpPr>
              <a:spLocks noChangeArrowheads="1"/>
            </p:cNvSpPr>
            <p:nvPr/>
          </p:nvSpPr>
          <p:spPr bwMode="auto">
            <a:xfrm>
              <a:off x="1488" y="2112"/>
              <a:ext cx="144" cy="432"/>
            </a:xfrm>
            <a:prstGeom prst="upDownArrow">
              <a:avLst>
                <a:gd name="adj1" fmla="val 50000"/>
                <a:gd name="adj2" fmla="val 6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90" name="Oval 30"/>
            <p:cNvSpPr>
              <a:spLocks noChangeArrowheads="1"/>
            </p:cNvSpPr>
            <p:nvPr/>
          </p:nvSpPr>
          <p:spPr bwMode="auto">
            <a:xfrm>
              <a:off x="1344" y="2208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D</a:t>
              </a:r>
            </a:p>
          </p:txBody>
        </p:sp>
      </p:grpSp>
      <p:sp>
        <p:nvSpPr>
          <p:cNvPr id="296991" name="Oval 31"/>
          <p:cNvSpPr>
            <a:spLocks noChangeArrowheads="1"/>
          </p:cNvSpPr>
          <p:nvPr/>
        </p:nvSpPr>
        <p:spPr bwMode="auto">
          <a:xfrm>
            <a:off x="1143000" y="1447800"/>
            <a:ext cx="381000" cy="381000"/>
          </a:xfrm>
          <a:prstGeom prst="ellipse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1400" b="1"/>
              <a:t>E</a:t>
            </a:r>
          </a:p>
        </p:txBody>
      </p:sp>
      <p:grpSp>
        <p:nvGrpSpPr>
          <p:cNvPr id="296992" name="Group 32"/>
          <p:cNvGrpSpPr>
            <a:grpSpLocks/>
          </p:cNvGrpSpPr>
          <p:nvPr/>
        </p:nvGrpSpPr>
        <p:grpSpPr bwMode="auto">
          <a:xfrm>
            <a:off x="2514600" y="2438400"/>
            <a:ext cx="457200" cy="533400"/>
            <a:chOff x="2544" y="1824"/>
            <a:chExt cx="288" cy="336"/>
          </a:xfrm>
        </p:grpSpPr>
        <p:sp>
          <p:nvSpPr>
            <p:cNvPr id="296993" name="AutoShape 33"/>
            <p:cNvSpPr>
              <a:spLocks noChangeArrowheads="1"/>
            </p:cNvSpPr>
            <p:nvPr/>
          </p:nvSpPr>
          <p:spPr bwMode="auto">
            <a:xfrm>
              <a:off x="2688" y="1824"/>
              <a:ext cx="144" cy="336"/>
            </a:xfrm>
            <a:prstGeom prst="upDownArrow">
              <a:avLst>
                <a:gd name="adj1" fmla="val 50000"/>
                <a:gd name="adj2" fmla="val 46667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96994" name="Oval 34"/>
            <p:cNvSpPr>
              <a:spLocks noChangeArrowheads="1"/>
            </p:cNvSpPr>
            <p:nvPr/>
          </p:nvSpPr>
          <p:spPr bwMode="auto">
            <a:xfrm>
              <a:off x="2544" y="1872"/>
              <a:ext cx="240" cy="24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1400" b="1"/>
                <a:t>C</a:t>
              </a:r>
            </a:p>
          </p:txBody>
        </p:sp>
      </p:grpSp>
      <p:sp>
        <p:nvSpPr>
          <p:cNvPr id="296995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E57B8D-51ED-C64A-BF4B-40415F29C9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8E6A6-25AB-4DC4-A700-7562046CD0B6}" type="slidenum">
              <a:rPr lang="en-US" altLang="en-US" smtClean="0"/>
              <a:pPr/>
              <a:t>77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F32D40-E7D6-E2D7-A6FD-C7369A11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95949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Recap: </a:t>
            </a:r>
            <a:r>
              <a:rPr lang="en-US" dirty="0"/>
              <a:t>Program Execution (Memory)</a:t>
            </a:r>
            <a:endParaRPr lang="en-SG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19200" y="1276349"/>
            <a:ext cx="2667000" cy="1358067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altLang="en-US" sz="1200" b="1" dirty="0">
              <a:latin typeface="Courier New" pitchFamily="49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1219200" y="1276350"/>
            <a:ext cx="2667000" cy="4533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219200" y="2639761"/>
            <a:ext cx="2667000" cy="18070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6200" y="2634416"/>
            <a:ext cx="762000" cy="4166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002060"/>
                </a:solidFill>
              </a:rPr>
              <a:t>Data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-152400" y="1276349"/>
            <a:ext cx="914400" cy="429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002060"/>
                </a:solidFill>
              </a:rPr>
              <a:t>Text </a:t>
            </a:r>
          </a:p>
        </p:txBody>
      </p:sp>
      <p:sp>
        <p:nvSpPr>
          <p:cNvPr id="17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4953000" y="1235137"/>
            <a:ext cx="3124200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accent4">
                <a:lumMod val="75000"/>
                <a:lumOff val="2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1600" b="1" dirty="0">
                <a:solidFill>
                  <a:srgbClr val="7030A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1600" b="1" dirty="0">
                <a:latin typeface="Courier New" panose="02070309020205020404" pitchFamily="49" charset="0"/>
              </a:rPr>
              <a:t> f(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a,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b )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c;</a:t>
            </a:r>
          </a:p>
          <a:p>
            <a:pPr eaLnBrk="0" hangingPunct="0"/>
            <a:endParaRPr lang="en-US" altLang="en-US" sz="1600" b="1" dirty="0">
              <a:solidFill>
                <a:srgbClr val="FFFFCC"/>
              </a:solidFill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    g( a, b );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    ....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4953000" y="3452844"/>
            <a:ext cx="3124200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accent4">
                <a:lumMod val="75000"/>
                <a:lumOff val="2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1600" b="1" dirty="0">
                <a:solidFill>
                  <a:srgbClr val="7030A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sz="1600" b="1" dirty="0">
                <a:latin typeface="Courier New" panose="02070309020205020404" pitchFamily="49" charset="0"/>
              </a:rPr>
              <a:t> g(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latin typeface="Courier New" panose="02070309020205020404" pitchFamily="49" charset="0"/>
              </a:rPr>
              <a:t>,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j )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{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en-US" sz="1600" b="1" dirty="0" err="1">
                <a:solidFill>
                  <a:srgbClr val="7030A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600" b="1" dirty="0">
                <a:latin typeface="Courier New" panose="02070309020205020404" pitchFamily="49" charset="0"/>
              </a:rPr>
              <a:t> a;</a:t>
            </a:r>
          </a:p>
          <a:p>
            <a:pPr eaLnBrk="0" hangingPunct="0"/>
            <a:endParaRPr lang="en-US" altLang="en-US" sz="1600" b="1" dirty="0">
              <a:latin typeface="Courier New" panose="02070309020205020404" pitchFamily="49" charset="0"/>
            </a:endParaRP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    ......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7030A0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sz="1600" b="1" dirty="0">
                <a:latin typeface="Courier New" panose="02070309020205020404" pitchFamily="49" charset="0"/>
              </a:rPr>
              <a:t>;</a:t>
            </a:r>
          </a:p>
          <a:p>
            <a:pPr eaLnBrk="0" hangingPunct="0"/>
            <a:r>
              <a:rPr lang="en-US" altLang="en-US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27B02-4BA4-E592-7C1D-CE524956B7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78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D2B90-EAA1-608F-C721-3A9EF3A0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391493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Process Table MORE</a:t>
            </a:r>
            <a:endParaRPr lang="en-SG" dirty="0">
              <a:solidFill>
                <a:schemeClr val="bg1"/>
              </a:solidFill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470263" y="0"/>
            <a:ext cx="8216537" cy="6637480"/>
            <a:chOff x="470263" y="0"/>
            <a:chExt cx="8216537" cy="6637480"/>
          </a:xfrm>
        </p:grpSpPr>
        <p:grpSp>
          <p:nvGrpSpPr>
            <p:cNvPr id="11" name="Group 10"/>
            <p:cNvGrpSpPr/>
            <p:nvPr/>
          </p:nvGrpSpPr>
          <p:grpSpPr>
            <a:xfrm>
              <a:off x="7239000" y="141730"/>
              <a:ext cx="1447800" cy="2845964"/>
              <a:chOff x="1524000" y="1143000"/>
              <a:chExt cx="1447800" cy="2178050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1524000" y="1144424"/>
                <a:ext cx="1447800" cy="551026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Text</a:t>
                </a:r>
              </a:p>
            </p:txBody>
          </p:sp>
          <p:sp>
            <p:nvSpPr>
              <p:cNvPr id="7" name="Rectangle 13"/>
              <p:cNvSpPr>
                <a:spLocks noChangeArrowheads="1"/>
              </p:cNvSpPr>
              <p:nvPr/>
            </p:nvSpPr>
            <p:spPr bwMode="auto">
              <a:xfrm>
                <a:off x="1524000" y="1143000"/>
                <a:ext cx="1447800" cy="21780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itchFamily="49" charset="0"/>
                </a:endParaRPr>
              </a:p>
            </p:txBody>
          </p:sp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1524000" y="1682750"/>
                <a:ext cx="1447800" cy="4762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Data</a:t>
                </a: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1524000" y="2825750"/>
                <a:ext cx="1447800" cy="495300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Stack</a:t>
                </a:r>
              </a:p>
            </p:txBody>
          </p:sp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1524000" y="2152650"/>
                <a:ext cx="1447800" cy="463550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Heap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470263" y="3626529"/>
              <a:ext cx="1447800" cy="2178050"/>
              <a:chOff x="1524000" y="1143000"/>
              <a:chExt cx="1447800" cy="2178050"/>
            </a:xfrm>
            <a:solidFill>
              <a:schemeClr val="bg1">
                <a:lumMod val="95000"/>
              </a:schemeClr>
            </a:solidFill>
          </p:grpSpPr>
          <p:sp>
            <p:nvSpPr>
              <p:cNvPr id="20" name="Rectangle 19"/>
              <p:cNvSpPr>
                <a:spLocks noChangeArrowheads="1"/>
              </p:cNvSpPr>
              <p:nvPr/>
            </p:nvSpPr>
            <p:spPr bwMode="auto">
              <a:xfrm>
                <a:off x="1524000" y="1143000"/>
                <a:ext cx="1447800" cy="21780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itchFamily="49" charset="0"/>
                </a:endParaRPr>
              </a:p>
            </p:txBody>
          </p:sp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1524000" y="1144424"/>
                <a:ext cx="1447800" cy="551026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PCB</a:t>
                </a:r>
                <a:r>
                  <a:rPr lang="en-US" altLang="en-US" b="1" baseline="-25000" dirty="0">
                    <a:latin typeface="Courier New" pitchFamily="49" charset="0"/>
                  </a:rPr>
                  <a:t>1</a:t>
                </a:r>
              </a:p>
            </p:txBody>
          </p:sp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524000" y="1682750"/>
                <a:ext cx="1447800" cy="4762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PCB</a:t>
                </a:r>
                <a:r>
                  <a:rPr lang="en-US" altLang="en-US" b="1" baseline="-25000" dirty="0">
                    <a:latin typeface="Courier New" pitchFamily="49" charset="0"/>
                  </a:rPr>
                  <a:t>2</a:t>
                </a:r>
                <a:endParaRPr lang="en-US" altLang="en-US" b="1" dirty="0">
                  <a:latin typeface="Courier New" pitchFamily="49" charset="0"/>
                </a:endParaRPr>
              </a:p>
            </p:txBody>
          </p:sp>
          <p:sp>
            <p:nvSpPr>
              <p:cNvPr id="22" name="Rectangle 5"/>
              <p:cNvSpPr>
                <a:spLocks noChangeArrowheads="1"/>
              </p:cNvSpPr>
              <p:nvPr/>
            </p:nvSpPr>
            <p:spPr bwMode="auto">
              <a:xfrm>
                <a:off x="1524000" y="2612312"/>
                <a:ext cx="1447800" cy="708737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………</a:t>
                </a: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524000" y="2152650"/>
                <a:ext cx="1447800" cy="463550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PCB</a:t>
                </a:r>
                <a:r>
                  <a:rPr lang="en-US" altLang="en-US" b="1" baseline="-25000" dirty="0">
                    <a:latin typeface="Courier New" pitchFamily="49" charset="0"/>
                  </a:rPr>
                  <a:t>3</a:t>
                </a:r>
                <a:endParaRPr lang="en-US" altLang="en-US" b="1" dirty="0">
                  <a:latin typeface="Courier New" pitchFamily="49" charset="0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3281779" y="225759"/>
              <a:ext cx="1447800" cy="2990153"/>
              <a:chOff x="2857500" y="1417811"/>
              <a:chExt cx="1447800" cy="2990153"/>
            </a:xfrm>
          </p:grpSpPr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2857500" y="3315967"/>
                <a:ext cx="1447800" cy="39052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PID</a:t>
                </a: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2857500" y="3706492"/>
                <a:ext cx="1447800" cy="69057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Process State</a:t>
                </a:r>
              </a:p>
            </p:txBody>
          </p:sp>
          <p:sp>
            <p:nvSpPr>
              <p:cNvPr id="26" name="Rectangle 5"/>
              <p:cNvSpPr>
                <a:spLocks noChangeArrowheads="1"/>
              </p:cNvSpPr>
              <p:nvPr/>
            </p:nvSpPr>
            <p:spPr bwMode="auto">
              <a:xfrm>
                <a:off x="2857500" y="1430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PC, FP, SP, ……</a:t>
                </a:r>
              </a:p>
            </p:txBody>
          </p:sp>
          <p:sp>
            <p:nvSpPr>
              <p:cNvPr id="29" name="Rectangle 5"/>
              <p:cNvSpPr>
                <a:spLocks noChangeArrowheads="1"/>
              </p:cNvSpPr>
              <p:nvPr/>
            </p:nvSpPr>
            <p:spPr bwMode="auto">
              <a:xfrm>
                <a:off x="2857500" y="1956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GPRs</a:t>
                </a:r>
              </a:p>
            </p:txBody>
          </p:sp>
          <p:sp>
            <p:nvSpPr>
              <p:cNvPr id="31" name="Rectangle 30"/>
              <p:cNvSpPr>
                <a:spLocks noChangeArrowheads="1"/>
              </p:cNvSpPr>
              <p:nvPr/>
            </p:nvSpPr>
            <p:spPr bwMode="auto">
              <a:xfrm>
                <a:off x="2857500" y="1417811"/>
                <a:ext cx="1447800" cy="1103139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  <p:sp>
            <p:nvSpPr>
              <p:cNvPr id="32" name="Rectangle 5"/>
              <p:cNvSpPr>
                <a:spLocks noChangeArrowheads="1"/>
              </p:cNvSpPr>
              <p:nvPr/>
            </p:nvSpPr>
            <p:spPr bwMode="auto">
              <a:xfrm>
                <a:off x="2857500" y="2514600"/>
                <a:ext cx="1447800" cy="800381"/>
              </a:xfrm>
              <a:prstGeom prst="rect">
                <a:avLst/>
              </a:prstGeom>
              <a:pattFill prst="smConfetti">
                <a:fgClr>
                  <a:srgbClr val="34F499"/>
                </a:fgClr>
                <a:bgClr>
                  <a:schemeClr val="bg1"/>
                </a:bgClr>
              </a:pattFill>
              <a:ln w="19050">
                <a:solidFill>
                  <a:srgbClr val="008000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Memory Region Info</a:t>
                </a:r>
              </a:p>
            </p:txBody>
          </p:sp>
          <p:sp>
            <p:nvSpPr>
              <p:cNvPr id="33" name="Rectangle 32"/>
              <p:cNvSpPr>
                <a:spLocks noChangeArrowheads="1"/>
              </p:cNvSpPr>
              <p:nvPr/>
            </p:nvSpPr>
            <p:spPr bwMode="auto">
              <a:xfrm>
                <a:off x="2857500" y="3326617"/>
                <a:ext cx="1447800" cy="1081347"/>
              </a:xfrm>
              <a:prstGeom prst="rect">
                <a:avLst/>
              </a:prstGeom>
              <a:noFill/>
              <a:ln w="19050">
                <a:solidFill>
                  <a:srgbClr val="66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</p:grpSp>
        <p:sp>
          <p:nvSpPr>
            <p:cNvPr id="35" name="Rectangle 34"/>
            <p:cNvSpPr/>
            <p:nvPr/>
          </p:nvSpPr>
          <p:spPr>
            <a:xfrm>
              <a:off x="470263" y="5851478"/>
              <a:ext cx="1371600" cy="4413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Process Table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 flipV="1">
              <a:off x="1918063" y="225759"/>
              <a:ext cx="1363716" cy="3431841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1918063" y="3205015"/>
              <a:ext cx="1358537" cy="939725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42"/>
            <p:cNvCxnSpPr>
              <a:stCxn id="32" idx="3"/>
            </p:cNvCxnSpPr>
            <p:nvPr/>
          </p:nvCxnSpPr>
          <p:spPr>
            <a:xfrm flipV="1">
              <a:off x="4729579" y="144320"/>
              <a:ext cx="2509421" cy="1578419"/>
            </a:xfrm>
            <a:prstGeom prst="bentConnector3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/>
            <p:cNvCxnSpPr>
              <a:stCxn id="32" idx="3"/>
            </p:cNvCxnSpPr>
            <p:nvPr/>
          </p:nvCxnSpPr>
          <p:spPr>
            <a:xfrm>
              <a:off x="4729579" y="1722739"/>
              <a:ext cx="2509421" cy="1264955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/>
            <p:cNvGrpSpPr/>
            <p:nvPr/>
          </p:nvGrpSpPr>
          <p:grpSpPr>
            <a:xfrm>
              <a:off x="7239000" y="3356833"/>
              <a:ext cx="1447800" cy="2845964"/>
              <a:chOff x="1524000" y="1143000"/>
              <a:chExt cx="1447800" cy="2178050"/>
            </a:xfrm>
          </p:grpSpPr>
          <p:sp>
            <p:nvSpPr>
              <p:cNvPr id="40" name="Rectangle 39"/>
              <p:cNvSpPr>
                <a:spLocks noChangeArrowheads="1"/>
              </p:cNvSpPr>
              <p:nvPr/>
            </p:nvSpPr>
            <p:spPr bwMode="auto">
              <a:xfrm>
                <a:off x="1524000" y="1144424"/>
                <a:ext cx="1447800" cy="551026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Text</a:t>
                </a:r>
              </a:p>
            </p:txBody>
          </p:sp>
          <p:sp>
            <p:nvSpPr>
              <p:cNvPr id="42" name="Rectangle 13"/>
              <p:cNvSpPr>
                <a:spLocks noChangeArrowheads="1"/>
              </p:cNvSpPr>
              <p:nvPr/>
            </p:nvSpPr>
            <p:spPr bwMode="auto">
              <a:xfrm>
                <a:off x="1524000" y="1143000"/>
                <a:ext cx="1447800" cy="217805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itchFamily="49" charset="0"/>
                </a:endParaRPr>
              </a:p>
            </p:txBody>
          </p:sp>
          <p:sp>
            <p:nvSpPr>
              <p:cNvPr id="45" name="Rectangle 5"/>
              <p:cNvSpPr>
                <a:spLocks noChangeArrowheads="1"/>
              </p:cNvSpPr>
              <p:nvPr/>
            </p:nvSpPr>
            <p:spPr bwMode="auto">
              <a:xfrm>
                <a:off x="1524000" y="1682750"/>
                <a:ext cx="1447800" cy="4762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Data</a:t>
                </a:r>
              </a:p>
            </p:txBody>
          </p:sp>
          <p:sp>
            <p:nvSpPr>
              <p:cNvPr id="46" name="Rectangle 5"/>
              <p:cNvSpPr>
                <a:spLocks noChangeArrowheads="1"/>
              </p:cNvSpPr>
              <p:nvPr/>
            </p:nvSpPr>
            <p:spPr bwMode="auto">
              <a:xfrm>
                <a:off x="1524000" y="2825750"/>
                <a:ext cx="1447800" cy="495300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Stack</a:t>
                </a:r>
              </a:p>
            </p:txBody>
          </p:sp>
          <p:sp>
            <p:nvSpPr>
              <p:cNvPr id="47" name="Rectangle 5"/>
              <p:cNvSpPr>
                <a:spLocks noChangeArrowheads="1"/>
              </p:cNvSpPr>
              <p:nvPr/>
            </p:nvSpPr>
            <p:spPr bwMode="auto">
              <a:xfrm>
                <a:off x="1524000" y="2152650"/>
                <a:ext cx="1447800" cy="463550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b="1" dirty="0">
                    <a:latin typeface="Courier New" pitchFamily="49" charset="0"/>
                  </a:rPr>
                  <a:t>Heap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3281779" y="3440862"/>
              <a:ext cx="1447800" cy="2990153"/>
              <a:chOff x="2857500" y="1417811"/>
              <a:chExt cx="1447800" cy="2990153"/>
            </a:xfrm>
          </p:grpSpPr>
          <p:sp>
            <p:nvSpPr>
              <p:cNvPr id="49" name="Rectangle 5"/>
              <p:cNvSpPr>
                <a:spLocks noChangeArrowheads="1"/>
              </p:cNvSpPr>
              <p:nvPr/>
            </p:nvSpPr>
            <p:spPr bwMode="auto">
              <a:xfrm>
                <a:off x="2857500" y="3315967"/>
                <a:ext cx="1447800" cy="39052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PID</a:t>
                </a:r>
              </a:p>
            </p:txBody>
          </p:sp>
          <p:sp>
            <p:nvSpPr>
              <p:cNvPr id="50" name="Rectangle 5"/>
              <p:cNvSpPr>
                <a:spLocks noChangeArrowheads="1"/>
              </p:cNvSpPr>
              <p:nvPr/>
            </p:nvSpPr>
            <p:spPr bwMode="auto">
              <a:xfrm>
                <a:off x="2857500" y="3706492"/>
                <a:ext cx="1447800" cy="690575"/>
              </a:xfrm>
              <a:prstGeom prst="rect">
                <a:avLst/>
              </a:prstGeom>
              <a:pattFill prst="smConfetti">
                <a:fgClr>
                  <a:srgbClr val="6600CC"/>
                </a:fgClr>
                <a:bgClr>
                  <a:schemeClr val="bg1"/>
                </a:bgClr>
              </a:pattFill>
              <a:ln w="15875">
                <a:solidFill>
                  <a:srgbClr val="660066"/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Process State</a:t>
                </a:r>
              </a:p>
            </p:txBody>
          </p:sp>
          <p:sp>
            <p:nvSpPr>
              <p:cNvPr id="51" name="Rectangle 5"/>
              <p:cNvSpPr>
                <a:spLocks noChangeArrowheads="1"/>
              </p:cNvSpPr>
              <p:nvPr/>
            </p:nvSpPr>
            <p:spPr bwMode="auto">
              <a:xfrm>
                <a:off x="2857500" y="1430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PC, FP, SP, ……</a:t>
                </a:r>
              </a:p>
            </p:txBody>
          </p:sp>
          <p:sp>
            <p:nvSpPr>
              <p:cNvPr id="52" name="Rectangle 5"/>
              <p:cNvSpPr>
                <a:spLocks noChangeArrowheads="1"/>
              </p:cNvSpPr>
              <p:nvPr/>
            </p:nvSpPr>
            <p:spPr bwMode="auto">
              <a:xfrm>
                <a:off x="2857500" y="1956325"/>
                <a:ext cx="1447800" cy="526000"/>
              </a:xfrm>
              <a:prstGeom prst="rect">
                <a:avLst/>
              </a:prstGeom>
              <a:pattFill prst="smConfetti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9050">
                <a:solidFill>
                  <a:schemeClr val="accent2">
                    <a:lumMod val="75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GPRs</a:t>
                </a:r>
              </a:p>
            </p:txBody>
          </p:sp>
          <p:sp>
            <p:nvSpPr>
              <p:cNvPr id="54" name="Rectangle 53"/>
              <p:cNvSpPr>
                <a:spLocks noChangeArrowheads="1"/>
              </p:cNvSpPr>
              <p:nvPr/>
            </p:nvSpPr>
            <p:spPr bwMode="auto">
              <a:xfrm>
                <a:off x="2857500" y="1417811"/>
                <a:ext cx="1447800" cy="1103139"/>
              </a:xfrm>
              <a:prstGeom prst="rect">
                <a:avLst/>
              </a:prstGeom>
              <a:noFill/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  <p:sp>
            <p:nvSpPr>
              <p:cNvPr id="55" name="Rectangle 5"/>
              <p:cNvSpPr>
                <a:spLocks noChangeArrowheads="1"/>
              </p:cNvSpPr>
              <p:nvPr/>
            </p:nvSpPr>
            <p:spPr bwMode="auto">
              <a:xfrm>
                <a:off x="2857500" y="2514600"/>
                <a:ext cx="1447800" cy="800381"/>
              </a:xfrm>
              <a:prstGeom prst="rect">
                <a:avLst/>
              </a:prstGeom>
              <a:pattFill prst="smConfetti">
                <a:fgClr>
                  <a:srgbClr val="34F499"/>
                </a:fgClr>
                <a:bgClr>
                  <a:schemeClr val="bg1"/>
                </a:bgClr>
              </a:pattFill>
              <a:ln w="19050">
                <a:solidFill>
                  <a:srgbClr val="008000"/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wrap="square" anchor="ctr">
                <a:noAutofit/>
              </a:bodyPr>
              <a:lstStyle/>
              <a:p>
                <a:pPr algn="ctr" eaLnBrk="0" hangingPunct="0"/>
                <a:r>
                  <a:rPr lang="en-US" altLang="en-US" b="1" dirty="0">
                    <a:latin typeface="Courier New" pitchFamily="49" charset="0"/>
                  </a:rPr>
                  <a:t>Memory Region Info</a:t>
                </a:r>
              </a:p>
            </p:txBody>
          </p:sp>
          <p:sp>
            <p:nvSpPr>
              <p:cNvPr id="56" name="Rectangle 55"/>
              <p:cNvSpPr>
                <a:spLocks noChangeArrowheads="1"/>
              </p:cNvSpPr>
              <p:nvPr/>
            </p:nvSpPr>
            <p:spPr bwMode="auto">
              <a:xfrm>
                <a:off x="2857500" y="3326617"/>
                <a:ext cx="1447800" cy="1081347"/>
              </a:xfrm>
              <a:prstGeom prst="rect">
                <a:avLst/>
              </a:prstGeom>
              <a:noFill/>
              <a:ln w="19050">
                <a:solidFill>
                  <a:srgbClr val="66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altLang="en-US" b="1" baseline="-25000" dirty="0">
                  <a:latin typeface="Courier New" pitchFamily="49" charset="0"/>
                </a:endParaRPr>
              </a:p>
            </p:txBody>
          </p:sp>
        </p:grpSp>
        <p:cxnSp>
          <p:nvCxnSpPr>
            <p:cNvPr id="57" name="Elbow Connector 56"/>
            <p:cNvCxnSpPr>
              <a:stCxn id="55" idx="3"/>
            </p:cNvCxnSpPr>
            <p:nvPr/>
          </p:nvCxnSpPr>
          <p:spPr>
            <a:xfrm flipV="1">
              <a:off x="4729579" y="3359423"/>
              <a:ext cx="2509421" cy="1578419"/>
            </a:xfrm>
            <a:prstGeom prst="bentConnector3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Elbow Connector 57"/>
            <p:cNvCxnSpPr>
              <a:stCxn id="55" idx="3"/>
            </p:cNvCxnSpPr>
            <p:nvPr/>
          </p:nvCxnSpPr>
          <p:spPr>
            <a:xfrm>
              <a:off x="4729579" y="4937842"/>
              <a:ext cx="2509421" cy="1264955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7239000" y="0"/>
              <a:ext cx="0" cy="6629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8686800" y="0"/>
              <a:ext cx="0" cy="66374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1890690" y="3453376"/>
              <a:ext cx="1385910" cy="702014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1890690" y="4642530"/>
              <a:ext cx="1391089" cy="1777588"/>
            </a:xfrm>
            <a:prstGeom prst="line">
              <a:avLst/>
            </a:prstGeom>
            <a:ln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AutoShape 35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chemeClr val="accent2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C9FD08-D09C-96D6-ABF4-2020D12698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AA240-C8A9-4D58-9A89-1F3DC5903879}" type="slidenum">
              <a:rPr lang="en-US" altLang="en-US" smtClean="0"/>
              <a:pPr/>
              <a:t>79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93F5D-D4EE-254A-74D6-F539ED47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Lecture 2</a:t>
            </a:r>
          </a:p>
        </p:txBody>
      </p:sp>
    </p:spTree>
    <p:extLst>
      <p:ext uri="{BB962C8B-B14F-4D97-AF65-F5344CB8AC3E}">
        <p14:creationId xmlns:p14="http://schemas.microsoft.com/office/powerpoint/2010/main" val="299885785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L02-Architecture-Memory</Template>
  <TotalTime>7276</TotalTime>
  <Words>4296</Words>
  <Application>Microsoft Macintosh PowerPoint</Application>
  <PresentationFormat>On-screen Show (4:3)</PresentationFormat>
  <Paragraphs>1244</Paragraphs>
  <Slides>79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79</vt:i4>
      </vt:variant>
    </vt:vector>
  </HeadingPairs>
  <TitlesOfParts>
    <vt:vector size="90" baseType="lpstr">
      <vt:lpstr>Arial</vt:lpstr>
      <vt:lpstr>Calibri</vt:lpstr>
      <vt:lpstr>Calibri Light</vt:lpstr>
      <vt:lpstr>Courier New</vt:lpstr>
      <vt:lpstr>Garamond</vt:lpstr>
      <vt:lpstr>Symbol</vt:lpstr>
      <vt:lpstr>Wingdings</vt:lpstr>
      <vt:lpstr>Wingdings 2</vt:lpstr>
      <vt:lpstr>Edge</vt:lpstr>
      <vt:lpstr>1_Office Theme</vt:lpstr>
      <vt:lpstr>HDOfficeLightV0</vt:lpstr>
      <vt:lpstr>Process Management Process Abstraction</vt:lpstr>
      <vt:lpstr>Overview</vt:lpstr>
      <vt:lpstr>Recap: Efficient Hardware Utilization </vt:lpstr>
      <vt:lpstr>Introduction to Process Management</vt:lpstr>
      <vt:lpstr>Key Topics</vt:lpstr>
      <vt:lpstr>Process Abstraction</vt:lpstr>
      <vt:lpstr>Recap: C Sample Program and Assembly Code</vt:lpstr>
      <vt:lpstr>Recap: Program Execution (Memory)</vt:lpstr>
      <vt:lpstr>Computer Organization: Review</vt:lpstr>
      <vt:lpstr>Component Description</vt:lpstr>
      <vt:lpstr>Component Description (cont)</vt:lpstr>
      <vt:lpstr>Basic Instruction Execution</vt:lpstr>
      <vt:lpstr>Recap: What you should know </vt:lpstr>
      <vt:lpstr>Memory Context Function Call</vt:lpstr>
      <vt:lpstr>Function Call : Challenges</vt:lpstr>
      <vt:lpstr>Function Call : Control Flow and Data</vt:lpstr>
      <vt:lpstr>Function Call : Control Flow and Data</vt:lpstr>
      <vt:lpstr>Introducing Stack Memory</vt:lpstr>
      <vt:lpstr>Stack Pointer</vt:lpstr>
      <vt:lpstr>Illustration: Stack Memory</vt:lpstr>
      <vt:lpstr>Illustration: Stack Memory Usage (1 / 5) </vt:lpstr>
      <vt:lpstr>Illustration: Stack Memory Usage (2 / 5) </vt:lpstr>
      <vt:lpstr>Illustration: Stack Memory Usage (3 / 5) </vt:lpstr>
      <vt:lpstr>Illustration: Stack Memory Usage (4 / 5) </vt:lpstr>
      <vt:lpstr>Illustration: Stack Memory Usage (5 / 5) </vt:lpstr>
      <vt:lpstr>Illustration: Stack Frame v1.0</vt:lpstr>
      <vt:lpstr>Function Call Convention</vt:lpstr>
      <vt:lpstr>Stack Frame Setup</vt:lpstr>
      <vt:lpstr>Illustration: Calling function g() </vt:lpstr>
      <vt:lpstr>Stack Frame Teardown</vt:lpstr>
      <vt:lpstr>Illustration: Function g()finishes </vt:lpstr>
      <vt:lpstr>Other Information in Stack Frame</vt:lpstr>
      <vt:lpstr>Frame Pointer</vt:lpstr>
      <vt:lpstr>Saved Registers</vt:lpstr>
      <vt:lpstr>Illustration: Stack Frame v2.0</vt:lpstr>
      <vt:lpstr>Stack Frame Setup / Teardown [Updated]</vt:lpstr>
      <vt:lpstr>Function Call Summary</vt:lpstr>
      <vt:lpstr>Memory Context Dynamically Allocated Memory</vt:lpstr>
      <vt:lpstr>Dynamically Allocated Memory</vt:lpstr>
      <vt:lpstr>Dynamically Allocated Memory</vt:lpstr>
      <vt:lpstr>Illustration for Heap Memory</vt:lpstr>
      <vt:lpstr>Managing Heap Memory</vt:lpstr>
      <vt:lpstr>Checkpoint: Contexts updated</vt:lpstr>
      <vt:lpstr>OS Context Process Id &amp; Process State</vt:lpstr>
      <vt:lpstr>Process Identification</vt:lpstr>
      <vt:lpstr>Introducing Process State</vt:lpstr>
      <vt:lpstr>(Simple) Process Model State Diagram</vt:lpstr>
      <vt:lpstr>Generic 5-State Process Model</vt:lpstr>
      <vt:lpstr>Process States for 5-Stage Model</vt:lpstr>
      <vt:lpstr>Process State Transitions in 5-Stage Model</vt:lpstr>
      <vt:lpstr>Process State Transitions</vt:lpstr>
      <vt:lpstr>Global View of Process States</vt:lpstr>
      <vt:lpstr>Queuing Model of 5 State Transition</vt:lpstr>
      <vt:lpstr>Checkpoint: Contexts updated</vt:lpstr>
      <vt:lpstr>Process Table &amp;       Process Control Block</vt:lpstr>
      <vt:lpstr>Process Control Block &amp; Table</vt:lpstr>
      <vt:lpstr>Illustration: Process Table</vt:lpstr>
      <vt:lpstr>Process interaction with OS System Calls</vt:lpstr>
      <vt:lpstr>System Calls</vt:lpstr>
      <vt:lpstr>Unix System Calls in C/C++ program</vt:lpstr>
      <vt:lpstr>Example ( Unix System Calls )</vt:lpstr>
      <vt:lpstr>General System Call Mechanism</vt:lpstr>
      <vt:lpstr>General System Call Mechanism (cont)</vt:lpstr>
      <vt:lpstr>System Call Mechanism Illustration </vt:lpstr>
      <vt:lpstr>Process interaction with OS Exception and Interrupt</vt:lpstr>
      <vt:lpstr>Exception</vt:lpstr>
      <vt:lpstr>Interrupt</vt:lpstr>
      <vt:lpstr>Exception/Interrupt Handler: Illustration</vt:lpstr>
      <vt:lpstr>Summary</vt:lpstr>
      <vt:lpstr>Reference</vt:lpstr>
      <vt:lpstr>Computer Organization – Whoa?!</vt:lpstr>
      <vt:lpstr>Basic Instruction Execution</vt:lpstr>
      <vt:lpstr>Function Call : Challenges</vt:lpstr>
      <vt:lpstr>Quiz 1: Refer to Quiz 1</vt:lpstr>
      <vt:lpstr>Function Call: The BIG picture</vt:lpstr>
      <vt:lpstr>Illustration: Memory Regions</vt:lpstr>
      <vt:lpstr>Lecture 1: Still remember this?</vt:lpstr>
      <vt:lpstr>Recap: Program Execution (Memory)</vt:lpstr>
      <vt:lpstr>Process Table MORE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yuenjien soo</dc:creator>
  <cp:lastModifiedBy>Tan Keng Yan, Colin</cp:lastModifiedBy>
  <cp:revision>321</cp:revision>
  <cp:lastPrinted>1601-01-01T00:00:00Z</cp:lastPrinted>
  <dcterms:created xsi:type="dcterms:W3CDTF">1601-01-01T00:00:00Z</dcterms:created>
  <dcterms:modified xsi:type="dcterms:W3CDTF">2025-08-09T06:23:42Z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