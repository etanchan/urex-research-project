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6" r:id="rId2"/>
    <p:sldMasterId id="2147483698" r:id="rId3"/>
  </p:sldMasterIdLst>
  <p:notesMasterIdLst>
    <p:notesMasterId r:id="rId46"/>
  </p:notesMasterIdLst>
  <p:sldIdLst>
    <p:sldId id="256" r:id="rId4"/>
    <p:sldId id="257" r:id="rId5"/>
    <p:sldId id="260" r:id="rId6"/>
    <p:sldId id="261" r:id="rId7"/>
    <p:sldId id="262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263" r:id="rId21"/>
    <p:sldId id="264" r:id="rId22"/>
    <p:sldId id="309" r:id="rId23"/>
    <p:sldId id="310" r:id="rId24"/>
    <p:sldId id="304" r:id="rId25"/>
    <p:sldId id="312" r:id="rId26"/>
    <p:sldId id="303" r:id="rId27"/>
    <p:sldId id="313" r:id="rId28"/>
    <p:sldId id="306" r:id="rId29"/>
    <p:sldId id="326" r:id="rId30"/>
    <p:sldId id="288" r:id="rId31"/>
    <p:sldId id="290" r:id="rId32"/>
    <p:sldId id="345" r:id="rId33"/>
    <p:sldId id="292" r:id="rId34"/>
    <p:sldId id="293" r:id="rId35"/>
    <p:sldId id="294" r:id="rId36"/>
    <p:sldId id="296" r:id="rId37"/>
    <p:sldId id="297" r:id="rId38"/>
    <p:sldId id="301" r:id="rId39"/>
    <p:sldId id="329" r:id="rId40"/>
    <p:sldId id="330" r:id="rId41"/>
    <p:sldId id="298" r:id="rId42"/>
    <p:sldId id="295" r:id="rId43"/>
    <p:sldId id="300" r:id="rId44"/>
    <p:sldId id="259" r:id="rId45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3300"/>
    <a:srgbClr val="FF99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9" autoAdjust="0"/>
    <p:restoredTop sz="94600"/>
  </p:normalViewPr>
  <p:slideViewPr>
    <p:cSldViewPr>
      <p:cViewPr>
        <p:scale>
          <a:sx n="125" d="100"/>
          <a:sy n="125" d="100"/>
        </p:scale>
        <p:origin x="144" y="-1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01A2D388-4AF5-4BCD-960A-C89E82E418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0516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2D388-4AF5-4BCD-960A-C89E82E418D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191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EB065E-BF89-40BB-AD63-456D58958FD5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311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1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273EEE-FEBB-4193-ACBC-A137F9E8B11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572466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0F7ACD4-967B-43CB-80F0-A622DCBAE5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19707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7549D3-D4DE-4E53-8474-166FAFB555C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813818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9F78A55-107A-4AF5-971A-E86FBC1D9D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38187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A0A0BE-82B0-416A-BE29-32BC8382941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85090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ED4E6-B78A-4770-92EB-BB820A7D4D4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00479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757E80-A89A-4218-9B7C-35174BE083F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895299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9777B3-A0DE-4FF0-8D7A-20FC735FBDE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37957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10BCDF-A933-4D8A-A418-F275636AB07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91831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0A42D6-6F79-4603-807D-84676B17F1A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479852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278376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725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2269801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871432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2308866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281870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118425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73566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815894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2282337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654007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9091776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631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205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689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425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8231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13341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242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476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329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589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1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260827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14758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1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Introduction to OS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/>
              <a:t>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Operating Systems basic concepts:</a:t>
            </a:r>
          </a:p>
          <a:p>
            <a:pPr lvl="1"/>
            <a:r>
              <a:rPr lang="en-US" altLang="en-US" dirty="0"/>
              <a:t>What is OS?</a:t>
            </a:r>
          </a:p>
          <a:p>
            <a:pPr lvl="1"/>
            <a:r>
              <a:rPr lang="en-US" altLang="en-US" dirty="0"/>
              <a:t>Brief History</a:t>
            </a:r>
          </a:p>
          <a:p>
            <a:pPr lvl="2"/>
            <a:r>
              <a:rPr lang="en-US" altLang="en-US" dirty="0"/>
              <a:t>Motivation for OS</a:t>
            </a:r>
          </a:p>
          <a:p>
            <a:pPr lvl="1"/>
            <a:r>
              <a:rPr lang="en-US" altLang="en-US" dirty="0"/>
              <a:t>Overview of Modern OSes</a:t>
            </a:r>
          </a:p>
          <a:p>
            <a:pPr marL="671512" lvl="2" indent="0">
              <a:buNone/>
            </a:pPr>
            <a:endParaRPr lang="en-US" altLang="en-US" dirty="0"/>
          </a:p>
          <a:p>
            <a:r>
              <a:rPr lang="en-US" altLang="en-US" b="1" dirty="0"/>
              <a:t>Operating System Structures</a:t>
            </a:r>
          </a:p>
          <a:p>
            <a:pPr lvl="1"/>
            <a:r>
              <a:rPr lang="en-US" altLang="en-US" dirty="0"/>
              <a:t>OS components</a:t>
            </a:r>
          </a:p>
          <a:p>
            <a:pPr lvl="1"/>
            <a:r>
              <a:rPr lang="en-US" altLang="en-US" dirty="0"/>
              <a:t>Types of kernel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/>
              <a:t>Virtual Machines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24DE8-3DC9-464C-9A10-E248F9B46D8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OS?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/>
          <a:lstStyle/>
          <a:p>
            <a:r>
              <a:rPr lang="en-US" altLang="en-US" dirty="0"/>
              <a:t>Incorrect/Incomplete definition:</a:t>
            </a:r>
          </a:p>
          <a:p>
            <a:pPr lvl="1"/>
            <a:r>
              <a:rPr lang="en-US" altLang="en-US" dirty="0"/>
              <a:t>It is the desktop when you boot up your PC</a:t>
            </a:r>
          </a:p>
          <a:p>
            <a:pPr lvl="1"/>
            <a:r>
              <a:rPr lang="en-US" altLang="en-US" dirty="0"/>
              <a:t>The "thing" that stores your games</a:t>
            </a:r>
          </a:p>
          <a:p>
            <a:pPr lvl="1"/>
            <a:r>
              <a:rPr lang="en-US" altLang="en-US" dirty="0"/>
              <a:t>Windows! (or Mac! ) (or Linux!)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One simple definition: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C00000"/>
                </a:solidFill>
              </a:rPr>
              <a:t>program</a:t>
            </a:r>
            <a:r>
              <a:rPr lang="en-US" altLang="en-US" dirty="0"/>
              <a:t> that acts as an</a:t>
            </a:r>
            <a:r>
              <a:rPr lang="en-US" altLang="en-US" dirty="0">
                <a:solidFill>
                  <a:schemeClr val="bg2"/>
                </a:solidFill>
              </a:rPr>
              <a:t> </a:t>
            </a:r>
            <a:r>
              <a:rPr lang="en-US" altLang="en-US" b="1" dirty="0">
                <a:solidFill>
                  <a:srgbClr val="006600"/>
                </a:solidFill>
              </a:rPr>
              <a:t>intermediary</a:t>
            </a:r>
            <a:r>
              <a:rPr lang="en-US" altLang="en-US" dirty="0"/>
              <a:t> between a </a:t>
            </a:r>
            <a:r>
              <a:rPr lang="en-US" altLang="en-US" b="1" dirty="0">
                <a:solidFill>
                  <a:srgbClr val="660066"/>
                </a:solidFill>
              </a:rPr>
              <a:t>computer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user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dirty="0"/>
              <a:t>and the </a:t>
            </a:r>
            <a:r>
              <a:rPr lang="en-US" altLang="en-US" b="1" dirty="0">
                <a:solidFill>
                  <a:srgbClr val="660066"/>
                </a:solidFill>
              </a:rPr>
              <a:t>computer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hardware</a:t>
            </a:r>
          </a:p>
          <a:p>
            <a:pPr lvl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BF-F721-4AE0-BB5E-EEE8843583B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Illustration: What is an OS?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730624"/>
            <a:ext cx="8229600" cy="2441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A simplified view: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Will be refined as we move along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The most general version: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Hardware ( not only computer! )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User ( can be application programs or actual person! )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A1BF3B-C634-4AEE-9258-32B457985DAE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grpSp>
        <p:nvGrpSpPr>
          <p:cNvPr id="17415" name="Group 7"/>
          <p:cNvGrpSpPr>
            <a:grpSpLocks/>
          </p:cNvGrpSpPr>
          <p:nvPr/>
        </p:nvGrpSpPr>
        <p:grpSpPr bwMode="auto">
          <a:xfrm>
            <a:off x="1295400" y="1295400"/>
            <a:ext cx="6934200" cy="2209800"/>
            <a:chOff x="768" y="1104"/>
            <a:chExt cx="4368" cy="1392"/>
          </a:xfrm>
        </p:grpSpPr>
        <p:sp>
          <p:nvSpPr>
            <p:cNvPr id="17412" name="Rectangle 4"/>
            <p:cNvSpPr>
              <a:spLocks noChangeArrowheads="1"/>
            </p:cNvSpPr>
            <p:nvPr/>
          </p:nvSpPr>
          <p:spPr bwMode="auto">
            <a:xfrm>
              <a:off x="768" y="2064"/>
              <a:ext cx="4368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/>
                <a:t>Hardware</a:t>
              </a:r>
            </a:p>
          </p:txBody>
        </p:sp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768" y="1584"/>
              <a:ext cx="4368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/>
                <a:t>Operating System</a:t>
              </a:r>
            </a:p>
          </p:txBody>
        </p:sp>
        <p:sp>
          <p:nvSpPr>
            <p:cNvPr id="17414" name="Rectangle 6"/>
            <p:cNvSpPr>
              <a:spLocks noChangeArrowheads="1"/>
            </p:cNvSpPr>
            <p:nvPr/>
          </p:nvSpPr>
          <p:spPr bwMode="auto">
            <a:xfrm>
              <a:off x="768" y="1104"/>
              <a:ext cx="4368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 dirty="0"/>
                <a:t>User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Common OS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5257800"/>
          </a:xfrm>
        </p:spPr>
        <p:txBody>
          <a:bodyPr/>
          <a:lstStyle/>
          <a:p>
            <a:r>
              <a:rPr lang="en-US" altLang="en-US" sz="2600" dirty="0"/>
              <a:t>On Computer:</a:t>
            </a:r>
          </a:p>
          <a:p>
            <a:pPr lvl="1"/>
            <a:r>
              <a:rPr lang="en-US" altLang="en-US" sz="2200" dirty="0"/>
              <a:t>Windows 10/9/8/XP</a:t>
            </a:r>
          </a:p>
          <a:p>
            <a:pPr lvl="1"/>
            <a:r>
              <a:rPr lang="en-US" altLang="en-US" sz="2200" dirty="0"/>
              <a:t>Mac OS X</a:t>
            </a:r>
          </a:p>
          <a:p>
            <a:pPr lvl="1"/>
            <a:r>
              <a:rPr lang="en-US" altLang="en-US" sz="2200" dirty="0"/>
              <a:t>Linux distros: Ubuntu, </a:t>
            </a:r>
            <a:r>
              <a:rPr lang="en-US" altLang="en-US" sz="2200" dirty="0" err="1"/>
              <a:t>Redhat</a:t>
            </a:r>
            <a:r>
              <a:rPr lang="en-US" altLang="en-US" sz="2200" dirty="0"/>
              <a:t>, CentOS, </a:t>
            </a:r>
            <a:r>
              <a:rPr lang="en-US" altLang="en-US" sz="2200" dirty="0" err="1"/>
              <a:t>Debian</a:t>
            </a:r>
            <a:endParaRPr lang="en-US" altLang="en-US" sz="2200" dirty="0"/>
          </a:p>
          <a:p>
            <a:pPr lvl="1"/>
            <a:r>
              <a:rPr lang="en-US" altLang="en-US" sz="2200" dirty="0"/>
              <a:t>Solaris</a:t>
            </a:r>
          </a:p>
          <a:p>
            <a:pPr lvl="1"/>
            <a:endParaRPr lang="en-US" altLang="en-US" sz="2200" dirty="0"/>
          </a:p>
          <a:p>
            <a:r>
              <a:rPr lang="en-US" altLang="en-US" sz="2600" dirty="0"/>
              <a:t>On Smartphone:</a:t>
            </a:r>
          </a:p>
          <a:p>
            <a:pPr lvl="1"/>
            <a:r>
              <a:rPr lang="en-US" altLang="en-US" sz="2200" dirty="0"/>
              <a:t>iOS, Android, Windows Mobile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dirty="0"/>
              <a:t>Other hardware with OS:</a:t>
            </a:r>
          </a:p>
          <a:p>
            <a:pPr lvl="1"/>
            <a:r>
              <a:rPr lang="en-US" altLang="en-US" sz="2200" dirty="0"/>
              <a:t>Game console: PS4, Xbox, Wii U, PSP vista, …</a:t>
            </a:r>
          </a:p>
          <a:p>
            <a:pPr lvl="1"/>
            <a:r>
              <a:rPr lang="en-US" altLang="en-US" sz="2200" dirty="0"/>
              <a:t>Home appliance: </a:t>
            </a:r>
            <a:r>
              <a:rPr lang="en-US" altLang="en-US" sz="2200" dirty="0" err="1"/>
              <a:t>Blueray</a:t>
            </a:r>
            <a:r>
              <a:rPr lang="en-US" altLang="en-US" sz="2200" dirty="0"/>
              <a:t>/DVD Player, Mio TV console, …</a:t>
            </a:r>
          </a:p>
          <a:p>
            <a:pPr lvl="1"/>
            <a:endParaRPr lang="en-US" alt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4B70C-2803-47AC-9A5C-00C7DFC99CA0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brief history of OS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invent the future, you must understand the past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73EEE-FEBB-4193-ACBC-A137F9E8B115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16815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Brief History of 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Essentially, OS evolves with:</a:t>
            </a:r>
          </a:p>
          <a:p>
            <a:pPr lvl="1"/>
            <a:r>
              <a:rPr lang="en-US" altLang="en-US" sz="2200" dirty="0"/>
              <a:t>Computer hardware</a:t>
            </a:r>
          </a:p>
          <a:p>
            <a:pPr lvl="1"/>
            <a:r>
              <a:rPr lang="en-US" altLang="en-US" sz="2200" dirty="0"/>
              <a:t>User application and usage pattern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dirty="0"/>
              <a:t>The "first" computers:</a:t>
            </a:r>
          </a:p>
          <a:p>
            <a:pPr lvl="1"/>
            <a:r>
              <a:rPr lang="en-US" altLang="en-US" sz="1800" b="1" dirty="0"/>
              <a:t>E</a:t>
            </a:r>
            <a:r>
              <a:rPr lang="en-US" altLang="en-US" sz="1800" dirty="0"/>
              <a:t>lectronic </a:t>
            </a:r>
            <a:r>
              <a:rPr lang="en-US" altLang="en-US" sz="1800" b="1" dirty="0"/>
              <a:t>N</a:t>
            </a:r>
            <a:r>
              <a:rPr lang="en-US" altLang="en-US" sz="1800" dirty="0"/>
              <a:t>umerical Integrator </a:t>
            </a:r>
            <a:r>
              <a:rPr lang="en-US" altLang="en-US" sz="1800" b="1" dirty="0"/>
              <a:t>A</a:t>
            </a:r>
            <a:r>
              <a:rPr lang="en-US" altLang="en-US" sz="1800" dirty="0"/>
              <a:t>nd </a:t>
            </a:r>
            <a:r>
              <a:rPr lang="en-US" altLang="en-US" sz="1800" b="1" dirty="0"/>
              <a:t>C</a:t>
            </a:r>
            <a:r>
              <a:rPr lang="en-US" altLang="en-US" sz="1800" dirty="0"/>
              <a:t>omputer (</a:t>
            </a:r>
            <a:r>
              <a:rPr lang="en-US" altLang="en-US" sz="1800" b="1" dirty="0"/>
              <a:t>ENIAC</a:t>
            </a:r>
            <a:r>
              <a:rPr lang="en-US" altLang="en-US" sz="1800" dirty="0"/>
              <a:t>)</a:t>
            </a:r>
          </a:p>
          <a:p>
            <a:pPr lvl="2"/>
            <a:r>
              <a:rPr lang="en-US" altLang="en-US" sz="2500" dirty="0"/>
              <a:t>1945</a:t>
            </a:r>
          </a:p>
          <a:p>
            <a:pPr lvl="2"/>
            <a:r>
              <a:rPr lang="en-US" altLang="en-US" sz="2500" dirty="0"/>
              <a:t>Program controlled by cables and switches</a:t>
            </a:r>
          </a:p>
          <a:p>
            <a:pPr lvl="1"/>
            <a:r>
              <a:rPr lang="en-US" altLang="en-US" dirty="0"/>
              <a:t>Harvard Mark I:</a:t>
            </a:r>
          </a:p>
          <a:p>
            <a:pPr lvl="2"/>
            <a:r>
              <a:rPr lang="en-US" altLang="en-US" sz="2400" dirty="0"/>
              <a:t>1944</a:t>
            </a:r>
          </a:p>
          <a:p>
            <a:pPr lvl="2"/>
            <a:r>
              <a:rPr lang="en-US" altLang="en-US" sz="2400" dirty="0"/>
              <a:t>Program controlled by punched paper tape</a:t>
            </a:r>
          </a:p>
          <a:p>
            <a:pPr lvl="1"/>
            <a:endParaRPr lang="en-US" alt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D65B8-D1C0-48DA-87EA-5074E083BD98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3698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 for the first computers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87450"/>
            <a:ext cx="4232275" cy="1917700"/>
          </a:xfrm>
        </p:spPr>
        <p:txBody>
          <a:bodyPr/>
          <a:lstStyle/>
          <a:p>
            <a:r>
              <a:rPr lang="en-US" altLang="en-US" dirty="0"/>
              <a:t>OS Type:</a:t>
            </a:r>
          </a:p>
          <a:p>
            <a:pPr lvl="1"/>
            <a:r>
              <a:rPr lang="en-US" altLang="en-US" b="1" dirty="0"/>
              <a:t>NO </a:t>
            </a:r>
            <a:r>
              <a:rPr lang="en-US" altLang="en-US" dirty="0"/>
              <a:t>OS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44D21-2439-46C1-BB96-26EE1C6F46E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grpSp>
        <p:nvGrpSpPr>
          <p:cNvPr id="23562" name="Group 10"/>
          <p:cNvGrpSpPr>
            <a:grpSpLocks/>
          </p:cNvGrpSpPr>
          <p:nvPr/>
        </p:nvGrpSpPr>
        <p:grpSpPr bwMode="auto">
          <a:xfrm>
            <a:off x="4953000" y="1384300"/>
            <a:ext cx="3124200" cy="1219200"/>
            <a:chOff x="1824" y="2064"/>
            <a:chExt cx="1968" cy="768"/>
          </a:xfrm>
        </p:grpSpPr>
        <p:sp>
          <p:nvSpPr>
            <p:cNvPr id="23556" name="Rectangle 4"/>
            <p:cNvSpPr>
              <a:spLocks noChangeArrowheads="1"/>
            </p:cNvSpPr>
            <p:nvPr/>
          </p:nvSpPr>
          <p:spPr bwMode="auto">
            <a:xfrm>
              <a:off x="1824" y="2496"/>
              <a:ext cx="196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Hardware</a:t>
              </a:r>
            </a:p>
          </p:txBody>
        </p:sp>
        <p:sp>
          <p:nvSpPr>
            <p:cNvPr id="23558" name="Rectangle 6"/>
            <p:cNvSpPr>
              <a:spLocks noChangeArrowheads="1"/>
            </p:cNvSpPr>
            <p:nvPr/>
          </p:nvSpPr>
          <p:spPr bwMode="auto">
            <a:xfrm>
              <a:off x="1824" y="2064"/>
              <a:ext cx="196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User Program</a:t>
              </a:r>
            </a:p>
          </p:txBody>
        </p:sp>
        <p:sp>
          <p:nvSpPr>
            <p:cNvPr id="23559" name="AutoShape 7"/>
            <p:cNvSpPr>
              <a:spLocks noChangeArrowheads="1"/>
            </p:cNvSpPr>
            <p:nvPr/>
          </p:nvSpPr>
          <p:spPr bwMode="auto">
            <a:xfrm>
              <a:off x="2592" y="2352"/>
              <a:ext cx="43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SG"/>
            </a:p>
          </p:txBody>
        </p:sp>
      </p:grp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609600" y="3105694"/>
            <a:ext cx="8001000" cy="318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100" dirty="0"/>
              <a:t>Programs directly interact with hardware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Reprogram by changing </a:t>
            </a:r>
            <a:r>
              <a:rPr lang="en-US" altLang="en-US" sz="2000" b="1" dirty="0"/>
              <a:t>physical </a:t>
            </a:r>
            <a:r>
              <a:rPr lang="en-US" altLang="en-US" sz="2000" dirty="0"/>
              <a:t>configuration of hardware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100" b="1" dirty="0"/>
              <a:t>Advantage: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Minimal overhead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100" b="1" dirty="0"/>
              <a:t>Disadvantage: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Not portable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</a:t>
            </a:r>
            <a:r>
              <a:rPr lang="en-US" altLang="en-US" sz="2100" dirty="0"/>
              <a:t>efficient use of computer!</a:t>
            </a:r>
          </a:p>
          <a:p>
            <a:pPr>
              <a:lnSpc>
                <a:spcPct val="90000"/>
              </a:lnSpc>
            </a:pPr>
            <a:endParaRPr lang="en-US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45154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Mainframes: The "Big Iron"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Commonly used by large corporations in 60s, 70s</a:t>
            </a:r>
          </a:p>
          <a:p>
            <a:endParaRPr lang="en-US" altLang="en-US" sz="2600" dirty="0"/>
          </a:p>
          <a:p>
            <a:r>
              <a:rPr lang="en-US" altLang="en-US" sz="2600" dirty="0"/>
              <a:t>Common features:</a:t>
            </a:r>
          </a:p>
          <a:p>
            <a:pPr lvl="1"/>
            <a:r>
              <a:rPr lang="en-US" altLang="en-US" sz="2200" dirty="0"/>
              <a:t>No interactive interface</a:t>
            </a:r>
          </a:p>
          <a:p>
            <a:pPr lvl="1"/>
            <a:r>
              <a:rPr lang="en-US" altLang="en-US" sz="2200" dirty="0"/>
              <a:t>Accept programs in the form of:</a:t>
            </a:r>
          </a:p>
          <a:p>
            <a:pPr lvl="2"/>
            <a:r>
              <a:rPr lang="en-US" altLang="en-US" sz="2000" dirty="0"/>
              <a:t>Paper tape, magnetic tape, punch card </a:t>
            </a:r>
          </a:p>
          <a:p>
            <a:pPr lvl="1"/>
            <a:r>
              <a:rPr lang="en-US" altLang="en-US" sz="2200" dirty="0"/>
              <a:t>Support batch processing only</a:t>
            </a:r>
          </a:p>
          <a:p>
            <a:pPr lvl="1"/>
            <a:r>
              <a:rPr lang="en-US" altLang="en-US" sz="2200" dirty="0"/>
              <a:t>Very costly</a:t>
            </a:r>
          </a:p>
          <a:p>
            <a:pPr lvl="2"/>
            <a:r>
              <a:rPr lang="en-US" altLang="en-US" sz="2000" dirty="0"/>
              <a:t>Usually "rented" instead of owned</a:t>
            </a:r>
          </a:p>
          <a:p>
            <a:r>
              <a:rPr lang="en-US" altLang="en-US" sz="2600" dirty="0"/>
              <a:t>Example:</a:t>
            </a:r>
          </a:p>
          <a:p>
            <a:pPr lvl="1"/>
            <a:r>
              <a:rPr lang="en-US" altLang="en-US" sz="2200" dirty="0"/>
              <a:t>IBM 360</a:t>
            </a:r>
          </a:p>
          <a:p>
            <a:pPr lvl="2"/>
            <a:r>
              <a:rPr lang="en-US" altLang="en-US" sz="2000" dirty="0"/>
              <a:t>Cost 5 billion US dollar in 1964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F85AAF-E92A-4BE9-B5D1-C92E0922EAE3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819073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 for Mainframes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3352800"/>
            <a:ext cx="8001000" cy="3200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/>
              <a:t>Batch OS: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Execute user program (a.k.a </a:t>
            </a:r>
            <a:r>
              <a:rPr lang="en-US" altLang="en-US" sz="2200" b="1" i="1"/>
              <a:t>job</a:t>
            </a:r>
            <a:r>
              <a:rPr lang="en-US" altLang="en-US" sz="2200"/>
              <a:t>) one at a time</a:t>
            </a:r>
          </a:p>
          <a:p>
            <a:pPr lvl="2">
              <a:lnSpc>
                <a:spcPct val="90000"/>
              </a:lnSpc>
            </a:pPr>
            <a:r>
              <a:rPr lang="en-US" altLang="en-US" sz="2000"/>
              <a:t>Load job from media, execute, collect result</a:t>
            </a:r>
          </a:p>
          <a:p>
            <a:pPr>
              <a:lnSpc>
                <a:spcPct val="90000"/>
              </a:lnSpc>
            </a:pPr>
            <a:r>
              <a:rPr lang="en-US" altLang="en-US" sz="2600"/>
              <a:t>User Job: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Still interact with hardware directly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With additional information for the OS</a:t>
            </a:r>
          </a:p>
          <a:p>
            <a:pPr lvl="2">
              <a:lnSpc>
                <a:spcPct val="90000"/>
              </a:lnSpc>
            </a:pPr>
            <a:r>
              <a:rPr lang="en-US" altLang="en-US" sz="2000"/>
              <a:t>Resource required</a:t>
            </a:r>
          </a:p>
          <a:p>
            <a:pPr lvl="2">
              <a:lnSpc>
                <a:spcPct val="90000"/>
              </a:lnSpc>
            </a:pPr>
            <a:r>
              <a:rPr lang="en-US" altLang="en-US" sz="2000"/>
              <a:t>Job specification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71F59D-92A2-46FC-A58B-DC72558A1BD9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grpSp>
        <p:nvGrpSpPr>
          <p:cNvPr id="25612" name="Group 12"/>
          <p:cNvGrpSpPr>
            <a:grpSpLocks/>
          </p:cNvGrpSpPr>
          <p:nvPr/>
        </p:nvGrpSpPr>
        <p:grpSpPr bwMode="auto">
          <a:xfrm>
            <a:off x="5334000" y="1676400"/>
            <a:ext cx="3124200" cy="1828800"/>
            <a:chOff x="2976" y="1248"/>
            <a:chExt cx="1968" cy="1152"/>
          </a:xfrm>
        </p:grpSpPr>
        <p:sp>
          <p:nvSpPr>
            <p:cNvPr id="25605" name="Rectangle 5"/>
            <p:cNvSpPr>
              <a:spLocks noChangeArrowheads="1"/>
            </p:cNvSpPr>
            <p:nvPr/>
          </p:nvSpPr>
          <p:spPr bwMode="auto">
            <a:xfrm>
              <a:off x="2976" y="2064"/>
              <a:ext cx="196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Hardware</a:t>
              </a:r>
            </a:p>
          </p:txBody>
        </p:sp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2976" y="1248"/>
              <a:ext cx="1920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 dirty="0"/>
                <a:t>User Program</a:t>
              </a:r>
            </a:p>
          </p:txBody>
        </p:sp>
        <p:sp>
          <p:nvSpPr>
            <p:cNvPr id="25608" name="Rectangle 8"/>
            <p:cNvSpPr>
              <a:spLocks noChangeArrowheads="1"/>
            </p:cNvSpPr>
            <p:nvPr/>
          </p:nvSpPr>
          <p:spPr bwMode="auto">
            <a:xfrm>
              <a:off x="2976" y="1680"/>
              <a:ext cx="672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OS</a:t>
              </a:r>
            </a:p>
          </p:txBody>
        </p:sp>
        <p:sp>
          <p:nvSpPr>
            <p:cNvPr id="25607" name="AutoShape 7"/>
            <p:cNvSpPr>
              <a:spLocks noChangeArrowheads="1"/>
            </p:cNvSpPr>
            <p:nvPr/>
          </p:nvSpPr>
          <p:spPr bwMode="auto">
            <a:xfrm>
              <a:off x="3168" y="1536"/>
              <a:ext cx="43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SG"/>
            </a:p>
          </p:txBody>
        </p:sp>
        <p:sp>
          <p:nvSpPr>
            <p:cNvPr id="25609" name="AutoShape 9"/>
            <p:cNvSpPr>
              <a:spLocks noChangeArrowheads="1"/>
            </p:cNvSpPr>
            <p:nvPr/>
          </p:nvSpPr>
          <p:spPr bwMode="auto">
            <a:xfrm>
              <a:off x="4080" y="1536"/>
              <a:ext cx="432" cy="576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SG"/>
            </a:p>
          </p:txBody>
        </p:sp>
        <p:sp>
          <p:nvSpPr>
            <p:cNvPr id="25610" name="AutoShape 10"/>
            <p:cNvSpPr>
              <a:spLocks noChangeArrowheads="1"/>
            </p:cNvSpPr>
            <p:nvPr/>
          </p:nvSpPr>
          <p:spPr bwMode="auto">
            <a:xfrm>
              <a:off x="3168" y="1968"/>
              <a:ext cx="43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SG"/>
            </a:p>
          </p:txBody>
        </p:sp>
      </p:grp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609600" y="1219200"/>
            <a:ext cx="4114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OS Type:</a:t>
            </a:r>
          </a:p>
          <a:p>
            <a:pPr lvl="1"/>
            <a:r>
              <a:rPr lang="en-US" altLang="en-US" b="1" dirty="0"/>
              <a:t>Batch </a:t>
            </a:r>
            <a:r>
              <a:rPr lang="en-US" altLang="en-US" dirty="0"/>
              <a:t>OS</a:t>
            </a:r>
          </a:p>
        </p:txBody>
      </p:sp>
    </p:spTree>
    <p:extLst>
      <p:ext uri="{BB962C8B-B14F-4D97-AF65-F5344CB8AC3E}">
        <p14:creationId xmlns:p14="http://schemas.microsoft.com/office/powerpoint/2010/main" val="919917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 for Mainframes: Improvements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Simple batch processing is inefficient:</a:t>
            </a:r>
          </a:p>
          <a:p>
            <a:pPr lvl="1"/>
            <a:r>
              <a:rPr lang="en-US" altLang="en-US" sz="2200"/>
              <a:t>CPU idle when perform I/O</a:t>
            </a:r>
          </a:p>
          <a:p>
            <a:pPr lvl="1">
              <a:buFont typeface="Wingdings" pitchFamily="2" charset="2"/>
              <a:buNone/>
            </a:pPr>
            <a:endParaRPr lang="en-US" altLang="en-US" sz="2200"/>
          </a:p>
          <a:p>
            <a:r>
              <a:rPr lang="en-US" altLang="en-US" sz="2600"/>
              <a:t>One possible Improvements:</a:t>
            </a:r>
          </a:p>
          <a:p>
            <a:pPr lvl="1"/>
            <a:r>
              <a:rPr lang="en-US" altLang="en-US" sz="2200"/>
              <a:t>Multiprogramming: </a:t>
            </a:r>
          </a:p>
          <a:p>
            <a:pPr lvl="2"/>
            <a:r>
              <a:rPr lang="en-US" altLang="en-US" sz="2000"/>
              <a:t>loads multiple jobs and runs other jobs when I/O needs to be done</a:t>
            </a:r>
          </a:p>
          <a:p>
            <a:pPr lvl="2"/>
            <a:r>
              <a:rPr lang="en-US" altLang="en-US" sz="2000"/>
              <a:t> Overlaps computation with I/O</a:t>
            </a:r>
          </a:p>
          <a:p>
            <a:endParaRPr lang="en-US" altLang="en-US" sz="2600"/>
          </a:p>
          <a:p>
            <a:r>
              <a:rPr lang="en-US" altLang="en-US" sz="2600"/>
              <a:t>Another development of OS during this period (70s):</a:t>
            </a:r>
          </a:p>
          <a:p>
            <a:pPr lvl="1"/>
            <a:r>
              <a:rPr lang="en-US" altLang="en-US" sz="2200"/>
              <a:t>Time-Sharing 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CD44B-E3C0-4BE9-BF35-730AAAF4C89A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63145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Time-Sharing OS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Features: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Allow multiple users to interact with machine using terminals (</a:t>
            </a:r>
            <a:r>
              <a:rPr lang="en-US" altLang="en-US" sz="2200" b="1" i="1" dirty="0"/>
              <a:t>teletypes</a:t>
            </a:r>
            <a:r>
              <a:rPr lang="en-US" altLang="en-US" sz="22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User job scheduling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Illusion of Concurrency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Memory management</a:t>
            </a:r>
          </a:p>
          <a:p>
            <a:pPr>
              <a:lnSpc>
                <a:spcPct val="90000"/>
              </a:lnSpc>
            </a:pPr>
            <a:r>
              <a:rPr lang="en-US" altLang="en-US" sz="2600" dirty="0"/>
              <a:t>Famous Examples: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CTSS developed at MIT 1960s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Multics (1970s)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Considered as the </a:t>
            </a:r>
            <a:r>
              <a:rPr lang="en-US" altLang="en-US" sz="2000" i="1" dirty="0"/>
              <a:t>parent of Unix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Pushed the state of art in virtual memory, security</a:t>
            </a:r>
          </a:p>
          <a:p>
            <a:pPr>
              <a:lnSpc>
                <a:spcPct val="90000"/>
              </a:lnSpc>
            </a:pPr>
            <a:r>
              <a:rPr lang="en-US" altLang="en-US" sz="2600" dirty="0"/>
              <a:t>Not so different from using Unix servers today but more primitive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5C83DB-FD63-46E1-8C8F-CF2681C79B5A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791114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Time-sharing OS: Illustration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343401"/>
            <a:ext cx="8229600" cy="2133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OS manages the sharing of: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CPU time, memory and storage</a:t>
            </a:r>
          </a:p>
          <a:p>
            <a:pPr marL="344487" lvl="1" indent="0">
              <a:lnSpc>
                <a:spcPct val="80000"/>
              </a:lnSpc>
              <a:buNone/>
            </a:pPr>
            <a:endParaRPr lang="en-US" altLang="en-US" sz="2200" dirty="0"/>
          </a:p>
          <a:p>
            <a:pPr>
              <a:lnSpc>
                <a:spcPct val="80000"/>
              </a:lnSpc>
            </a:pPr>
            <a:r>
              <a:rPr lang="en-US" altLang="en-US" sz="2600" b="1" i="1" dirty="0"/>
              <a:t>Virtualization</a:t>
            </a:r>
            <a:r>
              <a:rPr lang="en-US" altLang="en-US" sz="2600" i="1" dirty="0"/>
              <a:t> </a:t>
            </a:r>
            <a:r>
              <a:rPr lang="en-US" altLang="en-US" sz="2600" dirty="0"/>
              <a:t>of hardware: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Each program executes </a:t>
            </a:r>
            <a:r>
              <a:rPr lang="en-US" altLang="en-US" sz="2200" b="1" i="1" dirty="0"/>
              <a:t>as if</a:t>
            </a:r>
            <a:r>
              <a:rPr lang="en-US" altLang="en-US" sz="2200" dirty="0"/>
              <a:t> it has all the resources to itself</a:t>
            </a: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B77AB-F3DB-41E4-835A-BD702645E0FA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grpSp>
        <p:nvGrpSpPr>
          <p:cNvPr id="29717" name="Group 21"/>
          <p:cNvGrpSpPr>
            <a:grpSpLocks/>
          </p:cNvGrpSpPr>
          <p:nvPr/>
        </p:nvGrpSpPr>
        <p:grpSpPr bwMode="auto">
          <a:xfrm>
            <a:off x="1600200" y="1219200"/>
            <a:ext cx="4038600" cy="2590800"/>
            <a:chOff x="1632" y="960"/>
            <a:chExt cx="2544" cy="1632"/>
          </a:xfrm>
        </p:grpSpPr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1632" y="2256"/>
              <a:ext cx="2544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Hardware</a:t>
              </a:r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1632" y="1488"/>
              <a:ext cx="55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UP</a:t>
              </a: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1632" y="1872"/>
              <a:ext cx="2544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OS</a:t>
              </a: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2304" y="1488"/>
              <a:ext cx="55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UP</a:t>
              </a: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2976" y="1488"/>
              <a:ext cx="55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 dirty="0"/>
                <a:t>….</a:t>
              </a: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3600" y="1488"/>
              <a:ext cx="55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UP</a:t>
              </a:r>
            </a:p>
          </p:txBody>
        </p:sp>
        <p:sp>
          <p:nvSpPr>
            <p:cNvPr id="29711" name="Rectangle 15"/>
            <p:cNvSpPr>
              <a:spLocks noChangeArrowheads="1"/>
            </p:cNvSpPr>
            <p:nvPr/>
          </p:nvSpPr>
          <p:spPr bwMode="auto">
            <a:xfrm>
              <a:off x="3024" y="960"/>
              <a:ext cx="336" cy="33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4000" b="1" dirty="0">
                  <a:latin typeface="Times New Roman" pitchFamily="18" charset="0"/>
                  <a:cs typeface="Times New Roman" pitchFamily="18" charset="0"/>
                </a:rPr>
                <a:t>☺</a:t>
              </a:r>
            </a:p>
          </p:txBody>
        </p:sp>
        <p:sp>
          <p:nvSpPr>
            <p:cNvPr id="29712" name="Rectangle 16"/>
            <p:cNvSpPr>
              <a:spLocks noChangeArrowheads="1"/>
            </p:cNvSpPr>
            <p:nvPr/>
          </p:nvSpPr>
          <p:spPr bwMode="auto">
            <a:xfrm>
              <a:off x="3744" y="960"/>
              <a:ext cx="336" cy="33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4000" b="1" dirty="0">
                  <a:latin typeface="Times New Roman" pitchFamily="18" charset="0"/>
                  <a:cs typeface="Times New Roman" pitchFamily="18" charset="0"/>
                </a:rPr>
                <a:t>☺</a:t>
              </a:r>
            </a:p>
          </p:txBody>
        </p:sp>
        <p:sp>
          <p:nvSpPr>
            <p:cNvPr id="29713" name="Line 17"/>
            <p:cNvSpPr>
              <a:spLocks noChangeShapeType="1"/>
            </p:cNvSpPr>
            <p:nvPr/>
          </p:nvSpPr>
          <p:spPr bwMode="auto">
            <a:xfrm>
              <a:off x="1824" y="124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9714" name="Line 18"/>
            <p:cNvSpPr>
              <a:spLocks noChangeShapeType="1"/>
            </p:cNvSpPr>
            <p:nvPr/>
          </p:nvSpPr>
          <p:spPr bwMode="auto">
            <a:xfrm>
              <a:off x="1872" y="1248"/>
              <a:ext cx="67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9715" name="Line 19"/>
            <p:cNvSpPr>
              <a:spLocks noChangeShapeType="1"/>
            </p:cNvSpPr>
            <p:nvPr/>
          </p:nvSpPr>
          <p:spPr bwMode="auto">
            <a:xfrm>
              <a:off x="3216" y="1296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9716" name="Line 20"/>
            <p:cNvSpPr>
              <a:spLocks noChangeShapeType="1"/>
            </p:cNvSpPr>
            <p:nvPr/>
          </p:nvSpPr>
          <p:spPr bwMode="auto">
            <a:xfrm>
              <a:off x="3888" y="1296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9710" name="Rectangle 14"/>
            <p:cNvSpPr>
              <a:spLocks noChangeArrowheads="1"/>
            </p:cNvSpPr>
            <p:nvPr/>
          </p:nvSpPr>
          <p:spPr bwMode="auto">
            <a:xfrm>
              <a:off x="1680" y="960"/>
              <a:ext cx="336" cy="33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4000" b="1" dirty="0">
                  <a:latin typeface="Times New Roman" pitchFamily="18" charset="0"/>
                  <a:cs typeface="Times New Roman" pitchFamily="18" charset="0"/>
                </a:rPr>
                <a:t>☺</a:t>
              </a:r>
            </a:p>
          </p:txBody>
        </p:sp>
      </p:grpSp>
      <p:sp>
        <p:nvSpPr>
          <p:cNvPr id="29718" name="AutoShape 22"/>
          <p:cNvSpPr>
            <a:spLocks/>
          </p:cNvSpPr>
          <p:nvPr/>
        </p:nvSpPr>
        <p:spPr bwMode="auto">
          <a:xfrm>
            <a:off x="5943600" y="1143000"/>
            <a:ext cx="228600" cy="762000"/>
          </a:xfrm>
          <a:prstGeom prst="righ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6324600" y="1371600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Multiple Users</a:t>
            </a:r>
          </a:p>
        </p:txBody>
      </p:sp>
      <p:sp>
        <p:nvSpPr>
          <p:cNvPr id="29720" name="AutoShape 24"/>
          <p:cNvSpPr>
            <a:spLocks/>
          </p:cNvSpPr>
          <p:nvPr/>
        </p:nvSpPr>
        <p:spPr bwMode="auto">
          <a:xfrm>
            <a:off x="6019800" y="2057400"/>
            <a:ext cx="152400" cy="609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6324600" y="1981200"/>
            <a:ext cx="182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Programs initiated by user</a:t>
            </a:r>
          </a:p>
        </p:txBody>
      </p:sp>
    </p:spTree>
    <p:extLst>
      <p:ext uri="{BB962C8B-B14F-4D97-AF65-F5344CB8AC3E}">
        <p14:creationId xmlns:p14="http://schemas.microsoft.com/office/powerpoint/2010/main" val="715953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Minicomputer and Unix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altLang="en-US"/>
              <a:t>Minicomputer follows the mainframe:</a:t>
            </a:r>
          </a:p>
          <a:p>
            <a:pPr lvl="1"/>
            <a:r>
              <a:rPr lang="en-US" altLang="en-US"/>
              <a:t>A "mini" version of mainframe:</a:t>
            </a:r>
          </a:p>
          <a:p>
            <a:pPr lvl="2"/>
            <a:r>
              <a:rPr lang="en-US" altLang="en-US"/>
              <a:t>Smaller and cheaper</a:t>
            </a:r>
          </a:p>
          <a:p>
            <a:pPr lvl="1"/>
            <a:r>
              <a:rPr lang="en-US" altLang="en-US"/>
              <a:t>Example:</a:t>
            </a:r>
          </a:p>
          <a:p>
            <a:pPr lvl="2"/>
            <a:r>
              <a:rPr lang="en-US" altLang="en-US"/>
              <a:t>Digital Equipment Corp (DEC) PDP-11</a:t>
            </a:r>
          </a:p>
          <a:p>
            <a:r>
              <a:rPr lang="en-US" altLang="en-US"/>
              <a:t>Famous OS:</a:t>
            </a:r>
          </a:p>
          <a:p>
            <a:pPr lvl="1"/>
            <a:r>
              <a:rPr lang="en-US" altLang="en-US"/>
              <a:t>Unix</a:t>
            </a:r>
          </a:p>
          <a:p>
            <a:pPr lvl="2"/>
            <a:r>
              <a:rPr lang="en-US" altLang="en-US"/>
              <a:t>Developed by AT&amp;T employees, including Ken Thompson, Dennis Ritchie, Douglas McIlroy, and Joe Ossanna</a:t>
            </a:r>
          </a:p>
          <a:p>
            <a:pPr lvl="2"/>
            <a:r>
              <a:rPr lang="en-US" altLang="en-US"/>
              <a:t>Ken Thompson and Dennis Ritchie</a:t>
            </a:r>
          </a:p>
          <a:p>
            <a:pPr lvl="3"/>
            <a:r>
              <a:rPr lang="en-US" altLang="en-US"/>
              <a:t>Invented the C programming language as well!!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97EF9-B923-4381-956D-CE2614FCFB26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746051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Personal Computer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Apple II PC:</a:t>
            </a:r>
          </a:p>
          <a:p>
            <a:pPr lvl="1"/>
            <a:r>
              <a:rPr lang="en-US" altLang="en-US" dirty="0"/>
              <a:t>First successfully produced mass home computer</a:t>
            </a:r>
          </a:p>
          <a:p>
            <a:pPr lvl="1"/>
            <a:r>
              <a:rPr lang="en-US" altLang="en-US" dirty="0"/>
              <a:t>Designed by Steve Wozniak (alone!)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IBM PC:</a:t>
            </a:r>
          </a:p>
          <a:p>
            <a:pPr lvl="1"/>
            <a:r>
              <a:rPr lang="en-US" altLang="en-US" dirty="0"/>
              <a:t>The first generic PC</a:t>
            </a:r>
          </a:p>
          <a:p>
            <a:pPr lvl="1"/>
            <a:r>
              <a:rPr lang="en-US" altLang="en-US" dirty="0"/>
              <a:t>PC becoming truly a collection of commodity hardware components</a:t>
            </a:r>
          </a:p>
          <a:p>
            <a:pPr lvl="1"/>
            <a:r>
              <a:rPr lang="en-US" altLang="en-US" dirty="0"/>
              <a:t>Leads to dominance of Microsoft OS in PCs: MSDOS then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476DD-8A94-4D66-8184-7C99094E436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214348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 on Personal Computer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Machine (can be) dedicated to user, not timeshared between multiple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Give rise to </a:t>
            </a:r>
            <a:r>
              <a:rPr lang="en-US" altLang="en-US" b="1" dirty="0"/>
              <a:t>personal OS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Several Models: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Windows model: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Single user at a time but possibly more than 1 user can access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Dedicated machine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Unix model: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One user at the workstation but other users can access remotely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General time sharing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3BB60-B5B7-465E-8E9B-44177222120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303252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Motivations of OS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 we need OS?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73EEE-FEBB-4193-ACBC-A137F9E8B115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337349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Motivation for OS: Abstraction</a:t>
            </a:r>
            <a:endParaRPr lang="en-US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Large variation in hardware configurations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Example (Hard disk):</a:t>
            </a:r>
          </a:p>
          <a:p>
            <a:pPr lvl="1"/>
            <a:r>
              <a:rPr lang="en-US" altLang="en-US" dirty="0"/>
              <a:t>Different capacity (500mb, 320gb, 1.5tb 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Different capabilities:</a:t>
            </a:r>
          </a:p>
          <a:p>
            <a:pPr lvl="2"/>
            <a:r>
              <a:rPr lang="en-US" altLang="en-US" dirty="0"/>
              <a:t>Rotation per minutes (RPM)</a:t>
            </a:r>
          </a:p>
          <a:p>
            <a:pPr lvl="2"/>
            <a:r>
              <a:rPr lang="en-US" altLang="en-US" dirty="0"/>
              <a:t>Access (read/write) speed</a:t>
            </a:r>
          </a:p>
          <a:p>
            <a:pPr lvl="2"/>
            <a:r>
              <a:rPr lang="en-US" altLang="en-US" dirty="0" err="1"/>
              <a:t>Etc</a:t>
            </a:r>
            <a:endParaRPr lang="en-US" altLang="en-US" dirty="0"/>
          </a:p>
          <a:p>
            <a:pPr lvl="2"/>
            <a:endParaRPr lang="en-US" altLang="en-US" dirty="0"/>
          </a:p>
          <a:p>
            <a:r>
              <a:rPr lang="en-US" altLang="en-US" dirty="0"/>
              <a:t>However, hardware in the same category has well defined and common functionality</a:t>
            </a:r>
          </a:p>
          <a:p>
            <a:pPr lvl="1"/>
            <a:r>
              <a:rPr lang="en-US" altLang="en-US" dirty="0"/>
              <a:t>Example (Hard disk): Store and retrieve information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CDDFE-A646-499F-9682-7B0BF73F530F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Motivation for OS: </a:t>
            </a:r>
            <a:r>
              <a:rPr lang="en-US" altLang="en-US" b="1" dirty="0"/>
              <a:t>Abstraction</a:t>
            </a:r>
            <a:endParaRPr lang="en-US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Operating System serves as an </a:t>
            </a:r>
            <a:r>
              <a:rPr lang="en-US" altLang="en-US" b="1" dirty="0"/>
              <a:t>abstraction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Hide the different low level details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Present the common high level functionality to user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The user can then perform essential tasks </a:t>
            </a:r>
            <a:r>
              <a:rPr lang="en-US" altLang="en-US" b="1" dirty="0"/>
              <a:t>through </a:t>
            </a:r>
            <a:r>
              <a:rPr lang="en-US" altLang="en-US" dirty="0"/>
              <a:t>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need to concern with low level details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Provides: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Efficiency and portability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3BE8F-7BA8-4714-82B4-1B0E5249A5D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Motivation for OS: </a:t>
            </a:r>
            <a:r>
              <a:rPr lang="en-US" altLang="en-US" b="1" dirty="0"/>
              <a:t>Resource Allocator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Program execution requires multiple resources:</a:t>
            </a:r>
          </a:p>
          <a:p>
            <a:pPr lvl="1"/>
            <a:r>
              <a:rPr lang="en-US" dirty="0"/>
              <a:t>CPU, memory, I/O devices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For better utilization of resources, multiple programs should be allowed to execute simultaneously</a:t>
            </a:r>
          </a:p>
          <a:p>
            <a:endParaRPr lang="en-US" dirty="0"/>
          </a:p>
          <a:p>
            <a:r>
              <a:rPr lang="en-US" altLang="en-US" dirty="0"/>
              <a:t>OS is a </a:t>
            </a:r>
            <a:r>
              <a:rPr lang="en-US" altLang="en-US" b="1" dirty="0"/>
              <a:t>resource allocator</a:t>
            </a:r>
          </a:p>
          <a:p>
            <a:pPr lvl="1"/>
            <a:r>
              <a:rPr lang="en-US" altLang="en-US" dirty="0"/>
              <a:t>Manages all resources</a:t>
            </a:r>
          </a:p>
          <a:p>
            <a:pPr lvl="2"/>
            <a:r>
              <a:rPr lang="en-US" altLang="en-US" dirty="0"/>
              <a:t>CPU, Memory, </a:t>
            </a:r>
            <a:r>
              <a:rPr lang="en-US" altLang="en-US" dirty="0" err="1"/>
              <a:t>Input/Output</a:t>
            </a:r>
            <a:r>
              <a:rPr lang="en-US" altLang="en-US" dirty="0"/>
              <a:t> devices</a:t>
            </a:r>
          </a:p>
          <a:p>
            <a:pPr lvl="1"/>
            <a:r>
              <a:rPr lang="en-US" altLang="en-US" dirty="0"/>
              <a:t>Arbitrate potentially conflicting requests</a:t>
            </a:r>
          </a:p>
          <a:p>
            <a:pPr lvl="2"/>
            <a:r>
              <a:rPr lang="en-US" altLang="en-US" dirty="0"/>
              <a:t>for efficient and fair resource use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73EEE-FEBB-4193-ACBC-A137F9E8B115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2221372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Motivation for OS: </a:t>
            </a:r>
            <a:r>
              <a:rPr lang="en-US" altLang="en-US" b="1" dirty="0"/>
              <a:t>Control Program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r>
              <a:rPr lang="en-US" altLang="en-US" dirty="0"/>
              <a:t>Program can misuse the computer:</a:t>
            </a:r>
          </a:p>
          <a:p>
            <a:pPr lvl="1"/>
            <a:r>
              <a:rPr lang="en-US" altLang="en-US" dirty="0"/>
              <a:t>Accidentally: due to coding bugs</a:t>
            </a:r>
          </a:p>
          <a:p>
            <a:pPr lvl="1"/>
            <a:r>
              <a:rPr lang="en-US" altLang="en-US" dirty="0"/>
              <a:t>Maliciously: virus, malware </a:t>
            </a:r>
            <a:r>
              <a:rPr lang="en-US" altLang="en-US" dirty="0" err="1"/>
              <a:t>etc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Multiple users can share the computer:</a:t>
            </a:r>
          </a:p>
          <a:p>
            <a:pPr lvl="1"/>
            <a:r>
              <a:rPr lang="en-US" altLang="en-US" dirty="0"/>
              <a:t>Tricky to ensure separate user space</a:t>
            </a:r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OS is a </a:t>
            </a:r>
            <a:r>
              <a:rPr lang="en-US" altLang="en-US" b="1" dirty="0"/>
              <a:t>control program</a:t>
            </a:r>
          </a:p>
          <a:p>
            <a:pPr lvl="1"/>
            <a:r>
              <a:rPr lang="en-US" altLang="en-US" dirty="0"/>
              <a:t>Controls execution of programs</a:t>
            </a:r>
          </a:p>
          <a:p>
            <a:pPr lvl="2"/>
            <a:r>
              <a:rPr lang="en-US" altLang="en-US" dirty="0"/>
              <a:t>prevent errors and improper use of the computer</a:t>
            </a:r>
          </a:p>
          <a:p>
            <a:pPr lvl="2"/>
            <a:r>
              <a:rPr lang="en-US" altLang="en-US" dirty="0"/>
              <a:t>Provides security and protection</a:t>
            </a:r>
          </a:p>
          <a:p>
            <a:pPr lvl="2"/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AE67DD-C5B7-4CEA-9DA1-2382D3DB29A3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21677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Motivation for OS: </a:t>
            </a:r>
            <a:r>
              <a:rPr lang="en-US" altLang="en-US" b="1" dirty="0"/>
              <a:t>Summary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Manage resources and coordination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process synchronization, resource sharing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Simplify programming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abstraction of hardware, convenient services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Enforce usage policies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Security and protection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User Program Portability: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Across different hardware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Efficiency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Sophisticated implementations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Optimized for particular usage and hardware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A4705-D52E-4500-89E6-EE38B9DBA76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Overview of Modern OS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families of modern OS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73EEE-FEBB-4193-ACBC-A137F9E8B115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265703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84702" y="1040166"/>
            <a:ext cx="8305800" cy="21336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Modern OS: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8A3FC-F988-4E8C-B4D8-D17AE6CB437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pic>
        <p:nvPicPr>
          <p:cNvPr id="1026" name="Picture 2" descr="http://cdn.wccftech.com/wp-content/uploads/2015/07/Windows-10-log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54" y="1226700"/>
            <a:ext cx="2105634" cy="171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785" y="1225946"/>
            <a:ext cx="2163117" cy="1719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044" y="1216138"/>
            <a:ext cx="2366658" cy="17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qph.ec.quoracdn.net/main-qimg-db21a508c6006cf67e2cc23b0b73682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74" y="3459992"/>
            <a:ext cx="1447799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www.freetelepromptersoftware.com/wp-content/uploads/2014/11/android-log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4907792"/>
            <a:ext cx="2082152" cy="151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cdn.instructables.com/FLM/W837/IRLQLKCF/FLMW837IRLQLKCF.MEDIUM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102" y="4325964"/>
            <a:ext cx="2709381" cy="130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://domoticx.com/wp-content/uploads/raspbian-logo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781" y="4099399"/>
            <a:ext cx="2085946" cy="176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ounded Rectangle 17"/>
          <p:cNvSpPr/>
          <p:nvPr/>
        </p:nvSpPr>
        <p:spPr>
          <a:xfrm>
            <a:off x="382474" y="3365220"/>
            <a:ext cx="2082152" cy="3085145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ounded Rectangle 18"/>
          <p:cNvSpPr/>
          <p:nvPr/>
        </p:nvSpPr>
        <p:spPr>
          <a:xfrm>
            <a:off x="2688988" y="3403166"/>
            <a:ext cx="2953514" cy="3085145"/>
          </a:xfrm>
          <a:prstGeom prst="round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ounded Rectangle 19"/>
          <p:cNvSpPr/>
          <p:nvPr/>
        </p:nvSpPr>
        <p:spPr>
          <a:xfrm>
            <a:off x="5847007" y="3403166"/>
            <a:ext cx="2843495" cy="3085145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Rectangle 1"/>
          <p:cNvSpPr/>
          <p:nvPr/>
        </p:nvSpPr>
        <p:spPr>
          <a:xfrm>
            <a:off x="3810000" y="892013"/>
            <a:ext cx="1295400" cy="26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3238436"/>
            <a:ext cx="1295400" cy="26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3300"/>
                </a:solidFill>
              </a:rPr>
              <a:t>Mobile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5328" y="3272244"/>
            <a:ext cx="1451472" cy="26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660066"/>
                </a:solidFill>
              </a:rPr>
              <a:t>Real-Time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79651" y="3272244"/>
            <a:ext cx="1451472" cy="26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accent2">
                    <a:lumMod val="50000"/>
                  </a:schemeClr>
                </a:solidFill>
              </a:rPr>
              <a:t>Embedded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OS Structure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Architecture for OS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73EEE-FEBB-4193-ACBC-A137F9E8B115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015727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System Structures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We have identified the major capabilities of an OS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i.e. the </a:t>
            </a:r>
            <a:r>
              <a:rPr lang="en-US" altLang="en-US" sz="2200" i="1" dirty="0"/>
              <a:t>specification </a:t>
            </a:r>
            <a:r>
              <a:rPr lang="en-US" altLang="en-US" sz="2200" dirty="0"/>
              <a:t>of the OS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Let us now consider: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The best way to provides these capabilities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i.e. the </a:t>
            </a:r>
            <a:r>
              <a:rPr lang="en-US" altLang="en-US" sz="2200" i="1" dirty="0"/>
              <a:t>implementations</a:t>
            </a:r>
            <a:r>
              <a:rPr lang="en-US" altLang="en-US" sz="2200" dirty="0"/>
              <a:t> of the OS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Operating system structure:</a:t>
            </a:r>
          </a:p>
          <a:p>
            <a:pPr lvl="1">
              <a:lnSpc>
                <a:spcPct val="90000"/>
              </a:lnSpc>
            </a:pPr>
            <a:r>
              <a:rPr lang="en-US" altLang="en-US" sz="2200" i="1" dirty="0"/>
              <a:t>Organization </a:t>
            </a:r>
            <a:r>
              <a:rPr lang="en-US" altLang="en-US" sz="2200" dirty="0"/>
              <a:t>of the various components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Important factors: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Flexibility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Robustness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Maintainability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5B6B4C-4068-4D1A-B134-B34D9DB4E02B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Illustration: High level view of OS </a:t>
            </a:r>
          </a:p>
        </p:txBody>
      </p:sp>
      <p:sp>
        <p:nvSpPr>
          <p:cNvPr id="98323" name="Rectangle 19"/>
          <p:cNvSpPr>
            <a:spLocks noGrp="1" noChangeArrowheads="1"/>
          </p:cNvSpPr>
          <p:nvPr>
            <p:ph idx="1"/>
          </p:nvPr>
        </p:nvSpPr>
        <p:spPr>
          <a:xfrm>
            <a:off x="457200" y="4495800"/>
            <a:ext cx="8229600" cy="198120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/>
              <a:t>Operating System is essentially a software</a:t>
            </a:r>
          </a:p>
          <a:p>
            <a:pPr lvl="1"/>
            <a:r>
              <a:rPr lang="en-US" altLang="en-US" dirty="0"/>
              <a:t>Runs in </a:t>
            </a:r>
            <a:r>
              <a:rPr lang="en-US" altLang="en-US" b="1" i="1" dirty="0">
                <a:solidFill>
                  <a:srgbClr val="C00000"/>
                </a:solidFill>
              </a:rPr>
              <a:t>kernel mode</a:t>
            </a:r>
            <a:r>
              <a:rPr lang="en-US" altLang="en-US" dirty="0"/>
              <a:t>: Have complete access to all hardware resources</a:t>
            </a:r>
          </a:p>
          <a:p>
            <a:r>
              <a:rPr lang="en-US" altLang="en-US" dirty="0"/>
              <a:t>Other software executes in </a:t>
            </a:r>
            <a:r>
              <a:rPr lang="en-US" altLang="en-US" b="1" i="1" dirty="0">
                <a:solidFill>
                  <a:srgbClr val="C00000"/>
                </a:solidFill>
              </a:rPr>
              <a:t>user mode</a:t>
            </a:r>
          </a:p>
          <a:p>
            <a:pPr lvl="1"/>
            <a:r>
              <a:rPr lang="en-US" altLang="en-US" dirty="0"/>
              <a:t>With limited (or controlled) access to hardware resources</a:t>
            </a:r>
          </a:p>
        </p:txBody>
      </p:sp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3402B3-CD37-4CFC-8E5A-29AB028FC698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grpSp>
        <p:nvGrpSpPr>
          <p:cNvPr id="98324" name="Group 20"/>
          <p:cNvGrpSpPr>
            <a:grpSpLocks/>
          </p:cNvGrpSpPr>
          <p:nvPr/>
        </p:nvGrpSpPr>
        <p:grpSpPr bwMode="auto">
          <a:xfrm>
            <a:off x="152400" y="1143000"/>
            <a:ext cx="8991600" cy="3200400"/>
            <a:chOff x="96" y="912"/>
            <a:chExt cx="5664" cy="2016"/>
          </a:xfrm>
        </p:grpSpPr>
        <p:sp>
          <p:nvSpPr>
            <p:cNvPr id="98309" name="Rectangle 5"/>
            <p:cNvSpPr>
              <a:spLocks noChangeArrowheads="1"/>
            </p:cNvSpPr>
            <p:nvPr/>
          </p:nvSpPr>
          <p:spPr bwMode="auto">
            <a:xfrm>
              <a:off x="768" y="2496"/>
              <a:ext cx="4080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 dirty="0"/>
                <a:t>Hardware</a:t>
              </a:r>
            </a:p>
          </p:txBody>
        </p:sp>
        <p:sp>
          <p:nvSpPr>
            <p:cNvPr id="98310" name="Rectangle 6"/>
            <p:cNvSpPr>
              <a:spLocks noChangeArrowheads="1"/>
            </p:cNvSpPr>
            <p:nvPr/>
          </p:nvSpPr>
          <p:spPr bwMode="auto">
            <a:xfrm>
              <a:off x="768" y="1968"/>
              <a:ext cx="4080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 dirty="0"/>
                <a:t>Operating System</a:t>
              </a:r>
            </a:p>
          </p:txBody>
        </p:sp>
        <p:sp>
          <p:nvSpPr>
            <p:cNvPr id="98311" name="Rectangle 7"/>
            <p:cNvSpPr>
              <a:spLocks noChangeArrowheads="1"/>
            </p:cNvSpPr>
            <p:nvPr/>
          </p:nvSpPr>
          <p:spPr bwMode="auto">
            <a:xfrm>
              <a:off x="768" y="1440"/>
              <a:ext cx="4080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/>
                <a:t>User Interface</a:t>
              </a:r>
            </a:p>
          </p:txBody>
        </p:sp>
        <p:sp>
          <p:nvSpPr>
            <p:cNvPr id="98312" name="Rectangle 8"/>
            <p:cNvSpPr>
              <a:spLocks noChangeArrowheads="1"/>
            </p:cNvSpPr>
            <p:nvPr/>
          </p:nvSpPr>
          <p:spPr bwMode="auto">
            <a:xfrm>
              <a:off x="768" y="960"/>
              <a:ext cx="1392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/>
                <a:t>PowerPoint</a:t>
              </a:r>
            </a:p>
          </p:txBody>
        </p:sp>
        <p:sp>
          <p:nvSpPr>
            <p:cNvPr id="98313" name="Rectangle 9"/>
            <p:cNvSpPr>
              <a:spLocks noChangeArrowheads="1"/>
            </p:cNvSpPr>
            <p:nvPr/>
          </p:nvSpPr>
          <p:spPr bwMode="auto">
            <a:xfrm>
              <a:off x="2256" y="960"/>
              <a:ext cx="1056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 dirty="0"/>
                <a:t>Chrome</a:t>
              </a:r>
            </a:p>
          </p:txBody>
        </p:sp>
        <p:sp>
          <p:nvSpPr>
            <p:cNvPr id="98314" name="Rectangle 10"/>
            <p:cNvSpPr>
              <a:spLocks noChangeArrowheads="1"/>
            </p:cNvSpPr>
            <p:nvPr/>
          </p:nvSpPr>
          <p:spPr bwMode="auto">
            <a:xfrm>
              <a:off x="3360" y="960"/>
              <a:ext cx="1008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 dirty="0"/>
                <a:t>DOTA</a:t>
              </a:r>
            </a:p>
          </p:txBody>
        </p:sp>
        <p:sp>
          <p:nvSpPr>
            <p:cNvPr id="98315" name="AutoShape 11"/>
            <p:cNvSpPr>
              <a:spLocks/>
            </p:cNvSpPr>
            <p:nvPr/>
          </p:nvSpPr>
          <p:spPr bwMode="auto">
            <a:xfrm>
              <a:off x="4944" y="2544"/>
              <a:ext cx="96" cy="38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8316" name="Text Box 12"/>
            <p:cNvSpPr txBox="1">
              <a:spLocks noChangeArrowheads="1"/>
            </p:cNvSpPr>
            <p:nvPr/>
          </p:nvSpPr>
          <p:spPr bwMode="auto">
            <a:xfrm>
              <a:off x="4992" y="2640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/>
                <a:t>Hardware</a:t>
              </a:r>
            </a:p>
          </p:txBody>
        </p:sp>
        <p:sp>
          <p:nvSpPr>
            <p:cNvPr id="98317" name="Text Box 13"/>
            <p:cNvSpPr txBox="1">
              <a:spLocks noChangeArrowheads="1"/>
            </p:cNvSpPr>
            <p:nvPr/>
          </p:nvSpPr>
          <p:spPr bwMode="auto">
            <a:xfrm>
              <a:off x="4992" y="1536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/>
                <a:t>Software</a:t>
              </a:r>
            </a:p>
          </p:txBody>
        </p:sp>
        <p:sp>
          <p:nvSpPr>
            <p:cNvPr id="98318" name="AutoShape 14"/>
            <p:cNvSpPr>
              <a:spLocks/>
            </p:cNvSpPr>
            <p:nvPr/>
          </p:nvSpPr>
          <p:spPr bwMode="auto">
            <a:xfrm>
              <a:off x="4944" y="912"/>
              <a:ext cx="96" cy="1488"/>
            </a:xfrm>
            <a:prstGeom prst="rightBrace">
              <a:avLst>
                <a:gd name="adj1" fmla="val 12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8319" name="AutoShape 15"/>
            <p:cNvSpPr>
              <a:spLocks/>
            </p:cNvSpPr>
            <p:nvPr/>
          </p:nvSpPr>
          <p:spPr bwMode="auto">
            <a:xfrm flipH="1">
              <a:off x="576" y="2016"/>
              <a:ext cx="96" cy="38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8320" name="Text Box 16"/>
            <p:cNvSpPr txBox="1">
              <a:spLocks noChangeArrowheads="1"/>
            </p:cNvSpPr>
            <p:nvPr/>
          </p:nvSpPr>
          <p:spPr bwMode="auto">
            <a:xfrm>
              <a:off x="96" y="2016"/>
              <a:ext cx="52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/>
                <a:t>Kernel Mode</a:t>
              </a:r>
            </a:p>
          </p:txBody>
        </p:sp>
        <p:sp>
          <p:nvSpPr>
            <p:cNvPr id="98321" name="AutoShape 17"/>
            <p:cNvSpPr>
              <a:spLocks/>
            </p:cNvSpPr>
            <p:nvPr/>
          </p:nvSpPr>
          <p:spPr bwMode="auto">
            <a:xfrm flipH="1">
              <a:off x="576" y="960"/>
              <a:ext cx="96" cy="960"/>
            </a:xfrm>
            <a:prstGeom prst="rightBrace">
              <a:avLst>
                <a:gd name="adj1" fmla="val 8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8322" name="Text Box 18"/>
            <p:cNvSpPr txBox="1">
              <a:spLocks noChangeArrowheads="1"/>
            </p:cNvSpPr>
            <p:nvPr/>
          </p:nvSpPr>
          <p:spPr bwMode="auto">
            <a:xfrm>
              <a:off x="96" y="1248"/>
              <a:ext cx="52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/>
                <a:t>User Mode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61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Illustration: Generic OS Components</a:t>
            </a:r>
          </a:p>
        </p:txBody>
      </p:sp>
      <p:sp>
        <p:nvSpPr>
          <p:cNvPr id="46129" name="Rectangle 49"/>
          <p:cNvSpPr>
            <a:spLocks noGrp="1" noChangeArrowheads="1"/>
          </p:cNvSpPr>
          <p:nvPr>
            <p:ph idx="1"/>
          </p:nvPr>
        </p:nvSpPr>
        <p:spPr>
          <a:xfrm>
            <a:off x="533400" y="4191000"/>
            <a:ext cx="8001000" cy="2209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100" b="1"/>
              <a:t>A</a:t>
            </a:r>
            <a:r>
              <a:rPr lang="en-US" altLang="en-US" sz="2100"/>
              <a:t>: OS executing machine instructions</a:t>
            </a:r>
          </a:p>
          <a:p>
            <a:pPr>
              <a:lnSpc>
                <a:spcPct val="80000"/>
              </a:lnSpc>
            </a:pPr>
            <a:r>
              <a:rPr lang="en-US" altLang="en-US" sz="2100" b="1"/>
              <a:t>B</a:t>
            </a:r>
            <a:r>
              <a:rPr lang="en-US" altLang="en-US" sz="2100"/>
              <a:t>: normal machine instructions executed (program/library code)</a:t>
            </a:r>
          </a:p>
          <a:p>
            <a:pPr>
              <a:lnSpc>
                <a:spcPct val="80000"/>
              </a:lnSpc>
            </a:pPr>
            <a:r>
              <a:rPr lang="en-US" altLang="en-US" sz="2100" b="1"/>
              <a:t>C</a:t>
            </a:r>
            <a:r>
              <a:rPr lang="en-US" altLang="en-US" sz="2100"/>
              <a:t>: calling OS using </a:t>
            </a:r>
            <a:r>
              <a:rPr lang="en-US" altLang="en-US" sz="2100" b="1" i="1"/>
              <a:t>system call interface</a:t>
            </a:r>
          </a:p>
          <a:p>
            <a:pPr>
              <a:lnSpc>
                <a:spcPct val="80000"/>
              </a:lnSpc>
            </a:pPr>
            <a:r>
              <a:rPr lang="en-US" altLang="en-US" sz="2100" b="1"/>
              <a:t>D</a:t>
            </a:r>
            <a:r>
              <a:rPr lang="en-US" altLang="en-US" sz="2100"/>
              <a:t>: user program calls library code</a:t>
            </a:r>
          </a:p>
          <a:p>
            <a:pPr>
              <a:lnSpc>
                <a:spcPct val="80000"/>
              </a:lnSpc>
            </a:pPr>
            <a:r>
              <a:rPr lang="en-US" altLang="en-US" sz="2100" b="1"/>
              <a:t>E</a:t>
            </a:r>
            <a:r>
              <a:rPr lang="en-US" altLang="en-US" sz="2100"/>
              <a:t>: system processes</a:t>
            </a:r>
          </a:p>
          <a:p>
            <a:pPr lvl="1">
              <a:lnSpc>
                <a:spcPct val="80000"/>
              </a:lnSpc>
            </a:pPr>
            <a:r>
              <a:rPr lang="en-US" altLang="en-US" sz="1900"/>
              <a:t>Provide high level services, usually part of OS</a:t>
            </a:r>
          </a:p>
        </p:txBody>
      </p:sp>
      <p:sp>
        <p:nvSpPr>
          <p:cNvPr id="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E27C22-D27D-40E8-BAAC-2E63C326C122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grpSp>
        <p:nvGrpSpPr>
          <p:cNvPr id="46134" name="Group 54"/>
          <p:cNvGrpSpPr>
            <a:grpSpLocks/>
          </p:cNvGrpSpPr>
          <p:nvPr/>
        </p:nvGrpSpPr>
        <p:grpSpPr bwMode="auto">
          <a:xfrm>
            <a:off x="1143000" y="1371600"/>
            <a:ext cx="6858000" cy="2590800"/>
            <a:chOff x="720" y="864"/>
            <a:chExt cx="4320" cy="1632"/>
          </a:xfrm>
        </p:grpSpPr>
        <p:grpSp>
          <p:nvGrpSpPr>
            <p:cNvPr id="46105" name="Group 25"/>
            <p:cNvGrpSpPr>
              <a:grpSpLocks/>
            </p:cNvGrpSpPr>
            <p:nvPr/>
          </p:nvGrpSpPr>
          <p:grpSpPr bwMode="auto">
            <a:xfrm>
              <a:off x="720" y="864"/>
              <a:ext cx="4320" cy="1632"/>
              <a:chOff x="720" y="1920"/>
              <a:chExt cx="4320" cy="1632"/>
            </a:xfrm>
          </p:grpSpPr>
          <p:sp>
            <p:nvSpPr>
              <p:cNvPr id="46085" name="Rectangle 5"/>
              <p:cNvSpPr>
                <a:spLocks noChangeArrowheads="1"/>
              </p:cNvSpPr>
              <p:nvPr/>
            </p:nvSpPr>
            <p:spPr bwMode="auto">
              <a:xfrm>
                <a:off x="720" y="3216"/>
                <a:ext cx="4320" cy="336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altLang="en-US" sz="2400" b="1"/>
                  <a:t>Hardware</a:t>
                </a:r>
              </a:p>
            </p:txBody>
          </p:sp>
          <p:sp>
            <p:nvSpPr>
              <p:cNvPr id="46086" name="Rectangle 6"/>
              <p:cNvSpPr>
                <a:spLocks noChangeArrowheads="1"/>
              </p:cNvSpPr>
              <p:nvPr/>
            </p:nvSpPr>
            <p:spPr bwMode="auto">
              <a:xfrm>
                <a:off x="720" y="1920"/>
                <a:ext cx="912" cy="86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altLang="en-US" b="1"/>
                  <a:t>System Processes</a:t>
                </a:r>
              </a:p>
            </p:txBody>
          </p:sp>
          <p:sp>
            <p:nvSpPr>
              <p:cNvPr id="46087" name="Rectangle 7"/>
              <p:cNvSpPr>
                <a:spLocks noChangeArrowheads="1"/>
              </p:cNvSpPr>
              <p:nvPr/>
            </p:nvSpPr>
            <p:spPr bwMode="auto">
              <a:xfrm>
                <a:off x="720" y="2832"/>
                <a:ext cx="2544" cy="336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altLang="en-US" sz="2400" b="1"/>
                  <a:t>OS</a:t>
                </a:r>
              </a:p>
            </p:txBody>
          </p:sp>
          <p:grpSp>
            <p:nvGrpSpPr>
              <p:cNvPr id="46102" name="Group 22"/>
              <p:cNvGrpSpPr>
                <a:grpSpLocks/>
              </p:cNvGrpSpPr>
              <p:nvPr/>
            </p:nvGrpSpPr>
            <p:grpSpPr bwMode="auto">
              <a:xfrm>
                <a:off x="2400" y="2448"/>
                <a:ext cx="1824" cy="720"/>
                <a:chOff x="2400" y="2448"/>
                <a:chExt cx="1824" cy="720"/>
              </a:xfrm>
            </p:grpSpPr>
            <p:sp>
              <p:nvSpPr>
                <p:cNvPr id="46098" name="Rectangle 18"/>
                <p:cNvSpPr>
                  <a:spLocks noChangeArrowheads="1"/>
                </p:cNvSpPr>
                <p:nvPr/>
              </p:nvSpPr>
              <p:spPr bwMode="auto">
                <a:xfrm>
                  <a:off x="2400" y="2448"/>
                  <a:ext cx="1824" cy="336"/>
                </a:xfrm>
                <a:prstGeom prst="rect">
                  <a:avLst/>
                </a:prstGeom>
                <a:solidFill>
                  <a:srgbClr val="9933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sz="2400" b="1"/>
                    <a:t>Library</a:t>
                  </a:r>
                </a:p>
              </p:txBody>
            </p:sp>
            <p:sp>
              <p:nvSpPr>
                <p:cNvPr id="46100" name="Rectangle 20"/>
                <p:cNvSpPr>
                  <a:spLocks noChangeArrowheads="1"/>
                </p:cNvSpPr>
                <p:nvPr/>
              </p:nvSpPr>
              <p:spPr bwMode="auto">
                <a:xfrm>
                  <a:off x="3312" y="2784"/>
                  <a:ext cx="912" cy="384"/>
                </a:xfrm>
                <a:prstGeom prst="rect">
                  <a:avLst/>
                </a:prstGeom>
                <a:solidFill>
                  <a:srgbClr val="9933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 b="1"/>
                </a:p>
              </p:txBody>
            </p:sp>
          </p:grpSp>
          <p:grpSp>
            <p:nvGrpSpPr>
              <p:cNvPr id="46104" name="Group 24"/>
              <p:cNvGrpSpPr>
                <a:grpSpLocks/>
              </p:cNvGrpSpPr>
              <p:nvPr/>
            </p:nvGrpSpPr>
            <p:grpSpPr bwMode="auto">
              <a:xfrm>
                <a:off x="1680" y="1920"/>
                <a:ext cx="3360" cy="1248"/>
                <a:chOff x="1680" y="1920"/>
                <a:chExt cx="3360" cy="1248"/>
              </a:xfrm>
            </p:grpSpPr>
            <p:sp>
              <p:nvSpPr>
                <p:cNvPr id="46088" name="Rectangle 8"/>
                <p:cNvSpPr>
                  <a:spLocks noChangeArrowheads="1"/>
                </p:cNvSpPr>
                <p:nvPr/>
              </p:nvSpPr>
              <p:spPr bwMode="auto">
                <a:xfrm>
                  <a:off x="1680" y="2400"/>
                  <a:ext cx="672" cy="384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 b="1"/>
                </a:p>
              </p:txBody>
            </p:sp>
            <p:sp>
              <p:nvSpPr>
                <p:cNvPr id="46101" name="Rectangle 21"/>
                <p:cNvSpPr>
                  <a:spLocks noChangeArrowheads="1"/>
                </p:cNvSpPr>
                <p:nvPr/>
              </p:nvSpPr>
              <p:spPr bwMode="auto">
                <a:xfrm>
                  <a:off x="1680" y="1920"/>
                  <a:ext cx="3360" cy="480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en-US" sz="2400" b="1"/>
                    <a:t>User Programs</a:t>
                  </a:r>
                </a:p>
              </p:txBody>
            </p:sp>
            <p:sp>
              <p:nvSpPr>
                <p:cNvPr id="46103" name="Rectangle 23"/>
                <p:cNvSpPr>
                  <a:spLocks noChangeArrowheads="1"/>
                </p:cNvSpPr>
                <p:nvPr/>
              </p:nvSpPr>
              <p:spPr bwMode="auto">
                <a:xfrm>
                  <a:off x="4320" y="2400"/>
                  <a:ext cx="720" cy="768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 b="1"/>
                </a:p>
              </p:txBody>
            </p:sp>
          </p:grpSp>
        </p:grpSp>
        <p:grpSp>
          <p:nvGrpSpPr>
            <p:cNvPr id="46108" name="Group 28"/>
            <p:cNvGrpSpPr>
              <a:grpSpLocks/>
            </p:cNvGrpSpPr>
            <p:nvPr/>
          </p:nvGrpSpPr>
          <p:grpSpPr bwMode="auto">
            <a:xfrm>
              <a:off x="1344" y="1920"/>
              <a:ext cx="288" cy="432"/>
              <a:chOff x="1344" y="2112"/>
              <a:chExt cx="288" cy="432"/>
            </a:xfrm>
          </p:grpSpPr>
          <p:sp>
            <p:nvSpPr>
              <p:cNvPr id="46106" name="AutoShape 26"/>
              <p:cNvSpPr>
                <a:spLocks noChangeArrowheads="1"/>
              </p:cNvSpPr>
              <p:nvPr/>
            </p:nvSpPr>
            <p:spPr bwMode="auto">
              <a:xfrm>
                <a:off x="1488" y="2112"/>
                <a:ext cx="144" cy="432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SG"/>
              </a:p>
            </p:txBody>
          </p:sp>
          <p:sp>
            <p:nvSpPr>
              <p:cNvPr id="46107" name="Oval 2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240" cy="240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1400" b="1"/>
                  <a:t>A</a:t>
                </a:r>
              </a:p>
            </p:txBody>
          </p:sp>
        </p:grpSp>
        <p:grpSp>
          <p:nvGrpSpPr>
            <p:cNvPr id="46109" name="Group 29"/>
            <p:cNvGrpSpPr>
              <a:grpSpLocks/>
            </p:cNvGrpSpPr>
            <p:nvPr/>
          </p:nvGrpSpPr>
          <p:grpSpPr bwMode="auto">
            <a:xfrm>
              <a:off x="3696" y="1968"/>
              <a:ext cx="288" cy="432"/>
              <a:chOff x="1344" y="2112"/>
              <a:chExt cx="288" cy="432"/>
            </a:xfrm>
          </p:grpSpPr>
          <p:sp>
            <p:nvSpPr>
              <p:cNvPr id="46110" name="AutoShape 30"/>
              <p:cNvSpPr>
                <a:spLocks noChangeArrowheads="1"/>
              </p:cNvSpPr>
              <p:nvPr/>
            </p:nvSpPr>
            <p:spPr bwMode="auto">
              <a:xfrm>
                <a:off x="1488" y="2112"/>
                <a:ext cx="144" cy="432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SG"/>
              </a:p>
            </p:txBody>
          </p:sp>
          <p:sp>
            <p:nvSpPr>
              <p:cNvPr id="46111" name="Oval 31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240" cy="240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1400" b="1"/>
                  <a:t>B</a:t>
                </a:r>
              </a:p>
            </p:txBody>
          </p:sp>
        </p:grpSp>
        <p:grpSp>
          <p:nvGrpSpPr>
            <p:cNvPr id="46112" name="Group 32"/>
            <p:cNvGrpSpPr>
              <a:grpSpLocks/>
            </p:cNvGrpSpPr>
            <p:nvPr/>
          </p:nvGrpSpPr>
          <p:grpSpPr bwMode="auto">
            <a:xfrm>
              <a:off x="4464" y="1968"/>
              <a:ext cx="288" cy="432"/>
              <a:chOff x="1344" y="2112"/>
              <a:chExt cx="288" cy="432"/>
            </a:xfrm>
          </p:grpSpPr>
          <p:sp>
            <p:nvSpPr>
              <p:cNvPr id="46113" name="AutoShape 33"/>
              <p:cNvSpPr>
                <a:spLocks noChangeArrowheads="1"/>
              </p:cNvSpPr>
              <p:nvPr/>
            </p:nvSpPr>
            <p:spPr bwMode="auto">
              <a:xfrm>
                <a:off x="1488" y="2112"/>
                <a:ext cx="144" cy="432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SG"/>
              </a:p>
            </p:txBody>
          </p:sp>
          <p:sp>
            <p:nvSpPr>
              <p:cNvPr id="46114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240" cy="240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1400" b="1"/>
                  <a:t>B</a:t>
                </a:r>
              </a:p>
            </p:txBody>
          </p:sp>
        </p:grpSp>
        <p:grpSp>
          <p:nvGrpSpPr>
            <p:cNvPr id="46118" name="Group 38"/>
            <p:cNvGrpSpPr>
              <a:grpSpLocks/>
            </p:cNvGrpSpPr>
            <p:nvPr/>
          </p:nvGrpSpPr>
          <p:grpSpPr bwMode="auto">
            <a:xfrm>
              <a:off x="2544" y="1536"/>
              <a:ext cx="288" cy="336"/>
              <a:chOff x="2544" y="1824"/>
              <a:chExt cx="288" cy="336"/>
            </a:xfrm>
          </p:grpSpPr>
          <p:sp>
            <p:nvSpPr>
              <p:cNvPr id="46116" name="AutoShape 36"/>
              <p:cNvSpPr>
                <a:spLocks noChangeArrowheads="1"/>
              </p:cNvSpPr>
              <p:nvPr/>
            </p:nvSpPr>
            <p:spPr bwMode="auto">
              <a:xfrm>
                <a:off x="2688" y="1824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SG"/>
              </a:p>
            </p:txBody>
          </p:sp>
          <p:sp>
            <p:nvSpPr>
              <p:cNvPr id="46117" name="Oval 37"/>
              <p:cNvSpPr>
                <a:spLocks noChangeArrowheads="1"/>
              </p:cNvSpPr>
              <p:nvPr/>
            </p:nvSpPr>
            <p:spPr bwMode="auto">
              <a:xfrm>
                <a:off x="2544" y="1872"/>
                <a:ext cx="240" cy="240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1400" b="1"/>
                  <a:t>C</a:t>
                </a:r>
              </a:p>
            </p:txBody>
          </p:sp>
        </p:grpSp>
        <p:grpSp>
          <p:nvGrpSpPr>
            <p:cNvPr id="46122" name="Group 42"/>
            <p:cNvGrpSpPr>
              <a:grpSpLocks/>
            </p:cNvGrpSpPr>
            <p:nvPr/>
          </p:nvGrpSpPr>
          <p:grpSpPr bwMode="auto">
            <a:xfrm>
              <a:off x="3888" y="1104"/>
              <a:ext cx="288" cy="432"/>
              <a:chOff x="1344" y="2112"/>
              <a:chExt cx="288" cy="432"/>
            </a:xfrm>
          </p:grpSpPr>
          <p:sp>
            <p:nvSpPr>
              <p:cNvPr id="46123" name="AutoShape 43"/>
              <p:cNvSpPr>
                <a:spLocks noChangeArrowheads="1"/>
              </p:cNvSpPr>
              <p:nvPr/>
            </p:nvSpPr>
            <p:spPr bwMode="auto">
              <a:xfrm>
                <a:off x="1488" y="2112"/>
                <a:ext cx="144" cy="432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SG"/>
              </a:p>
            </p:txBody>
          </p:sp>
          <p:sp>
            <p:nvSpPr>
              <p:cNvPr id="46124" name="Oval 4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240" cy="240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1400" b="1"/>
                  <a:t>D</a:t>
                </a:r>
              </a:p>
            </p:txBody>
          </p:sp>
        </p:grpSp>
        <p:sp>
          <p:nvSpPr>
            <p:cNvPr id="46127" name="Oval 47"/>
            <p:cNvSpPr>
              <a:spLocks noChangeArrowheads="1"/>
            </p:cNvSpPr>
            <p:nvPr/>
          </p:nvSpPr>
          <p:spPr bwMode="auto">
            <a:xfrm>
              <a:off x="720" y="912"/>
              <a:ext cx="240" cy="240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E</a:t>
              </a:r>
            </a:p>
          </p:txBody>
        </p:sp>
        <p:grpSp>
          <p:nvGrpSpPr>
            <p:cNvPr id="46131" name="Group 51"/>
            <p:cNvGrpSpPr>
              <a:grpSpLocks/>
            </p:cNvGrpSpPr>
            <p:nvPr/>
          </p:nvGrpSpPr>
          <p:grpSpPr bwMode="auto">
            <a:xfrm>
              <a:off x="1584" y="1536"/>
              <a:ext cx="288" cy="336"/>
              <a:chOff x="2544" y="1824"/>
              <a:chExt cx="288" cy="336"/>
            </a:xfrm>
          </p:grpSpPr>
          <p:sp>
            <p:nvSpPr>
              <p:cNvPr id="46132" name="AutoShape 52"/>
              <p:cNvSpPr>
                <a:spLocks noChangeArrowheads="1"/>
              </p:cNvSpPr>
              <p:nvPr/>
            </p:nvSpPr>
            <p:spPr bwMode="auto">
              <a:xfrm>
                <a:off x="2688" y="1824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SG"/>
              </a:p>
            </p:txBody>
          </p:sp>
          <p:sp>
            <p:nvSpPr>
              <p:cNvPr id="46133" name="Oval 53"/>
              <p:cNvSpPr>
                <a:spLocks noChangeArrowheads="1"/>
              </p:cNvSpPr>
              <p:nvPr/>
            </p:nvSpPr>
            <p:spPr bwMode="auto">
              <a:xfrm>
                <a:off x="2544" y="1872"/>
                <a:ext cx="240" cy="240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1400" b="1"/>
                  <a:t>C</a:t>
                </a: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 as a Program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/>
              <a:t>OS is also known as the </a:t>
            </a:r>
            <a:r>
              <a:rPr lang="en-US" altLang="en-US" sz="2600" b="1"/>
              <a:t>kernel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Just another program with some special features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Deals with hardware issues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Provides system call interface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Special code for interrupt handlers, device drivers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600"/>
          </a:p>
          <a:p>
            <a:pPr>
              <a:lnSpc>
                <a:spcPct val="80000"/>
              </a:lnSpc>
            </a:pPr>
            <a:r>
              <a:rPr lang="en-US" altLang="en-US" sz="2600"/>
              <a:t>Kernel code has to be different than normal programs: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no use of system call in kernel code 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can’t use normal libraries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no normal I/O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altLang="en-US" sz="2200"/>
          </a:p>
          <a:p>
            <a:pPr>
              <a:lnSpc>
                <a:spcPct val="80000"/>
              </a:lnSpc>
            </a:pPr>
            <a:r>
              <a:rPr lang="en-US" altLang="en-US" sz="2600"/>
              <a:t>Consider this: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Normal programs use OS: what does OS use? </a:t>
            </a:r>
            <a:r>
              <a:rPr lang="en-US" altLang="en-US" sz="2200">
                <a:sym typeface="Wingdings" pitchFamily="2" charset="2"/>
              </a:rPr>
              <a:t></a:t>
            </a:r>
            <a:endParaRPr lang="en-US" altLang="en-US" sz="2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45929-4233-4187-A0E0-8AA6AB076F4C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Implementing Operating System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Programming Language:</a:t>
            </a:r>
          </a:p>
          <a:p>
            <a:pPr lvl="1"/>
            <a:r>
              <a:rPr lang="en-US" dirty="0"/>
              <a:t>Historically in assembly/machine code</a:t>
            </a:r>
          </a:p>
          <a:p>
            <a:pPr lvl="1"/>
            <a:r>
              <a:rPr lang="en-US" dirty="0"/>
              <a:t>Now in </a:t>
            </a:r>
            <a:r>
              <a:rPr lang="en-US" b="1" i="1" dirty="0"/>
              <a:t>HLLs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Especially C/C++</a:t>
            </a:r>
          </a:p>
          <a:p>
            <a:pPr lvl="1"/>
            <a:r>
              <a:rPr lang="en-US" dirty="0"/>
              <a:t>Heavily hardware architecture dependent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6600"/>
                </a:solidFill>
              </a:rPr>
              <a:t>Common code organization: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Machine independent HLL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Machine dependent HLL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Machine dependent assembly code</a:t>
            </a:r>
          </a:p>
          <a:p>
            <a:pPr marL="474662" indent="-457200"/>
            <a:r>
              <a:rPr lang="en-US" b="1" dirty="0">
                <a:solidFill>
                  <a:srgbClr val="C00000"/>
                </a:solidFill>
              </a:rPr>
              <a:t>Challenges:</a:t>
            </a:r>
          </a:p>
          <a:p>
            <a:pPr marL="801687" lvl="1" indent="-457200"/>
            <a:r>
              <a:rPr lang="en-US" dirty="0"/>
              <a:t>“No one else” to rely on for nice services</a:t>
            </a:r>
          </a:p>
          <a:p>
            <a:pPr marL="801687" lvl="1" indent="-457200"/>
            <a:r>
              <a:rPr lang="en-US" dirty="0"/>
              <a:t>Debugging is hard</a:t>
            </a:r>
          </a:p>
          <a:p>
            <a:pPr marL="801687" lvl="1" indent="-457200"/>
            <a:r>
              <a:rPr lang="en-US" dirty="0"/>
              <a:t>Complexity</a:t>
            </a:r>
          </a:p>
          <a:p>
            <a:pPr marL="801687" lvl="1" indent="-457200"/>
            <a:r>
              <a:rPr lang="en-US" dirty="0" err="1"/>
              <a:t>Enourmous</a:t>
            </a:r>
            <a:r>
              <a:rPr lang="en-US" dirty="0"/>
              <a:t> Codebase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73EEE-FEBB-4193-ACBC-A137F9E8B115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296080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OS Structures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/>
          <a:lstStyle/>
          <a:p>
            <a:r>
              <a:rPr lang="en-US" altLang="en-US" sz="2600" dirty="0"/>
              <a:t>Several ways to structure an OS:</a:t>
            </a:r>
          </a:p>
          <a:p>
            <a:pPr lvl="1"/>
            <a:r>
              <a:rPr lang="en-US" altLang="en-US" sz="2200" b="1" dirty="0"/>
              <a:t>Monolithic</a:t>
            </a:r>
          </a:p>
          <a:p>
            <a:pPr lvl="1"/>
            <a:r>
              <a:rPr lang="en-US" altLang="en-US" sz="2200" b="1" dirty="0"/>
              <a:t>Microkernel</a:t>
            </a:r>
          </a:p>
          <a:p>
            <a:pPr lvl="1"/>
            <a:r>
              <a:rPr lang="en-US" altLang="en-US" sz="2200" dirty="0"/>
              <a:t>Layered</a:t>
            </a:r>
          </a:p>
          <a:p>
            <a:pPr lvl="1"/>
            <a:r>
              <a:rPr lang="en-US" altLang="en-US" sz="2200" dirty="0"/>
              <a:t>Client-Server </a:t>
            </a:r>
          </a:p>
          <a:p>
            <a:pPr lvl="1"/>
            <a:r>
              <a:rPr lang="en-US" altLang="en-US" sz="2200" dirty="0" err="1"/>
              <a:t>Exokernel</a:t>
            </a:r>
            <a:endParaRPr lang="en-US" altLang="en-US" sz="2200" dirty="0"/>
          </a:p>
          <a:p>
            <a:pPr lvl="1"/>
            <a:r>
              <a:rPr lang="en-US" altLang="en-US" sz="2200" dirty="0" err="1"/>
              <a:t>etc</a:t>
            </a:r>
            <a:endParaRPr lang="en-US" altLang="en-US" sz="2200" dirty="0"/>
          </a:p>
          <a:p>
            <a:pPr lvl="1"/>
            <a:endParaRPr lang="en-US" altLang="en-US" sz="2200" dirty="0"/>
          </a:p>
          <a:p>
            <a:r>
              <a:rPr lang="en-US" altLang="en-US" sz="2600" dirty="0"/>
              <a:t>We will cover the first two in details:</a:t>
            </a:r>
          </a:p>
          <a:p>
            <a:pPr lvl="1"/>
            <a:r>
              <a:rPr lang="en-US" altLang="en-US" sz="2200" dirty="0"/>
              <a:t>They represent the whole range of possibilities</a:t>
            </a:r>
          </a:p>
          <a:p>
            <a:pPr lvl="1"/>
            <a:r>
              <a:rPr lang="en-US" altLang="en-US" sz="2200" dirty="0"/>
              <a:t>Most other approaches are variant or 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3D1A4-6609-4D56-A793-1371A101C91D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Monolithic OS 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Kernel is: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One </a:t>
            </a:r>
            <a:r>
              <a:rPr lang="en-US" altLang="en-US" sz="2200" b="1" dirty="0"/>
              <a:t>BIG</a:t>
            </a:r>
            <a:r>
              <a:rPr lang="en-US" altLang="en-US" sz="2200" dirty="0"/>
              <a:t> special program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/>
              <a:t>Various services and components are integral part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Good SE principles is still possible with: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/>
              <a:t>modularization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/>
              <a:t>separation of interfaces and implementation </a:t>
            </a:r>
          </a:p>
          <a:p>
            <a:pPr>
              <a:lnSpc>
                <a:spcPct val="80000"/>
              </a:lnSpc>
            </a:pPr>
            <a:r>
              <a:rPr lang="en-US" altLang="en-US" sz="2600" dirty="0"/>
              <a:t>This is the traditional approach taken by: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Most Unix variants, Windows NT/XP</a:t>
            </a:r>
          </a:p>
          <a:p>
            <a:pPr marL="344487" lvl="1" indent="0">
              <a:lnSpc>
                <a:spcPct val="80000"/>
              </a:lnSpc>
              <a:buNone/>
            </a:pPr>
            <a:endParaRPr lang="en-US" altLang="en-US" sz="2200" dirty="0"/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Advantages: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Well understood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Good performance</a:t>
            </a:r>
          </a:p>
          <a:p>
            <a:pPr>
              <a:lnSpc>
                <a:spcPct val="80000"/>
              </a:lnSpc>
            </a:pPr>
            <a:r>
              <a:rPr lang="en-US" altLang="en-US" sz="2600" b="1" dirty="0"/>
              <a:t>Disadvantages: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Highly coupled components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Usually devolved into very complicated internal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6CB673-BDB2-4D9A-AD66-EB405EA631FA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Monolithic Kernel Illustration</a:t>
            </a:r>
          </a:p>
        </p:txBody>
      </p:sp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21E3D-B099-4BDD-8F39-92AD8427F6AE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grpSp>
        <p:nvGrpSpPr>
          <p:cNvPr id="84005" name="Group 37"/>
          <p:cNvGrpSpPr>
            <a:grpSpLocks/>
          </p:cNvGrpSpPr>
          <p:nvPr/>
        </p:nvGrpSpPr>
        <p:grpSpPr bwMode="auto">
          <a:xfrm>
            <a:off x="533400" y="1524000"/>
            <a:ext cx="6858000" cy="4267200"/>
            <a:chOff x="720" y="1152"/>
            <a:chExt cx="4320" cy="2688"/>
          </a:xfrm>
        </p:grpSpPr>
        <p:sp>
          <p:nvSpPr>
            <p:cNvPr id="83973" name="Rectangle 5"/>
            <p:cNvSpPr>
              <a:spLocks noChangeArrowheads="1"/>
            </p:cNvSpPr>
            <p:nvPr/>
          </p:nvSpPr>
          <p:spPr bwMode="auto">
            <a:xfrm>
              <a:off x="720" y="3504"/>
              <a:ext cx="4320" cy="336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Hardware</a:t>
              </a:r>
            </a:p>
          </p:txBody>
        </p:sp>
        <p:sp>
          <p:nvSpPr>
            <p:cNvPr id="83981" name="Rectangle 13"/>
            <p:cNvSpPr>
              <a:spLocks noChangeArrowheads="1"/>
            </p:cNvSpPr>
            <p:nvPr/>
          </p:nvSpPr>
          <p:spPr bwMode="auto">
            <a:xfrm>
              <a:off x="720" y="1152"/>
              <a:ext cx="4320" cy="48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400" b="1"/>
                <a:t>User Programs</a:t>
              </a:r>
            </a:p>
          </p:txBody>
        </p:sp>
        <p:grpSp>
          <p:nvGrpSpPr>
            <p:cNvPr id="84000" name="Group 32"/>
            <p:cNvGrpSpPr>
              <a:grpSpLocks/>
            </p:cNvGrpSpPr>
            <p:nvPr/>
          </p:nvGrpSpPr>
          <p:grpSpPr bwMode="auto">
            <a:xfrm>
              <a:off x="720" y="1824"/>
              <a:ext cx="4320" cy="1584"/>
              <a:chOff x="720" y="1872"/>
              <a:chExt cx="4320" cy="1584"/>
            </a:xfrm>
          </p:grpSpPr>
          <p:sp>
            <p:nvSpPr>
              <p:cNvPr id="83999" name="Rectangle 31"/>
              <p:cNvSpPr>
                <a:spLocks noChangeArrowheads="1"/>
              </p:cNvSpPr>
              <p:nvPr/>
            </p:nvSpPr>
            <p:spPr bwMode="auto">
              <a:xfrm>
                <a:off x="720" y="1872"/>
                <a:ext cx="4320" cy="1584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endParaRPr lang="en-US" altLang="en-US" sz="2400" b="1"/>
              </a:p>
            </p:txBody>
          </p:sp>
          <p:sp>
            <p:nvSpPr>
              <p:cNvPr id="83975" name="Rectangle 7"/>
              <p:cNvSpPr>
                <a:spLocks noChangeArrowheads="1"/>
              </p:cNvSpPr>
              <p:nvPr/>
            </p:nvSpPr>
            <p:spPr bwMode="auto">
              <a:xfrm>
                <a:off x="720" y="1872"/>
                <a:ext cx="432" cy="15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/>
                  <a:t>OS</a:t>
                </a:r>
              </a:p>
            </p:txBody>
          </p:sp>
        </p:grpSp>
        <p:sp>
          <p:nvSpPr>
            <p:cNvPr id="83974" name="Rectangle 6"/>
            <p:cNvSpPr>
              <a:spLocks noChangeArrowheads="1"/>
            </p:cNvSpPr>
            <p:nvPr/>
          </p:nvSpPr>
          <p:spPr bwMode="auto">
            <a:xfrm>
              <a:off x="1248" y="2400"/>
              <a:ext cx="1104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en-US" b="1"/>
                <a:t>Process Management</a:t>
              </a:r>
            </a:p>
          </p:txBody>
        </p:sp>
        <p:sp>
          <p:nvSpPr>
            <p:cNvPr id="84001" name="Rectangle 33"/>
            <p:cNvSpPr>
              <a:spLocks noChangeArrowheads="1"/>
            </p:cNvSpPr>
            <p:nvPr/>
          </p:nvSpPr>
          <p:spPr bwMode="auto">
            <a:xfrm>
              <a:off x="2448" y="2400"/>
              <a:ext cx="1104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en-US" b="1" dirty="0"/>
                <a:t>Memory Management</a:t>
              </a:r>
            </a:p>
          </p:txBody>
        </p:sp>
        <p:sp>
          <p:nvSpPr>
            <p:cNvPr id="84002" name="Rectangle 34"/>
            <p:cNvSpPr>
              <a:spLocks noChangeArrowheads="1"/>
            </p:cNvSpPr>
            <p:nvPr/>
          </p:nvSpPr>
          <p:spPr bwMode="auto">
            <a:xfrm>
              <a:off x="3648" y="2400"/>
              <a:ext cx="1104" cy="4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en-US" b="1"/>
                <a:t>File System</a:t>
              </a:r>
            </a:p>
          </p:txBody>
        </p:sp>
        <p:sp>
          <p:nvSpPr>
            <p:cNvPr id="84003" name="Rectangle 35"/>
            <p:cNvSpPr>
              <a:spLocks noChangeArrowheads="1"/>
            </p:cNvSpPr>
            <p:nvPr/>
          </p:nvSpPr>
          <p:spPr bwMode="auto">
            <a:xfrm>
              <a:off x="2352" y="3216"/>
              <a:ext cx="1104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en-US" b="1" dirty="0"/>
                <a:t>Device Driver</a:t>
              </a:r>
            </a:p>
          </p:txBody>
        </p:sp>
        <p:sp>
          <p:nvSpPr>
            <p:cNvPr id="84004" name="Rectangle 36"/>
            <p:cNvSpPr>
              <a:spLocks noChangeArrowheads="1"/>
            </p:cNvSpPr>
            <p:nvPr/>
          </p:nvSpPr>
          <p:spPr bwMode="auto">
            <a:xfrm>
              <a:off x="1440" y="1728"/>
              <a:ext cx="2832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en-US" b="1"/>
                <a:t>System Call Interface</a:t>
              </a:r>
            </a:p>
          </p:txBody>
        </p:sp>
      </p:grpSp>
      <p:sp>
        <p:nvSpPr>
          <p:cNvPr id="84006" name="AutoShape 38"/>
          <p:cNvSpPr>
            <a:spLocks/>
          </p:cNvSpPr>
          <p:nvPr/>
        </p:nvSpPr>
        <p:spPr bwMode="auto">
          <a:xfrm>
            <a:off x="7543800" y="2590800"/>
            <a:ext cx="304800" cy="2514600"/>
          </a:xfrm>
          <a:prstGeom prst="rightBrace">
            <a:avLst>
              <a:gd name="adj1" fmla="val 687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4007" name="Text Box 39"/>
          <p:cNvSpPr txBox="1">
            <a:spLocks noChangeArrowheads="1"/>
          </p:cNvSpPr>
          <p:nvPr/>
        </p:nvSpPr>
        <p:spPr bwMode="auto">
          <a:xfrm>
            <a:off x="7924800" y="35052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Kernel Mode</a:t>
            </a:r>
          </a:p>
        </p:txBody>
      </p:sp>
      <p:sp>
        <p:nvSpPr>
          <p:cNvPr id="84008" name="AutoShape 40"/>
          <p:cNvSpPr>
            <a:spLocks/>
          </p:cNvSpPr>
          <p:nvPr/>
        </p:nvSpPr>
        <p:spPr bwMode="auto">
          <a:xfrm>
            <a:off x="7543800" y="1524000"/>
            <a:ext cx="304800" cy="762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4009" name="Text Box 41"/>
          <p:cNvSpPr txBox="1">
            <a:spLocks noChangeArrowheads="1"/>
          </p:cNvSpPr>
          <p:nvPr/>
        </p:nvSpPr>
        <p:spPr bwMode="auto">
          <a:xfrm>
            <a:off x="7848600" y="16002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User Mode</a:t>
            </a:r>
          </a:p>
        </p:txBody>
      </p:sp>
      <p:sp>
        <p:nvSpPr>
          <p:cNvPr id="84010" name="Text Box 42"/>
          <p:cNvSpPr txBox="1">
            <a:spLocks noChangeArrowheads="1"/>
          </p:cNvSpPr>
          <p:nvPr/>
        </p:nvSpPr>
        <p:spPr bwMode="auto">
          <a:xfrm>
            <a:off x="1524000" y="6019800"/>
            <a:ext cx="5638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1"/>
              <a:t>Generic Architecture of Monolithic OS Components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65188"/>
          </a:xfrm>
        </p:spPr>
        <p:txBody>
          <a:bodyPr/>
          <a:lstStyle/>
          <a:p>
            <a:r>
              <a:rPr lang="en-US" altLang="en-US"/>
              <a:t>Microkernel OS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Kernel is: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Very small and clean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Only provides basic and essential facilities: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/>
              <a:t>Inter-Process Communication (IPC)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/>
              <a:t>Address space management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/>
              <a:t>Thread management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 err="1"/>
              <a:t>etc</a:t>
            </a:r>
            <a:endParaRPr lang="en-US" altLang="en-US" sz="17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Higher level services: 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Built on top of the basic facilities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Run as server process </a:t>
            </a:r>
            <a:r>
              <a:rPr lang="en-US" altLang="en-US" sz="1900" b="1" i="1" dirty="0"/>
              <a:t>outside </a:t>
            </a:r>
            <a:r>
              <a:rPr lang="en-US" altLang="en-US" sz="1900" dirty="0"/>
              <a:t>of the OS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Use IPC to communicate</a:t>
            </a:r>
          </a:p>
          <a:p>
            <a:pPr lvl="1">
              <a:lnSpc>
                <a:spcPct val="80000"/>
              </a:lnSpc>
            </a:pPr>
            <a:endParaRPr lang="en-US" altLang="en-US" sz="19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Advantages: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Kernel is generally more robust and more extendible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Better isolation and protection between kernel and high level services</a:t>
            </a:r>
          </a:p>
          <a:p>
            <a:pPr marL="344487" lvl="1" indent="0">
              <a:lnSpc>
                <a:spcPct val="80000"/>
              </a:lnSpc>
              <a:buNone/>
            </a:pPr>
            <a:endParaRPr lang="en-US" altLang="en-US" sz="19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Disadvantages: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Lower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AE17A3-9833-40F8-8733-E387666D4BDA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Microkernel Components</a:t>
            </a:r>
          </a:p>
        </p:txBody>
      </p:sp>
      <p:sp>
        <p:nvSpPr>
          <p:cNvPr id="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B97EA-9DD2-4537-BFCE-D907F90062F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609600" y="4343400"/>
            <a:ext cx="6858000" cy="5334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400" b="1" dirty="0"/>
              <a:t>Hardware</a:t>
            </a: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609600" y="1676400"/>
            <a:ext cx="6858000" cy="7620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400" b="1"/>
              <a:t>User Programs</a:t>
            </a:r>
          </a:p>
        </p:txBody>
      </p:sp>
      <p:grpSp>
        <p:nvGrpSpPr>
          <p:cNvPr id="87047" name="Group 7"/>
          <p:cNvGrpSpPr>
            <a:grpSpLocks/>
          </p:cNvGrpSpPr>
          <p:nvPr/>
        </p:nvGrpSpPr>
        <p:grpSpPr bwMode="auto">
          <a:xfrm>
            <a:off x="609600" y="3429000"/>
            <a:ext cx="6858000" cy="762000"/>
            <a:chOff x="720" y="1872"/>
            <a:chExt cx="4320" cy="1584"/>
          </a:xfrm>
        </p:grpSpPr>
        <p:sp>
          <p:nvSpPr>
            <p:cNvPr id="87049" name="Rectangle 9"/>
            <p:cNvSpPr>
              <a:spLocks noChangeArrowheads="1"/>
            </p:cNvSpPr>
            <p:nvPr/>
          </p:nvSpPr>
          <p:spPr bwMode="auto">
            <a:xfrm>
              <a:off x="720" y="1872"/>
              <a:ext cx="4320" cy="1584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en-US" altLang="en-US" sz="2400" b="1"/>
            </a:p>
          </p:txBody>
        </p:sp>
        <p:sp>
          <p:nvSpPr>
            <p:cNvPr id="87048" name="Rectangle 8"/>
            <p:cNvSpPr>
              <a:spLocks noChangeArrowheads="1"/>
            </p:cNvSpPr>
            <p:nvPr/>
          </p:nvSpPr>
          <p:spPr bwMode="auto">
            <a:xfrm>
              <a:off x="720" y="1872"/>
              <a:ext cx="432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OS</a:t>
              </a:r>
            </a:p>
          </p:txBody>
        </p:sp>
      </p:grp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2133600" y="2590800"/>
            <a:ext cx="17526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 dirty="0"/>
              <a:t>Process Management</a:t>
            </a:r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4038600" y="2590800"/>
            <a:ext cx="17526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 dirty="0"/>
              <a:t>Memory Management</a:t>
            </a:r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5943600" y="2590800"/>
            <a:ext cx="14478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 dirty="0"/>
              <a:t>File System</a:t>
            </a:r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609600" y="2590800"/>
            <a:ext cx="12954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/>
              <a:t>Device Driver</a:t>
            </a:r>
          </a:p>
        </p:txBody>
      </p:sp>
      <p:sp>
        <p:nvSpPr>
          <p:cNvPr id="87055" name="AutoShape 15"/>
          <p:cNvSpPr>
            <a:spLocks/>
          </p:cNvSpPr>
          <p:nvPr/>
        </p:nvSpPr>
        <p:spPr bwMode="auto">
          <a:xfrm>
            <a:off x="7620000" y="3429000"/>
            <a:ext cx="304800" cy="762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7056" name="Text Box 16"/>
          <p:cNvSpPr txBox="1">
            <a:spLocks noChangeArrowheads="1"/>
          </p:cNvSpPr>
          <p:nvPr/>
        </p:nvSpPr>
        <p:spPr bwMode="auto">
          <a:xfrm>
            <a:off x="7848600" y="41148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Kernel Mode</a:t>
            </a:r>
          </a:p>
        </p:txBody>
      </p:sp>
      <p:sp>
        <p:nvSpPr>
          <p:cNvPr id="87057" name="AutoShape 17"/>
          <p:cNvSpPr>
            <a:spLocks/>
          </p:cNvSpPr>
          <p:nvPr/>
        </p:nvSpPr>
        <p:spPr bwMode="auto">
          <a:xfrm>
            <a:off x="7620000" y="1676400"/>
            <a:ext cx="304800" cy="1600200"/>
          </a:xfrm>
          <a:prstGeom prst="rightBrace">
            <a:avLst>
              <a:gd name="adj1" fmla="val 437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7058" name="Text Box 18"/>
          <p:cNvSpPr txBox="1">
            <a:spLocks noChangeArrowheads="1"/>
          </p:cNvSpPr>
          <p:nvPr/>
        </p:nvSpPr>
        <p:spPr bwMode="auto">
          <a:xfrm>
            <a:off x="7848600" y="28194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User Mode</a:t>
            </a:r>
          </a:p>
        </p:txBody>
      </p:sp>
      <p:sp>
        <p:nvSpPr>
          <p:cNvPr id="87059" name="Text Box 19"/>
          <p:cNvSpPr txBox="1">
            <a:spLocks noChangeArrowheads="1"/>
          </p:cNvSpPr>
          <p:nvPr/>
        </p:nvSpPr>
        <p:spPr bwMode="auto">
          <a:xfrm>
            <a:off x="1600200" y="5105400"/>
            <a:ext cx="5638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1"/>
              <a:t>Generic Architecture of Microkernel OS Components</a:t>
            </a:r>
          </a:p>
        </p:txBody>
      </p:sp>
      <p:sp>
        <p:nvSpPr>
          <p:cNvPr id="87060" name="Rectangle 20"/>
          <p:cNvSpPr>
            <a:spLocks noChangeArrowheads="1"/>
          </p:cNvSpPr>
          <p:nvPr/>
        </p:nvSpPr>
        <p:spPr bwMode="auto">
          <a:xfrm>
            <a:off x="1371600" y="3581400"/>
            <a:ext cx="7620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/>
              <a:t>IPC</a:t>
            </a:r>
          </a:p>
        </p:txBody>
      </p:sp>
      <p:sp>
        <p:nvSpPr>
          <p:cNvPr id="87061" name="Rectangle 21"/>
          <p:cNvSpPr>
            <a:spLocks noChangeArrowheads="1"/>
          </p:cNvSpPr>
          <p:nvPr/>
        </p:nvSpPr>
        <p:spPr bwMode="auto">
          <a:xfrm>
            <a:off x="2209800" y="3581400"/>
            <a:ext cx="16002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/>
              <a:t>Scheduling</a:t>
            </a:r>
          </a:p>
        </p:txBody>
      </p:sp>
      <p:sp>
        <p:nvSpPr>
          <p:cNvPr id="87062" name="Rectangle 22"/>
          <p:cNvSpPr>
            <a:spLocks noChangeArrowheads="1"/>
          </p:cNvSpPr>
          <p:nvPr/>
        </p:nvSpPr>
        <p:spPr bwMode="auto">
          <a:xfrm>
            <a:off x="3886200" y="3581400"/>
            <a:ext cx="24384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/>
              <a:t>Interrupt Handler</a:t>
            </a:r>
          </a:p>
        </p:txBody>
      </p:sp>
      <p:sp>
        <p:nvSpPr>
          <p:cNvPr id="87063" name="Rectangle 23"/>
          <p:cNvSpPr>
            <a:spLocks noChangeArrowheads="1"/>
          </p:cNvSpPr>
          <p:nvPr/>
        </p:nvSpPr>
        <p:spPr bwMode="auto">
          <a:xfrm>
            <a:off x="6477000" y="3581400"/>
            <a:ext cx="7620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en-US" b="1"/>
              <a:t>…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Operating System Structure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Layered Systems: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Generalization of monolithic system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Organize the components into hierarchy of layers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Upper layers make use of the lower layers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Lowest layer is the hardware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Highest layer is the user interface</a:t>
            </a:r>
          </a:p>
          <a:p>
            <a:pPr>
              <a:lnSpc>
                <a:spcPct val="90000"/>
              </a:lnSpc>
            </a:pPr>
            <a:r>
              <a:rPr lang="en-US" altLang="en-US"/>
              <a:t>Client-Server Model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Variation of microkernel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Two classes of processes: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Client process request service from server process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Server Process built on top of the microkernel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Client and Server process can be on separate machine!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58BD0-B863-4CAC-8CBD-662A5FC3B6B8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Virtual Machines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Ways of running OSes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73EEE-FEBB-4193-ACBC-A137F9E8B115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4060610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Why Virtual Machines</a:t>
            </a:r>
            <a:endParaRPr lang="en-SG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 assumes total control of the hardware:</a:t>
            </a:r>
          </a:p>
          <a:p>
            <a:pPr lvl="1"/>
            <a:r>
              <a:rPr lang="en-US" dirty="0"/>
              <a:t>What if we want to run several OSes on the same hardware at the same time?</a:t>
            </a:r>
          </a:p>
          <a:p>
            <a:pPr lvl="1"/>
            <a:endParaRPr lang="en-US" dirty="0"/>
          </a:p>
          <a:p>
            <a:r>
              <a:rPr lang="en-US" dirty="0"/>
              <a:t>Operating system is hard to debug / monitor:</a:t>
            </a:r>
          </a:p>
          <a:p>
            <a:pPr lvl="1"/>
            <a:r>
              <a:rPr lang="en-US" dirty="0"/>
              <a:t>How do we observe the working of the OS?</a:t>
            </a:r>
          </a:p>
          <a:p>
            <a:pPr lvl="1"/>
            <a:r>
              <a:rPr lang="en-US" dirty="0"/>
              <a:t>How do we test a potentially destructive implementation?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7ACD4-967B-43CB-80F0-A622DCBAE54E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  <p:extLst>
      <p:ext uri="{BB962C8B-B14F-4D97-AF65-F5344CB8AC3E}">
        <p14:creationId xmlns:p14="http://schemas.microsoft.com/office/powerpoint/2010/main" val="1715633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Definition: Virtual Machine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Virtual Machine:</a:t>
            </a:r>
          </a:p>
          <a:p>
            <a:pPr lvl="1"/>
            <a:r>
              <a:rPr lang="en-US" altLang="en-US" dirty="0"/>
              <a:t>A software emulation of hardware</a:t>
            </a:r>
          </a:p>
          <a:p>
            <a:pPr lvl="1"/>
            <a:r>
              <a:rPr lang="en-US" altLang="en-US" b="1" dirty="0"/>
              <a:t>Virtualization</a:t>
            </a:r>
            <a:r>
              <a:rPr lang="en-US" altLang="en-US" dirty="0"/>
              <a:t> of underlying hardware</a:t>
            </a:r>
          </a:p>
          <a:p>
            <a:pPr lvl="2"/>
            <a:r>
              <a:rPr lang="en-US" altLang="en-US" dirty="0"/>
              <a:t>Illusion of complete hardware to level above: memory, CPU, hard disk etc…</a:t>
            </a:r>
          </a:p>
          <a:p>
            <a:pPr lvl="1"/>
            <a:r>
              <a:rPr lang="en-US" altLang="en-US" dirty="0"/>
              <a:t>Normal (primitive) operating system can then run on top of the virtual machine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Also known as </a:t>
            </a:r>
            <a:r>
              <a:rPr lang="en-US" altLang="en-US" b="1" dirty="0"/>
              <a:t>Hypervisor </a:t>
            </a:r>
          </a:p>
          <a:p>
            <a:pPr lvl="1"/>
            <a:r>
              <a:rPr lang="en-US" altLang="en-US" dirty="0"/>
              <a:t>Two classes of implementations shown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3B0D83-CE10-4A44-8130-67151E40A61C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3213"/>
            <a:ext cx="8229600" cy="839787"/>
          </a:xfrm>
        </p:spPr>
        <p:txBody>
          <a:bodyPr/>
          <a:lstStyle/>
          <a:p>
            <a:r>
              <a:rPr lang="en-US" altLang="en-US" b="1" dirty="0"/>
              <a:t>Type 1 Hypervisor 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437063"/>
            <a:ext cx="8229600" cy="2039937"/>
          </a:xfrm>
        </p:spPr>
        <p:txBody>
          <a:bodyPr/>
          <a:lstStyle/>
          <a:p>
            <a:r>
              <a:rPr lang="en-US" altLang="en-US" dirty="0"/>
              <a:t>Type 1 hypervisor:</a:t>
            </a:r>
          </a:p>
          <a:p>
            <a:pPr lvl="1"/>
            <a:r>
              <a:rPr lang="en-US" altLang="en-US" dirty="0"/>
              <a:t>Provides individual </a:t>
            </a:r>
            <a:r>
              <a:rPr lang="en-US" altLang="en-US" i="1" dirty="0"/>
              <a:t>virtual machines</a:t>
            </a:r>
            <a:r>
              <a:rPr lang="en-US" altLang="en-US" dirty="0"/>
              <a:t> to guest OSes</a:t>
            </a:r>
          </a:p>
          <a:p>
            <a:pPr lvl="1"/>
            <a:r>
              <a:rPr lang="en-US" altLang="en-US" dirty="0" err="1"/>
              <a:t>eg</a:t>
            </a:r>
            <a:r>
              <a:rPr lang="en-US" altLang="en-US" dirty="0"/>
              <a:t>. IBM VM/370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D0EDE7-0AE5-42B0-8146-21C8C866688D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990600" y="3505200"/>
            <a:ext cx="6934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Hardware</a:t>
            </a:r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990600" y="1981200"/>
            <a:ext cx="2133600" cy="685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OS1</a:t>
            </a:r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990600" y="1219200"/>
            <a:ext cx="838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UP</a:t>
            </a:r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990600" y="2743200"/>
            <a:ext cx="6934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/>
              <a:t>Type 1 Hypervisor</a:t>
            </a: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3276600" y="1981200"/>
            <a:ext cx="2209800" cy="685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OS2</a:t>
            </a:r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5638800" y="1981200"/>
            <a:ext cx="2286000" cy="685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/>
              <a:t>OS3</a:t>
            </a:r>
          </a:p>
        </p:txBody>
      </p:sp>
      <p:sp>
        <p:nvSpPr>
          <p:cNvPr id="85002" name="Rectangle 10"/>
          <p:cNvSpPr>
            <a:spLocks noChangeArrowheads="1"/>
          </p:cNvSpPr>
          <p:nvPr/>
        </p:nvSpPr>
        <p:spPr bwMode="auto">
          <a:xfrm>
            <a:off x="7086600" y="1219200"/>
            <a:ext cx="838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UP</a:t>
            </a:r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3276600" y="1219200"/>
            <a:ext cx="838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UP</a:t>
            </a:r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5638800" y="1219200"/>
            <a:ext cx="838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/>
              <a:t>UP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Type 2 Hypervisor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986338"/>
            <a:ext cx="8229600" cy="14906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Type 2 hypervisor OS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Runs in host OS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Guest OS runs inside Virtual Machine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e.g. VMware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31CF7-264A-40C3-B1BF-75F08A9C3935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990600" y="4267200"/>
            <a:ext cx="6934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Hardware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990600" y="1981200"/>
            <a:ext cx="2743200" cy="685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/>
              <a:t>Guest OS</a:t>
            </a: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990600" y="1219200"/>
            <a:ext cx="838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UP</a:t>
            </a: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990600" y="2743200"/>
            <a:ext cx="4419600" cy="685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/>
              <a:t>Type 2 Hypervisor</a:t>
            </a:r>
          </a:p>
        </p:txBody>
      </p:sp>
      <p:sp>
        <p:nvSpPr>
          <p:cNvPr id="90123" name="Rectangle 11"/>
          <p:cNvSpPr>
            <a:spLocks noChangeArrowheads="1"/>
          </p:cNvSpPr>
          <p:nvPr/>
        </p:nvSpPr>
        <p:spPr bwMode="auto">
          <a:xfrm>
            <a:off x="1905000" y="1219200"/>
            <a:ext cx="838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UP</a:t>
            </a:r>
          </a:p>
        </p:txBody>
      </p:sp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2819400" y="1219200"/>
            <a:ext cx="838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UP</a:t>
            </a:r>
          </a:p>
        </p:txBody>
      </p:sp>
      <p:sp>
        <p:nvSpPr>
          <p:cNvPr id="90125" name="Rectangle 13"/>
          <p:cNvSpPr>
            <a:spLocks noChangeArrowheads="1"/>
          </p:cNvSpPr>
          <p:nvPr/>
        </p:nvSpPr>
        <p:spPr bwMode="auto">
          <a:xfrm>
            <a:off x="990600" y="3505200"/>
            <a:ext cx="69342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/>
              <a:t>Host Operating System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By Andrew </a:t>
            </a:r>
            <a:r>
              <a:rPr lang="en-US" altLang="en-US" dirty="0" err="1"/>
              <a:t>S.Tanenbaum</a:t>
            </a:r>
            <a:endParaRPr lang="en-US" altLang="en-US" dirty="0"/>
          </a:p>
          <a:p>
            <a:pPr lvl="1"/>
            <a:r>
              <a:rPr lang="en-US" altLang="en-US" dirty="0"/>
              <a:t>Published by Pearson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 (8</a:t>
            </a:r>
            <a:r>
              <a:rPr lang="en-US" altLang="en-US" baseline="30000" dirty="0"/>
              <a:t>th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By Abraham </a:t>
            </a:r>
            <a:r>
              <a:rPr lang="en-US" altLang="en-US" dirty="0" err="1"/>
              <a:t>Silberschatz</a:t>
            </a:r>
            <a:r>
              <a:rPr lang="en-US" altLang="en-US" dirty="0"/>
              <a:t>, Peter Baer Galvin &amp; Greg Gagne</a:t>
            </a:r>
          </a:p>
          <a:p>
            <a:pPr lvl="1"/>
            <a:r>
              <a:rPr lang="en-US" altLang="en-US" dirty="0"/>
              <a:t>Published by McGraw Hill</a:t>
            </a:r>
          </a:p>
          <a:p>
            <a:pPr lvl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63CDA-490F-4758-8055-9E2F7310FA99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L0 - Course Overview</Template>
  <TotalTime>1312</TotalTime>
  <Words>2076</Words>
  <Application>Microsoft Macintosh PowerPoint</Application>
  <PresentationFormat>On-screen Show (4:3)</PresentationFormat>
  <Paragraphs>538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Arial Black</vt:lpstr>
      <vt:lpstr>Calibri</vt:lpstr>
      <vt:lpstr>Calibri Light</vt:lpstr>
      <vt:lpstr>Garamond</vt:lpstr>
      <vt:lpstr>Times New Roman</vt:lpstr>
      <vt:lpstr>Wingdings</vt:lpstr>
      <vt:lpstr>Wingdings 2</vt:lpstr>
      <vt:lpstr>Edge</vt:lpstr>
      <vt:lpstr>L1 - Basic of C++</vt:lpstr>
      <vt:lpstr>HDOfficeLightV0</vt:lpstr>
      <vt:lpstr>Introduction to OS</vt:lpstr>
      <vt:lpstr>Overview</vt:lpstr>
      <vt:lpstr>What is OS?</vt:lpstr>
      <vt:lpstr>Illustration: What is an OS? </vt:lpstr>
      <vt:lpstr>Example of Common OS</vt:lpstr>
      <vt:lpstr>brief history of OS</vt:lpstr>
      <vt:lpstr>Brief History of OS</vt:lpstr>
      <vt:lpstr>OS for the first computers</vt:lpstr>
      <vt:lpstr>Mainframes: The "Big Iron"</vt:lpstr>
      <vt:lpstr>OS for Mainframes</vt:lpstr>
      <vt:lpstr>OS for Mainframes: Improvements</vt:lpstr>
      <vt:lpstr>Time-Sharing OS</vt:lpstr>
      <vt:lpstr>Time-sharing OS: Illustration</vt:lpstr>
      <vt:lpstr>Minicomputer and Unix</vt:lpstr>
      <vt:lpstr>Personal Computer</vt:lpstr>
      <vt:lpstr>OS on Personal Computer</vt:lpstr>
      <vt:lpstr>Motivations of OS</vt:lpstr>
      <vt:lpstr>Motivation for OS: Abstraction</vt:lpstr>
      <vt:lpstr>Motivation for OS: Abstraction</vt:lpstr>
      <vt:lpstr>Motivation for OS: Resource Allocator</vt:lpstr>
      <vt:lpstr>Motivation for OS: Control Program</vt:lpstr>
      <vt:lpstr>Motivation for OS: Summary</vt:lpstr>
      <vt:lpstr>Overview of Modern OS</vt:lpstr>
      <vt:lpstr>Modern OS: Overview</vt:lpstr>
      <vt:lpstr>OS Structure</vt:lpstr>
      <vt:lpstr>Operating System Structures</vt:lpstr>
      <vt:lpstr>Illustration: High level view of OS </vt:lpstr>
      <vt:lpstr>Illustration: Generic OS Components</vt:lpstr>
      <vt:lpstr>OS as a Program</vt:lpstr>
      <vt:lpstr>Implementing Operating System</vt:lpstr>
      <vt:lpstr>OS Structures</vt:lpstr>
      <vt:lpstr>Monolithic OS </vt:lpstr>
      <vt:lpstr>Monolithic Kernel Illustration</vt:lpstr>
      <vt:lpstr>Microkernel OS</vt:lpstr>
      <vt:lpstr>Microkernel Components</vt:lpstr>
      <vt:lpstr>Other Operating System Structure</vt:lpstr>
      <vt:lpstr>Virtual Machines</vt:lpstr>
      <vt:lpstr>Motivation: Why Virtual Machines</vt:lpstr>
      <vt:lpstr>Definition: Virtual Machine</vt:lpstr>
      <vt:lpstr>Type 1 Hypervisor </vt:lpstr>
      <vt:lpstr>Type 2 Hypervisor</vt:lpstr>
      <vt:lpstr>Reference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Tan Keng Yan, Colin</cp:lastModifiedBy>
  <cp:revision>136</cp:revision>
  <dcterms:created xsi:type="dcterms:W3CDTF">2009-01-08T10:19:20Z</dcterms:created>
  <dcterms:modified xsi:type="dcterms:W3CDTF">2025-08-09T06:22:04Z</dcterms:modified>
</cp:coreProperties>
</file>