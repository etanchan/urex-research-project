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707" r:id="rId2"/>
    <p:sldMasterId id="2147483720" r:id="rId3"/>
  </p:sldMasterIdLst>
  <p:notesMasterIdLst>
    <p:notesMasterId r:id="rId13"/>
  </p:notesMasterIdLst>
  <p:sldIdLst>
    <p:sldId id="256" r:id="rId4"/>
    <p:sldId id="257" r:id="rId5"/>
    <p:sldId id="268" r:id="rId6"/>
    <p:sldId id="267" r:id="rId7"/>
    <p:sldId id="260" r:id="rId8"/>
    <p:sldId id="262" r:id="rId9"/>
    <p:sldId id="263" r:id="rId10"/>
    <p:sldId id="265" r:id="rId11"/>
    <p:sldId id="269" r:id="rId12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95" autoAdjust="0"/>
    <p:restoredTop sz="94600"/>
  </p:normalViewPr>
  <p:slideViewPr>
    <p:cSldViewPr>
      <p:cViewPr varScale="1">
        <p:scale>
          <a:sx n="80" d="100"/>
          <a:sy n="80" d="100"/>
        </p:scale>
        <p:origin x="18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7077CC8-28D7-419B-AFB3-DD18205363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40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77CC8-28D7-419B-AFB3-DD18205363D6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308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77CC8-28D7-419B-AFB3-DD18205363D6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123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206683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193413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339420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170380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584971-4E7E-49CD-A58B-4D6798B16E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40824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6791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32631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4213621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48039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163230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95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B16682-6FB4-4344-B037-3C8A3CEB85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SG" altLang="en-US"/>
              <a:t>CG2271 Lecture 0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151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6DC585-B3F4-4B1B-8C67-9C227CDAE85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332447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88B9D5-0321-4243-8ED9-54D29AAF37E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3390961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48AF77-D65C-4E9E-B478-17E3FD86D81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1046275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78A42F-32DF-4555-A3D9-B208AC03E8B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893632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2D7119-D0B9-434A-965E-B7C4A460BE3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3458946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56026C-F7A5-4BDA-898E-B00A800C5FF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2713829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A67EED0-2586-40FE-805F-5628AC864DA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3696722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7E0452-540F-4E7F-8F1B-B48A49509A5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1174460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ED2E85-14B5-41B8-BB68-5CCA814DB1A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4083494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9D4C96A0-4412-4C95-B2BA-559D798589E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1325395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1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2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7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2884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381000" y="1524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629400"/>
            <a:ext cx="457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553200"/>
            <a:ext cx="1905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r>
              <a:rPr lang="en-US" altLang="en-US"/>
              <a:t>CG2271 Lecture 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40BAAAD-52D6-4FB3-AB55-71C64A1E2A0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CG2271 Lecture 0</a:t>
            </a:r>
          </a:p>
        </p:txBody>
      </p:sp>
    </p:spTree>
    <p:extLst>
      <p:ext uri="{BB962C8B-B14F-4D97-AF65-F5344CB8AC3E}">
        <p14:creationId xmlns:p14="http://schemas.microsoft.com/office/powerpoint/2010/main" val="344398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CG2271 Lecture 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CG2271 Real Time Operating Systems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Real Time Operating Systems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People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Lecture 0</a:t>
            </a:r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6C744-D653-C9A8-9602-7941742A6416}"/>
              </a:ext>
            </a:extLst>
          </p:cNvPr>
          <p:cNvSpPr txBox="1"/>
          <p:nvPr/>
        </p:nvSpPr>
        <p:spPr>
          <a:xfrm>
            <a:off x="451945" y="3118636"/>
            <a:ext cx="353702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Colin Tan</a:t>
            </a:r>
          </a:p>
          <a:p>
            <a:r>
              <a:rPr lang="en-SG" sz="1600" dirty="0">
                <a:latin typeface="Calibri" panose="020F0502020204030204" pitchFamily="34" charset="0"/>
                <a:cs typeface="Calibri" panose="020F0502020204030204" pitchFamily="34" charset="0"/>
              </a:rPr>
              <a:t>Consultation:</a:t>
            </a:r>
          </a:p>
          <a:p>
            <a:r>
              <a:rPr lang="en-SG" sz="1600" dirty="0">
                <a:latin typeface="Calibri" panose="020F0502020204030204" pitchFamily="34" charset="0"/>
                <a:cs typeface="Calibri" panose="020F0502020204030204" pitchFamily="34" charset="0"/>
              </a:rPr>
              <a:t>Mondays 9 am to 11 am </a:t>
            </a:r>
          </a:p>
          <a:p>
            <a:r>
              <a:rPr lang="en-SG" sz="1600" dirty="0">
                <a:latin typeface="Calibri" panose="020F0502020204030204" pitchFamily="34" charset="0"/>
                <a:cs typeface="Calibri" panose="020F0502020204030204" pitchFamily="34" charset="0"/>
              </a:rPr>
              <a:t>COM2-02-08</a:t>
            </a:r>
          </a:p>
          <a:p>
            <a:r>
              <a:rPr lang="en-SG" sz="1400" dirty="0">
                <a:latin typeface="Calibri" panose="020F0502020204030204" pitchFamily="34" charset="0"/>
                <a:cs typeface="Calibri" panose="020F0502020204030204" pitchFamily="34" charset="0"/>
              </a:rPr>
              <a:t>Email: colintan@nus.edu.sg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42A84-07C4-92EB-DE5A-E6DD57C2EE6F}"/>
              </a:ext>
            </a:extLst>
          </p:cNvPr>
          <p:cNvSpPr txBox="1"/>
          <p:nvPr/>
        </p:nvSpPr>
        <p:spPr>
          <a:xfrm>
            <a:off x="473891" y="4594065"/>
            <a:ext cx="2906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i="1" dirty="0">
                <a:latin typeface="Calibri" panose="020F0502020204030204" pitchFamily="34" charset="0"/>
                <a:cs typeface="Calibri" panose="020F0502020204030204" pitchFamily="34" charset="0"/>
              </a:rPr>
              <a:t>Admin appointments:</a:t>
            </a:r>
            <a:endParaRPr lang="en-SG" sz="1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6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Chief Randomness Generator,</a:t>
            </a:r>
          </a:p>
          <a:p>
            <a:r>
              <a:rPr lang="en-SG" sz="1600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Makers@SoC</a:t>
            </a:r>
            <a:endParaRPr lang="en-SG" sz="16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SG" sz="16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3B5A82-F562-EF21-6C2E-16A32035A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91" y="1231210"/>
            <a:ext cx="1682254" cy="1697409"/>
          </a:xfrm>
          <a:prstGeom prst="rect">
            <a:avLst/>
          </a:prstGeom>
        </p:spPr>
      </p:pic>
      <p:pic>
        <p:nvPicPr>
          <p:cNvPr id="9" name="Shape 96" descr="Image result for west coast highway viaduct">
            <a:extLst>
              <a:ext uri="{FF2B5EF4-FFF2-40B4-BE49-F238E27FC236}">
                <a16:creationId xmlns:a16="http://schemas.microsoft.com/office/drawing/2014/main" id="{603EEBB1-5605-4C44-9A1D-B57DD014E6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0045" y="1136056"/>
            <a:ext cx="1927265" cy="144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Shape 99" descr="Image result for dronebox">
            <a:extLst>
              <a:ext uri="{FF2B5EF4-FFF2-40B4-BE49-F238E27FC236}">
                <a16:creationId xmlns:a16="http://schemas.microsoft.com/office/drawing/2014/main" id="{0226A636-C027-9449-C642-3004155DC9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11802" y="2928619"/>
            <a:ext cx="2072711" cy="174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Shape 100" descr="Image may contain: one or more people and outdoor">
            <a:extLst>
              <a:ext uri="{FF2B5EF4-FFF2-40B4-BE49-F238E27FC236}">
                <a16:creationId xmlns:a16="http://schemas.microsoft.com/office/drawing/2014/main" id="{EF6E0AE3-F59F-06E9-1E58-EA34BC820D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07634" y="1110352"/>
            <a:ext cx="2661947" cy="163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Shape 107">
            <a:extLst>
              <a:ext uri="{FF2B5EF4-FFF2-40B4-BE49-F238E27FC236}">
                <a16:creationId xmlns:a16="http://schemas.microsoft.com/office/drawing/2014/main" id="{EAA5097A-3E4A-285E-D58A-A0E54E4C45C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88376" y="2855082"/>
            <a:ext cx="2216299" cy="166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98278E-7993-A933-EEDB-6E118785734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87361" y="4977571"/>
            <a:ext cx="1795525" cy="13466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8AA9AC-21D0-392E-6A04-FC0A848148D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182" y="4630096"/>
            <a:ext cx="2442685" cy="18351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Objectives</a:t>
            </a:r>
            <a:endParaRPr lang="en-US" altLang="en-US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Synopsis:</a:t>
            </a:r>
          </a:p>
          <a:p>
            <a:pPr lvl="1"/>
            <a:r>
              <a:rPr lang="en-US" altLang="en-US" dirty="0"/>
              <a:t>Introduces </a:t>
            </a:r>
            <a:r>
              <a:rPr lang="en-US" altLang="en-US" b="1" dirty="0"/>
              <a:t>basic concepts </a:t>
            </a:r>
            <a:r>
              <a:rPr lang="en-US" altLang="en-US" dirty="0"/>
              <a:t>in real time operating systems</a:t>
            </a:r>
          </a:p>
          <a:p>
            <a:pPr lvl="1"/>
            <a:r>
              <a:rPr lang="en-US" altLang="en-US" dirty="0"/>
              <a:t>Focuses on these areas:</a:t>
            </a:r>
          </a:p>
          <a:p>
            <a:pPr lvl="2"/>
            <a:r>
              <a:rPr lang="en-US" altLang="en-US" dirty="0"/>
              <a:t>OS Structure and Architecture</a:t>
            </a:r>
          </a:p>
          <a:p>
            <a:pPr lvl="2"/>
            <a:r>
              <a:rPr lang="en-US" altLang="en-US" b="1" dirty="0">
                <a:solidFill>
                  <a:srgbClr val="006600"/>
                </a:solidFill>
              </a:rPr>
              <a:t>Process</a:t>
            </a:r>
            <a:r>
              <a:rPr lang="en-US" altLang="en-US" b="1" dirty="0"/>
              <a:t> </a:t>
            </a:r>
            <a:r>
              <a:rPr lang="en-US" altLang="en-US" dirty="0"/>
              <a:t>Management</a:t>
            </a:r>
          </a:p>
          <a:p>
            <a:pPr lvl="2"/>
            <a:r>
              <a:rPr lang="en-US" altLang="en-US" b="1" dirty="0">
                <a:solidFill>
                  <a:srgbClr val="002060"/>
                </a:solidFill>
              </a:rPr>
              <a:t>Memory</a:t>
            </a:r>
            <a:r>
              <a:rPr lang="en-US" altLang="en-US" b="1" dirty="0"/>
              <a:t> </a:t>
            </a:r>
            <a:r>
              <a:rPr lang="en-US" altLang="en-US" dirty="0"/>
              <a:t>Management</a:t>
            </a:r>
          </a:p>
          <a:p>
            <a:pPr lvl="2"/>
            <a:r>
              <a:rPr lang="en-US" altLang="en-US" b="1" dirty="0">
                <a:solidFill>
                  <a:srgbClr val="660066"/>
                </a:solidFill>
              </a:rPr>
              <a:t>File </a:t>
            </a:r>
            <a:r>
              <a:rPr lang="en-US" altLang="en-US" dirty="0"/>
              <a:t>Management</a:t>
            </a:r>
          </a:p>
          <a:p>
            <a:pPr lvl="2"/>
            <a:r>
              <a:rPr lang="en-US" altLang="en-US" dirty="0"/>
              <a:t>RTOS Specific Topics</a:t>
            </a:r>
          </a:p>
          <a:p>
            <a:pPr lvl="2"/>
            <a:r>
              <a:rPr lang="en-US" altLang="en-US" dirty="0"/>
              <a:t>Microcontroller Programming (ARM Cortex M0+)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58A87-EC70-44BD-B7FC-3253AA1F1F12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0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006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Learning Outcomes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/>
              <a:t>After this course, you should:</a:t>
            </a:r>
          </a:p>
          <a:p>
            <a:pPr lvl="1"/>
            <a:r>
              <a:rPr lang="en-US" dirty="0"/>
              <a:t>understand how an OS </a:t>
            </a:r>
            <a:r>
              <a:rPr lang="en-US" b="1" dirty="0"/>
              <a:t>manages computational resources</a:t>
            </a:r>
            <a:r>
              <a:rPr lang="en-US" dirty="0"/>
              <a:t> for multiple users and applications, and the impact on application performance</a:t>
            </a:r>
          </a:p>
          <a:p>
            <a:pPr lvl="1"/>
            <a:r>
              <a:rPr lang="en-US" dirty="0"/>
              <a:t>Be able to write timing critical real-time software on microcontrollers.</a:t>
            </a:r>
          </a:p>
          <a:p>
            <a:pPr lvl="1"/>
            <a:r>
              <a:rPr lang="en-US" dirty="0"/>
              <a:t>be comfortable in </a:t>
            </a:r>
            <a:r>
              <a:rPr lang="en-US" b="1" dirty="0"/>
              <a:t>writing multi-process/thread programs</a:t>
            </a:r>
            <a:r>
              <a:rPr lang="en-US" dirty="0"/>
              <a:t> and avoid common pitfalls such as deadlocks, starvation and race conditions within a real-time operating system.</a:t>
            </a:r>
          </a:p>
          <a:p>
            <a:pPr lvl="1"/>
            <a:r>
              <a:rPr lang="en-US" dirty="0"/>
              <a:t>Able to create embedded systems using RTOS.</a:t>
            </a:r>
          </a:p>
          <a:p>
            <a:pPr lvl="1"/>
            <a:r>
              <a:rPr lang="en-US" dirty="0"/>
              <a:t>be able to </a:t>
            </a:r>
            <a:r>
              <a:rPr lang="en-US" b="1" dirty="0"/>
              <a:t>self-learn advanced OS topics</a:t>
            </a:r>
            <a:endParaRPr lang="en-SG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Lecture 0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6176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Assessment Weightage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altLang="en-US" dirty="0"/>
              <a:t>Weightage for various components:</a:t>
            </a:r>
          </a:p>
          <a:p>
            <a:pPr lvl="1"/>
            <a:r>
              <a:rPr lang="en-US" altLang="en-US" dirty="0"/>
              <a:t>Tutorial Attendance: </a:t>
            </a:r>
            <a:r>
              <a:rPr lang="en-US" altLang="en-US" b="1" dirty="0">
                <a:solidFill>
                  <a:srgbClr val="C00000"/>
                </a:solidFill>
              </a:rPr>
              <a:t>5%</a:t>
            </a:r>
            <a:endParaRPr lang="en-US" altLang="en-US" dirty="0"/>
          </a:p>
          <a:p>
            <a:pPr lvl="1"/>
            <a:r>
              <a:rPr lang="en-US" altLang="en-US" dirty="0"/>
              <a:t>Lab Assignments: </a:t>
            </a:r>
            <a:r>
              <a:rPr lang="en-US" altLang="en-US" b="1" dirty="0">
                <a:solidFill>
                  <a:srgbClr val="C00000"/>
                </a:solidFill>
              </a:rPr>
              <a:t>10%</a:t>
            </a:r>
          </a:p>
          <a:p>
            <a:pPr lvl="1"/>
            <a:r>
              <a:rPr lang="en-US" altLang="en-US" dirty="0"/>
              <a:t>RTOS Project: </a:t>
            </a:r>
            <a:r>
              <a:rPr lang="en-US" altLang="en-US" b="1" dirty="0">
                <a:solidFill>
                  <a:srgbClr val="C00000"/>
                </a:solidFill>
              </a:rPr>
              <a:t>15%</a:t>
            </a:r>
            <a:endParaRPr lang="en-US" altLang="en-US" dirty="0"/>
          </a:p>
          <a:p>
            <a:pPr lvl="1"/>
            <a:r>
              <a:rPr lang="en-US" altLang="en-US" dirty="0"/>
              <a:t>Midterm: </a:t>
            </a:r>
            <a:r>
              <a:rPr lang="en-US" altLang="en-US" b="1" dirty="0">
                <a:solidFill>
                  <a:srgbClr val="C00000"/>
                </a:solidFill>
              </a:rPr>
              <a:t>20%</a:t>
            </a:r>
          </a:p>
          <a:p>
            <a:pPr lvl="2"/>
            <a:r>
              <a:rPr lang="en-US" altLang="en-US" dirty="0"/>
              <a:t>Friday 10 October 2025, 2 pm to 3 pm (Lecture time)</a:t>
            </a:r>
          </a:p>
          <a:p>
            <a:pPr lvl="1"/>
            <a:r>
              <a:rPr lang="en-US" altLang="en-US" dirty="0"/>
              <a:t>Exam: </a:t>
            </a:r>
            <a:r>
              <a:rPr lang="en-US" altLang="en-US" b="1" dirty="0">
                <a:solidFill>
                  <a:srgbClr val="C00000"/>
                </a:solidFill>
              </a:rPr>
              <a:t>50%</a:t>
            </a:r>
          </a:p>
          <a:p>
            <a:pPr lvl="2"/>
            <a:r>
              <a:rPr lang="en-US" altLang="en-US" dirty="0"/>
              <a:t>Monday 1 December 2025, 1 pm to 3 pm.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Lecture 0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Assessment – Lab Assignments (10%)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600" b="1" dirty="0"/>
              <a:t>Graded </a:t>
            </a:r>
            <a:r>
              <a:rPr lang="en-US" altLang="en-US" sz="2600" dirty="0"/>
              <a:t>Lab Assignments: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Every lab starts with a pre-recorded lecture (you can view these lectures ahead of time if you wish), about 45 minutes.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The lab assignments can usually be done within under an hour.</a:t>
            </a:r>
          </a:p>
          <a:p>
            <a:pPr>
              <a:lnSpc>
                <a:spcPct val="90000"/>
              </a:lnSpc>
            </a:pPr>
            <a:r>
              <a:rPr lang="en-US" altLang="en-US" sz="2600" dirty="0"/>
              <a:t>Reasons: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Knowing ARM Programming is important for your employability.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HOWEVER: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Knowing OS concepts is even more important; hence we don’t want to cover ARM programming during the lectures.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Pre-recorded lab lectures are important to </a:t>
            </a:r>
            <a:r>
              <a:rPr lang="en-US" altLang="en-US" sz="2000" b="1" dirty="0"/>
              <a:t>complete lab assignments and the project.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Contents of lab lectures and exercises are only used for the RTOS project and are NOT EXAMINABLE.</a:t>
            </a:r>
            <a:br>
              <a:rPr lang="en-US" altLang="en-US" sz="2000" dirty="0"/>
            </a:b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Lecture 0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Assessment - Plagiarism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/>
          </a:bodyPr>
          <a:lstStyle/>
          <a:p>
            <a:r>
              <a:rPr lang="en-US" altLang="en-US" dirty="0"/>
              <a:t>In NUS, we take a </a:t>
            </a:r>
            <a:r>
              <a:rPr lang="en-US" altLang="en-US" b="1" dirty="0"/>
              <a:t>serious</a:t>
            </a:r>
            <a:r>
              <a:rPr lang="en-US" altLang="en-US" dirty="0"/>
              <a:t> stand on plagiarism cases</a:t>
            </a:r>
          </a:p>
          <a:p>
            <a:pPr lvl="1"/>
            <a:r>
              <a:rPr lang="en-US" altLang="en-US" dirty="0"/>
              <a:t>All lab assignments will be sent for plagiarism checks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Plagiarism for lab assignment submission:</a:t>
            </a:r>
          </a:p>
          <a:p>
            <a:pPr lvl="1"/>
            <a:r>
              <a:rPr lang="en-US" altLang="en-US" dirty="0"/>
              <a:t>Once detected:</a:t>
            </a:r>
          </a:p>
          <a:p>
            <a:pPr lvl="2"/>
            <a:r>
              <a:rPr lang="en-US" altLang="en-US" dirty="0"/>
              <a:t>Both </a:t>
            </a:r>
            <a:r>
              <a:rPr lang="en-US" altLang="en-US" i="1" dirty="0"/>
              <a:t>supplier </a:t>
            </a:r>
            <a:r>
              <a:rPr lang="en-US" altLang="en-US" dirty="0"/>
              <a:t>and </a:t>
            </a:r>
            <a:r>
              <a:rPr lang="en-US" altLang="en-US" i="1" dirty="0"/>
              <a:t>consumer </a:t>
            </a:r>
            <a:r>
              <a:rPr lang="en-US" altLang="en-US" dirty="0"/>
              <a:t>receive </a:t>
            </a:r>
            <a:r>
              <a:rPr lang="en-US" altLang="en-US" b="1" dirty="0"/>
              <a:t>zero</a:t>
            </a:r>
            <a:r>
              <a:rPr lang="en-US" altLang="en-US" dirty="0"/>
              <a:t> for that lab/tutorial</a:t>
            </a:r>
          </a:p>
          <a:p>
            <a:pPr lvl="1"/>
            <a:r>
              <a:rPr lang="en-US" altLang="en-US" dirty="0"/>
              <a:t>Repeat offender:</a:t>
            </a:r>
          </a:p>
          <a:p>
            <a:pPr lvl="2"/>
            <a:r>
              <a:rPr lang="en-US" altLang="en-US" dirty="0"/>
              <a:t>Zero for that particular CA component</a:t>
            </a:r>
          </a:p>
          <a:p>
            <a:pPr lvl="2"/>
            <a:r>
              <a:rPr lang="en-US" altLang="en-US" dirty="0"/>
              <a:t>Report to higher authority</a:t>
            </a:r>
          </a:p>
          <a:p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Lecture 0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 altLang="en-US" dirty="0"/>
              <a:t>Main </a:t>
            </a:r>
            <a:r>
              <a:rPr lang="en-US" altLang="en-US" b="1" i="1" dirty="0"/>
              <a:t>supplementary</a:t>
            </a:r>
            <a:r>
              <a:rPr lang="en-US" altLang="en-US" dirty="0"/>
              <a:t> text:</a:t>
            </a:r>
          </a:p>
          <a:p>
            <a:pPr lvl="1"/>
            <a:r>
              <a:rPr lang="en-US" altLang="en-US" dirty="0"/>
              <a:t>Modern Operating System (5</a:t>
            </a:r>
            <a:r>
              <a:rPr lang="en-US" altLang="en-US" baseline="30000" dirty="0"/>
              <a:t>th</a:t>
            </a:r>
            <a:r>
              <a:rPr lang="en-US" altLang="en-US" dirty="0"/>
              <a:t> Edition), by </a:t>
            </a:r>
            <a:r>
              <a:rPr lang="en-US" altLang="en-US" b="1" i="1" dirty="0"/>
              <a:t>Andrew S. Tanenbaum</a:t>
            </a:r>
            <a:r>
              <a:rPr lang="en-US" altLang="en-US" dirty="0"/>
              <a:t>, Pearson,  2023</a:t>
            </a:r>
          </a:p>
          <a:p>
            <a:pPr lvl="1"/>
            <a:r>
              <a:rPr lang="en-SG" dirty="0">
                <a:solidFill>
                  <a:schemeClr val="tx1"/>
                </a:solidFill>
                <a:latin typeface="+mn-lt"/>
              </a:rPr>
              <a:t>Operating System Concepts </a:t>
            </a:r>
            <a:r>
              <a:rPr lang="en-US" altLang="en-US" dirty="0"/>
              <a:t>(10</a:t>
            </a:r>
            <a:r>
              <a:rPr lang="en-US" altLang="en-US" baseline="30000" dirty="0"/>
              <a:t>th</a:t>
            </a:r>
            <a:r>
              <a:rPr lang="en-US" altLang="en-US" dirty="0"/>
              <a:t> Edition), by</a:t>
            </a:r>
          </a:p>
          <a:p>
            <a:pPr marL="344487" lvl="1" indent="0">
              <a:buNone/>
            </a:pPr>
            <a:r>
              <a:rPr lang="en-SG" dirty="0"/>
              <a:t>    </a:t>
            </a:r>
            <a:r>
              <a:rPr lang="en-SG" b="1" i="1" dirty="0"/>
              <a:t>Abraham </a:t>
            </a:r>
            <a:r>
              <a:rPr lang="en-SG" b="1" i="1" dirty="0" err="1"/>
              <a:t>Silberschatz</a:t>
            </a:r>
            <a:r>
              <a:rPr lang="en-SG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SG" b="1" i="1" dirty="0">
                <a:solidFill>
                  <a:schemeClr val="tx1"/>
                </a:solidFill>
                <a:latin typeface="+mn-lt"/>
              </a:rPr>
              <a:t>Peter Baer Galvin</a:t>
            </a:r>
            <a:r>
              <a:rPr lang="en-SG" dirty="0">
                <a:solidFill>
                  <a:schemeClr val="tx1"/>
                </a:solidFill>
                <a:latin typeface="+mn-lt"/>
              </a:rPr>
              <a:t> &amp; </a:t>
            </a:r>
          </a:p>
          <a:p>
            <a:pPr marL="344487" lvl="1" indent="0">
              <a:buNone/>
            </a:pPr>
            <a:r>
              <a:rPr lang="en-SG" dirty="0"/>
              <a:t>       </a:t>
            </a:r>
            <a:r>
              <a:rPr lang="en-SG" b="1" i="1" dirty="0"/>
              <a:t>Greg Gagne</a:t>
            </a:r>
            <a:r>
              <a:rPr lang="en-SG" dirty="0"/>
              <a:t>, </a:t>
            </a:r>
            <a:r>
              <a:rPr lang="en-US" altLang="en-US" dirty="0"/>
              <a:t>McGraw Hill, 2021</a:t>
            </a:r>
          </a:p>
          <a:p>
            <a:r>
              <a:rPr lang="en-US" altLang="en-US" dirty="0"/>
              <a:t>Lecture notes:</a:t>
            </a:r>
          </a:p>
          <a:p>
            <a:pPr lvl="1"/>
            <a:r>
              <a:rPr lang="en-US" altLang="en-US" dirty="0"/>
              <a:t>Will attempt to make it as self-contained as possible</a:t>
            </a:r>
          </a:p>
          <a:p>
            <a:r>
              <a:rPr lang="en-US" altLang="en-US" dirty="0"/>
              <a:t>Labs:</a:t>
            </a:r>
          </a:p>
          <a:p>
            <a:pPr lvl="1"/>
            <a:r>
              <a:rPr lang="en-US" altLang="en-US" dirty="0"/>
              <a:t>MCXC444 Data sheet (</a:t>
            </a:r>
            <a:r>
              <a:rPr lang="en-US" altLang="en-US"/>
              <a:t>very important)</a:t>
            </a: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Lecture 0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B4F6-8D19-49A3-D3F7-A0959842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01B5864-00CD-690E-C5DE-F22626957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References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EB2BC2C-F98C-8758-4EF7-17A079702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 altLang="en-US" dirty="0"/>
              <a:t>Labs:</a:t>
            </a:r>
          </a:p>
          <a:p>
            <a:pPr lvl="1"/>
            <a:r>
              <a:rPr lang="en-US" altLang="en-US" dirty="0"/>
              <a:t>MCXC444 Data sheet (very important)</a:t>
            </a:r>
          </a:p>
          <a:p>
            <a:pPr lvl="1"/>
            <a:r>
              <a:rPr lang="en-US" altLang="en-US" dirty="0"/>
              <a:t>FRDM-MCXC444 Circuit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E6785B-9568-8C14-332C-2F30D377C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F6CD72-3BA3-C765-C201-9A84583DA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Lecture 0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9646166"/>
      </p:ext>
    </p:extLst>
  </p:cSld>
  <p:clrMapOvr>
    <a:masterClrMapping/>
  </p:clrMapOvr>
</p:sld>
</file>

<file path=ppt/theme/theme1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2298</TotalTime>
  <Words>494</Words>
  <Application>Microsoft Macintosh PowerPoint</Application>
  <PresentationFormat>On-screen Show (4:3)</PresentationFormat>
  <Paragraphs>89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Garamond</vt:lpstr>
      <vt:lpstr>Wingdings</vt:lpstr>
      <vt:lpstr>Wingdings 2</vt:lpstr>
      <vt:lpstr>L1 - Basic of C++</vt:lpstr>
      <vt:lpstr>Edge</vt:lpstr>
      <vt:lpstr>HDOfficeLightV0</vt:lpstr>
      <vt:lpstr>CG2271 Real Time Operating Systems</vt:lpstr>
      <vt:lpstr>People</vt:lpstr>
      <vt:lpstr>Course Objectives</vt:lpstr>
      <vt:lpstr>Specific Learning Outcomes</vt:lpstr>
      <vt:lpstr>Assessment Weightage</vt:lpstr>
      <vt:lpstr>Assessment – Lab Assignments (10%)</vt:lpstr>
      <vt:lpstr>Assessment - Plagiarism</vt:lpstr>
      <vt:lpstr>References</vt:lpstr>
      <vt:lpstr>References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Soo Yuen Jien</dc:creator>
  <cp:lastModifiedBy>Tan Keng Yan, Colin</cp:lastModifiedBy>
  <cp:revision>73</cp:revision>
  <dcterms:created xsi:type="dcterms:W3CDTF">2009-01-07T10:53:41Z</dcterms:created>
  <dcterms:modified xsi:type="dcterms:W3CDTF">2025-08-09T06:20:14Z</dcterms:modified>
</cp:coreProperties>
</file>