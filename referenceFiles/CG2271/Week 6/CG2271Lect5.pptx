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3"/>
  </p:notesMasterIdLst>
  <p:sldIdLst>
    <p:sldId id="256" r:id="rId2"/>
    <p:sldId id="257" r:id="rId3"/>
    <p:sldId id="344" r:id="rId4"/>
    <p:sldId id="345" r:id="rId5"/>
    <p:sldId id="346" r:id="rId6"/>
    <p:sldId id="347" r:id="rId7"/>
    <p:sldId id="370" r:id="rId8"/>
    <p:sldId id="383" r:id="rId9"/>
    <p:sldId id="382" r:id="rId10"/>
    <p:sldId id="384" r:id="rId11"/>
    <p:sldId id="376" r:id="rId12"/>
    <p:sldId id="348" r:id="rId13"/>
    <p:sldId id="352" r:id="rId14"/>
    <p:sldId id="349" r:id="rId15"/>
    <p:sldId id="350" r:id="rId16"/>
    <p:sldId id="351" r:id="rId17"/>
    <p:sldId id="353" r:id="rId18"/>
    <p:sldId id="380" r:id="rId19"/>
    <p:sldId id="381" r:id="rId20"/>
    <p:sldId id="385" r:id="rId21"/>
    <p:sldId id="354" r:id="rId22"/>
    <p:sldId id="356" r:id="rId23"/>
    <p:sldId id="357" r:id="rId24"/>
    <p:sldId id="358" r:id="rId25"/>
    <p:sldId id="359" r:id="rId26"/>
    <p:sldId id="386" r:id="rId27"/>
    <p:sldId id="377" r:id="rId28"/>
    <p:sldId id="378" r:id="rId29"/>
    <p:sldId id="379" r:id="rId30"/>
    <p:sldId id="258" r:id="rId31"/>
    <p:sldId id="343" r:id="rId32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12"/>
        <p:sld r:id="rId13"/>
        <p:sld r:id="rId14"/>
        <p:sld r:id="rId18"/>
        <p:sld r:id="rId19"/>
        <p:sld r:id="rId20"/>
        <p:sld r:id="rId21"/>
        <p:sld r:id="rId22"/>
        <p:sld r:id="rId23"/>
        <p:sld r:id="rId26"/>
        <p:sld r:id="rId27"/>
        <p:sld r:id="rId28"/>
        <p:sld r:id="rId29"/>
        <p:sld r:id="rId30"/>
        <p:sld r:id="rId31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003300"/>
    <a:srgbClr val="0033CC"/>
    <a:srgbClr val="FFFFCC"/>
    <a:srgbClr val="000000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9" autoAdjust="0"/>
    <p:restoredTop sz="90825" autoAdjust="0"/>
  </p:normalViewPr>
  <p:slideViewPr>
    <p:cSldViewPr>
      <p:cViewPr varScale="1">
        <p:scale>
          <a:sx n="74" d="100"/>
          <a:sy n="74" d="100"/>
        </p:scale>
        <p:origin x="1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0:17.7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94 8371,'-6'2'-872,"3"1"0,3 2 1585,3 2 1,3-3 0,7-4 0,4 0-508,8 0 0,6-4 1,8-4-1,8-5-555,10-5 1,9 2 348,11-1 0,11-1 0,8-3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7:13.174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101 361 9272,'0'-41'-368,"-1"2"1,-3-7-327,0 6 1,-1 4-1,5 7 702,0 1-12,0 5 0,1 9-110,4 9 1,-3 5 51,3 5 1,-4-2 2,-1 7 0,0-1 0,-1 4 21,-4-3 0,3-2 1,-4-5 179,-1 2 0,-1-1 478,-6-4 0,4 0 128,1 0 0,1-1-570,-2-4 1,4 2 0,4-5-429,-3 1 0,3 1-583,-2 1 708,2 4 465,2-6-188,0 7 0,6 0 0,7 0 1,8 0 65,8 0 1,11-5 0,3 1 0,10 0-187,8 3 1,10-1-1,4-1 1,-3-2-60,-3 2 0,-14 0 1,-2-1-1,-10 0 106,-9 0 0,-8 1-23,-17-2 1,-6 4 0,-12-6 0,-12 3-151,-10-1 0,-2 0 0,-11 3 1,-4-1-204,-1-2 0,-1 1 0,7 4 1,-1 1 236,1 4 0,1-3 1,5 4-1,7-1 124,4 0 0,13 4 1,-1-2-1,3 1-1,3 3 1,1 2 0,7 1-64,0 1 0,7-3 1,2 0-1,4-3-149,2 2 0,5 2 1,5 3-1,2 4-872,2 4 1021,6 9 0,2 4 0,6 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DC7FB6C-B648-4D79-B731-7A80C14E8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263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07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20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32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3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862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Efficient: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Only the initial steps (e.g. Create and Attach shared memory region) involves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Ease of use: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Shared memory region behaves the same as normal memory space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i.e. Information of any type or size can be written easily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Synchronization: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Shared resource </a:t>
            </a:r>
            <a:r>
              <a:rPr lang="en-US" altLang="en-US" dirty="0">
                <a:sym typeface="Wingdings" pitchFamily="2" charset="2"/>
              </a:rPr>
              <a:t> Need to synchronize access (more later)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Implementation is usually harder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05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005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https://github.com/antirez/redis/issues/5335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30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492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530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44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763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029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920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007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900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Portable: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easily be implemented on different processing environment, e.g. distributed system, wide area network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Easier synchronization: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when synchronous primitive is used, sender and receiver are implicitly synchronized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Inefficient: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Usually require OS intervention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Harder to use: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Message are usually limited in size and/or format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048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322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311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/>
              <a:t>The output of A (instead of going to screen) directly goes into B as input (as if it come from keyboard)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741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976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err="1"/>
              <a:t>Behavior</a:t>
            </a:r>
            <a:r>
              <a:rPr lang="en-SG" dirty="0"/>
              <a:t> =</a:t>
            </a:r>
            <a:r>
              <a:rPr lang="en-SG" baseline="0" dirty="0"/>
              <a:t> anonymous </a:t>
            </a:r>
            <a:r>
              <a:rPr lang="en-SG" baseline="0" dirty="0" err="1"/>
              <a:t>fifo</a:t>
            </a:r>
            <a:r>
              <a:rPr lang="en-SG" baseline="0" dirty="0"/>
              <a:t> file</a:t>
            </a:r>
          </a:p>
          <a:p>
            <a:r>
              <a:rPr lang="en-SG" baseline="0" dirty="0"/>
              <a:t>Semantic = synchronous</a:t>
            </a:r>
          </a:p>
          <a:p>
            <a:r>
              <a:rPr lang="en-SG" baseline="0" dirty="0"/>
              <a:t>Variants = multiple reader/ write, duplex </a:t>
            </a:r>
            <a:r>
              <a:rPr lang="en-SG" baseline="0" dirty="0" err="1"/>
              <a:t>etc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781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384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9762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08850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332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9788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4345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52491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31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16C1FCC8-FA36-41FF-9F51-7AE14A6866E7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8469A4-C7F5-42FF-8F2E-C62C8C0343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144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7B2A14-CFC8-473E-8C77-48351E3F49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5621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5E2939-3BE2-4936-8AC1-BDE9A14CBB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9968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F39AB6-C668-47D3-9001-494C06E2D4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68513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92921-E8D1-4F63-8B4B-BBDB7C33087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9424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F211-BC41-4ED1-890B-E54CA3E97DA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339134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298642-FAC3-44D3-AECD-F3CEB9038C1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124414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9C6624-AF88-47E7-8D01-20435D977E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987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8D15E9-12D2-4AF7-8582-19867986D8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0272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FB2A9B-4A28-462A-95D9-803E8792E71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322831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846C3B52-913A-46E1-9898-C28782944A2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L5 -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42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61.png"/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848600" cy="1752600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Process Management</a:t>
            </a:r>
            <a:br>
              <a:rPr lang="en-US" altLang="en-US" sz="4800" dirty="0"/>
            </a:br>
            <a:r>
              <a:rPr lang="en-US" altLang="en-US" sz="4600" b="1" dirty="0">
                <a:solidFill>
                  <a:srgbClr val="C00000"/>
                </a:solidFill>
              </a:rPr>
              <a:t>Inter-Process Communication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5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36DBD-0A93-458D-AA6F-C3C07F03D43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/>
          <a:lstStyle/>
          <a:p>
            <a:r>
              <a:rPr lang="en-US" altLang="en-US" b="1" dirty="0"/>
              <a:t>Inter-process Communication</a:t>
            </a:r>
          </a:p>
          <a:p>
            <a:pPr lvl="1"/>
            <a:r>
              <a:rPr lang="en-US" altLang="en-US" dirty="0"/>
              <a:t>Motivation</a:t>
            </a:r>
          </a:p>
          <a:p>
            <a:pPr marL="344487" lvl="1" indent="0">
              <a:buNone/>
            </a:pPr>
            <a:endParaRPr lang="en-US" altLang="en-US" sz="1400" dirty="0"/>
          </a:p>
          <a:p>
            <a:pPr lvl="1"/>
            <a:r>
              <a:rPr lang="en-US" altLang="en-US" dirty="0"/>
              <a:t>Common communication mechanisms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memory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Message passing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(Unix specific)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 (Unix specific)</a:t>
            </a:r>
          </a:p>
          <a:p>
            <a:pPr lvl="2"/>
            <a:endParaRPr lang="en-US" altLang="en-US" dirty="0"/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3BEA-DA30-4E1F-B509-DD31DC59080E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</a:t>
            </a:r>
            <a:r>
              <a:rPr lang="en-US" altLang="en-US" sz="3800" b="1" dirty="0"/>
              <a:t>nter-</a:t>
            </a:r>
            <a:r>
              <a:rPr lang="en-US" altLang="en-US" sz="3800" b="1" dirty="0">
                <a:solidFill>
                  <a:srgbClr val="C00000"/>
                </a:solidFill>
              </a:rPr>
              <a:t>P</a:t>
            </a:r>
            <a:r>
              <a:rPr lang="en-US" altLang="en-US" sz="3800" b="1" dirty="0"/>
              <a:t>rocess </a:t>
            </a:r>
            <a:r>
              <a:rPr lang="en-US" altLang="en-US" sz="3800" b="1" dirty="0">
                <a:solidFill>
                  <a:srgbClr val="C00000"/>
                </a:solidFill>
              </a:rPr>
              <a:t>C</a:t>
            </a:r>
            <a:r>
              <a:rPr lang="en-US" altLang="en-US" sz="3800" b="1" dirty="0"/>
              <a:t>ommunication </a:t>
            </a:r>
            <a:r>
              <a:rPr lang="en-US" altLang="en-US" sz="3800" dirty="0"/>
              <a:t>(</a:t>
            </a:r>
            <a:r>
              <a:rPr lang="en-US" altLang="en-US" sz="3800" b="1" dirty="0">
                <a:solidFill>
                  <a:srgbClr val="C00000"/>
                </a:solidFill>
              </a:rPr>
              <a:t>IPC</a:t>
            </a:r>
            <a:r>
              <a:rPr lang="en-US" altLang="en-US" sz="3800" dirty="0"/>
              <a:t>)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Hard</a:t>
            </a:r>
            <a:r>
              <a:rPr lang="en-US" altLang="en-US" dirty="0"/>
              <a:t> for cooperating processes to share information</a:t>
            </a:r>
          </a:p>
          <a:p>
            <a:pPr lvl="1"/>
            <a:r>
              <a:rPr lang="en-US" altLang="en-US" dirty="0"/>
              <a:t>Memory space is independent!</a:t>
            </a:r>
          </a:p>
          <a:p>
            <a:pPr lvl="1"/>
            <a:r>
              <a:rPr lang="en-US" altLang="en-US" dirty="0"/>
              <a:t>Inter-Process Communication mechanisms (IPC) is needed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dirty="0"/>
              <a:t>Two common IPC mechanisms: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Shared-Memory</a:t>
            </a:r>
            <a:r>
              <a:rPr lang="en-US" altLang="en-US" b="1" dirty="0"/>
              <a:t> 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660066"/>
                </a:solidFill>
              </a:rPr>
              <a:t>Message Passing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Two Unix-specific IPC mechanisms:</a:t>
            </a:r>
          </a:p>
          <a:p>
            <a:pPr lvl="1"/>
            <a:r>
              <a:rPr lang="en-US" altLang="en-US" b="1" dirty="0">
                <a:solidFill>
                  <a:srgbClr val="003300"/>
                </a:solidFill>
              </a:rPr>
              <a:t>Pipe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FF0000"/>
                </a:solidFill>
              </a:rPr>
              <a:t>Signal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0C9DD-2999-46D5-A1FC-F5737AF22F3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Shared-Memory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 Idea:</a:t>
            </a:r>
          </a:p>
          <a:p>
            <a:pPr lvl="1"/>
            <a:r>
              <a:rPr lang="en-US" altLang="en-US"/>
              <a:t>Process </a:t>
            </a:r>
            <a:r>
              <a:rPr lang="en-US" altLang="en-US" b="1"/>
              <a:t>P</a:t>
            </a:r>
            <a:r>
              <a:rPr lang="en-US" altLang="en-US" b="1" baseline="-25000"/>
              <a:t>1</a:t>
            </a:r>
            <a:r>
              <a:rPr lang="en-US" altLang="en-US"/>
              <a:t> creates a shared memory region </a:t>
            </a:r>
            <a:r>
              <a:rPr lang="en-US" altLang="en-US" b="1"/>
              <a:t>M</a:t>
            </a:r>
          </a:p>
          <a:p>
            <a:pPr lvl="1"/>
            <a:r>
              <a:rPr lang="en-US" altLang="en-US"/>
              <a:t>Process </a:t>
            </a:r>
            <a:r>
              <a:rPr lang="en-US" altLang="en-US" b="1"/>
              <a:t>P</a:t>
            </a:r>
            <a:r>
              <a:rPr lang="en-US" altLang="en-US" b="1" baseline="-25000"/>
              <a:t>2</a:t>
            </a:r>
            <a:r>
              <a:rPr lang="en-US" altLang="en-US" b="1"/>
              <a:t> </a:t>
            </a:r>
            <a:r>
              <a:rPr lang="en-US" altLang="en-US"/>
              <a:t>attaches memory region </a:t>
            </a:r>
            <a:r>
              <a:rPr lang="en-US" altLang="en-US" b="1"/>
              <a:t>M </a:t>
            </a:r>
            <a:r>
              <a:rPr lang="en-US" altLang="en-US"/>
              <a:t>to its own memory space</a:t>
            </a:r>
          </a:p>
          <a:p>
            <a:pPr lvl="1"/>
            <a:r>
              <a:rPr lang="en-US" altLang="en-US" b="1"/>
              <a:t>P</a:t>
            </a:r>
            <a:r>
              <a:rPr lang="en-US" altLang="en-US" b="1" baseline="-25000"/>
              <a:t>1</a:t>
            </a:r>
            <a:r>
              <a:rPr lang="en-US" altLang="en-US"/>
              <a:t> and </a:t>
            </a:r>
            <a:r>
              <a:rPr lang="en-US" altLang="en-US" b="1"/>
              <a:t>P</a:t>
            </a:r>
            <a:r>
              <a:rPr lang="en-US" altLang="en-US" b="1" baseline="-25000"/>
              <a:t>2</a:t>
            </a:r>
            <a:r>
              <a:rPr lang="en-US" altLang="en-US"/>
              <a:t> can now communicate using memory region M</a:t>
            </a:r>
          </a:p>
          <a:p>
            <a:pPr lvl="2"/>
            <a:r>
              <a:rPr lang="en-US" altLang="en-US" b="1"/>
              <a:t>M </a:t>
            </a:r>
            <a:r>
              <a:rPr lang="en-US" altLang="en-US"/>
              <a:t>behaves very similar to normal memory region</a:t>
            </a:r>
          </a:p>
          <a:p>
            <a:pPr lvl="2"/>
            <a:r>
              <a:rPr lang="en-US" altLang="en-US"/>
              <a:t>Any writes to the region can be seen by all other parties</a:t>
            </a:r>
          </a:p>
          <a:p>
            <a:pPr lvl="2"/>
            <a:endParaRPr lang="en-US" altLang="en-US"/>
          </a:p>
          <a:p>
            <a:r>
              <a:rPr lang="en-US" altLang="en-US"/>
              <a:t>The same model is applicable to multiple processes sharing the same memory region</a:t>
            </a:r>
          </a:p>
          <a:p>
            <a:pPr lvl="1"/>
            <a:endParaRPr lang="en-US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45F34-095F-4A7D-8156-BF95BDB9497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Shared-Memory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626707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457200" y="5715000"/>
            <a:ext cx="8229600" cy="762000"/>
          </a:xfrm>
        </p:spPr>
        <p:txBody>
          <a:bodyPr/>
          <a:lstStyle/>
          <a:p>
            <a:r>
              <a:rPr lang="en-US" altLang="en-US" dirty="0"/>
              <a:t>OS is involved in step 1 and 2 only</a:t>
            </a:r>
          </a:p>
        </p:txBody>
      </p:sp>
      <p:sp>
        <p:nvSpPr>
          <p:cNvPr id="626693" name="Text Box 5"/>
          <p:cNvSpPr txBox="1">
            <a:spLocks noChangeArrowheads="1"/>
          </p:cNvSpPr>
          <p:nvPr/>
        </p:nvSpPr>
        <p:spPr bwMode="auto">
          <a:xfrm>
            <a:off x="762000" y="3200400"/>
            <a:ext cx="3124200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Create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Read/Write to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26694" name="Text Box 6"/>
          <p:cNvSpPr txBox="1">
            <a:spLocks noChangeArrowheads="1"/>
          </p:cNvSpPr>
          <p:nvPr/>
        </p:nvSpPr>
        <p:spPr bwMode="auto">
          <a:xfrm>
            <a:off x="1371600" y="47244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Process </a:t>
            </a:r>
            <a:r>
              <a:rPr lang="en-US" altLang="en-US" b="1"/>
              <a:t>P1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00400" y="1143000"/>
            <a:ext cx="2057400" cy="1600200"/>
            <a:chOff x="3200400" y="1143000"/>
            <a:chExt cx="2057400" cy="1600200"/>
          </a:xfrm>
        </p:grpSpPr>
        <p:sp>
          <p:nvSpPr>
            <p:cNvPr id="626696" name="Rectangle 8"/>
            <p:cNvSpPr>
              <a:spLocks noChangeArrowheads="1"/>
            </p:cNvSpPr>
            <p:nvPr/>
          </p:nvSpPr>
          <p:spPr bwMode="auto">
            <a:xfrm>
              <a:off x="3733800" y="1143000"/>
              <a:ext cx="1524000" cy="1600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626697" name="Rectangle 9"/>
            <p:cNvSpPr>
              <a:spLocks noChangeArrowheads="1"/>
            </p:cNvSpPr>
            <p:nvPr/>
          </p:nvSpPr>
          <p:spPr bwMode="auto">
            <a:xfrm>
              <a:off x="3200400" y="1143000"/>
              <a:ext cx="5334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M</a:t>
              </a:r>
            </a:p>
          </p:txBody>
        </p:sp>
      </p:grpSp>
      <p:sp>
        <p:nvSpPr>
          <p:cNvPr id="626698" name="Text Box 10"/>
          <p:cNvSpPr txBox="1">
            <a:spLocks noChangeArrowheads="1"/>
          </p:cNvSpPr>
          <p:nvPr/>
        </p:nvSpPr>
        <p:spPr bwMode="auto">
          <a:xfrm>
            <a:off x="5410200" y="3200400"/>
            <a:ext cx="312420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Attach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Read/Write to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26699" name="Text Box 11"/>
          <p:cNvSpPr txBox="1">
            <a:spLocks noChangeArrowheads="1"/>
          </p:cNvSpPr>
          <p:nvPr/>
        </p:nvSpPr>
        <p:spPr bwMode="auto">
          <a:xfrm>
            <a:off x="6019800" y="47244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0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Shared-Memory: </a:t>
            </a:r>
            <a:r>
              <a:rPr lang="en-US" altLang="en-US" b="1" dirty="0">
                <a:solidFill>
                  <a:srgbClr val="006600"/>
                </a:solidFill>
              </a:rPr>
              <a:t>Pros </a:t>
            </a:r>
            <a:r>
              <a:rPr lang="en-US" altLang="en-US" b="1" dirty="0"/>
              <a:t>and </a:t>
            </a:r>
            <a:r>
              <a:rPr lang="en-US" altLang="en-US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Advantages: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Efficient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Ease of use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Synchronization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Harder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DBA60-93A9-4D03-9DBF-8480FBF27F4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0CD83-3CE7-4425-80DD-79AC886E1EB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5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POSIX Shared Memory in *nix</a:t>
            </a:r>
          </a:p>
        </p:txBody>
      </p:sp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Basic steps of usage: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Create/locate a shared memory region </a:t>
            </a:r>
            <a:r>
              <a:rPr lang="en-US" altLang="en-US" b="1" dirty="0"/>
              <a:t>M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Attach </a:t>
            </a:r>
            <a:r>
              <a:rPr lang="en-US" altLang="en-US" b="1" dirty="0"/>
              <a:t>M </a:t>
            </a:r>
            <a:r>
              <a:rPr lang="en-US" altLang="en-US" dirty="0"/>
              <a:t>to process memory space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Read from/Write to </a:t>
            </a:r>
            <a:r>
              <a:rPr lang="en-US" altLang="en-US" b="1" dirty="0"/>
              <a:t>M</a:t>
            </a:r>
            <a:r>
              <a:rPr lang="en-US" altLang="en-US" dirty="0"/>
              <a:t> </a:t>
            </a:r>
          </a:p>
          <a:p>
            <a:pPr marL="1090613" lvl="2" indent="-41910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/>
              <a:t>Values written visible to all process that share </a:t>
            </a:r>
            <a:r>
              <a:rPr lang="en-US" altLang="en-US" b="1" dirty="0"/>
              <a:t>M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Detach </a:t>
            </a:r>
            <a:r>
              <a:rPr lang="en-US" altLang="en-US" b="1" dirty="0"/>
              <a:t>M</a:t>
            </a:r>
            <a:r>
              <a:rPr lang="en-US" altLang="en-US" dirty="0"/>
              <a:t> from memory space after use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Destroy </a:t>
            </a:r>
            <a:r>
              <a:rPr lang="en-US" altLang="en-US" b="1" dirty="0"/>
              <a:t>M</a:t>
            </a:r>
          </a:p>
          <a:p>
            <a:pPr marL="1090613" lvl="2" indent="-41910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/>
              <a:t>Only one process need to do this</a:t>
            </a:r>
          </a:p>
          <a:p>
            <a:pPr marL="1090613" lvl="2" indent="-41910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/>
              <a:t>Can only destroy if </a:t>
            </a:r>
            <a:r>
              <a:rPr lang="en-US" altLang="en-US" b="1" dirty="0"/>
              <a:t>M </a:t>
            </a:r>
            <a:r>
              <a:rPr lang="en-US" altLang="en-US" dirty="0"/>
              <a:t>is not attached to any process</a:t>
            </a:r>
          </a:p>
        </p:txBody>
      </p:sp>
    </p:spTree>
    <p:extLst>
      <p:ext uri="{BB962C8B-B14F-4D97-AF65-F5344CB8AC3E}">
        <p14:creationId xmlns:p14="http://schemas.microsoft.com/office/powerpoint/2010/main" val="41291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Master program 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57200" y="990600"/>
            <a:ext cx="7086600" cy="55092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ipc.h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shmget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IPC_PRIVATE, 40, IPC_CREAT | 0600);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-1){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("Cannot create shared memory!\n");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else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("Shared Memory Id = %d\n",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shmat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NULL, 0 );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 -1){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("Cannot attach shared memory!\n");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9800" y="953589"/>
            <a:ext cx="2667000" cy="14401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The master program create the shared memory region and wait for the “slave” program to produce values before proceeding.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86200" y="2870517"/>
            <a:ext cx="3886200" cy="34619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1</a:t>
            </a:r>
            <a:r>
              <a:rPr lang="en-US" sz="1600" dirty="0">
                <a:solidFill>
                  <a:schemeClr val="tx1"/>
                </a:solidFill>
              </a:rPr>
              <a:t>. Create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38800" y="5079212"/>
            <a:ext cx="22860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2</a:t>
            </a:r>
            <a:r>
              <a:rPr lang="en-US" sz="1600" dirty="0">
                <a:solidFill>
                  <a:schemeClr val="tx1"/>
                </a:solidFill>
              </a:rPr>
              <a:t>. Attach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5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Master program 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48491" y="1066800"/>
            <a:ext cx="7391400" cy="403187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= 0;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== 0){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sleep(3);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3; i++){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("Read %d from shared memory.\n",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[i+1]);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shmdt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(char*)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shmctl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IPC_RMID, 0);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3291" y="3810000"/>
            <a:ext cx="31242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4+5</a:t>
            </a:r>
            <a:r>
              <a:rPr lang="en-US" sz="1600" dirty="0">
                <a:solidFill>
                  <a:schemeClr val="tx1"/>
                </a:solidFill>
              </a:rPr>
              <a:t>. Detach and destroy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0" y="1219200"/>
            <a:ext cx="5005251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The first element in the shared memory region is used as “control” value in this example (0: values not ready, 1: values ready).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The next 3 elements are values produced by the slave program.</a:t>
            </a:r>
            <a:endParaRPr lang="en-SG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6030D5D-0D61-88A2-DBB0-1C299F1FBDAA}"/>
                  </a:ext>
                </a:extLst>
              </p14:cNvPr>
              <p14:cNvContentPartPr/>
              <p14:nvPr/>
            </p14:nvContentPartPr>
            <p14:xfrm>
              <a:off x="2641220" y="1867583"/>
              <a:ext cx="203760" cy="41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6030D5D-0D61-88A2-DBB0-1C299F1FBDA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26100" y="1852103"/>
                <a:ext cx="23400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527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Slave program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1012250"/>
            <a:ext cx="7391400" cy="55092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//similar header files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input, 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("Shared memory id for attachment: 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shmat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NULL, 0);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*)-1)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("Error: Cannot attach!\n");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3; i++){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&amp;input);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[i+1] = input;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1; 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shmdt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(char*)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3100" y="2937962"/>
            <a:ext cx="2968534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2</a:t>
            </a:r>
            <a:r>
              <a:rPr lang="en-US" sz="1600" dirty="0">
                <a:solidFill>
                  <a:schemeClr val="tx1"/>
                </a:solidFill>
              </a:rPr>
              <a:t>. Attach to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59284" y="1156906"/>
            <a:ext cx="3562350" cy="8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1</a:t>
            </a:r>
            <a:r>
              <a:rPr lang="en-US" sz="1600" dirty="0">
                <a:solidFill>
                  <a:schemeClr val="tx1"/>
                </a:solidFill>
              </a:rPr>
              <a:t>. By using the shared memory region id directly, we skip </a:t>
            </a:r>
            <a:r>
              <a:rPr lang="en-US" sz="1600" b="1" i="1" dirty="0" err="1">
                <a:solidFill>
                  <a:schemeClr val="tx1"/>
                </a:solidFill>
              </a:rPr>
              <a:t>shmget</a:t>
            </a:r>
            <a:r>
              <a:rPr lang="en-US" sz="1600" dirty="0">
                <a:solidFill>
                  <a:schemeClr val="tx1"/>
                </a:solidFill>
              </a:rPr>
              <a:t>() in this case.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57106" y="4384205"/>
            <a:ext cx="31242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Write 3 values into </a:t>
            </a:r>
            <a:r>
              <a:rPr lang="en-US" sz="1600" b="1" dirty="0" err="1">
                <a:solidFill>
                  <a:schemeClr val="tx1"/>
                </a:solidFill>
              </a:rPr>
              <a:t>shm</a:t>
            </a:r>
            <a:r>
              <a:rPr lang="en-US" sz="1600" b="1" dirty="0">
                <a:solidFill>
                  <a:schemeClr val="tx1"/>
                </a:solidFill>
              </a:rPr>
              <a:t>[1 to 3]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62200" y="5116560"/>
            <a:ext cx="4236720" cy="3567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Let master program know we are done!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4720" y="5722306"/>
            <a:ext cx="31242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4</a:t>
            </a:r>
            <a:r>
              <a:rPr lang="en-US" sz="1600" dirty="0">
                <a:solidFill>
                  <a:schemeClr val="tx1"/>
                </a:solidFill>
              </a:rPr>
              <a:t>. Detach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6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Message Passing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You have 1,023,428 messages waiting…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9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CE6EE-DA46-4451-A33B-AC7705679AC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Message Passing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Process </a:t>
            </a:r>
            <a:r>
              <a:rPr lang="en-US" altLang="en-US" b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dirty="0"/>
              <a:t> prepares a message </a:t>
            </a:r>
            <a:r>
              <a:rPr lang="en-US" altLang="en-US" b="1" dirty="0"/>
              <a:t>M</a:t>
            </a:r>
            <a:r>
              <a:rPr lang="en-US" altLang="en-US" dirty="0"/>
              <a:t> and send it to Process </a:t>
            </a:r>
            <a:r>
              <a:rPr lang="en-US" altLang="en-US" b="1" dirty="0"/>
              <a:t>P</a:t>
            </a:r>
            <a:r>
              <a:rPr lang="en-US" altLang="en-US" b="1" baseline="-25000" dirty="0"/>
              <a:t>2</a:t>
            </a:r>
          </a:p>
          <a:p>
            <a:pPr lvl="1"/>
            <a:r>
              <a:rPr lang="en-US" altLang="en-US" dirty="0"/>
              <a:t>Process </a:t>
            </a:r>
            <a:r>
              <a:rPr lang="en-US" altLang="en-US" b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receives the message </a:t>
            </a:r>
            <a:r>
              <a:rPr lang="en-US" altLang="en-US" b="1" dirty="0"/>
              <a:t>M</a:t>
            </a:r>
          </a:p>
          <a:p>
            <a:pPr lvl="1"/>
            <a:r>
              <a:rPr lang="en-US" altLang="en-US" dirty="0"/>
              <a:t>Message sending and receiving are usually provided as system calls</a:t>
            </a:r>
          </a:p>
          <a:p>
            <a:r>
              <a:rPr lang="en-US" altLang="en-US" dirty="0"/>
              <a:t>Additional properties:</a:t>
            </a:r>
          </a:p>
          <a:p>
            <a:pPr lvl="1"/>
            <a:r>
              <a:rPr lang="en-US" altLang="en-US" b="1" dirty="0"/>
              <a:t>Naming</a:t>
            </a:r>
          </a:p>
          <a:p>
            <a:pPr lvl="2"/>
            <a:r>
              <a:rPr lang="en-US" altLang="en-US" dirty="0"/>
              <a:t>How to identify the other party in the communication</a:t>
            </a:r>
          </a:p>
          <a:p>
            <a:pPr lvl="1"/>
            <a:r>
              <a:rPr lang="en-US" altLang="en-US" b="1" dirty="0"/>
              <a:t>Synchronization</a:t>
            </a:r>
          </a:p>
          <a:p>
            <a:pPr lvl="2"/>
            <a:r>
              <a:rPr lang="en-US" altLang="en-US" dirty="0"/>
              <a:t>The behavior of the sending/receiving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D0931-FAB7-4345-B152-DD0D538508EF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Message Passing</a:t>
            </a:r>
            <a:r>
              <a:rPr lang="en-US" altLang="en-US" sz="3800" dirty="0"/>
              <a:t>: </a:t>
            </a:r>
            <a:r>
              <a:rPr lang="en-US" altLang="en-US" sz="3800" b="1" dirty="0"/>
              <a:t>Illustration</a:t>
            </a:r>
          </a:p>
        </p:txBody>
      </p:sp>
      <p:sp>
        <p:nvSpPr>
          <p:cNvPr id="632850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4495800"/>
            <a:ext cx="8229600" cy="198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sz="2800" b="1" dirty="0" err="1">
                <a:latin typeface="Courier New" pitchFamily="49" charset="0"/>
              </a:rPr>
              <a:t>Msg</a:t>
            </a:r>
            <a:r>
              <a:rPr lang="en-US" altLang="en-US" dirty="0"/>
              <a:t> have to be stored in kernel memory space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Every send/receive operations need to go through OS (i.e. a system call)</a:t>
            </a:r>
          </a:p>
        </p:txBody>
      </p:sp>
      <p:sp>
        <p:nvSpPr>
          <p:cNvPr id="632836" name="Text Box 4"/>
          <p:cNvSpPr txBox="1">
            <a:spLocks noChangeArrowheads="1"/>
          </p:cNvSpPr>
          <p:nvPr/>
        </p:nvSpPr>
        <p:spPr bwMode="auto">
          <a:xfrm>
            <a:off x="463062" y="2311897"/>
            <a:ext cx="365173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Send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to P2</a:t>
            </a:r>
          </a:p>
          <a:p>
            <a:pPr eaLnBrk="0" hangingPunct="0"/>
            <a:endParaRPr lang="en-US" altLang="en-US" sz="800" b="1" dirty="0">
              <a:latin typeface="Courier New" pitchFamily="49" charset="0"/>
            </a:endParaRP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32837" name="Text Box 5"/>
          <p:cNvSpPr txBox="1">
            <a:spLocks noChangeArrowheads="1"/>
          </p:cNvSpPr>
          <p:nvPr/>
        </p:nvSpPr>
        <p:spPr bwMode="auto">
          <a:xfrm>
            <a:off x="1266043" y="36718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48000" y="1143000"/>
            <a:ext cx="2209800" cy="533400"/>
            <a:chOff x="3048000" y="1143000"/>
            <a:chExt cx="2209800" cy="533400"/>
          </a:xfrm>
        </p:grpSpPr>
        <p:sp>
          <p:nvSpPr>
            <p:cNvPr id="632838" name="Rectangle 6"/>
            <p:cNvSpPr>
              <a:spLocks noChangeArrowheads="1"/>
            </p:cNvSpPr>
            <p:nvPr/>
          </p:nvSpPr>
          <p:spPr bwMode="auto">
            <a:xfrm>
              <a:off x="3733800" y="1143000"/>
              <a:ext cx="15240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632839" name="Rectangle 7"/>
            <p:cNvSpPr>
              <a:spLocks noChangeArrowheads="1"/>
            </p:cNvSpPr>
            <p:nvPr/>
          </p:nvSpPr>
          <p:spPr bwMode="auto">
            <a:xfrm>
              <a:off x="3048000" y="1143000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 err="1">
                  <a:latin typeface="Courier New" pitchFamily="49" charset="0"/>
                </a:rPr>
                <a:t>Msg</a:t>
              </a:r>
              <a:endParaRPr lang="en-US" altLang="en-US" sz="2400" b="1" dirty="0">
                <a:latin typeface="Courier New" pitchFamily="49" charset="0"/>
              </a:endParaRPr>
            </a:p>
          </p:txBody>
        </p:sp>
      </p:grpSp>
      <p:sp>
        <p:nvSpPr>
          <p:cNvPr id="632840" name="Text Box 8"/>
          <p:cNvSpPr txBox="1">
            <a:spLocks noChangeArrowheads="1"/>
          </p:cNvSpPr>
          <p:nvPr/>
        </p:nvSpPr>
        <p:spPr bwMode="auto">
          <a:xfrm>
            <a:off x="4724400" y="2311897"/>
            <a:ext cx="3810000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Receive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from P1</a:t>
            </a:r>
          </a:p>
          <a:p>
            <a:pPr eaLnBrk="0" hangingPunct="0"/>
            <a:endParaRPr lang="en-US" altLang="en-US" sz="800" b="1" dirty="0">
              <a:latin typeface="Courier New" pitchFamily="49" charset="0"/>
            </a:endParaRP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32841" name="Text Box 9"/>
          <p:cNvSpPr txBox="1">
            <a:spLocks noChangeArrowheads="1"/>
          </p:cNvSpPr>
          <p:nvPr/>
        </p:nvSpPr>
        <p:spPr bwMode="auto">
          <a:xfrm>
            <a:off x="5562600" y="3661726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P2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294820"/>
            <a:ext cx="4572000" cy="619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Two Naming Schemes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91055"/>
            <a:ext cx="4572000" cy="619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Two Synchronization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93D5A-11D2-45F1-9DBE-450F2F5BFBD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Naming Scheme: </a:t>
            </a:r>
            <a:r>
              <a:rPr lang="en-US" altLang="en-US" sz="3400" b="1" dirty="0">
                <a:solidFill>
                  <a:srgbClr val="660066"/>
                </a:solidFill>
              </a:rPr>
              <a:t>Direct Communication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Sender/Receiver of message </a:t>
            </a:r>
            <a:r>
              <a:rPr lang="en-US" altLang="en-US" b="1" dirty="0">
                <a:solidFill>
                  <a:srgbClr val="C00000"/>
                </a:solidFill>
              </a:rPr>
              <a:t>explicitly name the other party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itchFamily="49" charset="0"/>
              </a:rPr>
              <a:t>Send(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altLang="en-US" sz="2400" b="1" dirty="0">
                <a:latin typeface="Courier New" pitchFamily="49" charset="0"/>
              </a:rPr>
              <a:t>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)</a:t>
            </a:r>
            <a:r>
              <a:rPr lang="en-US" altLang="en-US" dirty="0"/>
              <a:t> : Send to Process </a:t>
            </a:r>
            <a:r>
              <a:rPr lang="en-US" altLang="en-US" sz="2400" b="1" dirty="0"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itchFamily="49" charset="0"/>
              </a:rPr>
              <a:t>Receive(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b="1" dirty="0">
                <a:latin typeface="Courier New" pitchFamily="49" charset="0"/>
              </a:rPr>
              <a:t>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)</a:t>
            </a:r>
            <a:r>
              <a:rPr lang="en-US" altLang="en-US" dirty="0"/>
              <a:t> : Receive from Process </a:t>
            </a:r>
            <a:r>
              <a:rPr lang="en-US" altLang="en-US" sz="2400" b="1" dirty="0"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latin typeface="Courier New" pitchFamily="49" charset="0"/>
              </a:rPr>
              <a:t>1</a:t>
            </a:r>
          </a:p>
          <a:p>
            <a:pPr marL="319087" lvl="1" indent="0">
              <a:lnSpc>
                <a:spcPct val="90000"/>
              </a:lnSpc>
              <a:buNone/>
            </a:pPr>
            <a:endParaRPr lang="en-US" altLang="en-US" sz="2400" b="1" baseline="-25000" dirty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Characteristics: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One link per pair of communicating processes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know the identity of the other party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08F4127-3889-E599-A1FE-A63242D22BCC}"/>
                  </a:ext>
                </a:extLst>
              </p14:cNvPr>
              <p14:cNvContentPartPr/>
              <p14:nvPr/>
            </p14:nvContentPartPr>
            <p14:xfrm>
              <a:off x="2157161" y="3336197"/>
              <a:ext cx="279720" cy="130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08F4127-3889-E599-A1FE-A63242D22BC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36641" y="3315677"/>
                <a:ext cx="320760" cy="17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FDDD-0CD6-40DB-96BB-F3E3B2F16948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Naming Scheme: </a:t>
            </a:r>
            <a:r>
              <a:rPr lang="en-US" altLang="en-US" sz="3600" b="1" dirty="0">
                <a:solidFill>
                  <a:srgbClr val="C00000"/>
                </a:solidFill>
              </a:rPr>
              <a:t>Indirect Communication</a:t>
            </a:r>
            <a:endParaRPr lang="en-US" altLang="en-US" sz="3600" dirty="0">
              <a:solidFill>
                <a:srgbClr val="C00000"/>
              </a:solidFill>
            </a:endParaRP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Message are sent to / received from message storage:</a:t>
            </a:r>
          </a:p>
          <a:p>
            <a:pPr lvl="1"/>
            <a:r>
              <a:rPr lang="en-US" altLang="en-US" dirty="0"/>
              <a:t>Usually known as </a:t>
            </a:r>
            <a:r>
              <a:rPr lang="en-US" altLang="en-US" b="1" i="1" dirty="0"/>
              <a:t>mailbox </a:t>
            </a:r>
            <a:r>
              <a:rPr lang="en-US" altLang="en-US" dirty="0"/>
              <a:t>or </a:t>
            </a:r>
            <a:r>
              <a:rPr lang="en-US" altLang="en-US" b="1" i="1" dirty="0"/>
              <a:t>port</a:t>
            </a:r>
          </a:p>
          <a:p>
            <a:pPr lvl="1"/>
            <a:endParaRPr lang="en-US" altLang="en-US" i="1" dirty="0"/>
          </a:p>
          <a:p>
            <a:r>
              <a:rPr lang="en-US" altLang="en-US" dirty="0"/>
              <a:t>Example:</a:t>
            </a:r>
          </a:p>
          <a:p>
            <a:pPr lvl="1"/>
            <a:r>
              <a:rPr lang="en-US" altLang="en-US" sz="2400" b="1" dirty="0">
                <a:latin typeface="Courier New" pitchFamily="49" charset="0"/>
              </a:rPr>
              <a:t>Send( MB,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)</a:t>
            </a:r>
            <a:r>
              <a:rPr lang="en-US" altLang="en-US" dirty="0"/>
              <a:t> : Send Message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dirty="0"/>
              <a:t> to Mailbox </a:t>
            </a:r>
            <a:r>
              <a:rPr lang="en-US" altLang="en-US" sz="2400" b="1" dirty="0">
                <a:latin typeface="Courier New" pitchFamily="49" charset="0"/>
              </a:rPr>
              <a:t>MB</a:t>
            </a:r>
          </a:p>
          <a:p>
            <a:pPr lvl="1"/>
            <a:r>
              <a:rPr lang="en-US" altLang="en-US" sz="2400" b="1" dirty="0">
                <a:latin typeface="Courier New" pitchFamily="49" charset="0"/>
              </a:rPr>
              <a:t>Receive( MB,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)</a:t>
            </a:r>
            <a:r>
              <a:rPr lang="en-US" altLang="en-US" dirty="0"/>
              <a:t> : Receive Message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dirty="0"/>
              <a:t> from Mailbox </a:t>
            </a:r>
            <a:r>
              <a:rPr lang="en-US" altLang="en-US" sz="2400" b="1" dirty="0">
                <a:latin typeface="Courier New" pitchFamily="49" charset="0"/>
              </a:rPr>
              <a:t>MB</a:t>
            </a:r>
          </a:p>
          <a:p>
            <a:pPr lvl="1"/>
            <a:endParaRPr lang="en-US" altLang="en-US" sz="2400" b="1" dirty="0">
              <a:latin typeface="Courier New" pitchFamily="49" charset="0"/>
            </a:endParaRPr>
          </a:p>
          <a:p>
            <a:r>
              <a:rPr lang="en-US" altLang="en-US" dirty="0"/>
              <a:t>Characteristics:</a:t>
            </a:r>
          </a:p>
          <a:p>
            <a:pPr lvl="1"/>
            <a:r>
              <a:rPr lang="en-US" altLang="en-US" dirty="0"/>
              <a:t>One mailbox can be shared among a number of processes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Two </a:t>
            </a:r>
            <a:r>
              <a:rPr lang="en-US" altLang="en-US" b="1" dirty="0">
                <a:solidFill>
                  <a:srgbClr val="C00000"/>
                </a:solidFill>
              </a:rPr>
              <a:t>Synchronization</a:t>
            </a:r>
            <a:r>
              <a:rPr lang="en-US" altLang="en-US" b="1" dirty="0"/>
              <a:t> Behaviors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Blocking Primitives </a:t>
            </a:r>
            <a:r>
              <a:rPr lang="en-US" altLang="en-US" dirty="0"/>
              <a:t>(Synchronous):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C93D1-2DC2-4D25-92AD-14C8742A0648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923000"/>
            <a:ext cx="8229600" cy="548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/>
              <a:t>Non-Blocking Primitives </a:t>
            </a:r>
            <a:r>
              <a:rPr lang="en-US" altLang="en-US" kern="0" dirty="0"/>
              <a:t>(asynchronous):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1" grpId="0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64238-663A-4A6F-9868-88AFB0044436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Message Passing: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  <a:r>
              <a:rPr lang="en-US" altLang="en-US" sz="3800" b="1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Portable: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Easier synchronization: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Inefficient: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Harder to use: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UNIX PIPES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Plumber needed! Leaking pipes all around!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357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Pipes: </a:t>
            </a:r>
            <a:r>
              <a:rPr lang="en-US" b="1" dirty="0">
                <a:solidFill>
                  <a:srgbClr val="C00000"/>
                </a:solidFill>
              </a:rPr>
              <a:t>Communication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134976" y="2214427"/>
            <a:ext cx="2362200" cy="1435598"/>
          </a:xfrm>
          <a:prstGeom prst="flowChartPredefined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>
                <a:latin typeface="Courier New" pitchFamily="49" charset="0"/>
              </a:rPr>
              <a:t>process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44176" y="2574516"/>
            <a:ext cx="2590800" cy="1621248"/>
            <a:chOff x="544176" y="2429255"/>
            <a:chExt cx="2590800" cy="1621248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107" y="2429255"/>
              <a:ext cx="526869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ight Arrow 1"/>
            <p:cNvSpPr/>
            <p:nvPr/>
          </p:nvSpPr>
          <p:spPr>
            <a:xfrm>
              <a:off x="973073" y="2450166"/>
              <a:ext cx="1371600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4176" y="3266550"/>
              <a:ext cx="2098766" cy="7839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solidFill>
                    <a:schemeClr val="tx1"/>
                  </a:solidFill>
                </a:rPr>
                <a:t>stdin</a:t>
              </a:r>
              <a:r>
                <a:rPr lang="en-US" sz="1600" b="1" dirty="0">
                  <a:solidFill>
                    <a:schemeClr val="tx1"/>
                  </a:solidFill>
                </a:rPr>
                <a:t> (standard in): </a:t>
              </a:r>
              <a:r>
                <a:rPr lang="en-US" sz="1600" dirty="0">
                  <a:solidFill>
                    <a:schemeClr val="tx1"/>
                  </a:solidFill>
                </a:rPr>
                <a:t>Commonly linked to keyboard input.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97175" y="2964225"/>
            <a:ext cx="2590800" cy="1531575"/>
            <a:chOff x="5497175" y="2818964"/>
            <a:chExt cx="2590800" cy="1531575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175" y="2818964"/>
              <a:ext cx="526869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" name="Group 5"/>
            <p:cNvGrpSpPr/>
            <p:nvPr/>
          </p:nvGrpSpPr>
          <p:grpSpPr>
            <a:xfrm>
              <a:off x="5628892" y="2818964"/>
              <a:ext cx="2459083" cy="1531575"/>
              <a:chOff x="5628892" y="2818964"/>
              <a:chExt cx="2459083" cy="1531575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628892" y="3566586"/>
                <a:ext cx="2459083" cy="783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err="1">
                    <a:solidFill>
                      <a:schemeClr val="tx1"/>
                    </a:solidFill>
                  </a:rPr>
                  <a:t>stdout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 (standard out): </a:t>
                </a:r>
                <a:r>
                  <a:rPr lang="en-US" sz="1600" dirty="0">
                    <a:solidFill>
                      <a:schemeClr val="tx1"/>
                    </a:solidFill>
                  </a:rPr>
                  <a:t>Commonly linked to screen.</a:t>
                </a:r>
                <a:endParaRPr lang="en-SG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ight Arrow 14"/>
              <p:cNvSpPr/>
              <p:nvPr/>
            </p:nvSpPr>
            <p:spPr>
              <a:xfrm>
                <a:off x="6182976" y="2818964"/>
                <a:ext cx="990600" cy="635498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5497175" y="1394210"/>
            <a:ext cx="2722517" cy="1469753"/>
            <a:chOff x="5497175" y="1248949"/>
            <a:chExt cx="2722517" cy="1469753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175" y="2032902"/>
              <a:ext cx="526869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ight Arrow 15"/>
            <p:cNvSpPr/>
            <p:nvPr/>
          </p:nvSpPr>
          <p:spPr>
            <a:xfrm>
              <a:off x="6182976" y="2032902"/>
              <a:ext cx="990600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60609" y="1248949"/>
              <a:ext cx="2459083" cy="7839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solidFill>
                    <a:schemeClr val="tx1"/>
                  </a:solidFill>
                </a:rPr>
                <a:t>stderr</a:t>
              </a:r>
              <a:r>
                <a:rPr lang="en-US" sz="1600" b="1" dirty="0">
                  <a:solidFill>
                    <a:schemeClr val="tx1"/>
                  </a:solidFill>
                </a:rPr>
                <a:t> (standard error): </a:t>
              </a:r>
              <a:r>
                <a:rPr lang="en-US" sz="1600" dirty="0">
                  <a:solidFill>
                    <a:schemeClr val="tx1"/>
                  </a:solidFill>
                </a:rPr>
                <a:t>Only used to print out error messages.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38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Piping in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196965"/>
          </a:xfrm>
        </p:spPr>
        <p:txBody>
          <a:bodyPr>
            <a:normAutofit/>
          </a:bodyPr>
          <a:lstStyle/>
          <a:p>
            <a:r>
              <a:rPr lang="en-US" dirty="0"/>
              <a:t>Unix shell provides the “|” symbol to link the input/output channels of one process to another, this is known as </a:t>
            </a:r>
            <a:r>
              <a:rPr lang="en-US" b="1" dirty="0"/>
              <a:t>piping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7753" y="1447800"/>
            <a:ext cx="1122316" cy="985973"/>
          </a:xfrm>
          <a:prstGeom prst="flowChartPredefined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>
                <a:latin typeface="Courier New" pitchFamily="49" charset="0"/>
              </a:rPr>
              <a:t>A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84" y="1750285"/>
            <a:ext cx="526869" cy="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069" y="1745931"/>
            <a:ext cx="526869" cy="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5181600" y="1447800"/>
            <a:ext cx="2176054" cy="985973"/>
            <a:chOff x="5111931" y="3296286"/>
            <a:chExt cx="2176054" cy="985973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638800" y="3296286"/>
              <a:ext cx="1122316" cy="985973"/>
            </a:xfrm>
            <a:prstGeom prst="flowChartPredefined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>
                  <a:latin typeface="Courier New" pitchFamily="49" charset="0"/>
                </a:rPr>
                <a:t>B</a:t>
              </a:r>
            </a:p>
          </p:txBody>
        </p:sp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1931" y="3598771"/>
              <a:ext cx="526869" cy="389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1116" y="3594417"/>
              <a:ext cx="526869" cy="389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938" y="1745931"/>
            <a:ext cx="1384662" cy="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45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2045AA-0956-499F-910C-6A3019B81E97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Pipes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One of the earliest IPC mechanism</a:t>
            </a:r>
          </a:p>
          <a:p>
            <a:endParaRPr lang="en-US" altLang="en-US" dirty="0"/>
          </a:p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A communication channel is created with 2 ends: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The piping “|” in shell is achieved using this mechanism internally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24370" y="3581400"/>
            <a:ext cx="7083335" cy="762000"/>
            <a:chOff x="841466" y="4191000"/>
            <a:chExt cx="7083335" cy="762000"/>
          </a:xfrm>
        </p:grpSpPr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200" y="4191000"/>
              <a:ext cx="40386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3657600" y="4408623"/>
              <a:ext cx="1222466" cy="3267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Unix Pipe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841466" y="4254250"/>
              <a:ext cx="1382486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Write into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6515099" y="4210594"/>
              <a:ext cx="1409702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 from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27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1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71C8D-2989-43FA-881A-B747ED97B62D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Unix Pipes: </a:t>
            </a:r>
            <a:r>
              <a:rPr lang="en-US" altLang="en-US" sz="3800" b="1" dirty="0">
                <a:solidFill>
                  <a:srgbClr val="C00000"/>
                </a:solidFill>
              </a:rPr>
              <a:t>as a IPC Mechanism</a:t>
            </a:r>
          </a:p>
        </p:txBody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899" y="2938254"/>
            <a:ext cx="8229600" cy="3367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pipe can be shared between two processes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 form of </a:t>
            </a:r>
            <a:r>
              <a:rPr lang="en-US" altLang="en-US" b="1" dirty="0"/>
              <a:t>Producer-Consumer</a:t>
            </a:r>
            <a:r>
              <a:rPr lang="en-US" altLang="en-US" dirty="0"/>
              <a:t> relationship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Behavior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7030A0"/>
                </a:solidFill>
                <a:sym typeface="Wingdings" pitchFamily="2" charset="2"/>
              </a:rPr>
              <a:t>Semantic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006600"/>
                </a:solidFill>
                <a:sym typeface="Wingdings" pitchFamily="2" charset="2"/>
              </a:rPr>
              <a:t>Variants</a:t>
            </a:r>
            <a:endParaRPr lang="en-US" altLang="en-US" b="1" dirty="0">
              <a:solidFill>
                <a:srgbClr val="006600"/>
              </a:solidFill>
            </a:endParaRPr>
          </a:p>
        </p:txBody>
      </p:sp>
      <p:sp>
        <p:nvSpPr>
          <p:cNvPr id="751621" name="Rectangle 5"/>
          <p:cNvSpPr>
            <a:spLocks noChangeArrowheads="1"/>
          </p:cNvSpPr>
          <p:nvPr/>
        </p:nvSpPr>
        <p:spPr bwMode="auto">
          <a:xfrm>
            <a:off x="685800" y="1219200"/>
            <a:ext cx="1676400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Process </a:t>
            </a:r>
            <a:r>
              <a:rPr lang="en-US" altLang="en-US" sz="2400" b="1" dirty="0">
                <a:latin typeface="Courier New" pitchFamily="49" charset="0"/>
              </a:rPr>
              <a:t>P</a:t>
            </a: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751628" name="Rectangle 12"/>
          <p:cNvSpPr>
            <a:spLocks noChangeArrowheads="1"/>
          </p:cNvSpPr>
          <p:nvPr/>
        </p:nvSpPr>
        <p:spPr bwMode="auto">
          <a:xfrm>
            <a:off x="6553200" y="1219200"/>
            <a:ext cx="1752600" cy="15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Process </a:t>
            </a:r>
            <a:r>
              <a:rPr lang="en-US" altLang="en-US" sz="2400" b="1" dirty="0">
                <a:latin typeface="Courier New" pitchFamily="49" charset="0"/>
              </a:rPr>
              <a:t>Q</a:t>
            </a: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2301214" y="1636909"/>
            <a:ext cx="898576" cy="63549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737380" y="1636909"/>
            <a:ext cx="905668" cy="635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26593" y="1624560"/>
            <a:ext cx="2462213" cy="660196"/>
            <a:chOff x="3024187" y="1570039"/>
            <a:chExt cx="2462213" cy="660196"/>
          </a:xfrm>
        </p:grpSpPr>
        <p:pic>
          <p:nvPicPr>
            <p:cNvPr id="2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187" y="1570039"/>
              <a:ext cx="2462213" cy="660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/>
            <p:cNvGrpSpPr/>
            <p:nvPr/>
          </p:nvGrpSpPr>
          <p:grpSpPr>
            <a:xfrm>
              <a:off x="3207544" y="1720603"/>
              <a:ext cx="1911576" cy="372699"/>
              <a:chOff x="3207544" y="1720603"/>
              <a:chExt cx="1911576" cy="372699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3207544" y="1720603"/>
                <a:ext cx="1283040" cy="372699"/>
                <a:chOff x="2862825" y="2600689"/>
                <a:chExt cx="1283040" cy="372699"/>
              </a:xfrm>
            </p:grpSpPr>
            <p:sp>
              <p:nvSpPr>
                <p:cNvPr id="75164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178809" y="2606675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c</a:t>
                  </a:r>
                </a:p>
              </p:txBody>
            </p:sp>
            <p:sp>
              <p:nvSpPr>
                <p:cNvPr id="3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862825" y="2602321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d</a:t>
                  </a:r>
                </a:p>
              </p:txBody>
            </p:sp>
            <p:sp>
              <p:nvSpPr>
                <p:cNvPr id="32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504515" y="2601278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b</a:t>
                  </a:r>
                </a:p>
              </p:txBody>
            </p:sp>
            <p:sp>
              <p:nvSpPr>
                <p:cNvPr id="3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825190" y="2600689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a</a:t>
                  </a:r>
                </a:p>
              </p:txBody>
            </p:sp>
          </p:grpSp>
          <p:sp>
            <p:nvSpPr>
              <p:cNvPr id="35" name="Text Box 25"/>
              <p:cNvSpPr txBox="1">
                <a:spLocks noChangeArrowheads="1"/>
              </p:cNvSpPr>
              <p:nvPr/>
            </p:nvSpPr>
            <p:spPr bwMode="auto">
              <a:xfrm>
                <a:off x="4487023" y="1725047"/>
                <a:ext cx="320675" cy="3667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none" lIns="91434" tIns="45717" rIns="91434" bIns="45717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en-US" altLang="en-US" b="1" dirty="0">
                    <a:latin typeface="Courier New" pitchFamily="49" charset="0"/>
                  </a:rPr>
                  <a:t> </a:t>
                </a:r>
              </a:p>
            </p:txBody>
          </p:sp>
          <p:sp>
            <p:nvSpPr>
              <p:cNvPr id="36" name="Text Box 25"/>
              <p:cNvSpPr txBox="1">
                <a:spLocks noChangeArrowheads="1"/>
              </p:cNvSpPr>
              <p:nvPr/>
            </p:nvSpPr>
            <p:spPr bwMode="auto">
              <a:xfrm>
                <a:off x="4798445" y="1726117"/>
                <a:ext cx="320675" cy="3667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none" lIns="91434" tIns="45717" rIns="91434" bIns="45717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en-US" altLang="en-US" b="1" dirty="0">
                    <a:latin typeface="Courier New" pitchFamily="49" charset="0"/>
                  </a:rPr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49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19" grpId="0" uiExpand="1" build="p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0519D-68CD-41EC-A7C8-5FC63C3F850E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Unix Pipes: </a:t>
            </a:r>
            <a:r>
              <a:rPr lang="en-US" altLang="en-US" sz="3800" b="1" dirty="0">
                <a:solidFill>
                  <a:srgbClr val="660066"/>
                </a:solidFill>
              </a:rPr>
              <a:t>Semantic</a:t>
            </a:r>
          </a:p>
        </p:txBody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229600" cy="5486400"/>
          </a:xfrm>
        </p:spPr>
        <p:txBody>
          <a:bodyPr/>
          <a:lstStyle/>
          <a:p>
            <a:r>
              <a:rPr lang="en-US" altLang="en-US" sz="2800" dirty="0"/>
              <a:t>Pipe functions as </a:t>
            </a:r>
            <a:r>
              <a:rPr lang="en-US" altLang="en-US" sz="2800" b="1" dirty="0"/>
              <a:t>circular bounded byte buffer</a:t>
            </a:r>
            <a:r>
              <a:rPr lang="en-US" altLang="en-US" sz="2800" dirty="0"/>
              <a:t> with </a:t>
            </a:r>
            <a:r>
              <a:rPr lang="en-US" altLang="en-US" sz="2800" b="1" dirty="0"/>
              <a:t>implicit synchronization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800" dirty="0"/>
              <a:t>Writers </a:t>
            </a:r>
            <a:r>
              <a:rPr lang="en-US" altLang="en-US" sz="2800" b="1" dirty="0">
                <a:solidFill>
                  <a:schemeClr val="accent2"/>
                </a:solidFill>
              </a:rPr>
              <a:t>wait</a:t>
            </a:r>
            <a:r>
              <a:rPr lang="en-US" altLang="en-US" sz="2800" dirty="0"/>
              <a:t> when buffer is </a:t>
            </a:r>
            <a:r>
              <a:rPr lang="en-US" altLang="en-US" sz="2800" b="1" dirty="0">
                <a:solidFill>
                  <a:schemeClr val="accent2"/>
                </a:solidFill>
              </a:rPr>
              <a:t>full</a:t>
            </a:r>
          </a:p>
          <a:p>
            <a:pPr lvl="1"/>
            <a:r>
              <a:rPr lang="en-US" altLang="en-US" sz="2800" dirty="0"/>
              <a:t>Readers </a:t>
            </a:r>
            <a:r>
              <a:rPr lang="en-US" altLang="en-US" sz="2800" b="1" dirty="0">
                <a:solidFill>
                  <a:srgbClr val="0000FF"/>
                </a:solidFill>
              </a:rPr>
              <a:t>wait</a:t>
            </a:r>
            <a:r>
              <a:rPr lang="en-US" altLang="en-US" sz="2800" dirty="0"/>
              <a:t> when buffer is </a:t>
            </a:r>
            <a:r>
              <a:rPr lang="en-US" altLang="en-US" sz="2800" b="1" dirty="0">
                <a:solidFill>
                  <a:srgbClr val="0000FF"/>
                </a:solidFill>
              </a:rPr>
              <a:t>empty</a:t>
            </a:r>
          </a:p>
          <a:p>
            <a:pPr marL="344487" lvl="1" indent="0">
              <a:buNone/>
            </a:pPr>
            <a:endParaRPr lang="en-US" altLang="en-US" sz="2800" b="1" dirty="0">
              <a:solidFill>
                <a:srgbClr val="0000FF"/>
              </a:solidFill>
            </a:endParaRPr>
          </a:p>
          <a:p>
            <a:r>
              <a:rPr lang="en-US" altLang="en-US" sz="2800" dirty="0"/>
              <a:t>Variants:</a:t>
            </a:r>
          </a:p>
          <a:p>
            <a:pPr lvl="1"/>
            <a:r>
              <a:rPr lang="en-US" altLang="en-US" sz="2400" dirty="0"/>
              <a:t>Can have multiple readers/writers</a:t>
            </a:r>
          </a:p>
          <a:p>
            <a:pPr lvl="1"/>
            <a:r>
              <a:rPr lang="en-US" altLang="en-US" sz="2400" dirty="0"/>
              <a:t>Depends on Unix version, pipes may be </a:t>
            </a:r>
            <a:r>
              <a:rPr lang="en-US" altLang="en-US" sz="2400" b="1" dirty="0">
                <a:solidFill>
                  <a:srgbClr val="C00000"/>
                </a:solidFill>
              </a:rPr>
              <a:t>half-duplex </a:t>
            </a:r>
          </a:p>
          <a:p>
            <a:pPr lvl="2"/>
            <a:r>
              <a:rPr lang="en-US" altLang="en-US" sz="2100" b="1" dirty="0"/>
              <a:t>unidirectiona</a:t>
            </a:r>
            <a:r>
              <a:rPr lang="en-US" altLang="en-US" sz="2100" dirty="0"/>
              <a:t>l: with one write end and one read end</a:t>
            </a:r>
          </a:p>
          <a:p>
            <a:pPr lvl="1"/>
            <a:r>
              <a:rPr lang="en-US" altLang="en-US" sz="2500" dirty="0"/>
              <a:t>Or</a:t>
            </a:r>
            <a:r>
              <a:rPr lang="en-US" altLang="en-US" sz="2500" dirty="0">
                <a:solidFill>
                  <a:srgbClr val="008000"/>
                </a:solidFill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</a:rPr>
              <a:t>full-duplex </a:t>
            </a:r>
          </a:p>
          <a:p>
            <a:pPr lvl="2"/>
            <a:r>
              <a:rPr lang="en-US" altLang="en-US" sz="2100" b="1" dirty="0"/>
              <a:t>bidirectional</a:t>
            </a:r>
            <a:r>
              <a:rPr lang="en-US" altLang="en-US" sz="2100" dirty="0"/>
              <a:t>: any end for read/write</a:t>
            </a:r>
          </a:p>
        </p:txBody>
      </p:sp>
    </p:spTree>
    <p:extLst>
      <p:ext uri="{BB962C8B-B14F-4D97-AF65-F5344CB8AC3E}">
        <p14:creationId xmlns:p14="http://schemas.microsoft.com/office/powerpoint/2010/main" val="173786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Unix Pipe: System Calls</a:t>
            </a:r>
          </a:p>
        </p:txBody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663" y="3473450"/>
            <a:ext cx="8077200" cy="3048000"/>
          </a:xfrm>
        </p:spPr>
        <p:txBody>
          <a:bodyPr/>
          <a:lstStyle/>
          <a:p>
            <a:r>
              <a:rPr lang="en-US" altLang="en-US" dirty="0"/>
              <a:t>Returns:</a:t>
            </a:r>
          </a:p>
          <a:p>
            <a:pPr lvl="1"/>
            <a:r>
              <a:rPr lang="en-US" altLang="en-US" dirty="0"/>
              <a:t>0 to indicate success; !0 for errors</a:t>
            </a:r>
          </a:p>
          <a:p>
            <a:pPr lvl="1"/>
            <a:r>
              <a:rPr lang="en-US" altLang="en-US" dirty="0"/>
              <a:t>An array of file descriptors is returned:</a:t>
            </a:r>
          </a:p>
          <a:p>
            <a:pPr lvl="2"/>
            <a:r>
              <a:rPr lang="en-US" altLang="en-US" dirty="0" err="1"/>
              <a:t>fd</a:t>
            </a:r>
            <a:r>
              <a:rPr lang="en-US" altLang="en-US" dirty="0"/>
              <a:t>[0] == reading end</a:t>
            </a:r>
          </a:p>
          <a:p>
            <a:pPr lvl="2"/>
            <a:r>
              <a:rPr lang="en-US" altLang="en-US" dirty="0" err="1"/>
              <a:t>fd</a:t>
            </a:r>
            <a:r>
              <a:rPr lang="en-US" altLang="en-US" dirty="0"/>
              <a:t>[1] == writing end</a:t>
            </a:r>
          </a:p>
          <a:p>
            <a:pPr lvl="1"/>
            <a:endParaRPr lang="en-US" altLang="en-US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B8F27F-B52F-4E25-8B41-E3AE99C0079B}" type="slidenum">
              <a:rPr lang="en-US" altLang="en-US" smtClean="0"/>
              <a:pPr/>
              <a:t>24</a:t>
            </a:fld>
            <a:endParaRPr lang="en-US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4355648" y="5139009"/>
            <a:ext cx="4341834" cy="1031424"/>
            <a:chOff x="1897834" y="3851872"/>
            <a:chExt cx="4341834" cy="1031424"/>
          </a:xfrm>
        </p:grpSpPr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2370160" y="3851872"/>
              <a:ext cx="85250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fd</a:t>
              </a:r>
              <a:r>
                <a:rPr lang="en-US" alt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[1]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1897834" y="4235449"/>
              <a:ext cx="898576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Write</a:t>
              </a:r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5334000" y="4235449"/>
              <a:ext cx="905668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</a:t>
              </a:r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3213" y="4223100"/>
              <a:ext cx="2462213" cy="660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ext Box 17"/>
            <p:cNvSpPr txBox="1">
              <a:spLocks noChangeArrowheads="1"/>
            </p:cNvSpPr>
            <p:nvPr/>
          </p:nvSpPr>
          <p:spPr bwMode="auto">
            <a:xfrm>
              <a:off x="5105400" y="3926452"/>
              <a:ext cx="85250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fd</a:t>
              </a: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[0]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978266" y="4358991"/>
              <a:ext cx="2098831" cy="365409"/>
              <a:chOff x="3006570" y="5105400"/>
              <a:chExt cx="2098831" cy="457200"/>
            </a:xfrm>
          </p:grpSpPr>
          <p:sp>
            <p:nvSpPr>
              <p:cNvPr id="36" name="Rectangle 4"/>
              <p:cNvSpPr>
                <a:spLocks noChangeArrowheads="1"/>
              </p:cNvSpPr>
              <p:nvPr/>
            </p:nvSpPr>
            <p:spPr bwMode="auto">
              <a:xfrm>
                <a:off x="3006571" y="5105400"/>
                <a:ext cx="2098830" cy="457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37" name="Line 12"/>
              <p:cNvSpPr>
                <a:spLocks noChangeShapeType="1"/>
              </p:cNvSpPr>
              <p:nvPr/>
            </p:nvSpPr>
            <p:spPr bwMode="auto">
              <a:xfrm>
                <a:off x="3939923" y="5334000"/>
                <a:ext cx="60960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Rectangle 5"/>
              <p:cNvSpPr>
                <a:spLocks noChangeArrowheads="1"/>
              </p:cNvSpPr>
              <p:nvPr/>
            </p:nvSpPr>
            <p:spPr bwMode="auto">
              <a:xfrm>
                <a:off x="3006570" y="5105400"/>
                <a:ext cx="1129296" cy="457200"/>
              </a:xfrm>
              <a:prstGeom prst="rect">
                <a:avLst/>
              </a:prstGeom>
              <a:solidFill>
                <a:srgbClr val="FFFF99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 dirty="0">
                    <a:latin typeface="Courier New" pitchFamily="49" charset="0"/>
                  </a:rPr>
                  <a:t>data</a:t>
                </a:r>
              </a:p>
            </p:txBody>
          </p:sp>
        </p:grpSp>
      </p:grpSp>
      <p:grpSp>
        <p:nvGrpSpPr>
          <p:cNvPr id="39" name="Group 38"/>
          <p:cNvGrpSpPr/>
          <p:nvPr/>
        </p:nvGrpSpPr>
        <p:grpSpPr>
          <a:xfrm>
            <a:off x="650966" y="1067438"/>
            <a:ext cx="7391400" cy="1066800"/>
            <a:chOff x="4191000" y="2438400"/>
            <a:chExt cx="7391400" cy="1066800"/>
          </a:xfrm>
        </p:grpSpPr>
        <p:sp>
          <p:nvSpPr>
            <p:cNvPr id="40" name="Rectangle 39"/>
            <p:cNvSpPr/>
            <p:nvPr/>
          </p:nvSpPr>
          <p:spPr>
            <a:xfrm>
              <a:off x="4191000" y="2438400"/>
              <a:ext cx="609601" cy="10668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Header File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800601" y="2438400"/>
              <a:ext cx="6781799" cy="106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indent="-112713">
                <a:spcBef>
                  <a:spcPct val="20000"/>
                </a:spcBef>
                <a:buClr>
                  <a:srgbClr val="999933"/>
                </a:buClr>
                <a:buSzPct val="60000"/>
              </a:pPr>
              <a:r>
                <a:rPr lang="en-US" altLang="en-US" sz="2400" b="1" kern="0" dirty="0">
                  <a:solidFill>
                    <a:srgbClr val="000000"/>
                  </a:solidFill>
                  <a:latin typeface="Courier New" pitchFamily="49" charset="0"/>
                </a:rPr>
                <a:t>#include &lt;</a:t>
              </a:r>
              <a:r>
                <a:rPr lang="en-US" altLang="en-US" sz="2400" b="1" kern="0" dirty="0" err="1">
                  <a:solidFill>
                    <a:srgbClr val="000000"/>
                  </a:solidFill>
                  <a:latin typeface="Courier New" pitchFamily="49" charset="0"/>
                </a:rPr>
                <a:t>unistd.h</a:t>
              </a:r>
              <a:r>
                <a:rPr lang="en-US" altLang="en-US" sz="2400" b="1" kern="0" dirty="0">
                  <a:solidFill>
                    <a:srgbClr val="000000"/>
                  </a:solidFill>
                  <a:latin typeface="Courier New" pitchFamily="49" charset="0"/>
                </a:rPr>
                <a:t>&gt;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50966" y="2247754"/>
            <a:ext cx="7391399" cy="1066800"/>
            <a:chOff x="4191000" y="3675185"/>
            <a:chExt cx="7391399" cy="1066800"/>
          </a:xfrm>
        </p:grpSpPr>
        <p:sp>
          <p:nvSpPr>
            <p:cNvPr id="43" name="Rectangle 42"/>
            <p:cNvSpPr/>
            <p:nvPr/>
          </p:nvSpPr>
          <p:spPr>
            <a:xfrm>
              <a:off x="4191000" y="3675185"/>
              <a:ext cx="609601" cy="106680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Syntax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800600" y="3675185"/>
              <a:ext cx="6781799" cy="106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en-US" altLang="en-US" sz="2400" b="1" dirty="0" err="1">
                  <a:solidFill>
                    <a:srgbClr val="660066"/>
                  </a:solidFill>
                  <a:latin typeface="Courier New" pitchFamily="49" charset="0"/>
                </a:rPr>
                <a:t>int</a:t>
              </a:r>
              <a:r>
                <a:rPr lang="en-US" altLang="en-US" sz="2400" b="1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altLang="en-US" sz="2400" b="1" i="1" dirty="0">
                  <a:solidFill>
                    <a:srgbClr val="C00000"/>
                  </a:solidFill>
                  <a:latin typeface="Courier New" pitchFamily="49" charset="0"/>
                </a:rPr>
                <a:t>pipe</a:t>
              </a:r>
              <a:r>
                <a:rPr lang="en-US" altLang="en-US" sz="2400" b="1" dirty="0">
                  <a:latin typeface="Courier New" pitchFamily="49" charset="0"/>
                </a:rPr>
                <a:t>(</a:t>
              </a:r>
              <a:r>
                <a:rPr lang="en-US" altLang="en-US" sz="2400" b="1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altLang="en-US" sz="2400" b="1" dirty="0" err="1">
                  <a:solidFill>
                    <a:srgbClr val="660066"/>
                  </a:solidFill>
                  <a:latin typeface="Courier New" pitchFamily="49" charset="0"/>
                </a:rPr>
                <a:t>int</a:t>
              </a:r>
              <a:r>
                <a:rPr lang="en-US" altLang="en-US" sz="2400" b="1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altLang="en-US" sz="2400" b="1" dirty="0" err="1">
                  <a:latin typeface="Courier New" pitchFamily="49" charset="0"/>
                </a:rPr>
                <a:t>fd</a:t>
              </a:r>
              <a:r>
                <a:rPr lang="en-US" altLang="en-US" sz="2400" b="1" dirty="0">
                  <a:latin typeface="Courier New" pitchFamily="49" charset="0"/>
                </a:rPr>
                <a:t>[]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0367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2E1BB-A276-401C-A3BB-794FCBA5F1F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Unix Pipes: Example Code</a:t>
            </a:r>
          </a:p>
        </p:txBody>
      </p:sp>
      <p:sp>
        <p:nvSpPr>
          <p:cNvPr id="755716" name="Text Box 4"/>
          <p:cNvSpPr txBox="1">
            <a:spLocks noChangeArrowheads="1"/>
          </p:cNvSpPr>
          <p:nvPr/>
        </p:nvSpPr>
        <p:spPr bwMode="auto">
          <a:xfrm>
            <a:off x="36320" y="35607"/>
            <a:ext cx="7583680" cy="552926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latin typeface="Courier New" pitchFamily="49" charset="0"/>
              </a:rPr>
              <a:t>#define 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READ_END 0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latin typeface="Courier New" pitchFamily="49" charset="0"/>
              </a:rPr>
              <a:t>#define 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WRITE_END 1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dirty="0">
              <a:latin typeface="Courier New" pitchFamily="49" charset="0"/>
            </a:endParaRPr>
          </a:p>
          <a:p>
            <a:r>
              <a:rPr lang="en-US" altLang="en-US" b="1" dirty="0" err="1">
                <a:latin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</a:rPr>
              <a:t> main()</a:t>
            </a:r>
          </a:p>
          <a:p>
            <a:r>
              <a:rPr lang="en-US" altLang="en-US" b="1" dirty="0">
                <a:latin typeface="Courier New" pitchFamily="49" charset="0"/>
              </a:rPr>
              <a:t>{</a:t>
            </a:r>
          </a:p>
          <a:p>
            <a:r>
              <a:rPr lang="en-US" altLang="en-US" b="1" dirty="0">
                <a:latin typeface="Courier New" pitchFamily="49" charset="0"/>
              </a:rPr>
              <a:t>   </a:t>
            </a:r>
            <a:r>
              <a:rPr lang="en-US" altLang="en-US" b="1" dirty="0" err="1">
                <a:latin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pipeFd</a:t>
            </a:r>
            <a:r>
              <a:rPr lang="en-US" altLang="en-US" b="1" dirty="0">
                <a:latin typeface="Courier New" pitchFamily="49" charset="0"/>
              </a:rPr>
              <a:t>[2], </a:t>
            </a:r>
            <a:r>
              <a:rPr lang="en-US" altLang="en-US" b="1" dirty="0" err="1">
                <a:latin typeface="Courier New" pitchFamily="49" charset="0"/>
              </a:rPr>
              <a:t>pid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</a:rPr>
              <a:t>len</a:t>
            </a:r>
            <a:r>
              <a:rPr lang="en-US" altLang="en-US" b="1" dirty="0">
                <a:latin typeface="Courier New" pitchFamily="49" charset="0"/>
              </a:rPr>
              <a:t>;</a:t>
            </a:r>
          </a:p>
          <a:p>
            <a:r>
              <a:rPr lang="en-US" altLang="en-US" b="1" dirty="0">
                <a:latin typeface="Courier New" pitchFamily="49" charset="0"/>
              </a:rPr>
              <a:t>   char </a:t>
            </a:r>
            <a:r>
              <a:rPr lang="en-US" altLang="en-US" b="1" dirty="0" err="1">
                <a:latin typeface="Courier New" pitchFamily="49" charset="0"/>
              </a:rPr>
              <a:t>buf</a:t>
            </a:r>
            <a:r>
              <a:rPr lang="en-US" altLang="en-US" b="1" dirty="0">
                <a:latin typeface="Courier New" pitchFamily="49" charset="0"/>
              </a:rPr>
              <a:t>[100], *</a:t>
            </a:r>
            <a:r>
              <a:rPr lang="en-US" altLang="en-US" b="1" dirty="0" err="1">
                <a:latin typeface="Courier New" pitchFamily="49" charset="0"/>
              </a:rPr>
              <a:t>str</a:t>
            </a:r>
            <a:r>
              <a:rPr lang="en-US" altLang="en-US" b="1" dirty="0">
                <a:latin typeface="Courier New" pitchFamily="49" charset="0"/>
              </a:rPr>
              <a:t> = "Hello There!";</a:t>
            </a:r>
          </a:p>
          <a:p>
            <a:endParaRPr lang="en-US" altLang="en-US" b="1" dirty="0">
              <a:latin typeface="Courier New" pitchFamily="49" charset="0"/>
            </a:endParaRPr>
          </a:p>
          <a:p>
            <a:r>
              <a:rPr lang="en-US" altLang="en-US" b="1" dirty="0">
                <a:latin typeface="Courier New" pitchFamily="49" charset="0"/>
              </a:rPr>
              <a:t> 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</a:t>
            </a:r>
            <a:r>
              <a:rPr lang="en-US" altLang="en-US" b="1" i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pipe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latin typeface="Courier New" pitchFamily="49" charset="0"/>
              </a:rPr>
              <a:t>   if ((</a:t>
            </a:r>
            <a:r>
              <a:rPr lang="en-US" altLang="en-US" b="1" dirty="0" err="1">
                <a:latin typeface="Courier New" pitchFamily="49" charset="0"/>
              </a:rPr>
              <a:t>pid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n-US" altLang="en-US" b="1" i="1" dirty="0">
                <a:solidFill>
                  <a:srgbClr val="C00000"/>
                </a:solidFill>
                <a:latin typeface="Courier New" pitchFamily="49" charset="0"/>
              </a:rPr>
              <a:t>fork</a:t>
            </a:r>
            <a:r>
              <a:rPr lang="en-US" altLang="en-US" b="1" dirty="0">
                <a:latin typeface="Courier New" pitchFamily="49" charset="0"/>
              </a:rPr>
              <a:t>()) &gt; 0) {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</a:rPr>
              <a:t>/* parent */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[READ_END]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9900CC"/>
                </a:solidFill>
                <a:latin typeface="Courier New" pitchFamily="49" charset="0"/>
              </a:rPr>
              <a:t>write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[WRITE_END]</a:t>
            </a:r>
            <a:r>
              <a:rPr lang="en-US" altLang="en-US" b="1" dirty="0">
                <a:latin typeface="Courier New" pitchFamily="49" charset="0"/>
              </a:rPr>
              <a:t>,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str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strlen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(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str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)+1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[WRITE_END]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latin typeface="Courier New" pitchFamily="49" charset="0"/>
              </a:rPr>
              <a:t>   } else { 			  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</a:rPr>
              <a:t>/* child */</a:t>
            </a:r>
            <a:r>
              <a:rPr lang="en-US" altLang="en-US" b="1" dirty="0">
                <a:latin typeface="Courier New" pitchFamily="49" charset="0"/>
              </a:rPr>
              <a:t>	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[WRITE_END]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len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=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read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[READ_END]</a:t>
            </a:r>
            <a:r>
              <a:rPr lang="en-US" altLang="en-US" b="1" dirty="0">
                <a:latin typeface="Courier New" pitchFamily="49" charset="0"/>
              </a:rPr>
              <a:t>,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buf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sizeof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buf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dirty="0" err="1">
                <a:latin typeface="Courier New" pitchFamily="49" charset="0"/>
              </a:rPr>
              <a:t>printf</a:t>
            </a:r>
            <a:r>
              <a:rPr lang="en-US" altLang="en-US" b="1" dirty="0">
                <a:latin typeface="Courier New" pitchFamily="49" charset="0"/>
              </a:rPr>
              <a:t>("</a:t>
            </a:r>
            <a:r>
              <a:rPr lang="en-US" altLang="en-US" b="1" dirty="0" err="1">
                <a:latin typeface="Courier New" pitchFamily="49" charset="0"/>
              </a:rPr>
              <a:t>Proc</a:t>
            </a:r>
            <a:r>
              <a:rPr lang="en-US" altLang="en-US" b="1" dirty="0">
                <a:latin typeface="Courier New" pitchFamily="49" charset="0"/>
              </a:rPr>
              <a:t> %d read: %s\n", </a:t>
            </a:r>
            <a:r>
              <a:rPr lang="en-US" altLang="en-US" b="1" dirty="0" err="1">
                <a:latin typeface="Courier New" pitchFamily="49" charset="0"/>
              </a:rPr>
              <a:t>pid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</a:rPr>
              <a:t>buf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[READ_END]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latin typeface="Courier New" pitchFamily="49" charset="0"/>
              </a:rPr>
              <a:t>    }</a:t>
            </a:r>
          </a:p>
          <a:p>
            <a:r>
              <a:rPr lang="en-US" alt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901011" y="5727802"/>
            <a:ext cx="1676400" cy="533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parent</a:t>
            </a:r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934200" y="5800295"/>
            <a:ext cx="1295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child</a:t>
            </a:r>
            <a:endParaRPr lang="en-US" altLang="en-US" sz="2400" b="1" dirty="0">
              <a:latin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577411" y="5293176"/>
            <a:ext cx="4341834" cy="1031424"/>
            <a:chOff x="1897834" y="3851872"/>
            <a:chExt cx="4341834" cy="1031424"/>
          </a:xfrm>
        </p:grpSpPr>
        <p:sp>
          <p:nvSpPr>
            <p:cNvPr id="7" name="Text Box 16"/>
            <p:cNvSpPr txBox="1">
              <a:spLocks noChangeArrowheads="1"/>
            </p:cNvSpPr>
            <p:nvPr/>
          </p:nvSpPr>
          <p:spPr bwMode="auto">
            <a:xfrm>
              <a:off x="1897834" y="3851872"/>
              <a:ext cx="140393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pipeFd</a:t>
              </a:r>
              <a:r>
                <a:rPr lang="en-US" alt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[1]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1897834" y="4235449"/>
              <a:ext cx="898576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Write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5334000" y="4235449"/>
              <a:ext cx="905668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</a:t>
              </a:r>
            </a:p>
          </p:txBody>
        </p:sp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3213" y="4223100"/>
              <a:ext cx="2462213" cy="660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4632033" y="3851872"/>
              <a:ext cx="140393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pipeFd</a:t>
              </a: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[0]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2978267" y="4358991"/>
              <a:ext cx="2098830" cy="36540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657843" y="5800295"/>
            <a:ext cx="1542953" cy="365409"/>
            <a:chOff x="3657843" y="5800295"/>
            <a:chExt cx="1542953" cy="365409"/>
          </a:xfrm>
        </p:grpSpPr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4591196" y="5983000"/>
              <a:ext cx="609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3657843" y="5800295"/>
              <a:ext cx="1129296" cy="365409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itchFamily="49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35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16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Unix Pipes: </a:t>
            </a:r>
            <a:r>
              <a:rPr lang="en-US" b="1" dirty="0">
                <a:solidFill>
                  <a:srgbClr val="C00000"/>
                </a:solidFill>
              </a:rPr>
              <a:t>More to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possible to:</a:t>
            </a:r>
          </a:p>
          <a:p>
            <a:pPr lvl="1"/>
            <a:r>
              <a:rPr lang="en-US" dirty="0"/>
              <a:t>Attach/change the standard communication channels (</a:t>
            </a:r>
            <a:r>
              <a:rPr lang="en-US" dirty="0" err="1"/>
              <a:t>stdin</a:t>
            </a:r>
            <a:r>
              <a:rPr lang="en-US" dirty="0"/>
              <a:t>, </a:t>
            </a:r>
            <a:r>
              <a:rPr lang="en-US" dirty="0" err="1"/>
              <a:t>stdout</a:t>
            </a:r>
            <a:r>
              <a:rPr lang="en-US" dirty="0"/>
              <a:t>, </a:t>
            </a:r>
            <a:r>
              <a:rPr lang="en-US" dirty="0" err="1"/>
              <a:t>stderr</a:t>
            </a:r>
            <a:r>
              <a:rPr lang="en-US" dirty="0"/>
              <a:t>) to one of the pipes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Redirect the input/output from one program to another!</a:t>
            </a:r>
          </a:p>
          <a:p>
            <a:pPr lvl="2">
              <a:buFont typeface="Wingdings" panose="05000000000000000000" pitchFamily="2" charset="2"/>
              <a:buChar char="è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Unix system calls to explore: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dup()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dup2()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Wikipedia article 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dup()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system call has a great program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Unix Signal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pssst</a:t>
            </a:r>
            <a:r>
              <a:rPr lang="en-US" dirty="0"/>
              <a:t>! </a:t>
            </a:r>
            <a:r>
              <a:rPr lang="en-US" dirty="0" err="1"/>
              <a:t>pssst</a:t>
            </a:r>
            <a:r>
              <a:rPr lang="en-US" dirty="0"/>
              <a:t>!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284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Unix Signal</a:t>
            </a:r>
            <a:r>
              <a:rPr lang="en-US" dirty="0"/>
              <a:t>: Quick Overview</a:t>
            </a:r>
            <a:endParaRPr lang="en-SG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form of inter-process communication</a:t>
            </a:r>
          </a:p>
          <a:p>
            <a:pPr lvl="1"/>
            <a:r>
              <a:rPr lang="en-US" dirty="0"/>
              <a:t>An asynchronous notification regarding an event </a:t>
            </a:r>
          </a:p>
          <a:p>
            <a:pPr lvl="1"/>
            <a:r>
              <a:rPr lang="en-US" dirty="0"/>
              <a:t>Sent to a process/thread </a:t>
            </a:r>
          </a:p>
          <a:p>
            <a:pPr lvl="1"/>
            <a:endParaRPr lang="en-US" dirty="0"/>
          </a:p>
          <a:p>
            <a:r>
              <a:rPr lang="en-US" dirty="0"/>
              <a:t>The recipient of the signal must handle the signal by:</a:t>
            </a:r>
          </a:p>
          <a:p>
            <a:pPr lvl="1"/>
            <a:r>
              <a:rPr lang="en-US" dirty="0"/>
              <a:t>A default set of handlers OR</a:t>
            </a:r>
          </a:p>
          <a:p>
            <a:pPr lvl="1"/>
            <a:r>
              <a:rPr lang="en-US" dirty="0"/>
              <a:t>User supplied handler (</a:t>
            </a:r>
            <a:r>
              <a:rPr lang="en-US" i="1" dirty="0"/>
              <a:t>only for some signals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Common signals in Unix:</a:t>
            </a:r>
          </a:p>
          <a:p>
            <a:pPr lvl="1"/>
            <a:r>
              <a:rPr lang="en-US" dirty="0"/>
              <a:t>Kill, Stop, Continue, Memory error, Arithmetic error, etc….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48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36548" y="990600"/>
            <a:ext cx="7391400" cy="545995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#include &lt;</a:t>
            </a:r>
            <a:r>
              <a:rPr lang="en-US" altLang="en-US" sz="1600" dirty="0" err="1">
                <a:latin typeface="Courier New" pitchFamily="49" charset="0"/>
              </a:rPr>
              <a:t>stdio.h</a:t>
            </a:r>
            <a:r>
              <a:rPr lang="en-US" altLang="en-US" sz="1600" dirty="0">
                <a:latin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#include &lt;</a:t>
            </a:r>
            <a:r>
              <a:rPr lang="en-US" altLang="en-US" sz="1600" dirty="0" err="1">
                <a:latin typeface="Courier New" pitchFamily="49" charset="0"/>
              </a:rPr>
              <a:t>signal.h</a:t>
            </a:r>
            <a:r>
              <a:rPr lang="en-US" altLang="en-US" sz="1600" dirty="0">
                <a:latin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#include &lt;</a:t>
            </a:r>
            <a:r>
              <a:rPr lang="en-US" altLang="en-US" sz="1600" dirty="0" err="1">
                <a:latin typeface="Courier New" pitchFamily="49" charset="0"/>
              </a:rPr>
              <a:t>unistd.h</a:t>
            </a:r>
            <a:r>
              <a:rPr lang="en-US" altLang="en-US" sz="1600" dirty="0">
                <a:latin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void </a:t>
            </a:r>
            <a:r>
              <a:rPr lang="en-US" altLang="en-US" sz="1600" dirty="0" err="1">
                <a:latin typeface="Courier New" pitchFamily="49" charset="0"/>
              </a:rPr>
              <a:t>myOwnHandler</a:t>
            </a:r>
            <a:r>
              <a:rPr lang="en-US" altLang="en-US" sz="1600" dirty="0">
                <a:latin typeface="Courier New" pitchFamily="49" charset="0"/>
              </a:rPr>
              <a:t>( </a:t>
            </a:r>
            <a:r>
              <a:rPr lang="en-US" altLang="en-US" sz="1600" dirty="0" err="1">
                <a:latin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</a:rPr>
              <a:t>signo</a:t>
            </a:r>
            <a:r>
              <a:rPr lang="en-US" altLang="en-US" sz="1600" dirty="0">
                <a:latin typeface="Courier New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{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if (</a:t>
            </a:r>
            <a:r>
              <a:rPr lang="en-US" altLang="en-US" sz="1600" dirty="0" err="1">
                <a:latin typeface="Courier New" pitchFamily="49" charset="0"/>
              </a:rPr>
              <a:t>signo</a:t>
            </a:r>
            <a:r>
              <a:rPr lang="en-US" altLang="en-US" sz="1600" dirty="0">
                <a:latin typeface="Courier New" pitchFamily="49" charset="0"/>
              </a:rPr>
              <a:t> == </a:t>
            </a:r>
            <a:r>
              <a:rPr lang="en-US" altLang="en-US" sz="1600" b="1" i="1" dirty="0">
                <a:latin typeface="Courier New" pitchFamily="49" charset="0"/>
              </a:rPr>
              <a:t>SIGSEGV</a:t>
            </a:r>
            <a:r>
              <a:rPr lang="en-US" altLang="en-US" sz="1600" dirty="0">
                <a:latin typeface="Courier New" pitchFamily="49" charset="0"/>
              </a:rPr>
              <a:t>){    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</a:t>
            </a:r>
            <a:r>
              <a:rPr lang="en-US" altLang="en-US" sz="1600" dirty="0" err="1">
                <a:latin typeface="Courier New" pitchFamily="49" charset="0"/>
              </a:rPr>
              <a:t>printf</a:t>
            </a:r>
            <a:r>
              <a:rPr lang="en-US" altLang="en-US" sz="1600" dirty="0">
                <a:latin typeface="Courier New" pitchFamily="49" charset="0"/>
              </a:rPr>
              <a:t>("Memory access blows up!\n");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exit(1);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 err="1">
                <a:latin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</a:rPr>
              <a:t> main(){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</a:t>
            </a:r>
            <a:r>
              <a:rPr lang="en-US" altLang="en-US" sz="1600" dirty="0" err="1">
                <a:latin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</a:rPr>
              <a:t> *</a:t>
            </a:r>
            <a:r>
              <a:rPr lang="en-US" altLang="en-US" sz="1600" dirty="0" err="1">
                <a:latin typeface="Courier New" pitchFamily="49" charset="0"/>
              </a:rPr>
              <a:t>ip</a:t>
            </a:r>
            <a:r>
              <a:rPr lang="en-US" altLang="en-US" sz="1600" dirty="0">
                <a:latin typeface="Courier New" pitchFamily="49" charset="0"/>
              </a:rPr>
              <a:t> = NULL;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if (signal(</a:t>
            </a:r>
            <a:r>
              <a:rPr lang="en-US" altLang="en-US" sz="1600" b="1" i="1" dirty="0">
                <a:latin typeface="Courier New" pitchFamily="49" charset="0"/>
              </a:rPr>
              <a:t>SIGSEGV</a:t>
            </a:r>
            <a:r>
              <a:rPr lang="en-US" altLang="en-US" sz="1600" dirty="0">
                <a:latin typeface="Courier New" pitchFamily="49" charset="0"/>
              </a:rPr>
              <a:t>, </a:t>
            </a:r>
            <a:r>
              <a:rPr lang="en-US" altLang="en-US" sz="1600" dirty="0" err="1">
                <a:latin typeface="Courier New" pitchFamily="49" charset="0"/>
              </a:rPr>
              <a:t>myOwnHandler</a:t>
            </a:r>
            <a:r>
              <a:rPr lang="en-US" altLang="en-US" sz="1600" dirty="0">
                <a:latin typeface="Courier New" pitchFamily="49" charset="0"/>
              </a:rPr>
              <a:t>) == </a:t>
            </a:r>
            <a:r>
              <a:rPr lang="en-US" altLang="en-US" sz="1600" b="1" i="1" dirty="0">
                <a:latin typeface="Courier New" pitchFamily="49" charset="0"/>
              </a:rPr>
              <a:t>SIG_ERR</a:t>
            </a:r>
            <a:r>
              <a:rPr lang="en-US" altLang="en-US" sz="1600" dirty="0">
                <a:latin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</a:t>
            </a:r>
            <a:r>
              <a:rPr lang="en-US" altLang="en-US" sz="1600" dirty="0" err="1">
                <a:latin typeface="Courier New" pitchFamily="49" charset="0"/>
              </a:rPr>
              <a:t>printf</a:t>
            </a:r>
            <a:r>
              <a:rPr lang="en-US" altLang="en-US" sz="1600" dirty="0">
                <a:latin typeface="Courier New" pitchFamily="49" charset="0"/>
              </a:rPr>
              <a:t>("Failed to register handler\n");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*</a:t>
            </a:r>
            <a:r>
              <a:rPr lang="en-US" altLang="en-US" sz="1600" dirty="0" err="1">
                <a:latin typeface="Courier New" pitchFamily="49" charset="0"/>
              </a:rPr>
              <a:t>ip</a:t>
            </a:r>
            <a:r>
              <a:rPr lang="en-US" altLang="en-US" sz="1600" dirty="0">
                <a:latin typeface="Courier New" pitchFamily="49" charset="0"/>
              </a:rPr>
              <a:t> = 123;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return 0;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Custom Signal Handler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6220626" y="1981200"/>
            <a:ext cx="2667000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User defined function to handle signal. In this example, we handle the "SIGSEGV" signal, i.e. the memory segmentation fault signal.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53200" y="4495800"/>
            <a:ext cx="25146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Register our own code to replace the default handler.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3594" y="5257800"/>
            <a:ext cx="2579406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This statement will cause a segmentation fault.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80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Inter Process Communication mechanisms:</a:t>
            </a:r>
          </a:p>
          <a:p>
            <a:pPr lvl="1"/>
            <a:r>
              <a:rPr lang="en-US" dirty="0"/>
              <a:t>Shared Memory</a:t>
            </a:r>
          </a:p>
          <a:p>
            <a:pPr lvl="2"/>
            <a:r>
              <a:rPr lang="en-US" dirty="0"/>
              <a:t>POSIX example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Message Passing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Unix Pipes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Unix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0EED3-E81D-4A0F-976F-910BD7884078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AA3F3-5FC3-44EF-8485-AC0C6990B40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8421</TotalTime>
  <Words>2076</Words>
  <Application>Microsoft Macintosh PowerPoint</Application>
  <PresentationFormat>On-screen Show (4:3)</PresentationFormat>
  <Paragraphs>437</Paragraphs>
  <Slides>31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  <vt:variant>
        <vt:lpstr>Custom Shows</vt:lpstr>
      </vt:variant>
      <vt:variant>
        <vt:i4>1</vt:i4>
      </vt:variant>
    </vt:vector>
  </HeadingPairs>
  <TitlesOfParts>
    <vt:vector size="37" baseType="lpstr">
      <vt:lpstr>Arial</vt:lpstr>
      <vt:lpstr>Courier New</vt:lpstr>
      <vt:lpstr>Garamond</vt:lpstr>
      <vt:lpstr>Wingdings</vt:lpstr>
      <vt:lpstr>Edge</vt:lpstr>
      <vt:lpstr>Process Management Inter-Process Communication</vt:lpstr>
      <vt:lpstr>Overview</vt:lpstr>
      <vt:lpstr>Inter-Process Communication (IPC)</vt:lpstr>
      <vt:lpstr>Shared-Memory</vt:lpstr>
      <vt:lpstr>Shared-Memory: Illustration</vt:lpstr>
      <vt:lpstr>Shared-Memory: Pros and Cons</vt:lpstr>
      <vt:lpstr>POSIX Shared Memory in *nix</vt:lpstr>
      <vt:lpstr>Example: Master program   (1/2)</vt:lpstr>
      <vt:lpstr>Example: Master program   (2/2)</vt:lpstr>
      <vt:lpstr>Example: Slave program</vt:lpstr>
      <vt:lpstr>Message Passing</vt:lpstr>
      <vt:lpstr>Message Passing</vt:lpstr>
      <vt:lpstr>Message Passing: Illustration</vt:lpstr>
      <vt:lpstr>Naming Scheme: Direct Communication</vt:lpstr>
      <vt:lpstr>Naming Scheme: Indirect Communication</vt:lpstr>
      <vt:lpstr>Two Synchronization Behaviors</vt:lpstr>
      <vt:lpstr>Message Passing: Pros and Cons</vt:lpstr>
      <vt:lpstr>UNIX PIPES</vt:lpstr>
      <vt:lpstr>Pipes: Communication channels</vt:lpstr>
      <vt:lpstr>Piping in Shell</vt:lpstr>
      <vt:lpstr>Unix Pipes</vt:lpstr>
      <vt:lpstr>Unix Pipes: as a IPC Mechanism</vt:lpstr>
      <vt:lpstr>Unix Pipes: Semantic</vt:lpstr>
      <vt:lpstr>Unix Pipe: System Calls</vt:lpstr>
      <vt:lpstr>Unix Pipes: Example Code</vt:lpstr>
      <vt:lpstr>Unix Pipes: More to explore</vt:lpstr>
      <vt:lpstr>Unix Signal</vt:lpstr>
      <vt:lpstr>Unix Signal: Quick Overview</vt:lpstr>
      <vt:lpstr>Example: Custom Signal Handler </vt:lpstr>
      <vt:lpstr>Summary</vt:lpstr>
      <vt:lpstr>Reference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576</cp:revision>
  <cp:lastPrinted>1601-01-01T00:00:00Z</cp:lastPrinted>
  <dcterms:created xsi:type="dcterms:W3CDTF">1601-01-01T00:00:00Z</dcterms:created>
  <dcterms:modified xsi:type="dcterms:W3CDTF">2025-09-15T03:00:07Z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