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43"/>
  </p:notesMasterIdLst>
  <p:sldIdLst>
    <p:sldId id="256" r:id="rId4"/>
    <p:sldId id="269" r:id="rId5"/>
    <p:sldId id="258" r:id="rId6"/>
    <p:sldId id="270" r:id="rId7"/>
    <p:sldId id="271" r:id="rId8"/>
    <p:sldId id="272" r:id="rId9"/>
    <p:sldId id="273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5" r:id="rId19"/>
    <p:sldId id="283" r:id="rId20"/>
    <p:sldId id="289" r:id="rId21"/>
    <p:sldId id="284" r:id="rId22"/>
    <p:sldId id="286" r:id="rId23"/>
    <p:sldId id="288" r:id="rId24"/>
    <p:sldId id="287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9" r:id="rId34"/>
    <p:sldId id="300" r:id="rId35"/>
    <p:sldId id="298" r:id="rId36"/>
    <p:sldId id="301" r:id="rId37"/>
    <p:sldId id="302" r:id="rId38"/>
    <p:sldId id="303" r:id="rId39"/>
    <p:sldId id="304" r:id="rId40"/>
    <p:sldId id="305" r:id="rId41"/>
    <p:sldId id="306" r:id="rId42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8" autoAdjust="0"/>
    <p:restoredTop sz="94411"/>
  </p:normalViewPr>
  <p:slideViewPr>
    <p:cSldViewPr>
      <p:cViewPr>
        <p:scale>
          <a:sx n="120" d="100"/>
          <a:sy n="120" d="100"/>
        </p:scale>
        <p:origin x="922" y="-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Chan" userId="0f39f6760756e79c" providerId="LiveId" clId="{67429FA3-1F55-4DD7-B47E-D0673B438097}"/>
    <pc:docChg chg="modSld">
      <pc:chgData name="Ethan Chan" userId="0f39f6760756e79c" providerId="LiveId" clId="{67429FA3-1F55-4DD7-B47E-D0673B438097}" dt="2025-09-16T03:30:25.724" v="3" actId="1035"/>
      <pc:docMkLst>
        <pc:docMk/>
      </pc:docMkLst>
      <pc:sldChg chg="modSp mod">
        <pc:chgData name="Ethan Chan" userId="0f39f6760756e79c" providerId="LiveId" clId="{67429FA3-1F55-4DD7-B47E-D0673B438097}" dt="2025-09-16T03:30:25.724" v="3" actId="1035"/>
        <pc:sldMkLst>
          <pc:docMk/>
          <pc:sldMk cId="3317561322" sldId="276"/>
        </pc:sldMkLst>
        <pc:picChg chg="mod">
          <ac:chgData name="Ethan Chan" userId="0f39f6760756e79c" providerId="LiveId" clId="{67429FA3-1F55-4DD7-B47E-D0673B438097}" dt="2025-09-16T03:30:25.724" v="3" actId="1035"/>
          <ac:picMkLst>
            <pc:docMk/>
            <pc:sldMk cId="3317561322" sldId="276"/>
            <ac:picMk id="9" creationId="{5E7B8FCD-B531-6C7C-84C6-134CCAA940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4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4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Timer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Chapter 29)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16860A-B2FE-88A4-5442-000AD1C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D06690-20D4-5527-26DD-E2A0FB32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4 –  Timer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9B28C-29CC-34C1-E4FF-9D7E68269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1E71-4AE7-D35A-572E-190C3CA3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 dirty="0"/>
              <a:t>CG2271 Lab Lecture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434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1BDC-9BEE-0AA4-E017-7F81F7AA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CE305-604A-71FE-9369-EBBB7B4B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MCXC444 features three low power Timer/PWM Modules (TPMs).</a:t>
            </a:r>
          </a:p>
          <a:p>
            <a:pPr lvl="1"/>
            <a:r>
              <a:rPr lang="en-SG" dirty="0"/>
              <a:t>TPM0, 1 and 2 can be clocked through various sources.</a:t>
            </a:r>
          </a:p>
          <a:p>
            <a:pPr lvl="1"/>
            <a:r>
              <a:rPr lang="en-SG" dirty="0"/>
              <a:t>Each features a 16-bit counter that can count upwards or downwards.</a:t>
            </a:r>
          </a:p>
          <a:p>
            <a:pPr lvl="1"/>
            <a:r>
              <a:rPr lang="en-SG" dirty="0"/>
              <a:t>Each TPM has 6 external channels that can function as:</a:t>
            </a:r>
          </a:p>
          <a:p>
            <a:pPr lvl="2"/>
            <a:r>
              <a:rPr lang="en-SG" dirty="0"/>
              <a:t>Input capture – count number of times an input is triggered.</a:t>
            </a:r>
          </a:p>
          <a:p>
            <a:pPr lvl="2"/>
            <a:r>
              <a:rPr lang="en-SG" dirty="0"/>
              <a:t>PWM – Phase correct (centre-aligned) or fast (edge-aligned) PWM.</a:t>
            </a:r>
          </a:p>
          <a:p>
            <a:pPr lvl="2"/>
            <a:r>
              <a:rPr lang="en-SG" dirty="0"/>
              <a:t>Compare – Triggered when counter matches a value.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8D0F1-8CCF-63C4-5616-B13308BA5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83289-5693-B463-4CBE-5FB9F581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91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CB0D-3E78-2E44-D1AB-39485B72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1FC15-9249-C058-C753-1F4F9802B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FBC65-BEB3-8A8F-4C97-C5E54259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1145E-515D-236B-4441-C0608B52C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534690" cy="50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1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0C05-0285-EC11-3E52-D013DD80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F2E2-AE12-2A97-2D2A-DA694015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TPMs have many features but in this lecture we will only focus on generating interrupts at fixed intervals.</a:t>
            </a:r>
          </a:p>
          <a:p>
            <a:pPr lvl="1"/>
            <a:r>
              <a:rPr lang="en-SG" dirty="0"/>
              <a:t>Useful for timing events (e.g. interval between a GPIO input being triggered), for creating a pre-emptive OS kernel, etc.</a:t>
            </a:r>
          </a:p>
          <a:p>
            <a:r>
              <a:rPr lang="en-SG" dirty="0"/>
              <a:t>In the next lecture we will look at using the TPMs to generate PWM signals.</a:t>
            </a:r>
          </a:p>
          <a:p>
            <a:r>
              <a:rPr lang="en-SG" dirty="0"/>
              <a:t>Once you understand the basics, you can reconfigure the TPMs to do other things.</a:t>
            </a:r>
          </a:p>
          <a:p>
            <a:pPr lvl="1"/>
            <a:r>
              <a:rPr lang="en-SG" dirty="0"/>
              <a:t>E.g. generate waveforms when a value is matched.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159B7-79E5-7CFA-C62E-F9022FCF9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A54BA-6101-AC91-2B84-ED0F22BE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44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90F7-2F8E-1862-A187-44B6800D7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19D78B-557C-D926-F7AC-2BA3E00C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Clock source setup</a:t>
            </a:r>
            <a:br>
              <a:rPr lang="en-SG" dirty="0"/>
            </a:br>
            <a:endParaRPr lang="en-S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C853CF-68EF-E6BA-20D5-7777522E0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4 –  Timer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68FA-DC6A-E09F-43A2-9F9EEF2F7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46390-E28B-79DD-3759-9CDB9929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 dirty="0"/>
              <a:t>CG2271 Lab Lecture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430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847D09-5E0A-D5BD-2DD9-0B03F256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Clock Source Setup</a:t>
            </a:r>
            <a:br>
              <a:rPr lang="en-SG" dirty="0"/>
            </a:b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28FDF2-D687-3281-6370-539C32A26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TPMs can be driven by several internal and external clock 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0DF57-7989-C43B-59C6-DFA6C1B2C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67DAA-F3D4-96AF-ABC4-9FF1F539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D6E52-6C0A-9896-67DC-A14CF2879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12518"/>
            <a:ext cx="6705600" cy="406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8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A974-0A9C-969F-5F64-EC78DBB7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A185-0911-B5F8-D296-C4A262DE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Clock Source Setup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D571-5114-73D2-E8F5-3D9DDA29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use the Multipurpose Clock Generator Lite (MCG-Lite) to drive the TPMs.</a:t>
            </a:r>
          </a:p>
          <a:p>
            <a:pPr lvl="1"/>
            <a:r>
              <a:rPr lang="en-US" dirty="0"/>
              <a:t>Features a high frequency internal reference clock (HIRC) of 48 MHz and low frequency internal reference clock (LIRC) source of 8 MHz or 2 </a:t>
            </a:r>
            <a:r>
              <a:rPr lang="en-US" dirty="0" err="1"/>
              <a:t>MHz.</a:t>
            </a:r>
            <a:endParaRPr lang="en-US" dirty="0"/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36850-8977-1D14-85D7-324DC94E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AC93-E339-3C89-DB2B-7E23C301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E6762-2863-7BB1-6EDC-57CD209B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276600"/>
            <a:ext cx="4419600" cy="301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AD16-15A9-8BE6-0F57-A18AC4DE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5E2E-9553-DDCF-E6DF-10797CA1B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MCG Control Register 1 (MCG_C1) lets you choose the clock source in the CLKS bits: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5B0C0-8317-46B5-1AD0-A6C6D207E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AB4A5-A4FC-368D-6694-58CBBBD2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AB8A7-7BBD-D6B0-60F4-9DED63F8E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81201"/>
            <a:ext cx="6858000" cy="1061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7B8FCD-B531-6C7C-84C6-134CCAA9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439" y="3124200"/>
            <a:ext cx="5867400" cy="33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1C98-E938-1507-17FF-6530329B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C9CB7-6AD3-0CA5-3D2F-91BBB1E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clock source you choose depends on the time interval you wish to program.</a:t>
            </a:r>
          </a:p>
          <a:p>
            <a:pPr lvl="1"/>
            <a:r>
              <a:rPr lang="en-US" dirty="0"/>
              <a:t>In our example we will generate an interrupt once per second.</a:t>
            </a:r>
          </a:p>
          <a:p>
            <a:pPr lvl="1"/>
            <a:r>
              <a:rPr lang="en-US" dirty="0"/>
              <a:t>Using a 48MHz clock will require a very large </a:t>
            </a:r>
            <a:r>
              <a:rPr lang="en-US" dirty="0" err="1"/>
              <a:t>prescalar</a:t>
            </a:r>
            <a:r>
              <a:rPr lang="en-US" dirty="0"/>
              <a:t>, so we will use the 8 MHz clock instead.</a:t>
            </a:r>
          </a:p>
          <a:p>
            <a:r>
              <a:rPr lang="en-US" dirty="0"/>
              <a:t>This means that we will choose LIRC as the main clock source: CLKS = 0b01.</a:t>
            </a:r>
          </a:p>
          <a:p>
            <a:r>
              <a:rPr lang="en-US" dirty="0"/>
              <a:t>We also need to set IRCLKEN to 1 to enable the low frequency internal reference clock.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CA77D-0F50-0408-6FA5-13F584DEC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7DAD-A6AF-1FF3-3A38-572EDE57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73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6901-9D25-BA1A-83E6-4F33406B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2C308C-314A-27A2-7FB4-83C2A6C0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SG" dirty="0"/>
          </a:p>
          <a:p>
            <a:endParaRPr lang="en-SG" dirty="0"/>
          </a:p>
          <a:p>
            <a:pPr lvl="1"/>
            <a:r>
              <a:rPr lang="en-SG" dirty="0"/>
              <a:t>MCG Control Register 2 (MCG_C2) lets you choose either the 8 MHz or 2 MHz clocks by setting the IRCS (internal reference clock select) bit to 0 (2 MHz) or 1 (8 MHz).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B29B5-B99E-6D6E-3EB4-C42ECB829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B978B-52B5-6C55-27E0-4EBF0B83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7F54C-DA56-122A-F326-AF9813D0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6077798" cy="1228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5FC781-08E7-66AB-904B-A1E8578EB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72000"/>
            <a:ext cx="352474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0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F93D-544E-9447-9512-8CF584CA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80690-3151-771A-33E3-34E57077E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MCG lets you further divide the clock frequency two more times (circled) to generate the final output frequency at MCGIRCLK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2AA1-BE6B-81A8-56B5-1FE4DE934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17FC6-707B-889A-E19A-691652B2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7B843-A4A1-96F2-B3EE-EA1228BC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8400"/>
            <a:ext cx="5334000" cy="363587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237FEF-EA54-A112-C212-94817B34BCA3}"/>
              </a:ext>
            </a:extLst>
          </p:cNvPr>
          <p:cNvSpPr/>
          <p:nvPr/>
        </p:nvSpPr>
        <p:spPr>
          <a:xfrm>
            <a:off x="6019800" y="3733800"/>
            <a:ext cx="685800" cy="1066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D3B0D2-34DD-9E69-4FE6-A5EAD8074E15}"/>
              </a:ext>
            </a:extLst>
          </p:cNvPr>
          <p:cNvSpPr/>
          <p:nvPr/>
        </p:nvSpPr>
        <p:spPr>
          <a:xfrm>
            <a:off x="6934200" y="4686322"/>
            <a:ext cx="685800" cy="1066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5732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7D77-E6C8-89BE-416F-18F43832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A282-A26C-9FE6-216A-9A3D65D2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 this through the FRCDIV bits of the MCG Status and Control Register (MCG_SC) and LIRC_DIV2 bits of the MCG Miscellaneous Control Register (MCG_MC)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C863-F605-92D6-1002-2C5C2DA2C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DEC78-5CD3-AA03-86A2-BD35275E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BC658-3D24-31B6-9787-7FE08DC3B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7086600" cy="1074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C735A0-F2DB-8712-7692-ED443A056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077514"/>
            <a:ext cx="6096000" cy="236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C37E-181F-3661-BBE8-82F56A89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82B5-DD1E-7F5D-BBD0-67387C26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F9F43-A6FB-CED0-B20E-A8909C561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BB221-336D-83EB-1D63-1C5FE8C5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BCA29-7A44-8781-4B5A-CF5C4566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16000"/>
            <a:ext cx="7293429" cy="900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E29316-9EE1-2EB5-9C1D-0FBAB109A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1982382"/>
            <a:ext cx="6019800" cy="318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1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3A22-FDAD-DA95-A14C-F0B93A0A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MCG Clock Source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54B0-D764-94F0-3AA9-766E0BF08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Since we want to keep the 8 MHz frequency, we choose divisors of 1 for FCRDIV and LIRC_DIV2: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ECF25-32DC-272B-E3BF-B5C1C274C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16B6-5C0F-93CA-7EE3-E0D632BE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A6E562-6B26-DA4E-E7EC-EBB217F9F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44" y="2819118"/>
            <a:ext cx="4020111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7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A25-53CB-6123-3E0C-F3539082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SG" dirty="0"/>
              <a:t>Clock Source Setup Full Code</a:t>
            </a:r>
            <a:endParaRPr lang="en-SG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48C4EED-4D0C-4067-8ADF-96411CDA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0" y="990600"/>
            <a:ext cx="7046259" cy="54864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37818-8DCE-FDA9-3111-54B7C49B1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E4B16682-6FB4-4344-B037-3C8A3CEB850D}" type="slidenum">
              <a:rPr lang="en-US" altLang="en-US" smtClean="0"/>
              <a:pPr>
                <a:spcAft>
                  <a:spcPts val="600"/>
                </a:spcAft>
              </a:pPr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37A14-03C3-DD73-4B2C-C1B9E5D1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SG" altLang="en-US" sz="900"/>
              <a:t>CG2271 Lab Lecture 4</a:t>
            </a: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2879313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D1CB-F15F-26D6-6DED-3246185C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0CADC7-818C-B329-319C-3CE143074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Tpm</a:t>
            </a:r>
            <a:r>
              <a:rPr lang="en-SG" dirty="0"/>
              <a:t> setup</a:t>
            </a:r>
            <a:br>
              <a:rPr lang="en-SG" dirty="0"/>
            </a:br>
            <a:endParaRPr lang="en-S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40FDD1-2955-0249-B654-28B8BB338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4 –  Timer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3C087-5B65-E197-5072-87EE0C68D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F55C3-7D3F-2E6D-BE3D-2524A36D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 dirty="0"/>
              <a:t>CG2271 Lab Lecture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5681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D89E-88C1-AB29-2C4F-79206F8F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1F9A70-B487-F912-FFC7-518833BB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Preliminary setup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F6811-6612-1FCC-DAAC-87EB3E334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always good practice to disable interrupts while setting up a timer. </a:t>
            </a:r>
          </a:p>
          <a:p>
            <a:pPr lvl="1"/>
            <a:r>
              <a:rPr lang="en-US" dirty="0"/>
              <a:t>We are going to use TPM1, so we disable TPM1_IRQn</a:t>
            </a:r>
          </a:p>
          <a:p>
            <a:pPr lvl="1"/>
            <a:r>
              <a:rPr lang="en-US" dirty="0"/>
              <a:t>We also call </a:t>
            </a:r>
            <a:r>
              <a:rPr lang="en-US" dirty="0" err="1"/>
              <a:t>setMCGIRClk</a:t>
            </a:r>
            <a:r>
              <a:rPr lang="en-US" dirty="0"/>
              <a:t> which sets up the MCG internal reference clock, as shown in the previous section: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E7935-27B9-C579-DDD6-7BED74FDD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74C6A-76EC-B709-2017-028EE3A8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A798E-1761-6E56-D55B-0E0C245D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419600"/>
            <a:ext cx="3848637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54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72C68C-6917-0A27-0027-95B51999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TPM Clock Gating	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900525-FDBB-0141-38B7-3674B51F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will now set up the TPM. We begin first by turning on the clocking to the correct TPM in SIM_SCGC6:</a:t>
            </a:r>
          </a:p>
          <a:p>
            <a:pPr lvl="1"/>
            <a:r>
              <a:rPr lang="en-SG" dirty="0"/>
              <a:t>In our example we will use TPM1, so we set the TPM1 bit to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A4C1-7BDC-ED54-4C8D-4F03E7F0B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EB829-4827-9923-4E93-8423CC08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F69492-272C-7D3E-CC93-E722831E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29000"/>
            <a:ext cx="7048500" cy="11890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EFAD54-8209-0529-714E-DE56A2044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576" y="5014057"/>
            <a:ext cx="3924848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6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AB4-AC0B-8931-2288-9336375B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TPM Clock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D5AB9-5777-12E3-BAE7-4B20007E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select which clock we want to use for the TPM through the TPMSRC bits in the System Options Register 2 (SIM_SOPT2).</a:t>
            </a:r>
          </a:p>
          <a:p>
            <a:pPr lvl="1"/>
            <a:r>
              <a:rPr lang="en-SG" dirty="0"/>
              <a:t>SIM_SOPT2 also controls the clock selection for the USB, low power UART,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6AE01-F8E9-937A-DEDB-31EBE7B3F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49547-3469-0F27-52B2-67845CC3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80DCA9-6E96-26FC-4CC1-0452B962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429000"/>
            <a:ext cx="611590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9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9EDD-A31D-6978-A5A2-ABD8F7E7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TPM Clock Selection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CA5A11E-B965-8C2A-022B-AE97E120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Since we have set up the MCG Internal Reference Clock (MCGIRCLK), we will use that (0b11):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2E93F-547E-0EBE-80D4-58C2BCC9E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A7BE1-9253-2D0F-842B-FBF52A9C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60CDD-251B-1191-F603-E97CC0057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28700"/>
            <a:ext cx="6087325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146F22-7594-CED6-70DF-1357F53F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343400"/>
            <a:ext cx="440116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91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7137-9BF1-B257-E60C-1BCBE1B3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Core Setup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7C6AE-BEC3-8D53-5F38-1931D2ABB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now begin setting up the TPM itself.</a:t>
            </a:r>
          </a:p>
          <a:p>
            <a:pPr lvl="1"/>
            <a:r>
              <a:rPr lang="en-US" dirty="0"/>
              <a:t>We begin by turning off the TPM by setting CMOD (counter mode) to 0.</a:t>
            </a:r>
          </a:p>
          <a:p>
            <a:pPr lvl="1"/>
            <a:r>
              <a:rPr lang="en-US" dirty="0"/>
              <a:t>We clear the </a:t>
            </a:r>
            <a:r>
              <a:rPr lang="en-US" dirty="0" err="1"/>
              <a:t>prescalar</a:t>
            </a:r>
            <a:r>
              <a:rPr lang="en-US" dirty="0"/>
              <a:t> bits PS.</a:t>
            </a:r>
          </a:p>
          <a:p>
            <a:pPr lvl="1"/>
            <a:r>
              <a:rPr lang="en-US" dirty="0"/>
              <a:t>Both of these are in the TPM Status and Control Register </a:t>
            </a:r>
            <a:r>
              <a:rPr lang="en-US" dirty="0" err="1"/>
              <a:t>TPMx_SC</a:t>
            </a:r>
            <a:r>
              <a:rPr lang="en-US" dirty="0"/>
              <a:t>: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D6688-45C8-1CD1-5EA7-1A90010FF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9737-F488-06BD-3C71-E8C63005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5C22B9-023E-156E-33EA-E5BB95D8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3810000"/>
            <a:ext cx="7954485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17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12EA-B7AC-8407-1AB4-44734DE3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Core Setup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ABAA3-20CE-7DA6-0C05-440F83E59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BF46-DC44-AB32-AC4D-38B59066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2D166-1DBA-9294-E9EF-726655F0A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13548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07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C98D-C19D-7939-362B-DAC8A261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Core Setup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6B75A-E030-029A-AE5B-D7FC71B29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80098-FB35-3388-0F59-807981D3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CFCC4-9882-34E0-1CCF-75C855E7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7290"/>
            <a:ext cx="5991958" cy="55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56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6261-9508-442A-6803-195A42AE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Core Setup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C747-D601-EECD-93E3-6219536C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turn off the timer and clear the </a:t>
            </a:r>
            <a:r>
              <a:rPr lang="en-US" dirty="0" err="1"/>
              <a:t>prescalar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TPM maintains its count using the </a:t>
            </a:r>
            <a:r>
              <a:rPr lang="en-US" dirty="0" err="1"/>
              <a:t>TPMx_CNT</a:t>
            </a:r>
            <a:r>
              <a:rPr lang="en-US" dirty="0"/>
              <a:t> register, which we initialize to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6F24-C161-66FA-3191-323BCD581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679FC-5DC8-AD66-34C3-5628DFCA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35C053-6054-8E3F-9E81-152905A1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03387"/>
            <a:ext cx="5734850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200B4F-E89C-69A5-B33E-38459B32A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43400"/>
            <a:ext cx="7467600" cy="1044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06C271-870F-7019-F459-47994B6AC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5624478"/>
            <a:ext cx="206721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28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E43A-2035-77C2-7BA3-1BEADBDE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DB6D8-04E7-D99D-EDC7-E74DB5A162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must now pick the </a:t>
                </a:r>
                <a:r>
                  <a:rPr lang="en-US" dirty="0" err="1"/>
                  <a:t>prescalar</a:t>
                </a:r>
                <a:r>
                  <a:rPr lang="en-US" dirty="0"/>
                  <a:t> </a:t>
                </a:r>
                <a:r>
                  <a:rPr lang="en-US" i="1" dirty="0" err="1"/>
                  <a:t>ps</a:t>
                </a:r>
                <a:r>
                  <a:rPr lang="en-US" dirty="0"/>
                  <a:t>; as with the ATMega328P, the timer counter (</a:t>
                </a:r>
                <a:r>
                  <a:rPr lang="en-US" dirty="0" err="1"/>
                  <a:t>TPMx_CNT</a:t>
                </a:r>
                <a:r>
                  <a:rPr lang="en-US" dirty="0"/>
                  <a:t>) is updated (incremented or decremented) every </a:t>
                </a:r>
                <a:r>
                  <a:rPr lang="en-US" i="1" dirty="0" err="1"/>
                  <a:t>ps</a:t>
                </a:r>
                <a:r>
                  <a:rPr lang="en-US" dirty="0"/>
                  <a:t> clock cycles.</a:t>
                </a:r>
              </a:p>
              <a:p>
                <a:pPr lvl="1"/>
                <a:r>
                  <a:rPr lang="en-US" b="1" dirty="0"/>
                  <a:t>Note: </a:t>
                </a:r>
                <a:r>
                  <a:rPr lang="en-US" b="1" dirty="0">
                    <a:solidFill>
                      <a:srgbClr val="C00000"/>
                    </a:solidFill>
                  </a:rPr>
                  <a:t>ALWAYS</a:t>
                </a:r>
                <a:r>
                  <a:rPr lang="en-US" b="1" dirty="0"/>
                  <a:t> CLEAR </a:t>
                </a:r>
                <a:r>
                  <a:rPr lang="en-US" b="1" dirty="0" err="1"/>
                  <a:t>TPMx_CNT</a:t>
                </a:r>
                <a:r>
                  <a:rPr lang="en-US" b="1" dirty="0"/>
                  <a:t> BEFORE SETTING </a:t>
                </a:r>
                <a:r>
                  <a:rPr lang="en-US" b="1" dirty="0" err="1"/>
                  <a:t>TPMx_MOD</a:t>
                </a:r>
                <a:r>
                  <a:rPr lang="en-US" b="1" dirty="0"/>
                  <a:t>.</a:t>
                </a:r>
                <a:endParaRPr lang="en-SG" b="1" dirty="0"/>
              </a:p>
              <a:p>
                <a:pPr lvl="1"/>
                <a:r>
                  <a:rPr lang="en-SG" dirty="0"/>
                  <a:t>We selected the 8MHz LIRC, table on the next slide shows the interval (in </a:t>
                </a:r>
                <a:r>
                  <a:rPr lang="en-SG" dirty="0" err="1"/>
                  <a:t>ms</a:t>
                </a:r>
                <a:r>
                  <a:rPr lang="en-SG" dirty="0"/>
                  <a:t>) between increments to </a:t>
                </a:r>
                <a:r>
                  <a:rPr lang="en-SG" dirty="0" err="1"/>
                  <a:t>TPMx_CNT</a:t>
                </a:r>
                <a:r>
                  <a:rPr lang="en-SG" dirty="0"/>
                  <a:t>.</a:t>
                </a:r>
              </a:p>
              <a:p>
                <a:pPr lvl="1"/>
                <a:r>
                  <a:rPr lang="en-SG" dirty="0"/>
                  <a:t>Formula used:</a:t>
                </a:r>
              </a:p>
              <a:p>
                <a:pPr marL="3444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8000000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×1000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DB6D8-04E7-D99D-EDC7-E74DB5A16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FEEE5-CC1B-5A1B-2DB3-33336E70B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57B42-3A74-8365-2F5E-E5972782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485-5332-4AA9-C730-4AA38040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854D6-1A70-C3B0-0662-0F07D5050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6C4E0-3419-31AB-4ED0-D103705C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F34A1-1326-56E3-AAEF-8368298D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9653"/>
            <a:ext cx="7754432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6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3B74-4E1A-C59E-2D95-7D8F0000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1F48-A324-0116-9574-24C1464B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selection of the </a:t>
            </a:r>
            <a:r>
              <a:rPr lang="en-SG" dirty="0" err="1"/>
              <a:t>prescalar</a:t>
            </a:r>
            <a:r>
              <a:rPr lang="en-SG" dirty="0"/>
              <a:t> is related to the selection of the modulo (</a:t>
            </a:r>
            <a:r>
              <a:rPr lang="en-SG" dirty="0" err="1"/>
              <a:t>TPMx_MOD</a:t>
            </a:r>
            <a:r>
              <a:rPr lang="en-SG" dirty="0"/>
              <a:t>) value.</a:t>
            </a:r>
          </a:p>
          <a:p>
            <a:pPr lvl="1"/>
            <a:r>
              <a:rPr lang="en-SG" dirty="0"/>
              <a:t>When </a:t>
            </a:r>
            <a:r>
              <a:rPr lang="en-SG" dirty="0" err="1"/>
              <a:t>TPMx_CNT</a:t>
            </a:r>
            <a:r>
              <a:rPr lang="en-SG" dirty="0"/>
              <a:t> reaches the value in </a:t>
            </a:r>
            <a:r>
              <a:rPr lang="en-SG" dirty="0" err="1"/>
              <a:t>TPMx_MOD</a:t>
            </a:r>
            <a:r>
              <a:rPr lang="en-SG" dirty="0"/>
              <a:t>, the timer overflow flag (TOF) is set, and if the timer overflow interrupt is enabled (through the TOIE bit in </a:t>
            </a:r>
            <a:r>
              <a:rPr lang="en-SG" dirty="0" err="1"/>
              <a:t>TPMx_SC</a:t>
            </a:r>
            <a:r>
              <a:rPr lang="en-SG" dirty="0"/>
              <a:t>). </a:t>
            </a:r>
            <a:r>
              <a:rPr lang="en-SG" dirty="0" err="1"/>
              <a:t>TPMx_CNT</a:t>
            </a:r>
            <a:r>
              <a:rPr lang="en-SG" dirty="0"/>
              <a:t> is cleared if in up-counting mode.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FA4D-5AAD-7F07-B81B-C5420B25F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E68C7-94B6-5E58-5C57-DF72D798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F6F69-2E97-599B-2000-251A64DA5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114800"/>
            <a:ext cx="6066116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31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055C-D0AA-1CD5-637A-C6E5937D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14DF3-A64C-A02B-289E-1C22E7F3A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If we wish to trigger an interval every T </a:t>
                </a:r>
                <a:r>
                  <a:rPr lang="en-SG" dirty="0" err="1"/>
                  <a:t>ms</a:t>
                </a:r>
                <a:r>
                  <a:rPr lang="en-SG" dirty="0"/>
                  <a:t>, and </a:t>
                </a:r>
                <a:r>
                  <a:rPr lang="en-SG" dirty="0" err="1"/>
                  <a:t>TPMx_CNT</a:t>
                </a:r>
                <a:r>
                  <a:rPr lang="en-SG" dirty="0"/>
                  <a:t> is updated every P, then:</a:t>
                </a:r>
              </a:p>
              <a:p>
                <a:pPr marL="344487" lvl="1" indent="0">
                  <a:buNone/>
                </a:pPr>
                <a:r>
                  <a:rPr lang="en-SG" dirty="0" err="1"/>
                  <a:t>TPMx_MOD</a:t>
                </a:r>
                <a:r>
                  <a:rPr lang="en-SG" dirty="0"/>
                  <a:t> = round(T/P), where round(.) rounds to the nearest integer (</a:t>
                </a:r>
                <a:r>
                  <a:rPr lang="en-SG" dirty="0" err="1"/>
                  <a:t>x.y</a:t>
                </a:r>
                <a:r>
                  <a:rPr lang="en-SG" dirty="0"/>
                  <a:t> rounds to x if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SG" dirty="0"/>
                  <a:t>, and to x+1 if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SG" dirty="0"/>
                  <a:t>)</a:t>
                </a:r>
              </a:p>
              <a:p>
                <a:pPr lvl="1"/>
                <a:r>
                  <a:rPr lang="en-SG" dirty="0"/>
                  <a:t>Where possible choose a </a:t>
                </a:r>
                <a:r>
                  <a:rPr lang="en-SG" dirty="0" err="1"/>
                  <a:t>prescalar</a:t>
                </a:r>
                <a:r>
                  <a:rPr lang="en-SG" dirty="0"/>
                  <a:t> so that </a:t>
                </a:r>
                <a:r>
                  <a:rPr lang="en-SG" dirty="0" err="1"/>
                  <a:t>TPMx_MOD</a:t>
                </a:r>
                <a:r>
                  <a:rPr lang="en-SG" dirty="0"/>
                  <a:t> is an integer.</a:t>
                </a:r>
              </a:p>
              <a:p>
                <a:pPr lvl="1"/>
                <a:r>
                  <a:rPr lang="en-SG" dirty="0"/>
                  <a:t>Otherwise choose a </a:t>
                </a:r>
                <a:r>
                  <a:rPr lang="en-SG" dirty="0" err="1"/>
                  <a:t>prescalar</a:t>
                </a:r>
                <a:r>
                  <a:rPr lang="en-SG" dirty="0"/>
                  <a:t> where the rounding is as small as possible.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14DF3-A64C-A02B-289E-1C22E7F3A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 r="-14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4FB8A-93AA-442E-2E54-DE921B29E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5C9DC-23D0-5CD5-8E5F-7520E6A2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470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4B83-246A-168D-FC67-A8F029CD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9B097-73A1-66B1-0290-7689B36B3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In our example we will choose a </a:t>
                </a:r>
                <a:r>
                  <a:rPr lang="en-SG" dirty="0" err="1"/>
                  <a:t>prescalar</a:t>
                </a:r>
                <a:r>
                  <a:rPr lang="en-SG" dirty="0"/>
                  <a:t> of 128.</a:t>
                </a:r>
              </a:p>
              <a:p>
                <a:pPr lvl="1"/>
                <a:r>
                  <a:rPr lang="en-SG" dirty="0"/>
                  <a:t>We wish to trigger an interrupt every second = every 1000 </a:t>
                </a:r>
                <a:r>
                  <a:rPr lang="en-SG" dirty="0" err="1"/>
                  <a:t>ms</a:t>
                </a:r>
                <a:r>
                  <a:rPr lang="en-SG" dirty="0"/>
                  <a:t>.</a:t>
                </a:r>
              </a:p>
              <a:p>
                <a:pPr lvl="1"/>
                <a:r>
                  <a:rPr lang="en-SG" dirty="0"/>
                  <a:t>Thus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8000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=0.016 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SG" dirty="0"/>
                  <a:t>, and TPM1_MOD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0.016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=62500</m:t>
                    </m:r>
                  </m:oMath>
                </a14:m>
                <a:endParaRPr lang="en-SG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9B097-73A1-66B1-0290-7689B36B3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 r="-29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33BC-FCAA-EA61-E369-CB1C2D924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C83B2-B8B5-F840-94B8-5C42BB46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896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4838-C623-9F84-B883-C03EFA3F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EE0FA-AF2D-3A9D-041A-3733D761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</a:t>
            </a:r>
            <a:r>
              <a:rPr lang="en-US" dirty="0" err="1"/>
              <a:t>Prescalar</a:t>
            </a:r>
            <a:r>
              <a:rPr lang="en-US" dirty="0"/>
              <a:t> and Modulo Selection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7CA5-34CE-7799-6922-A892D622B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So:</a:t>
            </a:r>
          </a:p>
          <a:p>
            <a:pPr lvl="1"/>
            <a:r>
              <a:rPr lang="en-SG" dirty="0"/>
              <a:t>We set PS in </a:t>
            </a:r>
            <a:r>
              <a:rPr lang="en-SG" dirty="0" err="1"/>
              <a:t>TPMx_SC</a:t>
            </a:r>
            <a:r>
              <a:rPr lang="en-SG" dirty="0"/>
              <a:t> to 7.</a:t>
            </a:r>
          </a:p>
          <a:p>
            <a:pPr lvl="1"/>
            <a:r>
              <a:rPr lang="en-SG" dirty="0"/>
              <a:t>We also set the TOIE bit to 1.</a:t>
            </a:r>
          </a:p>
          <a:p>
            <a:pPr lvl="1"/>
            <a:r>
              <a:rPr lang="en-SG" dirty="0"/>
              <a:t>We set the modulo to 62500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B7CC9-35AF-6A7A-2D59-B56276880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A8563-A2A1-0DBE-91AA-4F906D7F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25612-E419-E6BE-1BD6-CAB763A7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733800"/>
            <a:ext cx="5430008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93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C9DA-BCBB-0636-96A0-7732200B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Interrupt Priority and Enabling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7BAF-872C-8EF7-CE51-AF05A27AF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Finally we set the interrupt priority and enable the </a:t>
            </a:r>
            <a:r>
              <a:rPr lang="en-SG" dirty="0" err="1"/>
              <a:t>TPM_IRQn</a:t>
            </a:r>
            <a:r>
              <a:rPr lang="en-SG" dirty="0"/>
              <a:t> interrupt.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Full TPM setup code is on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E3F43-85AA-D3C2-088A-16A0F5AA7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AFB7F-D7B2-09F1-8919-7F5368C5B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20AFA-F4B4-948B-9DCE-F80C0E2D6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176245"/>
            <a:ext cx="2838846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31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31F4-39F6-DCE7-86CA-11BA3AF1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TPM Setup Code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59A0-1760-51F7-E5EA-079B24E29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7BCC-AC1B-11ED-5613-B058AA09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E7E2BC-AD3F-5173-8A75-DC6E1352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0600"/>
            <a:ext cx="374904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84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F0E2-A4FB-6888-5D20-71C17DDE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the ISR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23E02-7F3A-0B0E-C628-E5F169A45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various modules in the MCXC444 are each given only a single ISR vector.</a:t>
            </a:r>
          </a:p>
          <a:p>
            <a:pPr lvl="1"/>
            <a:r>
              <a:rPr lang="en-SG" dirty="0"/>
              <a:t>In the case of </a:t>
            </a:r>
            <a:r>
              <a:rPr lang="en-SG" dirty="0" err="1"/>
              <a:t>TPMx</a:t>
            </a:r>
            <a:r>
              <a:rPr lang="en-SG" dirty="0"/>
              <a:t>, it will be </a:t>
            </a:r>
            <a:r>
              <a:rPr lang="en-SG" dirty="0" err="1"/>
              <a:t>TPMx_IRQn</a:t>
            </a:r>
            <a:r>
              <a:rPr lang="en-SG" dirty="0"/>
              <a:t> (i.e. TPM0_IRQn, TPM1_IRQn, TPM2_IRQn).</a:t>
            </a:r>
          </a:p>
          <a:p>
            <a:pPr lvl="1"/>
            <a:r>
              <a:rPr lang="en-SG" dirty="0"/>
              <a:t>The corresponding ISRs are called </a:t>
            </a:r>
            <a:r>
              <a:rPr lang="en-SG" dirty="0" err="1"/>
              <a:t>TPMx_IRQHandler</a:t>
            </a:r>
            <a:r>
              <a:rPr lang="en-SG" dirty="0"/>
              <a:t>.</a:t>
            </a:r>
          </a:p>
          <a:p>
            <a:r>
              <a:rPr lang="en-SG" dirty="0"/>
              <a:t>This means that an ISR can be triggered for various reasons.</a:t>
            </a:r>
          </a:p>
          <a:p>
            <a:pPr lvl="1"/>
            <a:r>
              <a:rPr lang="en-SG" dirty="0"/>
              <a:t>For </a:t>
            </a:r>
            <a:r>
              <a:rPr lang="en-SG" dirty="0" err="1"/>
              <a:t>TPMx</a:t>
            </a:r>
            <a:r>
              <a:rPr lang="en-SG" dirty="0"/>
              <a:t>, we need to check the </a:t>
            </a:r>
            <a:r>
              <a:rPr lang="en-SG" dirty="0" err="1"/>
              <a:t>TPMx_STATUS</a:t>
            </a:r>
            <a:r>
              <a:rPr lang="en-SG" dirty="0"/>
              <a:t> register for the reason.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5E1FF-442B-F943-98FF-EC20825FD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8024-CF4E-D7DB-9842-CB1C2CD0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622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0BC0-0D06-6167-30FB-551A9F58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841F-435F-212B-DAA9-1A5DCEE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the ISR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69F2-F924-E8F1-AA8A-0A243988B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various modules in the MCXC444 are each given only a single ISR vector.</a:t>
            </a:r>
          </a:p>
          <a:p>
            <a:pPr lvl="1"/>
            <a:r>
              <a:rPr lang="en-SG" dirty="0"/>
              <a:t>In the case of </a:t>
            </a:r>
            <a:r>
              <a:rPr lang="en-SG" dirty="0" err="1"/>
              <a:t>TPMx</a:t>
            </a:r>
            <a:r>
              <a:rPr lang="en-SG" dirty="0"/>
              <a:t>, it will be </a:t>
            </a:r>
            <a:r>
              <a:rPr lang="en-SG" dirty="0" err="1"/>
              <a:t>TPMx_IRQn</a:t>
            </a:r>
            <a:r>
              <a:rPr lang="en-SG" dirty="0"/>
              <a:t> (i.e. TPM0_IRQn, TPM1_IRQn, TPM2_IRQn).</a:t>
            </a:r>
          </a:p>
          <a:p>
            <a:pPr lvl="1"/>
            <a:r>
              <a:rPr lang="en-SG" dirty="0"/>
              <a:t>The corresponding ISRs are called </a:t>
            </a:r>
            <a:r>
              <a:rPr lang="en-SG" dirty="0" err="1"/>
              <a:t>TPMx_IRQHandler</a:t>
            </a:r>
            <a:r>
              <a:rPr lang="en-SG" dirty="0"/>
              <a:t>.</a:t>
            </a:r>
          </a:p>
          <a:p>
            <a:r>
              <a:rPr lang="en-SG" dirty="0"/>
              <a:t>This means that an ISR can be triggered for various reasons.</a:t>
            </a:r>
          </a:p>
          <a:p>
            <a:pPr lvl="1"/>
            <a:r>
              <a:rPr lang="en-SG" dirty="0"/>
              <a:t>For </a:t>
            </a:r>
            <a:r>
              <a:rPr lang="en-SG" dirty="0" err="1"/>
              <a:t>TPMx</a:t>
            </a:r>
            <a:r>
              <a:rPr lang="en-SG" dirty="0"/>
              <a:t>, we need to check the </a:t>
            </a:r>
            <a:r>
              <a:rPr lang="en-SG" dirty="0" err="1"/>
              <a:t>TPMx_STATUS</a:t>
            </a:r>
            <a:r>
              <a:rPr lang="en-SG" dirty="0"/>
              <a:t> register for the reason.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E4D4A-16BA-9E99-0A41-E1A133325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32A0C-1F9D-09E4-8FFF-F4E362B8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549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5182-0E0D-7942-B3A1-8F199531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the ISR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20D-5F13-E0D1-05EB-849773797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only interested in the TOF (timer overflow flag) in </a:t>
            </a:r>
            <a:r>
              <a:rPr lang="en-US" dirty="0" err="1"/>
              <a:t>TPMx_STATUS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If TOF=1, then the timer has overflowed and the period we want has passed.</a:t>
            </a:r>
          </a:p>
          <a:p>
            <a:pPr lvl="1"/>
            <a:r>
              <a:rPr lang="en-US" dirty="0"/>
              <a:t>Write a 1 to TOF to clear it.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F9A30-100D-AAFE-D0D4-89C7CB6A0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9ED69-F655-EEF0-71DD-A4149527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0DF11-BF78-0A70-0190-626CBBCF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8" y="2419209"/>
            <a:ext cx="798306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4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B544-1A44-6C30-2AD5-4483AC7F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the ISR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49732-B1CC-1AA8-4B67-47B1CE903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AEA04-3C4F-F1E5-17E9-64480464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3E569D-E099-A7A5-8C97-8B5CBCB27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24000"/>
            <a:ext cx="4858428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87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A7F2-3B27-3462-E33C-8E3C42DC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the Timer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AB39-3866-DBE8-5AB4-415383D83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finally start the timer by setting the CMOD bits in </a:t>
            </a:r>
            <a:r>
              <a:rPr lang="en-US" dirty="0" err="1"/>
              <a:t>TPMx_SC</a:t>
            </a:r>
            <a:r>
              <a:rPr lang="en-US" dirty="0"/>
              <a:t> to 0b01: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ABA6-633D-42BA-9B37-F458AA37E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B840F-72FF-FCE8-093C-5A868295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62EBB9-FEFF-91EA-65E0-6256AEA4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38400"/>
            <a:ext cx="3267531" cy="504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72F3F-FDDC-1A91-7490-362B09B3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39753"/>
            <a:ext cx="7772400" cy="183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25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FA06-A977-792A-A7F6-78B2E235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3448F-31A4-576C-79CF-B42E2D45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lecture shows how to set up the Timer/PWM Module (TPM) to trigger an interrupt at fixed intervals.</a:t>
            </a:r>
          </a:p>
          <a:p>
            <a:r>
              <a:rPr lang="en-US" dirty="0"/>
              <a:t>In the next lecture we will see how to use the TPM to generate </a:t>
            </a:r>
            <a:r>
              <a:rPr lang="en-US"/>
              <a:t>PWM signals.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667A-7FA8-BDC1-4F04-3914339DE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1C841-5770-F7E3-DD30-123A594E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4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342846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7520</TotalTime>
  <Words>1639</Words>
  <Application>Microsoft Office PowerPoint</Application>
  <PresentationFormat>On-screen Show (4:3)</PresentationFormat>
  <Paragraphs>220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Arial Black</vt:lpstr>
      <vt:lpstr>Calibri</vt:lpstr>
      <vt:lpstr>Calibri Light</vt:lpstr>
      <vt:lpstr>Cambria Math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Introduction</vt:lpstr>
      <vt:lpstr>Introduction</vt:lpstr>
      <vt:lpstr>Introduction</vt:lpstr>
      <vt:lpstr>Introduction</vt:lpstr>
      <vt:lpstr>Clock source setup </vt:lpstr>
      <vt:lpstr>Clock Source Setup </vt:lpstr>
      <vt:lpstr>Clock Source Setup </vt:lpstr>
      <vt:lpstr>Choosing the MCG Clock Source</vt:lpstr>
      <vt:lpstr>Choosing the MCG Clock Source</vt:lpstr>
      <vt:lpstr>Choosing the MCG Clock Source</vt:lpstr>
      <vt:lpstr>Choosing the MCG Clock Source</vt:lpstr>
      <vt:lpstr>Choosing the MCG Clock Source</vt:lpstr>
      <vt:lpstr>Choosing the MCG Clock Source</vt:lpstr>
      <vt:lpstr>Choosing the MCG Clock Source</vt:lpstr>
      <vt:lpstr>Clock Source Setup Full Code</vt:lpstr>
      <vt:lpstr>Tpm setup </vt:lpstr>
      <vt:lpstr>Preliminary setup</vt:lpstr>
      <vt:lpstr>TPM Clock Gating </vt:lpstr>
      <vt:lpstr>TPM Clock Selection</vt:lpstr>
      <vt:lpstr>TPM Clock Selection</vt:lpstr>
      <vt:lpstr>TPM Core Setup</vt:lpstr>
      <vt:lpstr>TPM Core Setup</vt:lpstr>
      <vt:lpstr>TPM Core Setup</vt:lpstr>
      <vt:lpstr>TPM Core Setup</vt:lpstr>
      <vt:lpstr>TPM Prescalar and Modulo Selection</vt:lpstr>
      <vt:lpstr>TPM Prescalar and Modulo Selection</vt:lpstr>
      <vt:lpstr>TPM Prescalar and Modulo Selection</vt:lpstr>
      <vt:lpstr>TPM Prescalar and Modulo Selection</vt:lpstr>
      <vt:lpstr>TPM Prescalar and Modulo Selection</vt:lpstr>
      <vt:lpstr>TPM Prescalar and Modulo Selection</vt:lpstr>
      <vt:lpstr>Setting Interrupt Priority and Enabling</vt:lpstr>
      <vt:lpstr>Full TPM Setup Code</vt:lpstr>
      <vt:lpstr>Writing the ISR</vt:lpstr>
      <vt:lpstr>Writing the ISR</vt:lpstr>
      <vt:lpstr>Writing the ISR</vt:lpstr>
      <vt:lpstr>Writing the ISR</vt:lpstr>
      <vt:lpstr>Starting the Timer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Ethan Chan</cp:lastModifiedBy>
  <cp:revision>226</cp:revision>
  <dcterms:created xsi:type="dcterms:W3CDTF">2009-01-07T10:53:41Z</dcterms:created>
  <dcterms:modified xsi:type="dcterms:W3CDTF">2025-09-16T03:30:35Z</dcterms:modified>
</cp:coreProperties>
</file>