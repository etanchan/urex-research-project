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0"/>
  </p:notesMasterIdLst>
  <p:sldIdLst>
    <p:sldId id="256" r:id="rId2"/>
    <p:sldId id="257" r:id="rId3"/>
    <p:sldId id="355" r:id="rId4"/>
    <p:sldId id="356" r:id="rId5"/>
    <p:sldId id="357" r:id="rId6"/>
    <p:sldId id="358" r:id="rId7"/>
    <p:sldId id="359" r:id="rId8"/>
    <p:sldId id="366" r:id="rId9"/>
    <p:sldId id="411" r:id="rId10"/>
    <p:sldId id="361" r:id="rId11"/>
    <p:sldId id="412" r:id="rId12"/>
    <p:sldId id="414" r:id="rId13"/>
    <p:sldId id="415" r:id="rId14"/>
    <p:sldId id="417" r:id="rId15"/>
    <p:sldId id="418" r:id="rId16"/>
    <p:sldId id="416" r:id="rId17"/>
    <p:sldId id="386" r:id="rId18"/>
    <p:sldId id="387" r:id="rId19"/>
    <p:sldId id="420" r:id="rId20"/>
    <p:sldId id="393" r:id="rId21"/>
    <p:sldId id="389" r:id="rId22"/>
    <p:sldId id="392" r:id="rId23"/>
    <p:sldId id="419" r:id="rId24"/>
    <p:sldId id="394" r:id="rId25"/>
    <p:sldId id="379" r:id="rId26"/>
    <p:sldId id="432" r:id="rId27"/>
    <p:sldId id="396" r:id="rId28"/>
    <p:sldId id="397" r:id="rId29"/>
    <p:sldId id="398" r:id="rId30"/>
    <p:sldId id="423" r:id="rId31"/>
    <p:sldId id="424" r:id="rId32"/>
    <p:sldId id="425" r:id="rId33"/>
    <p:sldId id="406" r:id="rId34"/>
    <p:sldId id="407" r:id="rId35"/>
    <p:sldId id="427" r:id="rId36"/>
    <p:sldId id="428" r:id="rId37"/>
    <p:sldId id="258" r:id="rId38"/>
    <p:sldId id="343" r:id="rId39"/>
  </p:sldIdLst>
  <p:sldSz cx="9144000" cy="6858000" type="screen4x3"/>
  <p:notesSz cx="7099300" cy="10234613"/>
  <p:custShowLst>
    <p:custShow name="Live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1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  <p:sld r:id="rId37"/>
        <p:sld r:id="rId38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0066"/>
    <a:srgbClr val="003300"/>
    <a:srgbClr val="FFFFCC"/>
    <a:srgbClr val="000000"/>
    <a:srgbClr val="F2CED2"/>
    <a:srgbClr val="0033CC"/>
    <a:srgbClr val="00CCFF"/>
    <a:srgbClr val="FF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1" autoAdjust="0"/>
    <p:restoredTop sz="88069" autoAdjust="0"/>
  </p:normalViewPr>
  <p:slideViewPr>
    <p:cSldViewPr>
      <p:cViewPr varScale="1">
        <p:scale>
          <a:sx n="80" d="100"/>
          <a:sy n="80" d="100"/>
        </p:scale>
        <p:origin x="1964" y="3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43F70E-C1FA-4BE1-A79D-2A69420E4E0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0BFE97-586B-4EBF-AFD7-9E47D0847071}">
      <dgm:prSet phldrT="[Text]"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Mutual Exclusion</a:t>
          </a:r>
          <a:r>
            <a:rPr lang="en-US" altLang="en-US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BF42C24E-00B7-4348-9397-9043A49E657B}" type="parTrans" cxnId="{ADE68004-A349-420C-BDEE-81AE63883D27}">
      <dgm:prSet/>
      <dgm:spPr/>
      <dgm:t>
        <a:bodyPr/>
        <a:lstStyle/>
        <a:p>
          <a:endParaRPr lang="en-US"/>
        </a:p>
      </dgm:t>
    </dgm:pt>
    <dgm:pt modelId="{529CA64D-8150-42B4-8AB5-2548CD04BCA6}" type="sibTrans" cxnId="{ADE68004-A349-420C-BDEE-81AE63883D27}">
      <dgm:prSet/>
      <dgm:spPr/>
      <dgm:t>
        <a:bodyPr/>
        <a:lstStyle/>
        <a:p>
          <a:endParaRPr lang="en-US"/>
        </a:p>
      </dgm:t>
    </dgm:pt>
    <dgm:pt modelId="{E79941B5-45E3-44E5-B69C-C06305FA6791}">
      <dgm:prSet/>
      <dgm:spPr/>
      <dgm:t>
        <a:bodyPr/>
        <a:lstStyle/>
        <a:p>
          <a:r>
            <a:rPr lang="en-US" altLang="en-US" dirty="0"/>
            <a:t>If process </a:t>
          </a:r>
          <a:r>
            <a:rPr lang="en-US" altLang="en-US" b="1" dirty="0">
              <a:latin typeface="Courier New" pitchFamily="49" charset="0"/>
            </a:rPr>
            <a:t>P</a:t>
          </a:r>
          <a:r>
            <a:rPr lang="en-US" altLang="en-US" b="1" baseline="-25000" dirty="0">
              <a:latin typeface="Courier New" pitchFamily="49" charset="0"/>
            </a:rPr>
            <a:t>i</a:t>
          </a:r>
          <a:r>
            <a:rPr lang="en-US" altLang="en-US" dirty="0"/>
            <a:t> is executing in critical section, all other processes are prevented from entering the critical section.</a:t>
          </a:r>
        </a:p>
      </dgm:t>
    </dgm:pt>
    <dgm:pt modelId="{E3A3EC95-934A-4C61-982A-A89F158E66A1}" type="parTrans" cxnId="{04A489CF-123C-4991-B8AD-B8D1DD133339}">
      <dgm:prSet/>
      <dgm:spPr/>
      <dgm:t>
        <a:bodyPr/>
        <a:lstStyle/>
        <a:p>
          <a:endParaRPr lang="en-US"/>
        </a:p>
      </dgm:t>
    </dgm:pt>
    <dgm:pt modelId="{2FAD2BFA-4F4E-4B2C-858C-019F5D25C90F}" type="sibTrans" cxnId="{04A489CF-123C-4991-B8AD-B8D1DD133339}">
      <dgm:prSet/>
      <dgm:spPr/>
      <dgm:t>
        <a:bodyPr/>
        <a:lstStyle/>
        <a:p>
          <a:endParaRPr lang="en-US"/>
        </a:p>
      </dgm:t>
    </dgm:pt>
    <dgm:pt modelId="{87C2298B-9F6A-4BAA-AC97-24F97CB60E8A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Progress:</a:t>
          </a:r>
          <a:endParaRPr lang="en-US" altLang="en-US" b="1" dirty="0">
            <a:solidFill>
              <a:schemeClr val="bg1"/>
            </a:solidFill>
          </a:endParaRPr>
        </a:p>
      </dgm:t>
    </dgm:pt>
    <dgm:pt modelId="{F2580493-3EF7-4B0A-9F4A-675C04887A62}" type="parTrans" cxnId="{8FD3D289-B365-4C77-8C11-26849FB7E496}">
      <dgm:prSet/>
      <dgm:spPr/>
      <dgm:t>
        <a:bodyPr/>
        <a:lstStyle/>
        <a:p>
          <a:endParaRPr lang="en-US"/>
        </a:p>
      </dgm:t>
    </dgm:pt>
    <dgm:pt modelId="{B5D4722E-BB85-4D2A-95F3-3336F61DA3DA}" type="sibTrans" cxnId="{8FD3D289-B365-4C77-8C11-26849FB7E496}">
      <dgm:prSet/>
      <dgm:spPr/>
      <dgm:t>
        <a:bodyPr/>
        <a:lstStyle/>
        <a:p>
          <a:endParaRPr lang="en-US"/>
        </a:p>
      </dgm:t>
    </dgm:pt>
    <dgm:pt modelId="{883B044A-1309-4F37-917A-71E94BD09676}">
      <dgm:prSet/>
      <dgm:spPr/>
      <dgm:t>
        <a:bodyPr/>
        <a:lstStyle/>
        <a:p>
          <a:r>
            <a:rPr lang="en-US" altLang="en-US" dirty="0"/>
            <a:t>If no process is in a critical section, one of the waiting processes should be granted access.</a:t>
          </a:r>
        </a:p>
      </dgm:t>
    </dgm:pt>
    <dgm:pt modelId="{5EAA1AB4-7EDC-4C88-B318-74196D661234}" type="parTrans" cxnId="{F9CACA84-350A-41C3-B64A-AC20A7D1FADB}">
      <dgm:prSet/>
      <dgm:spPr/>
      <dgm:t>
        <a:bodyPr/>
        <a:lstStyle/>
        <a:p>
          <a:endParaRPr lang="en-US"/>
        </a:p>
      </dgm:t>
    </dgm:pt>
    <dgm:pt modelId="{3E95A8CB-6EB6-4FFD-B29E-7DAD4DAED8F7}" type="sibTrans" cxnId="{F9CACA84-350A-41C3-B64A-AC20A7D1FADB}">
      <dgm:prSet/>
      <dgm:spPr/>
      <dgm:t>
        <a:bodyPr/>
        <a:lstStyle/>
        <a:p>
          <a:endParaRPr lang="en-US"/>
        </a:p>
      </dgm:t>
    </dgm:pt>
    <dgm:pt modelId="{C4DF41A7-042F-4E4B-BD40-04B8A95E26A3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Bounded Wait:</a:t>
          </a:r>
          <a:endParaRPr lang="en-US" altLang="en-US" b="1" dirty="0">
            <a:solidFill>
              <a:schemeClr val="bg1"/>
            </a:solidFill>
          </a:endParaRPr>
        </a:p>
      </dgm:t>
    </dgm:pt>
    <dgm:pt modelId="{A14DCA2D-3126-4C51-B827-20D6C3C36355}" type="parTrans" cxnId="{667899C3-CC7C-430D-9455-11A97BF2632F}">
      <dgm:prSet/>
      <dgm:spPr/>
      <dgm:t>
        <a:bodyPr/>
        <a:lstStyle/>
        <a:p>
          <a:endParaRPr lang="en-US"/>
        </a:p>
      </dgm:t>
    </dgm:pt>
    <dgm:pt modelId="{877C3048-1FB5-4288-B824-56862EABE2F2}" type="sibTrans" cxnId="{667899C3-CC7C-430D-9455-11A97BF2632F}">
      <dgm:prSet/>
      <dgm:spPr/>
      <dgm:t>
        <a:bodyPr/>
        <a:lstStyle/>
        <a:p>
          <a:endParaRPr lang="en-US"/>
        </a:p>
      </dgm:t>
    </dgm:pt>
    <dgm:pt modelId="{062DE4AA-612A-4BC1-A886-4D650BA3D789}">
      <dgm:prSet/>
      <dgm:spPr/>
      <dgm:t>
        <a:bodyPr/>
        <a:lstStyle/>
        <a:p>
          <a:r>
            <a:rPr lang="en-US" altLang="en-US" dirty="0"/>
            <a:t>After process </a:t>
          </a:r>
          <a:r>
            <a:rPr lang="en-US" altLang="en-US" b="1" dirty="0">
              <a:latin typeface="Courier New" pitchFamily="49" charset="0"/>
            </a:rPr>
            <a:t>P</a:t>
          </a:r>
          <a:r>
            <a:rPr lang="en-US" altLang="en-US" b="1" baseline="-25000" dirty="0">
              <a:latin typeface="Courier New" pitchFamily="49" charset="0"/>
            </a:rPr>
            <a:t>i</a:t>
          </a:r>
          <a:r>
            <a:rPr lang="en-US" altLang="en-US" dirty="0"/>
            <a:t> request to enter critical section, there exists an </a:t>
          </a:r>
          <a:r>
            <a:rPr lang="en-US" altLang="en-US" dirty="0" err="1"/>
            <a:t>upperbound</a:t>
          </a:r>
          <a:r>
            <a:rPr lang="en-US" altLang="en-US" dirty="0"/>
            <a:t> of number of times other processes can enter the critical section before </a:t>
          </a:r>
          <a:r>
            <a:rPr lang="en-US" altLang="en-US" b="1" dirty="0">
              <a:latin typeface="Courier New" pitchFamily="49" charset="0"/>
            </a:rPr>
            <a:t>P</a:t>
          </a:r>
          <a:r>
            <a:rPr lang="en-US" altLang="en-US" b="1" baseline="-25000" dirty="0">
              <a:latin typeface="Courier New" pitchFamily="49" charset="0"/>
            </a:rPr>
            <a:t>i.</a:t>
          </a:r>
        </a:p>
      </dgm:t>
    </dgm:pt>
    <dgm:pt modelId="{2ACAFAE6-DB79-4ECC-821D-2E635801F2D5}" type="parTrans" cxnId="{B4E3F418-924B-452C-B6F5-7B6CA4F104E2}">
      <dgm:prSet/>
      <dgm:spPr/>
      <dgm:t>
        <a:bodyPr/>
        <a:lstStyle/>
        <a:p>
          <a:endParaRPr lang="en-US"/>
        </a:p>
      </dgm:t>
    </dgm:pt>
    <dgm:pt modelId="{D285642C-8D04-4BDD-844C-BE2EBF674D9E}" type="sibTrans" cxnId="{B4E3F418-924B-452C-B6F5-7B6CA4F104E2}">
      <dgm:prSet/>
      <dgm:spPr/>
      <dgm:t>
        <a:bodyPr/>
        <a:lstStyle/>
        <a:p>
          <a:endParaRPr lang="en-US"/>
        </a:p>
      </dgm:t>
    </dgm:pt>
    <dgm:pt modelId="{55756C74-7A60-4767-A830-AA28F99DE9A9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Independence:</a:t>
          </a:r>
          <a:endParaRPr lang="en-US" altLang="en-US" b="1" dirty="0">
            <a:solidFill>
              <a:schemeClr val="bg1"/>
            </a:solidFill>
          </a:endParaRPr>
        </a:p>
      </dgm:t>
    </dgm:pt>
    <dgm:pt modelId="{0F579B38-CEFB-4E2C-9C04-D5BFACA0744D}" type="parTrans" cxnId="{7DB5502F-7CFE-4870-B3B7-3699C6FBC56B}">
      <dgm:prSet/>
      <dgm:spPr/>
      <dgm:t>
        <a:bodyPr/>
        <a:lstStyle/>
        <a:p>
          <a:endParaRPr lang="en-US"/>
        </a:p>
      </dgm:t>
    </dgm:pt>
    <dgm:pt modelId="{6BE5D9FD-7459-4506-93C7-7489B31DFBC6}" type="sibTrans" cxnId="{7DB5502F-7CFE-4870-B3B7-3699C6FBC56B}">
      <dgm:prSet/>
      <dgm:spPr/>
      <dgm:t>
        <a:bodyPr/>
        <a:lstStyle/>
        <a:p>
          <a:endParaRPr lang="en-US"/>
        </a:p>
      </dgm:t>
    </dgm:pt>
    <dgm:pt modelId="{FB3CDD38-A631-4153-8A51-ADAA17BF7262}">
      <dgm:prSet/>
      <dgm:spPr/>
      <dgm:t>
        <a:bodyPr/>
        <a:lstStyle/>
        <a:p>
          <a:r>
            <a:rPr lang="en-US" altLang="en-US" dirty="0"/>
            <a:t>Process </a:t>
          </a:r>
          <a:r>
            <a:rPr lang="en-US" altLang="en-US" b="1" dirty="0"/>
            <a:t>not </a:t>
          </a:r>
          <a:r>
            <a:rPr lang="en-US" altLang="en-US" dirty="0"/>
            <a:t>executing in critical section should never block other process.</a:t>
          </a:r>
          <a:endParaRPr lang="en-US" altLang="en-US" b="1" baseline="-25000" dirty="0">
            <a:latin typeface="Courier New" pitchFamily="49" charset="0"/>
          </a:endParaRPr>
        </a:p>
      </dgm:t>
    </dgm:pt>
    <dgm:pt modelId="{E5DAF3FF-75AD-4DB0-8AD1-D61D55782D9E}" type="parTrans" cxnId="{19ACECCF-2FED-46A2-89CC-41AE8C4D234D}">
      <dgm:prSet/>
      <dgm:spPr/>
      <dgm:t>
        <a:bodyPr/>
        <a:lstStyle/>
        <a:p>
          <a:endParaRPr lang="en-US"/>
        </a:p>
      </dgm:t>
    </dgm:pt>
    <dgm:pt modelId="{4C7C2268-09FC-4277-96D2-46A1A218C043}" type="sibTrans" cxnId="{19ACECCF-2FED-46A2-89CC-41AE8C4D234D}">
      <dgm:prSet/>
      <dgm:spPr/>
      <dgm:t>
        <a:bodyPr/>
        <a:lstStyle/>
        <a:p>
          <a:endParaRPr lang="en-US"/>
        </a:p>
      </dgm:t>
    </dgm:pt>
    <dgm:pt modelId="{F4E427A7-A4CF-43C9-B3BE-3B2F49797BD4}" type="pres">
      <dgm:prSet presAssocID="{AD43F70E-C1FA-4BE1-A79D-2A69420E4E0A}" presName="linear" presStyleCnt="0">
        <dgm:presLayoutVars>
          <dgm:dir/>
          <dgm:animLvl val="lvl"/>
          <dgm:resizeHandles val="exact"/>
        </dgm:presLayoutVars>
      </dgm:prSet>
      <dgm:spPr/>
    </dgm:pt>
    <dgm:pt modelId="{3F6B3DC1-B530-4F05-8D0A-4802C32D0E32}" type="pres">
      <dgm:prSet presAssocID="{040BFE97-586B-4EBF-AFD7-9E47D0847071}" presName="parentLin" presStyleCnt="0"/>
      <dgm:spPr/>
    </dgm:pt>
    <dgm:pt modelId="{2326D701-CBCF-4FAF-928C-F648B10B26E7}" type="pres">
      <dgm:prSet presAssocID="{040BFE97-586B-4EBF-AFD7-9E47D0847071}" presName="parentLeftMargin" presStyleLbl="node1" presStyleIdx="0" presStyleCnt="4"/>
      <dgm:spPr/>
    </dgm:pt>
    <dgm:pt modelId="{2C243DF3-0365-49EE-9EB2-F994DA7645C7}" type="pres">
      <dgm:prSet presAssocID="{040BFE97-586B-4EBF-AFD7-9E47D0847071}" presName="parentText" presStyleLbl="node1" presStyleIdx="0" presStyleCnt="4" custScaleX="56609">
        <dgm:presLayoutVars>
          <dgm:chMax val="0"/>
          <dgm:bulletEnabled val="1"/>
        </dgm:presLayoutVars>
      </dgm:prSet>
      <dgm:spPr/>
    </dgm:pt>
    <dgm:pt modelId="{BB73B880-E79E-486C-BE85-604889A94A2B}" type="pres">
      <dgm:prSet presAssocID="{040BFE97-586B-4EBF-AFD7-9E47D0847071}" presName="negativeSpace" presStyleCnt="0"/>
      <dgm:spPr/>
    </dgm:pt>
    <dgm:pt modelId="{96B24622-3DBB-4704-B992-E2CDC6F674FE}" type="pres">
      <dgm:prSet presAssocID="{040BFE97-586B-4EBF-AFD7-9E47D0847071}" presName="childText" presStyleLbl="conFgAcc1" presStyleIdx="0" presStyleCnt="4">
        <dgm:presLayoutVars>
          <dgm:bulletEnabled val="1"/>
        </dgm:presLayoutVars>
      </dgm:prSet>
      <dgm:spPr/>
    </dgm:pt>
    <dgm:pt modelId="{4C213FA2-FC8E-421C-82F0-9AE8459F250D}" type="pres">
      <dgm:prSet presAssocID="{529CA64D-8150-42B4-8AB5-2548CD04BCA6}" presName="spaceBetweenRectangles" presStyleCnt="0"/>
      <dgm:spPr/>
    </dgm:pt>
    <dgm:pt modelId="{D96D3D59-D5E9-4738-82E0-1BD7DC91549F}" type="pres">
      <dgm:prSet presAssocID="{87C2298B-9F6A-4BAA-AC97-24F97CB60E8A}" presName="parentLin" presStyleCnt="0"/>
      <dgm:spPr/>
    </dgm:pt>
    <dgm:pt modelId="{933EFC8B-492A-45EB-845C-006C67DF1744}" type="pres">
      <dgm:prSet presAssocID="{87C2298B-9F6A-4BAA-AC97-24F97CB60E8A}" presName="parentLeftMargin" presStyleLbl="node1" presStyleIdx="0" presStyleCnt="4"/>
      <dgm:spPr/>
    </dgm:pt>
    <dgm:pt modelId="{7D411C53-8323-4816-87BE-C668E14C6E81}" type="pres">
      <dgm:prSet presAssocID="{87C2298B-9F6A-4BAA-AC97-24F97CB60E8A}" presName="parentText" presStyleLbl="node1" presStyleIdx="1" presStyleCnt="4" custScaleX="56609">
        <dgm:presLayoutVars>
          <dgm:chMax val="0"/>
          <dgm:bulletEnabled val="1"/>
        </dgm:presLayoutVars>
      </dgm:prSet>
      <dgm:spPr/>
    </dgm:pt>
    <dgm:pt modelId="{0D2C9246-76CE-4303-832A-7C869DE1C0CE}" type="pres">
      <dgm:prSet presAssocID="{87C2298B-9F6A-4BAA-AC97-24F97CB60E8A}" presName="negativeSpace" presStyleCnt="0"/>
      <dgm:spPr/>
    </dgm:pt>
    <dgm:pt modelId="{7CE685AE-2737-418C-A148-70D53781C58B}" type="pres">
      <dgm:prSet presAssocID="{87C2298B-9F6A-4BAA-AC97-24F97CB60E8A}" presName="childText" presStyleLbl="conFgAcc1" presStyleIdx="1" presStyleCnt="4">
        <dgm:presLayoutVars>
          <dgm:bulletEnabled val="1"/>
        </dgm:presLayoutVars>
      </dgm:prSet>
      <dgm:spPr/>
    </dgm:pt>
    <dgm:pt modelId="{265E26C0-8D38-43AF-8119-50E62AE07A7E}" type="pres">
      <dgm:prSet presAssocID="{B5D4722E-BB85-4D2A-95F3-3336F61DA3DA}" presName="spaceBetweenRectangles" presStyleCnt="0"/>
      <dgm:spPr/>
    </dgm:pt>
    <dgm:pt modelId="{EC9C217C-1598-4398-ABC0-46532B6CE548}" type="pres">
      <dgm:prSet presAssocID="{C4DF41A7-042F-4E4B-BD40-04B8A95E26A3}" presName="parentLin" presStyleCnt="0"/>
      <dgm:spPr/>
    </dgm:pt>
    <dgm:pt modelId="{048FFAC0-7294-4142-BE70-A1C5F67FEE47}" type="pres">
      <dgm:prSet presAssocID="{C4DF41A7-042F-4E4B-BD40-04B8A95E26A3}" presName="parentLeftMargin" presStyleLbl="node1" presStyleIdx="1" presStyleCnt="4"/>
      <dgm:spPr/>
    </dgm:pt>
    <dgm:pt modelId="{57C5B764-B99E-4C94-ADFE-4836D9CA61F8}" type="pres">
      <dgm:prSet presAssocID="{C4DF41A7-042F-4E4B-BD40-04B8A95E26A3}" presName="parentText" presStyleLbl="node1" presStyleIdx="2" presStyleCnt="4" custScaleX="56609">
        <dgm:presLayoutVars>
          <dgm:chMax val="0"/>
          <dgm:bulletEnabled val="1"/>
        </dgm:presLayoutVars>
      </dgm:prSet>
      <dgm:spPr/>
    </dgm:pt>
    <dgm:pt modelId="{7C99B0CF-BFF2-4E76-8307-0D7654A8AAC7}" type="pres">
      <dgm:prSet presAssocID="{C4DF41A7-042F-4E4B-BD40-04B8A95E26A3}" presName="negativeSpace" presStyleCnt="0"/>
      <dgm:spPr/>
    </dgm:pt>
    <dgm:pt modelId="{1B69153D-FB7E-4C02-8536-7B0F5692D9C7}" type="pres">
      <dgm:prSet presAssocID="{C4DF41A7-042F-4E4B-BD40-04B8A95E26A3}" presName="childText" presStyleLbl="conFgAcc1" presStyleIdx="2" presStyleCnt="4">
        <dgm:presLayoutVars>
          <dgm:bulletEnabled val="1"/>
        </dgm:presLayoutVars>
      </dgm:prSet>
      <dgm:spPr/>
    </dgm:pt>
    <dgm:pt modelId="{CFE27C1C-E305-4977-9BD5-9C3342E2BC15}" type="pres">
      <dgm:prSet presAssocID="{877C3048-1FB5-4288-B824-56862EABE2F2}" presName="spaceBetweenRectangles" presStyleCnt="0"/>
      <dgm:spPr/>
    </dgm:pt>
    <dgm:pt modelId="{9CE41565-CE6E-4475-9004-D079B2CF63EB}" type="pres">
      <dgm:prSet presAssocID="{55756C74-7A60-4767-A830-AA28F99DE9A9}" presName="parentLin" presStyleCnt="0"/>
      <dgm:spPr/>
    </dgm:pt>
    <dgm:pt modelId="{E083D8E6-76BF-4E1E-A0F7-F1047A794D5B}" type="pres">
      <dgm:prSet presAssocID="{55756C74-7A60-4767-A830-AA28F99DE9A9}" presName="parentLeftMargin" presStyleLbl="node1" presStyleIdx="2" presStyleCnt="4"/>
      <dgm:spPr/>
    </dgm:pt>
    <dgm:pt modelId="{81CDC548-5E82-40CC-84F4-290CD4D44A60}" type="pres">
      <dgm:prSet presAssocID="{55756C74-7A60-4767-A830-AA28F99DE9A9}" presName="parentText" presStyleLbl="node1" presStyleIdx="3" presStyleCnt="4" custScaleX="56609">
        <dgm:presLayoutVars>
          <dgm:chMax val="0"/>
          <dgm:bulletEnabled val="1"/>
        </dgm:presLayoutVars>
      </dgm:prSet>
      <dgm:spPr/>
    </dgm:pt>
    <dgm:pt modelId="{6956D5DB-85F1-4D99-9914-A04E1CD1A9CE}" type="pres">
      <dgm:prSet presAssocID="{55756C74-7A60-4767-A830-AA28F99DE9A9}" presName="negativeSpace" presStyleCnt="0"/>
      <dgm:spPr/>
    </dgm:pt>
    <dgm:pt modelId="{56A0155B-1FE7-410F-A5D8-35680E5E8312}" type="pres">
      <dgm:prSet presAssocID="{55756C74-7A60-4767-A830-AA28F99DE9A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E68004-A349-420C-BDEE-81AE63883D27}" srcId="{AD43F70E-C1FA-4BE1-A79D-2A69420E4E0A}" destId="{040BFE97-586B-4EBF-AFD7-9E47D0847071}" srcOrd="0" destOrd="0" parTransId="{BF42C24E-00B7-4348-9397-9043A49E657B}" sibTransId="{529CA64D-8150-42B4-8AB5-2548CD04BCA6}"/>
    <dgm:cxn modelId="{28F4380A-2838-4B0F-90C2-087D01E3D9D3}" type="presOf" srcId="{040BFE97-586B-4EBF-AFD7-9E47D0847071}" destId="{2C243DF3-0365-49EE-9EB2-F994DA7645C7}" srcOrd="1" destOrd="0" presId="urn:microsoft.com/office/officeart/2005/8/layout/list1"/>
    <dgm:cxn modelId="{6B515B13-D454-4E7A-8A00-B9F47F15EF95}" type="presOf" srcId="{883B044A-1309-4F37-917A-71E94BD09676}" destId="{7CE685AE-2737-418C-A148-70D53781C58B}" srcOrd="0" destOrd="0" presId="urn:microsoft.com/office/officeart/2005/8/layout/list1"/>
    <dgm:cxn modelId="{B4E3F418-924B-452C-B6F5-7B6CA4F104E2}" srcId="{C4DF41A7-042F-4E4B-BD40-04B8A95E26A3}" destId="{062DE4AA-612A-4BC1-A886-4D650BA3D789}" srcOrd="0" destOrd="0" parTransId="{2ACAFAE6-DB79-4ECC-821D-2E635801F2D5}" sibTransId="{D285642C-8D04-4BDD-844C-BE2EBF674D9E}"/>
    <dgm:cxn modelId="{4162CB2D-742D-4E0D-B7E5-ADEA52EBA5CD}" type="presOf" srcId="{55756C74-7A60-4767-A830-AA28F99DE9A9}" destId="{81CDC548-5E82-40CC-84F4-290CD4D44A60}" srcOrd="1" destOrd="0" presId="urn:microsoft.com/office/officeart/2005/8/layout/list1"/>
    <dgm:cxn modelId="{7DB5502F-7CFE-4870-B3B7-3699C6FBC56B}" srcId="{AD43F70E-C1FA-4BE1-A79D-2A69420E4E0A}" destId="{55756C74-7A60-4767-A830-AA28F99DE9A9}" srcOrd="3" destOrd="0" parTransId="{0F579B38-CEFB-4E2C-9C04-D5BFACA0744D}" sibTransId="{6BE5D9FD-7459-4506-93C7-7489B31DFBC6}"/>
    <dgm:cxn modelId="{25678A48-8C1F-444C-B300-16927F98E131}" type="presOf" srcId="{040BFE97-586B-4EBF-AFD7-9E47D0847071}" destId="{2326D701-CBCF-4FAF-928C-F648B10B26E7}" srcOrd="0" destOrd="0" presId="urn:microsoft.com/office/officeart/2005/8/layout/list1"/>
    <dgm:cxn modelId="{0E02344D-A4E4-4363-A34F-B0685EE25C3E}" type="presOf" srcId="{AD43F70E-C1FA-4BE1-A79D-2A69420E4E0A}" destId="{F4E427A7-A4CF-43C9-B3BE-3B2F49797BD4}" srcOrd="0" destOrd="0" presId="urn:microsoft.com/office/officeart/2005/8/layout/list1"/>
    <dgm:cxn modelId="{50E04D77-D7BE-41A5-BC47-A010ED2924DD}" type="presOf" srcId="{C4DF41A7-042F-4E4B-BD40-04B8A95E26A3}" destId="{57C5B764-B99E-4C94-ADFE-4836D9CA61F8}" srcOrd="1" destOrd="0" presId="urn:microsoft.com/office/officeart/2005/8/layout/list1"/>
    <dgm:cxn modelId="{05D04B78-6391-4336-8714-9025BC990A64}" type="presOf" srcId="{C4DF41A7-042F-4E4B-BD40-04B8A95E26A3}" destId="{048FFAC0-7294-4142-BE70-A1C5F67FEE47}" srcOrd="0" destOrd="0" presId="urn:microsoft.com/office/officeart/2005/8/layout/list1"/>
    <dgm:cxn modelId="{8C8DBA7C-22E2-4192-B28B-616B759972FD}" type="presOf" srcId="{55756C74-7A60-4767-A830-AA28F99DE9A9}" destId="{E083D8E6-76BF-4E1E-A0F7-F1047A794D5B}" srcOrd="0" destOrd="0" presId="urn:microsoft.com/office/officeart/2005/8/layout/list1"/>
    <dgm:cxn modelId="{945CCA7C-8CB7-421B-ACEB-EAB757E32D6A}" type="presOf" srcId="{87C2298B-9F6A-4BAA-AC97-24F97CB60E8A}" destId="{7D411C53-8323-4816-87BE-C668E14C6E81}" srcOrd="1" destOrd="0" presId="urn:microsoft.com/office/officeart/2005/8/layout/list1"/>
    <dgm:cxn modelId="{D62B8C7D-E829-488B-9EBB-D950B60A7E15}" type="presOf" srcId="{87C2298B-9F6A-4BAA-AC97-24F97CB60E8A}" destId="{933EFC8B-492A-45EB-845C-006C67DF1744}" srcOrd="0" destOrd="0" presId="urn:microsoft.com/office/officeart/2005/8/layout/list1"/>
    <dgm:cxn modelId="{F9CACA84-350A-41C3-B64A-AC20A7D1FADB}" srcId="{87C2298B-9F6A-4BAA-AC97-24F97CB60E8A}" destId="{883B044A-1309-4F37-917A-71E94BD09676}" srcOrd="0" destOrd="0" parTransId="{5EAA1AB4-7EDC-4C88-B318-74196D661234}" sibTransId="{3E95A8CB-6EB6-4FFD-B29E-7DAD4DAED8F7}"/>
    <dgm:cxn modelId="{8FD3D289-B365-4C77-8C11-26849FB7E496}" srcId="{AD43F70E-C1FA-4BE1-A79D-2A69420E4E0A}" destId="{87C2298B-9F6A-4BAA-AC97-24F97CB60E8A}" srcOrd="1" destOrd="0" parTransId="{F2580493-3EF7-4B0A-9F4A-675C04887A62}" sibTransId="{B5D4722E-BB85-4D2A-95F3-3336F61DA3DA}"/>
    <dgm:cxn modelId="{85612490-093A-411B-A928-1F7E9E1A1036}" type="presOf" srcId="{FB3CDD38-A631-4153-8A51-ADAA17BF7262}" destId="{56A0155B-1FE7-410F-A5D8-35680E5E8312}" srcOrd="0" destOrd="0" presId="urn:microsoft.com/office/officeart/2005/8/layout/list1"/>
    <dgm:cxn modelId="{C0DCF29D-9536-4FB2-BD3F-D90CE95E5849}" type="presOf" srcId="{062DE4AA-612A-4BC1-A886-4D650BA3D789}" destId="{1B69153D-FB7E-4C02-8536-7B0F5692D9C7}" srcOrd="0" destOrd="0" presId="urn:microsoft.com/office/officeart/2005/8/layout/list1"/>
    <dgm:cxn modelId="{667899C3-CC7C-430D-9455-11A97BF2632F}" srcId="{AD43F70E-C1FA-4BE1-A79D-2A69420E4E0A}" destId="{C4DF41A7-042F-4E4B-BD40-04B8A95E26A3}" srcOrd="2" destOrd="0" parTransId="{A14DCA2D-3126-4C51-B827-20D6C3C36355}" sibTransId="{877C3048-1FB5-4288-B824-56862EABE2F2}"/>
    <dgm:cxn modelId="{04A489CF-123C-4991-B8AD-B8D1DD133339}" srcId="{040BFE97-586B-4EBF-AFD7-9E47D0847071}" destId="{E79941B5-45E3-44E5-B69C-C06305FA6791}" srcOrd="0" destOrd="0" parTransId="{E3A3EC95-934A-4C61-982A-A89F158E66A1}" sibTransId="{2FAD2BFA-4F4E-4B2C-858C-019F5D25C90F}"/>
    <dgm:cxn modelId="{19ACECCF-2FED-46A2-89CC-41AE8C4D234D}" srcId="{55756C74-7A60-4767-A830-AA28F99DE9A9}" destId="{FB3CDD38-A631-4153-8A51-ADAA17BF7262}" srcOrd="0" destOrd="0" parTransId="{E5DAF3FF-75AD-4DB0-8AD1-D61D55782D9E}" sibTransId="{4C7C2268-09FC-4277-96D2-46A1A218C043}"/>
    <dgm:cxn modelId="{84A510F2-3945-4692-AEA7-2DA0090AF5EC}" type="presOf" srcId="{E79941B5-45E3-44E5-B69C-C06305FA6791}" destId="{96B24622-3DBB-4704-B992-E2CDC6F674FE}" srcOrd="0" destOrd="0" presId="urn:microsoft.com/office/officeart/2005/8/layout/list1"/>
    <dgm:cxn modelId="{6B8564B3-4DF1-488E-BA5B-5FA61424EF94}" type="presParOf" srcId="{F4E427A7-A4CF-43C9-B3BE-3B2F49797BD4}" destId="{3F6B3DC1-B530-4F05-8D0A-4802C32D0E32}" srcOrd="0" destOrd="0" presId="urn:microsoft.com/office/officeart/2005/8/layout/list1"/>
    <dgm:cxn modelId="{AE548275-39CF-4298-A387-DF37C5B55DA9}" type="presParOf" srcId="{3F6B3DC1-B530-4F05-8D0A-4802C32D0E32}" destId="{2326D701-CBCF-4FAF-928C-F648B10B26E7}" srcOrd="0" destOrd="0" presId="urn:microsoft.com/office/officeart/2005/8/layout/list1"/>
    <dgm:cxn modelId="{465D0629-DCF4-45DE-A465-E4ACBC85856B}" type="presParOf" srcId="{3F6B3DC1-B530-4F05-8D0A-4802C32D0E32}" destId="{2C243DF3-0365-49EE-9EB2-F994DA7645C7}" srcOrd="1" destOrd="0" presId="urn:microsoft.com/office/officeart/2005/8/layout/list1"/>
    <dgm:cxn modelId="{4F447E1D-62C1-4D3D-A857-9D7A93A79CE1}" type="presParOf" srcId="{F4E427A7-A4CF-43C9-B3BE-3B2F49797BD4}" destId="{BB73B880-E79E-486C-BE85-604889A94A2B}" srcOrd="1" destOrd="0" presId="urn:microsoft.com/office/officeart/2005/8/layout/list1"/>
    <dgm:cxn modelId="{38AC77BF-3749-4FC1-9EC5-6A52E82AD0DF}" type="presParOf" srcId="{F4E427A7-A4CF-43C9-B3BE-3B2F49797BD4}" destId="{96B24622-3DBB-4704-B992-E2CDC6F674FE}" srcOrd="2" destOrd="0" presId="urn:microsoft.com/office/officeart/2005/8/layout/list1"/>
    <dgm:cxn modelId="{ED079E04-740A-4342-91E0-4E763236A7F4}" type="presParOf" srcId="{F4E427A7-A4CF-43C9-B3BE-3B2F49797BD4}" destId="{4C213FA2-FC8E-421C-82F0-9AE8459F250D}" srcOrd="3" destOrd="0" presId="urn:microsoft.com/office/officeart/2005/8/layout/list1"/>
    <dgm:cxn modelId="{96C9A83F-E42F-4943-9EE2-97E6D66509E8}" type="presParOf" srcId="{F4E427A7-A4CF-43C9-B3BE-3B2F49797BD4}" destId="{D96D3D59-D5E9-4738-82E0-1BD7DC91549F}" srcOrd="4" destOrd="0" presId="urn:microsoft.com/office/officeart/2005/8/layout/list1"/>
    <dgm:cxn modelId="{1896864D-6B29-4182-83AD-5C7D46601077}" type="presParOf" srcId="{D96D3D59-D5E9-4738-82E0-1BD7DC91549F}" destId="{933EFC8B-492A-45EB-845C-006C67DF1744}" srcOrd="0" destOrd="0" presId="urn:microsoft.com/office/officeart/2005/8/layout/list1"/>
    <dgm:cxn modelId="{30F7FC2E-C9C2-482F-BB38-453F38BE77D5}" type="presParOf" srcId="{D96D3D59-D5E9-4738-82E0-1BD7DC91549F}" destId="{7D411C53-8323-4816-87BE-C668E14C6E81}" srcOrd="1" destOrd="0" presId="urn:microsoft.com/office/officeart/2005/8/layout/list1"/>
    <dgm:cxn modelId="{CE858DA6-D9F1-4414-A4ED-14B46674FA8D}" type="presParOf" srcId="{F4E427A7-A4CF-43C9-B3BE-3B2F49797BD4}" destId="{0D2C9246-76CE-4303-832A-7C869DE1C0CE}" srcOrd="5" destOrd="0" presId="urn:microsoft.com/office/officeart/2005/8/layout/list1"/>
    <dgm:cxn modelId="{E7CB1DF7-9436-40EC-8D3B-59D84BF2B5AF}" type="presParOf" srcId="{F4E427A7-A4CF-43C9-B3BE-3B2F49797BD4}" destId="{7CE685AE-2737-418C-A148-70D53781C58B}" srcOrd="6" destOrd="0" presId="urn:microsoft.com/office/officeart/2005/8/layout/list1"/>
    <dgm:cxn modelId="{A8CA0694-1DED-48C4-AD0E-AF31BE05A033}" type="presParOf" srcId="{F4E427A7-A4CF-43C9-B3BE-3B2F49797BD4}" destId="{265E26C0-8D38-43AF-8119-50E62AE07A7E}" srcOrd="7" destOrd="0" presId="urn:microsoft.com/office/officeart/2005/8/layout/list1"/>
    <dgm:cxn modelId="{64796BC6-0EEF-4E3B-9CEA-4245462884A5}" type="presParOf" srcId="{F4E427A7-A4CF-43C9-B3BE-3B2F49797BD4}" destId="{EC9C217C-1598-4398-ABC0-46532B6CE548}" srcOrd="8" destOrd="0" presId="urn:microsoft.com/office/officeart/2005/8/layout/list1"/>
    <dgm:cxn modelId="{41D2DA57-E04C-42E5-885B-1FDF2779DF15}" type="presParOf" srcId="{EC9C217C-1598-4398-ABC0-46532B6CE548}" destId="{048FFAC0-7294-4142-BE70-A1C5F67FEE47}" srcOrd="0" destOrd="0" presId="urn:microsoft.com/office/officeart/2005/8/layout/list1"/>
    <dgm:cxn modelId="{6DF3BFE8-1388-4EB4-97AF-5FA245480745}" type="presParOf" srcId="{EC9C217C-1598-4398-ABC0-46532B6CE548}" destId="{57C5B764-B99E-4C94-ADFE-4836D9CA61F8}" srcOrd="1" destOrd="0" presId="urn:microsoft.com/office/officeart/2005/8/layout/list1"/>
    <dgm:cxn modelId="{DFCC83D6-2649-49C9-8ACA-A590DE1AD9FD}" type="presParOf" srcId="{F4E427A7-A4CF-43C9-B3BE-3B2F49797BD4}" destId="{7C99B0CF-BFF2-4E76-8307-0D7654A8AAC7}" srcOrd="9" destOrd="0" presId="urn:microsoft.com/office/officeart/2005/8/layout/list1"/>
    <dgm:cxn modelId="{D3870D87-FDFF-438C-8EAE-79FF23459117}" type="presParOf" srcId="{F4E427A7-A4CF-43C9-B3BE-3B2F49797BD4}" destId="{1B69153D-FB7E-4C02-8536-7B0F5692D9C7}" srcOrd="10" destOrd="0" presId="urn:microsoft.com/office/officeart/2005/8/layout/list1"/>
    <dgm:cxn modelId="{3BD06C41-3382-4998-B7E9-E652EC75C05C}" type="presParOf" srcId="{F4E427A7-A4CF-43C9-B3BE-3B2F49797BD4}" destId="{CFE27C1C-E305-4977-9BD5-9C3342E2BC15}" srcOrd="11" destOrd="0" presId="urn:microsoft.com/office/officeart/2005/8/layout/list1"/>
    <dgm:cxn modelId="{82BE1D4E-405D-4EA4-9343-B2E7C8B639F5}" type="presParOf" srcId="{F4E427A7-A4CF-43C9-B3BE-3B2F49797BD4}" destId="{9CE41565-CE6E-4475-9004-D079B2CF63EB}" srcOrd="12" destOrd="0" presId="urn:microsoft.com/office/officeart/2005/8/layout/list1"/>
    <dgm:cxn modelId="{D2D230CF-355C-48CB-82CC-97F643ABFCB2}" type="presParOf" srcId="{9CE41565-CE6E-4475-9004-D079B2CF63EB}" destId="{E083D8E6-76BF-4E1E-A0F7-F1047A794D5B}" srcOrd="0" destOrd="0" presId="urn:microsoft.com/office/officeart/2005/8/layout/list1"/>
    <dgm:cxn modelId="{5BAE2FBB-7401-43B4-9C13-F388A1115B10}" type="presParOf" srcId="{9CE41565-CE6E-4475-9004-D079B2CF63EB}" destId="{81CDC548-5E82-40CC-84F4-290CD4D44A60}" srcOrd="1" destOrd="0" presId="urn:microsoft.com/office/officeart/2005/8/layout/list1"/>
    <dgm:cxn modelId="{8FC9E0D1-1614-4E39-8BA9-450A582C72F7}" type="presParOf" srcId="{F4E427A7-A4CF-43C9-B3BE-3B2F49797BD4}" destId="{6956D5DB-85F1-4D99-9914-A04E1CD1A9CE}" srcOrd="13" destOrd="0" presId="urn:microsoft.com/office/officeart/2005/8/layout/list1"/>
    <dgm:cxn modelId="{19338EA7-BC52-4C38-A7D5-A1FACC181E3C}" type="presParOf" srcId="{F4E427A7-A4CF-43C9-B3BE-3B2F49797BD4}" destId="{56A0155B-1FE7-410F-A5D8-35680E5E83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43F70E-C1FA-4BE1-A79D-2A69420E4E0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0BFE97-586B-4EBF-AFD7-9E47D0847071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Mutual Exclusion</a:t>
          </a:r>
          <a:r>
            <a:rPr lang="en-US" altLang="en-US" dirty="0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BF42C24E-00B7-4348-9397-9043A49E657B}" type="parTrans" cxnId="{ADE68004-A349-420C-BDEE-81AE63883D27}">
      <dgm:prSet/>
      <dgm:spPr/>
      <dgm:t>
        <a:bodyPr/>
        <a:lstStyle/>
        <a:p>
          <a:endParaRPr lang="en-US"/>
        </a:p>
      </dgm:t>
    </dgm:pt>
    <dgm:pt modelId="{529CA64D-8150-42B4-8AB5-2548CD04BCA6}" type="sibTrans" cxnId="{ADE68004-A349-420C-BDEE-81AE63883D27}">
      <dgm:prSet/>
      <dgm:spPr/>
      <dgm:t>
        <a:bodyPr/>
        <a:lstStyle/>
        <a:p>
          <a:endParaRPr lang="en-US"/>
        </a:p>
      </dgm:t>
    </dgm:pt>
    <dgm:pt modelId="{C4DF41A7-042F-4E4B-BD40-04B8A95E26A3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Bounded Wait:</a:t>
          </a:r>
        </a:p>
      </dgm:t>
    </dgm:pt>
    <dgm:pt modelId="{A14DCA2D-3126-4C51-B827-20D6C3C36355}" type="parTrans" cxnId="{667899C3-CC7C-430D-9455-11A97BF2632F}">
      <dgm:prSet/>
      <dgm:spPr/>
      <dgm:t>
        <a:bodyPr/>
        <a:lstStyle/>
        <a:p>
          <a:endParaRPr lang="en-US"/>
        </a:p>
      </dgm:t>
    </dgm:pt>
    <dgm:pt modelId="{877C3048-1FB5-4288-B824-56862EABE2F2}" type="sibTrans" cxnId="{667899C3-CC7C-430D-9455-11A97BF2632F}">
      <dgm:prSet/>
      <dgm:spPr/>
      <dgm:t>
        <a:bodyPr/>
        <a:lstStyle/>
        <a:p>
          <a:endParaRPr lang="en-US"/>
        </a:p>
      </dgm:t>
    </dgm:pt>
    <dgm:pt modelId="{55756C74-7A60-4767-A830-AA28F99DE9A9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Independence:</a:t>
          </a:r>
        </a:p>
      </dgm:t>
    </dgm:pt>
    <dgm:pt modelId="{0F579B38-CEFB-4E2C-9C04-D5BFACA0744D}" type="parTrans" cxnId="{7DB5502F-7CFE-4870-B3B7-3699C6FBC56B}">
      <dgm:prSet/>
      <dgm:spPr/>
      <dgm:t>
        <a:bodyPr/>
        <a:lstStyle/>
        <a:p>
          <a:endParaRPr lang="en-US"/>
        </a:p>
      </dgm:t>
    </dgm:pt>
    <dgm:pt modelId="{6BE5D9FD-7459-4506-93C7-7489B31DFBC6}" type="sibTrans" cxnId="{7DB5502F-7CFE-4870-B3B7-3699C6FBC56B}">
      <dgm:prSet/>
      <dgm:spPr/>
      <dgm:t>
        <a:bodyPr/>
        <a:lstStyle/>
        <a:p>
          <a:endParaRPr lang="en-US"/>
        </a:p>
      </dgm:t>
    </dgm:pt>
    <dgm:pt modelId="{87C2298B-9F6A-4BAA-AC97-24F97CB60E8A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Progress:</a:t>
          </a:r>
        </a:p>
      </dgm:t>
    </dgm:pt>
    <dgm:pt modelId="{B5D4722E-BB85-4D2A-95F3-3336F61DA3DA}" type="sibTrans" cxnId="{8FD3D289-B365-4C77-8C11-26849FB7E496}">
      <dgm:prSet/>
      <dgm:spPr/>
      <dgm:t>
        <a:bodyPr/>
        <a:lstStyle/>
        <a:p>
          <a:endParaRPr lang="en-US"/>
        </a:p>
      </dgm:t>
    </dgm:pt>
    <dgm:pt modelId="{F2580493-3EF7-4B0A-9F4A-675C04887A62}" type="parTrans" cxnId="{8FD3D289-B365-4C77-8C11-26849FB7E496}">
      <dgm:prSet/>
      <dgm:spPr/>
      <dgm:t>
        <a:bodyPr/>
        <a:lstStyle/>
        <a:p>
          <a:endParaRPr lang="en-US"/>
        </a:p>
      </dgm:t>
    </dgm:pt>
    <dgm:pt modelId="{F4E427A7-A4CF-43C9-B3BE-3B2F49797BD4}" type="pres">
      <dgm:prSet presAssocID="{AD43F70E-C1FA-4BE1-A79D-2A69420E4E0A}" presName="linear" presStyleCnt="0">
        <dgm:presLayoutVars>
          <dgm:dir/>
          <dgm:animLvl val="lvl"/>
          <dgm:resizeHandles val="exact"/>
        </dgm:presLayoutVars>
      </dgm:prSet>
      <dgm:spPr/>
    </dgm:pt>
    <dgm:pt modelId="{3F6B3DC1-B530-4F05-8D0A-4802C32D0E32}" type="pres">
      <dgm:prSet presAssocID="{040BFE97-586B-4EBF-AFD7-9E47D0847071}" presName="parentLin" presStyleCnt="0"/>
      <dgm:spPr/>
    </dgm:pt>
    <dgm:pt modelId="{2326D701-CBCF-4FAF-928C-F648B10B26E7}" type="pres">
      <dgm:prSet presAssocID="{040BFE97-586B-4EBF-AFD7-9E47D0847071}" presName="parentLeftMargin" presStyleLbl="node1" presStyleIdx="0" presStyleCnt="4"/>
      <dgm:spPr/>
    </dgm:pt>
    <dgm:pt modelId="{2C243DF3-0365-49EE-9EB2-F994DA7645C7}" type="pres">
      <dgm:prSet presAssocID="{040BFE97-586B-4EBF-AFD7-9E47D08470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73B880-E79E-486C-BE85-604889A94A2B}" type="pres">
      <dgm:prSet presAssocID="{040BFE97-586B-4EBF-AFD7-9E47D0847071}" presName="negativeSpace" presStyleCnt="0"/>
      <dgm:spPr/>
    </dgm:pt>
    <dgm:pt modelId="{96B24622-3DBB-4704-B992-E2CDC6F674FE}" type="pres">
      <dgm:prSet presAssocID="{040BFE97-586B-4EBF-AFD7-9E47D0847071}" presName="childText" presStyleLbl="conFgAcc1" presStyleIdx="0" presStyleCnt="4">
        <dgm:presLayoutVars>
          <dgm:bulletEnabled val="1"/>
        </dgm:presLayoutVars>
      </dgm:prSet>
      <dgm:spPr/>
    </dgm:pt>
    <dgm:pt modelId="{4C213FA2-FC8E-421C-82F0-9AE8459F250D}" type="pres">
      <dgm:prSet presAssocID="{529CA64D-8150-42B4-8AB5-2548CD04BCA6}" presName="spaceBetweenRectangles" presStyleCnt="0"/>
      <dgm:spPr/>
    </dgm:pt>
    <dgm:pt modelId="{D96D3D59-D5E9-4738-82E0-1BD7DC91549F}" type="pres">
      <dgm:prSet presAssocID="{87C2298B-9F6A-4BAA-AC97-24F97CB60E8A}" presName="parentLin" presStyleCnt="0"/>
      <dgm:spPr/>
    </dgm:pt>
    <dgm:pt modelId="{933EFC8B-492A-45EB-845C-006C67DF1744}" type="pres">
      <dgm:prSet presAssocID="{87C2298B-9F6A-4BAA-AC97-24F97CB60E8A}" presName="parentLeftMargin" presStyleLbl="node1" presStyleIdx="0" presStyleCnt="4"/>
      <dgm:spPr/>
    </dgm:pt>
    <dgm:pt modelId="{7D411C53-8323-4816-87BE-C668E14C6E81}" type="pres">
      <dgm:prSet presAssocID="{87C2298B-9F6A-4BAA-AC97-24F97CB60E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2C9246-76CE-4303-832A-7C869DE1C0CE}" type="pres">
      <dgm:prSet presAssocID="{87C2298B-9F6A-4BAA-AC97-24F97CB60E8A}" presName="negativeSpace" presStyleCnt="0"/>
      <dgm:spPr/>
    </dgm:pt>
    <dgm:pt modelId="{7CE685AE-2737-418C-A148-70D53781C58B}" type="pres">
      <dgm:prSet presAssocID="{87C2298B-9F6A-4BAA-AC97-24F97CB60E8A}" presName="childText" presStyleLbl="conFgAcc1" presStyleIdx="1" presStyleCnt="4">
        <dgm:presLayoutVars>
          <dgm:bulletEnabled val="1"/>
        </dgm:presLayoutVars>
      </dgm:prSet>
      <dgm:spPr/>
    </dgm:pt>
    <dgm:pt modelId="{265E26C0-8D38-43AF-8119-50E62AE07A7E}" type="pres">
      <dgm:prSet presAssocID="{B5D4722E-BB85-4D2A-95F3-3336F61DA3DA}" presName="spaceBetweenRectangles" presStyleCnt="0"/>
      <dgm:spPr/>
    </dgm:pt>
    <dgm:pt modelId="{EC9C217C-1598-4398-ABC0-46532B6CE548}" type="pres">
      <dgm:prSet presAssocID="{C4DF41A7-042F-4E4B-BD40-04B8A95E26A3}" presName="parentLin" presStyleCnt="0"/>
      <dgm:spPr/>
    </dgm:pt>
    <dgm:pt modelId="{048FFAC0-7294-4142-BE70-A1C5F67FEE47}" type="pres">
      <dgm:prSet presAssocID="{C4DF41A7-042F-4E4B-BD40-04B8A95E26A3}" presName="parentLeftMargin" presStyleLbl="node1" presStyleIdx="1" presStyleCnt="4"/>
      <dgm:spPr/>
    </dgm:pt>
    <dgm:pt modelId="{57C5B764-B99E-4C94-ADFE-4836D9CA61F8}" type="pres">
      <dgm:prSet presAssocID="{C4DF41A7-042F-4E4B-BD40-04B8A95E26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99B0CF-BFF2-4E76-8307-0D7654A8AAC7}" type="pres">
      <dgm:prSet presAssocID="{C4DF41A7-042F-4E4B-BD40-04B8A95E26A3}" presName="negativeSpace" presStyleCnt="0"/>
      <dgm:spPr/>
    </dgm:pt>
    <dgm:pt modelId="{1B69153D-FB7E-4C02-8536-7B0F5692D9C7}" type="pres">
      <dgm:prSet presAssocID="{C4DF41A7-042F-4E4B-BD40-04B8A95E26A3}" presName="childText" presStyleLbl="conFgAcc1" presStyleIdx="2" presStyleCnt="4">
        <dgm:presLayoutVars>
          <dgm:bulletEnabled val="1"/>
        </dgm:presLayoutVars>
      </dgm:prSet>
      <dgm:spPr/>
    </dgm:pt>
    <dgm:pt modelId="{CFE27C1C-E305-4977-9BD5-9C3342E2BC15}" type="pres">
      <dgm:prSet presAssocID="{877C3048-1FB5-4288-B824-56862EABE2F2}" presName="spaceBetweenRectangles" presStyleCnt="0"/>
      <dgm:spPr/>
    </dgm:pt>
    <dgm:pt modelId="{9CE41565-CE6E-4475-9004-D079B2CF63EB}" type="pres">
      <dgm:prSet presAssocID="{55756C74-7A60-4767-A830-AA28F99DE9A9}" presName="parentLin" presStyleCnt="0"/>
      <dgm:spPr/>
    </dgm:pt>
    <dgm:pt modelId="{E083D8E6-76BF-4E1E-A0F7-F1047A794D5B}" type="pres">
      <dgm:prSet presAssocID="{55756C74-7A60-4767-A830-AA28F99DE9A9}" presName="parentLeftMargin" presStyleLbl="node1" presStyleIdx="2" presStyleCnt="4"/>
      <dgm:spPr/>
    </dgm:pt>
    <dgm:pt modelId="{81CDC548-5E82-40CC-84F4-290CD4D44A60}" type="pres">
      <dgm:prSet presAssocID="{55756C74-7A60-4767-A830-AA28F99DE9A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956D5DB-85F1-4D99-9914-A04E1CD1A9CE}" type="pres">
      <dgm:prSet presAssocID="{55756C74-7A60-4767-A830-AA28F99DE9A9}" presName="negativeSpace" presStyleCnt="0"/>
      <dgm:spPr/>
    </dgm:pt>
    <dgm:pt modelId="{56A0155B-1FE7-410F-A5D8-35680E5E8312}" type="pres">
      <dgm:prSet presAssocID="{55756C74-7A60-4767-A830-AA28F99DE9A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E68004-A349-420C-BDEE-81AE63883D27}" srcId="{AD43F70E-C1FA-4BE1-A79D-2A69420E4E0A}" destId="{040BFE97-586B-4EBF-AFD7-9E47D0847071}" srcOrd="0" destOrd="0" parTransId="{BF42C24E-00B7-4348-9397-9043A49E657B}" sibTransId="{529CA64D-8150-42B4-8AB5-2548CD04BCA6}"/>
    <dgm:cxn modelId="{282C8309-4D98-4025-BE51-4FD5F9A71277}" type="presOf" srcId="{C4DF41A7-042F-4E4B-BD40-04B8A95E26A3}" destId="{048FFAC0-7294-4142-BE70-A1C5F67FEE47}" srcOrd="0" destOrd="0" presId="urn:microsoft.com/office/officeart/2005/8/layout/list1"/>
    <dgm:cxn modelId="{6B8C9C0D-E660-4108-9B63-F6536F9EEF2B}" type="presOf" srcId="{87C2298B-9F6A-4BAA-AC97-24F97CB60E8A}" destId="{7D411C53-8323-4816-87BE-C668E14C6E81}" srcOrd="1" destOrd="0" presId="urn:microsoft.com/office/officeart/2005/8/layout/list1"/>
    <dgm:cxn modelId="{7DB5502F-7CFE-4870-B3B7-3699C6FBC56B}" srcId="{AD43F70E-C1FA-4BE1-A79D-2A69420E4E0A}" destId="{55756C74-7A60-4767-A830-AA28F99DE9A9}" srcOrd="3" destOrd="0" parTransId="{0F579B38-CEFB-4E2C-9C04-D5BFACA0744D}" sibTransId="{6BE5D9FD-7459-4506-93C7-7489B31DFBC6}"/>
    <dgm:cxn modelId="{E9C2D068-FD64-42F1-B044-B3F9BE951FC8}" type="presOf" srcId="{87C2298B-9F6A-4BAA-AC97-24F97CB60E8A}" destId="{933EFC8B-492A-45EB-845C-006C67DF1744}" srcOrd="0" destOrd="0" presId="urn:microsoft.com/office/officeart/2005/8/layout/list1"/>
    <dgm:cxn modelId="{33EADD7B-4F71-4639-8C5F-A9E1DEF97EFF}" type="presOf" srcId="{C4DF41A7-042F-4E4B-BD40-04B8A95E26A3}" destId="{57C5B764-B99E-4C94-ADFE-4836D9CA61F8}" srcOrd="1" destOrd="0" presId="urn:microsoft.com/office/officeart/2005/8/layout/list1"/>
    <dgm:cxn modelId="{4F44AA83-ED87-49D8-83F6-29AC729E03DF}" type="presOf" srcId="{55756C74-7A60-4767-A830-AA28F99DE9A9}" destId="{81CDC548-5E82-40CC-84F4-290CD4D44A60}" srcOrd="1" destOrd="0" presId="urn:microsoft.com/office/officeart/2005/8/layout/list1"/>
    <dgm:cxn modelId="{8FD3D289-B365-4C77-8C11-26849FB7E496}" srcId="{AD43F70E-C1FA-4BE1-A79D-2A69420E4E0A}" destId="{87C2298B-9F6A-4BAA-AC97-24F97CB60E8A}" srcOrd="1" destOrd="0" parTransId="{F2580493-3EF7-4B0A-9F4A-675C04887A62}" sibTransId="{B5D4722E-BB85-4D2A-95F3-3336F61DA3DA}"/>
    <dgm:cxn modelId="{638A419D-F678-4A90-8E30-8AA0F8A08F29}" type="presOf" srcId="{AD43F70E-C1FA-4BE1-A79D-2A69420E4E0A}" destId="{F4E427A7-A4CF-43C9-B3BE-3B2F49797BD4}" srcOrd="0" destOrd="0" presId="urn:microsoft.com/office/officeart/2005/8/layout/list1"/>
    <dgm:cxn modelId="{E2ADC0B2-C0A5-4316-A1B8-670A6C7E0790}" type="presOf" srcId="{55756C74-7A60-4767-A830-AA28F99DE9A9}" destId="{E083D8E6-76BF-4E1E-A0F7-F1047A794D5B}" srcOrd="0" destOrd="0" presId="urn:microsoft.com/office/officeart/2005/8/layout/list1"/>
    <dgm:cxn modelId="{667899C3-CC7C-430D-9455-11A97BF2632F}" srcId="{AD43F70E-C1FA-4BE1-A79D-2A69420E4E0A}" destId="{C4DF41A7-042F-4E4B-BD40-04B8A95E26A3}" srcOrd="2" destOrd="0" parTransId="{A14DCA2D-3126-4C51-B827-20D6C3C36355}" sibTransId="{877C3048-1FB5-4288-B824-56862EABE2F2}"/>
    <dgm:cxn modelId="{7BE987EC-B5C9-4659-887B-BF022DD68CA9}" type="presOf" srcId="{040BFE97-586B-4EBF-AFD7-9E47D0847071}" destId="{2326D701-CBCF-4FAF-928C-F648B10B26E7}" srcOrd="0" destOrd="0" presId="urn:microsoft.com/office/officeart/2005/8/layout/list1"/>
    <dgm:cxn modelId="{4F898AFA-59B5-436B-AE1C-3CAF87D5213E}" type="presOf" srcId="{040BFE97-586B-4EBF-AFD7-9E47D0847071}" destId="{2C243DF3-0365-49EE-9EB2-F994DA7645C7}" srcOrd="1" destOrd="0" presId="urn:microsoft.com/office/officeart/2005/8/layout/list1"/>
    <dgm:cxn modelId="{2EDEE6EE-2B1C-4184-B856-DF24F64DDD7E}" type="presParOf" srcId="{F4E427A7-A4CF-43C9-B3BE-3B2F49797BD4}" destId="{3F6B3DC1-B530-4F05-8D0A-4802C32D0E32}" srcOrd="0" destOrd="0" presId="urn:microsoft.com/office/officeart/2005/8/layout/list1"/>
    <dgm:cxn modelId="{53B1760F-0526-4BDA-A812-093EEF679BDD}" type="presParOf" srcId="{3F6B3DC1-B530-4F05-8D0A-4802C32D0E32}" destId="{2326D701-CBCF-4FAF-928C-F648B10B26E7}" srcOrd="0" destOrd="0" presId="urn:microsoft.com/office/officeart/2005/8/layout/list1"/>
    <dgm:cxn modelId="{F8BD92CB-65F1-468E-B33F-04A33301312C}" type="presParOf" srcId="{3F6B3DC1-B530-4F05-8D0A-4802C32D0E32}" destId="{2C243DF3-0365-49EE-9EB2-F994DA7645C7}" srcOrd="1" destOrd="0" presId="urn:microsoft.com/office/officeart/2005/8/layout/list1"/>
    <dgm:cxn modelId="{9E10FB63-8C5B-4683-B7E0-E2F535D8AA21}" type="presParOf" srcId="{F4E427A7-A4CF-43C9-B3BE-3B2F49797BD4}" destId="{BB73B880-E79E-486C-BE85-604889A94A2B}" srcOrd="1" destOrd="0" presId="urn:microsoft.com/office/officeart/2005/8/layout/list1"/>
    <dgm:cxn modelId="{3EC97C36-BFD6-4DFC-B8BE-00774F08B031}" type="presParOf" srcId="{F4E427A7-A4CF-43C9-B3BE-3B2F49797BD4}" destId="{96B24622-3DBB-4704-B992-E2CDC6F674FE}" srcOrd="2" destOrd="0" presId="urn:microsoft.com/office/officeart/2005/8/layout/list1"/>
    <dgm:cxn modelId="{37F2C359-AC41-42A8-8790-4EAF89773A3E}" type="presParOf" srcId="{F4E427A7-A4CF-43C9-B3BE-3B2F49797BD4}" destId="{4C213FA2-FC8E-421C-82F0-9AE8459F250D}" srcOrd="3" destOrd="0" presId="urn:microsoft.com/office/officeart/2005/8/layout/list1"/>
    <dgm:cxn modelId="{1FC8CEE2-0548-4AD0-ADC3-09BB79F2276E}" type="presParOf" srcId="{F4E427A7-A4CF-43C9-B3BE-3B2F49797BD4}" destId="{D96D3D59-D5E9-4738-82E0-1BD7DC91549F}" srcOrd="4" destOrd="0" presId="urn:microsoft.com/office/officeart/2005/8/layout/list1"/>
    <dgm:cxn modelId="{59E68FCA-68A8-4F31-AA04-12E301D3F24D}" type="presParOf" srcId="{D96D3D59-D5E9-4738-82E0-1BD7DC91549F}" destId="{933EFC8B-492A-45EB-845C-006C67DF1744}" srcOrd="0" destOrd="0" presId="urn:microsoft.com/office/officeart/2005/8/layout/list1"/>
    <dgm:cxn modelId="{7BE59484-7ECF-4BF7-9ABA-1020FAE8C378}" type="presParOf" srcId="{D96D3D59-D5E9-4738-82E0-1BD7DC91549F}" destId="{7D411C53-8323-4816-87BE-C668E14C6E81}" srcOrd="1" destOrd="0" presId="urn:microsoft.com/office/officeart/2005/8/layout/list1"/>
    <dgm:cxn modelId="{CBCA604A-7A5B-476B-B811-E3E63B740CF6}" type="presParOf" srcId="{F4E427A7-A4CF-43C9-B3BE-3B2F49797BD4}" destId="{0D2C9246-76CE-4303-832A-7C869DE1C0CE}" srcOrd="5" destOrd="0" presId="urn:microsoft.com/office/officeart/2005/8/layout/list1"/>
    <dgm:cxn modelId="{060F2226-90FA-48C2-BCCB-A945DE840E50}" type="presParOf" srcId="{F4E427A7-A4CF-43C9-B3BE-3B2F49797BD4}" destId="{7CE685AE-2737-418C-A148-70D53781C58B}" srcOrd="6" destOrd="0" presId="urn:microsoft.com/office/officeart/2005/8/layout/list1"/>
    <dgm:cxn modelId="{43EA2F1F-0549-4954-963D-BC32E42A31D4}" type="presParOf" srcId="{F4E427A7-A4CF-43C9-B3BE-3B2F49797BD4}" destId="{265E26C0-8D38-43AF-8119-50E62AE07A7E}" srcOrd="7" destOrd="0" presId="urn:microsoft.com/office/officeart/2005/8/layout/list1"/>
    <dgm:cxn modelId="{1D7331B1-0F46-4BBC-B4CB-D6FCCA00BC8A}" type="presParOf" srcId="{F4E427A7-A4CF-43C9-B3BE-3B2F49797BD4}" destId="{EC9C217C-1598-4398-ABC0-46532B6CE548}" srcOrd="8" destOrd="0" presId="urn:microsoft.com/office/officeart/2005/8/layout/list1"/>
    <dgm:cxn modelId="{DC5946BC-18BA-4308-9E0E-06F0874FEDC9}" type="presParOf" srcId="{EC9C217C-1598-4398-ABC0-46532B6CE548}" destId="{048FFAC0-7294-4142-BE70-A1C5F67FEE47}" srcOrd="0" destOrd="0" presId="urn:microsoft.com/office/officeart/2005/8/layout/list1"/>
    <dgm:cxn modelId="{2F6F594C-291E-4CF2-927A-E4FEE2151E2B}" type="presParOf" srcId="{EC9C217C-1598-4398-ABC0-46532B6CE548}" destId="{57C5B764-B99E-4C94-ADFE-4836D9CA61F8}" srcOrd="1" destOrd="0" presId="urn:microsoft.com/office/officeart/2005/8/layout/list1"/>
    <dgm:cxn modelId="{A3E55DA9-4842-4BFE-A860-53CBD76A2DEC}" type="presParOf" srcId="{F4E427A7-A4CF-43C9-B3BE-3B2F49797BD4}" destId="{7C99B0CF-BFF2-4E76-8307-0D7654A8AAC7}" srcOrd="9" destOrd="0" presId="urn:microsoft.com/office/officeart/2005/8/layout/list1"/>
    <dgm:cxn modelId="{377547CC-59FD-4FC3-B6B4-B9E224864100}" type="presParOf" srcId="{F4E427A7-A4CF-43C9-B3BE-3B2F49797BD4}" destId="{1B69153D-FB7E-4C02-8536-7B0F5692D9C7}" srcOrd="10" destOrd="0" presId="urn:microsoft.com/office/officeart/2005/8/layout/list1"/>
    <dgm:cxn modelId="{54B67107-1007-44F4-927F-04D1E1EF176B}" type="presParOf" srcId="{F4E427A7-A4CF-43C9-B3BE-3B2F49797BD4}" destId="{CFE27C1C-E305-4977-9BD5-9C3342E2BC15}" srcOrd="11" destOrd="0" presId="urn:microsoft.com/office/officeart/2005/8/layout/list1"/>
    <dgm:cxn modelId="{3A3D4634-5772-406B-8196-FB9887B4DADF}" type="presParOf" srcId="{F4E427A7-A4CF-43C9-B3BE-3B2F49797BD4}" destId="{9CE41565-CE6E-4475-9004-D079B2CF63EB}" srcOrd="12" destOrd="0" presId="urn:microsoft.com/office/officeart/2005/8/layout/list1"/>
    <dgm:cxn modelId="{4B5AA0F8-D11A-408E-BB8F-911296E1B44B}" type="presParOf" srcId="{9CE41565-CE6E-4475-9004-D079B2CF63EB}" destId="{E083D8E6-76BF-4E1E-A0F7-F1047A794D5B}" srcOrd="0" destOrd="0" presId="urn:microsoft.com/office/officeart/2005/8/layout/list1"/>
    <dgm:cxn modelId="{AA059377-5410-4828-8CE2-75743C18D3FA}" type="presParOf" srcId="{9CE41565-CE6E-4475-9004-D079B2CF63EB}" destId="{81CDC548-5E82-40CC-84F4-290CD4D44A60}" srcOrd="1" destOrd="0" presId="urn:microsoft.com/office/officeart/2005/8/layout/list1"/>
    <dgm:cxn modelId="{C98C814E-45B3-45EA-B93C-1A13852D4C62}" type="presParOf" srcId="{F4E427A7-A4CF-43C9-B3BE-3B2F49797BD4}" destId="{6956D5DB-85F1-4D99-9914-A04E1CD1A9CE}" srcOrd="13" destOrd="0" presId="urn:microsoft.com/office/officeart/2005/8/layout/list1"/>
    <dgm:cxn modelId="{C09304D7-2D64-413C-AEF6-7984612ACC41}" type="presParOf" srcId="{F4E427A7-A4CF-43C9-B3BE-3B2F49797BD4}" destId="{56A0155B-1FE7-410F-A5D8-35680E5E83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24622-3DBB-4704-B992-E2CDC6F674FE}">
      <dsp:nvSpPr>
        <dsp:cNvPr id="0" name=""/>
        <dsp:cNvSpPr/>
      </dsp:nvSpPr>
      <dsp:spPr>
        <a:xfrm>
          <a:off x="0" y="281579"/>
          <a:ext cx="815340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54076" rIns="6327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 dirty="0"/>
            <a:t>If process </a:t>
          </a:r>
          <a:r>
            <a:rPr lang="en-US" altLang="en-US" sz="1700" b="1" kern="1200" dirty="0">
              <a:latin typeface="Courier New" pitchFamily="49" charset="0"/>
            </a:rPr>
            <a:t>P</a:t>
          </a:r>
          <a:r>
            <a:rPr lang="en-US" altLang="en-US" sz="1700" b="1" kern="1200" baseline="-25000" dirty="0">
              <a:latin typeface="Courier New" pitchFamily="49" charset="0"/>
            </a:rPr>
            <a:t>i</a:t>
          </a:r>
          <a:r>
            <a:rPr lang="en-US" altLang="en-US" sz="1700" kern="1200" dirty="0"/>
            <a:t> is executing in critical section, all other processes are prevented from entering the critical section.</a:t>
          </a:r>
        </a:p>
      </dsp:txBody>
      <dsp:txXfrm>
        <a:off x="0" y="281579"/>
        <a:ext cx="8153400" cy="963900"/>
      </dsp:txXfrm>
    </dsp:sp>
    <dsp:sp modelId="{2C243DF3-0365-49EE-9EB2-F994DA7645C7}">
      <dsp:nvSpPr>
        <dsp:cNvPr id="0" name=""/>
        <dsp:cNvSpPr/>
      </dsp:nvSpPr>
      <dsp:spPr>
        <a:xfrm>
          <a:off x="407670" y="30659"/>
          <a:ext cx="3230890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>
              <a:solidFill>
                <a:schemeClr val="bg1"/>
              </a:solidFill>
            </a:rPr>
            <a:t>Mutual Exclusion</a:t>
          </a:r>
          <a:r>
            <a:rPr lang="en-US" altLang="en-US" sz="1700" kern="1200">
              <a:solidFill>
                <a:schemeClr val="bg1"/>
              </a:solidFill>
            </a:rPr>
            <a:t>:</a:t>
          </a:r>
          <a:endParaRPr lang="en-US" sz="1700" kern="1200" dirty="0">
            <a:solidFill>
              <a:schemeClr val="bg1"/>
            </a:solidFill>
          </a:endParaRPr>
        </a:p>
      </dsp:txBody>
      <dsp:txXfrm>
        <a:off x="432168" y="55157"/>
        <a:ext cx="3181894" cy="452844"/>
      </dsp:txXfrm>
    </dsp:sp>
    <dsp:sp modelId="{7CE685AE-2737-418C-A148-70D53781C58B}">
      <dsp:nvSpPr>
        <dsp:cNvPr id="0" name=""/>
        <dsp:cNvSpPr/>
      </dsp:nvSpPr>
      <dsp:spPr>
        <a:xfrm>
          <a:off x="0" y="1588199"/>
          <a:ext cx="8153400" cy="937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54076" rIns="6327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 dirty="0"/>
            <a:t>If no process is in a critical section, one of the waiting processes should be granted access.</a:t>
          </a:r>
        </a:p>
      </dsp:txBody>
      <dsp:txXfrm>
        <a:off x="0" y="1588199"/>
        <a:ext cx="8153400" cy="937125"/>
      </dsp:txXfrm>
    </dsp:sp>
    <dsp:sp modelId="{7D411C53-8323-4816-87BE-C668E14C6E81}">
      <dsp:nvSpPr>
        <dsp:cNvPr id="0" name=""/>
        <dsp:cNvSpPr/>
      </dsp:nvSpPr>
      <dsp:spPr>
        <a:xfrm>
          <a:off x="407670" y="1337279"/>
          <a:ext cx="3230890" cy="501840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>
              <a:solidFill>
                <a:schemeClr val="bg1"/>
              </a:solidFill>
            </a:rPr>
            <a:t>Progress:</a:t>
          </a:r>
          <a:endParaRPr lang="en-US" altLang="en-US" sz="1700" b="1" kern="1200" dirty="0">
            <a:solidFill>
              <a:schemeClr val="bg1"/>
            </a:solidFill>
          </a:endParaRPr>
        </a:p>
      </dsp:txBody>
      <dsp:txXfrm>
        <a:off x="432168" y="1361777"/>
        <a:ext cx="3181894" cy="452844"/>
      </dsp:txXfrm>
    </dsp:sp>
    <dsp:sp modelId="{1B69153D-FB7E-4C02-8536-7B0F5692D9C7}">
      <dsp:nvSpPr>
        <dsp:cNvPr id="0" name=""/>
        <dsp:cNvSpPr/>
      </dsp:nvSpPr>
      <dsp:spPr>
        <a:xfrm>
          <a:off x="0" y="2868044"/>
          <a:ext cx="8153400" cy="1204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54076" rIns="6327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 dirty="0"/>
            <a:t>After process </a:t>
          </a:r>
          <a:r>
            <a:rPr lang="en-US" altLang="en-US" sz="1700" b="1" kern="1200" dirty="0">
              <a:latin typeface="Courier New" pitchFamily="49" charset="0"/>
            </a:rPr>
            <a:t>P</a:t>
          </a:r>
          <a:r>
            <a:rPr lang="en-US" altLang="en-US" sz="1700" b="1" kern="1200" baseline="-25000" dirty="0">
              <a:latin typeface="Courier New" pitchFamily="49" charset="0"/>
            </a:rPr>
            <a:t>i</a:t>
          </a:r>
          <a:r>
            <a:rPr lang="en-US" altLang="en-US" sz="1700" kern="1200" dirty="0"/>
            <a:t> request to enter critical section, there exists an </a:t>
          </a:r>
          <a:r>
            <a:rPr lang="en-US" altLang="en-US" sz="1700" kern="1200" dirty="0" err="1"/>
            <a:t>upperbound</a:t>
          </a:r>
          <a:r>
            <a:rPr lang="en-US" altLang="en-US" sz="1700" kern="1200" dirty="0"/>
            <a:t> of number of times other processes can enter the critical section before </a:t>
          </a:r>
          <a:r>
            <a:rPr lang="en-US" altLang="en-US" sz="1700" b="1" kern="1200" dirty="0">
              <a:latin typeface="Courier New" pitchFamily="49" charset="0"/>
            </a:rPr>
            <a:t>P</a:t>
          </a:r>
          <a:r>
            <a:rPr lang="en-US" altLang="en-US" sz="1700" b="1" kern="1200" baseline="-25000" dirty="0">
              <a:latin typeface="Courier New" pitchFamily="49" charset="0"/>
            </a:rPr>
            <a:t>i.</a:t>
          </a:r>
        </a:p>
      </dsp:txBody>
      <dsp:txXfrm>
        <a:off x="0" y="2868044"/>
        <a:ext cx="8153400" cy="1204875"/>
      </dsp:txXfrm>
    </dsp:sp>
    <dsp:sp modelId="{57C5B764-B99E-4C94-ADFE-4836D9CA61F8}">
      <dsp:nvSpPr>
        <dsp:cNvPr id="0" name=""/>
        <dsp:cNvSpPr/>
      </dsp:nvSpPr>
      <dsp:spPr>
        <a:xfrm>
          <a:off x="407670" y="2617124"/>
          <a:ext cx="3230890" cy="501840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>
              <a:solidFill>
                <a:schemeClr val="bg1"/>
              </a:solidFill>
            </a:rPr>
            <a:t>Bounded Wait:</a:t>
          </a:r>
          <a:endParaRPr lang="en-US" altLang="en-US" sz="1700" b="1" kern="1200" dirty="0">
            <a:solidFill>
              <a:schemeClr val="bg1"/>
            </a:solidFill>
          </a:endParaRPr>
        </a:p>
      </dsp:txBody>
      <dsp:txXfrm>
        <a:off x="432168" y="2641622"/>
        <a:ext cx="3181894" cy="452844"/>
      </dsp:txXfrm>
    </dsp:sp>
    <dsp:sp modelId="{56A0155B-1FE7-410F-A5D8-35680E5E8312}">
      <dsp:nvSpPr>
        <dsp:cNvPr id="0" name=""/>
        <dsp:cNvSpPr/>
      </dsp:nvSpPr>
      <dsp:spPr>
        <a:xfrm>
          <a:off x="0" y="4415640"/>
          <a:ext cx="815340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54076" rIns="6327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 dirty="0"/>
            <a:t>Process </a:t>
          </a:r>
          <a:r>
            <a:rPr lang="en-US" altLang="en-US" sz="1700" b="1" kern="1200" dirty="0"/>
            <a:t>not </a:t>
          </a:r>
          <a:r>
            <a:rPr lang="en-US" altLang="en-US" sz="1700" kern="1200" dirty="0"/>
            <a:t>executing in critical section should never block other process.</a:t>
          </a:r>
          <a:endParaRPr lang="en-US" altLang="en-US" sz="1700" b="1" kern="1200" baseline="-25000" dirty="0">
            <a:latin typeface="Courier New" pitchFamily="49" charset="0"/>
          </a:endParaRPr>
        </a:p>
      </dsp:txBody>
      <dsp:txXfrm>
        <a:off x="0" y="4415640"/>
        <a:ext cx="8153400" cy="963900"/>
      </dsp:txXfrm>
    </dsp:sp>
    <dsp:sp modelId="{81CDC548-5E82-40CC-84F4-290CD4D44A60}">
      <dsp:nvSpPr>
        <dsp:cNvPr id="0" name=""/>
        <dsp:cNvSpPr/>
      </dsp:nvSpPr>
      <dsp:spPr>
        <a:xfrm>
          <a:off x="407670" y="4164719"/>
          <a:ext cx="3230890" cy="501840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>
              <a:solidFill>
                <a:schemeClr val="bg1"/>
              </a:solidFill>
            </a:rPr>
            <a:t>Independence:</a:t>
          </a:r>
          <a:endParaRPr lang="en-US" altLang="en-US" sz="1700" b="1" kern="1200" dirty="0">
            <a:solidFill>
              <a:schemeClr val="bg1"/>
            </a:solidFill>
          </a:endParaRPr>
        </a:p>
      </dsp:txBody>
      <dsp:txXfrm>
        <a:off x="432168" y="4189217"/>
        <a:ext cx="3181894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24622-3DBB-4704-B992-E2CDC6F674FE}">
      <dsp:nvSpPr>
        <dsp:cNvPr id="0" name=""/>
        <dsp:cNvSpPr/>
      </dsp:nvSpPr>
      <dsp:spPr>
        <a:xfrm>
          <a:off x="0" y="4322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43DF3-0365-49EE-9EB2-F994DA7645C7}">
      <dsp:nvSpPr>
        <dsp:cNvPr id="0" name=""/>
        <dsp:cNvSpPr/>
      </dsp:nvSpPr>
      <dsp:spPr>
        <a:xfrm>
          <a:off x="107820" y="210843"/>
          <a:ext cx="150949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Mutual Exclusion</a:t>
          </a:r>
          <a:r>
            <a:rPr lang="en-US" altLang="en-US" sz="1500" kern="1200" dirty="0">
              <a:solidFill>
                <a:schemeClr val="bg1"/>
              </a:solidFill>
            </a:rPr>
            <a:t>: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129436" y="232459"/>
        <a:ext cx="1466258" cy="399568"/>
      </dsp:txXfrm>
    </dsp:sp>
    <dsp:sp modelId="{7CE685AE-2737-418C-A148-70D53781C58B}">
      <dsp:nvSpPr>
        <dsp:cNvPr id="0" name=""/>
        <dsp:cNvSpPr/>
      </dsp:nvSpPr>
      <dsp:spPr>
        <a:xfrm>
          <a:off x="0" y="11126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11C53-8323-4816-87BE-C668E14C6E81}">
      <dsp:nvSpPr>
        <dsp:cNvPr id="0" name=""/>
        <dsp:cNvSpPr/>
      </dsp:nvSpPr>
      <dsp:spPr>
        <a:xfrm>
          <a:off x="107820" y="891243"/>
          <a:ext cx="1509490" cy="442800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Progress:</a:t>
          </a:r>
        </a:p>
      </dsp:txBody>
      <dsp:txXfrm>
        <a:off x="129436" y="912859"/>
        <a:ext cx="1466258" cy="399568"/>
      </dsp:txXfrm>
    </dsp:sp>
    <dsp:sp modelId="{1B69153D-FB7E-4C02-8536-7B0F5692D9C7}">
      <dsp:nvSpPr>
        <dsp:cNvPr id="0" name=""/>
        <dsp:cNvSpPr/>
      </dsp:nvSpPr>
      <dsp:spPr>
        <a:xfrm>
          <a:off x="0" y="17930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5B764-B99E-4C94-ADFE-4836D9CA61F8}">
      <dsp:nvSpPr>
        <dsp:cNvPr id="0" name=""/>
        <dsp:cNvSpPr/>
      </dsp:nvSpPr>
      <dsp:spPr>
        <a:xfrm>
          <a:off x="107820" y="1571643"/>
          <a:ext cx="1509490" cy="442800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Bounded Wait:</a:t>
          </a:r>
        </a:p>
      </dsp:txBody>
      <dsp:txXfrm>
        <a:off x="129436" y="1593259"/>
        <a:ext cx="1466258" cy="399568"/>
      </dsp:txXfrm>
    </dsp:sp>
    <dsp:sp modelId="{56A0155B-1FE7-410F-A5D8-35680E5E8312}">
      <dsp:nvSpPr>
        <dsp:cNvPr id="0" name=""/>
        <dsp:cNvSpPr/>
      </dsp:nvSpPr>
      <dsp:spPr>
        <a:xfrm>
          <a:off x="0" y="24734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DC548-5E82-40CC-84F4-290CD4D44A60}">
      <dsp:nvSpPr>
        <dsp:cNvPr id="0" name=""/>
        <dsp:cNvSpPr/>
      </dsp:nvSpPr>
      <dsp:spPr>
        <a:xfrm>
          <a:off x="107820" y="2252043"/>
          <a:ext cx="1509490" cy="442800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Independence:</a:t>
          </a:r>
        </a:p>
      </dsp:txBody>
      <dsp:txXfrm>
        <a:off x="129436" y="2273659"/>
        <a:ext cx="146625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CDC7FB6C-B648-4D79-B731-7A80C14E89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42636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6119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157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829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47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49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570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Other processes are prevented to enter</a:t>
            </a:r>
            <a:r>
              <a:rPr lang="en-SG" baseline="0" dirty="0"/>
              <a:t> the critical section at the same time.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267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9945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https://en.wikipedia.org/wiki/Compare-and-swap</a:t>
            </a:r>
          </a:p>
          <a:p>
            <a:r>
              <a:rPr lang="en-US" dirty="0"/>
              <a:t>https://en.wikipedia.org/wiki/Load-link/store-conditional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438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9B9B2E-EE55-44CB-B547-6CF44D7D86FC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70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96633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9023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53E1B7-6512-4CAD-A3C9-598C9891ED0B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r>
              <a:rPr lang="en-US" altLang="en-US" dirty="0"/>
              <a:t>FIFO bounded buffer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607370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multiple</a:t>
            </a:r>
            <a:r>
              <a:rPr lang="en-US" baseline="0" dirty="0"/>
              <a:t> processes</a:t>
            </a:r>
          </a:p>
          <a:p>
            <a:pPr lvl="1"/>
            <a:r>
              <a:rPr lang="en-US" altLang="en-US" sz="2000" b="1" dirty="0">
                <a:latin typeface="Courier New" pitchFamily="49" charset="0"/>
              </a:rPr>
              <a:t>count = in = out = 0 </a:t>
            </a:r>
          </a:p>
          <a:p>
            <a:pPr lvl="1"/>
            <a:r>
              <a:rPr lang="en-US" altLang="en-US" sz="2000" b="1" dirty="0" err="1">
                <a:latin typeface="Courier New" pitchFamily="49" charset="0"/>
              </a:rPr>
              <a:t>buf</a:t>
            </a:r>
            <a:r>
              <a:rPr lang="en-US" altLang="en-US" sz="2000" b="1" dirty="0">
                <a:latin typeface="Courier New" pitchFamily="49" charset="0"/>
              </a:rPr>
              <a:t> = S(1) </a:t>
            </a:r>
            <a:r>
              <a:rPr lang="en-US" altLang="en-US" sz="2000" dirty="0"/>
              <a:t>//semaphore with initial value 1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09595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000" b="1" dirty="0">
                <a:latin typeface="Courier New" pitchFamily="49" charset="0"/>
              </a:rPr>
              <a:t>count = in = out = 0 </a:t>
            </a:r>
          </a:p>
          <a:p>
            <a:pPr lvl="1"/>
            <a:r>
              <a:rPr lang="en-US" altLang="en-US" sz="2000" b="1" dirty="0" err="1">
                <a:latin typeface="Courier New" pitchFamily="49" charset="0"/>
              </a:rPr>
              <a:t>buf</a:t>
            </a:r>
            <a:r>
              <a:rPr lang="en-US" altLang="en-US" sz="2000" b="1" dirty="0">
                <a:latin typeface="Courier New" pitchFamily="49" charset="0"/>
              </a:rPr>
              <a:t> = S(1), </a:t>
            </a:r>
            <a:r>
              <a:rPr lang="en-US" altLang="en-US" sz="2000" b="1" dirty="0" err="1">
                <a:latin typeface="Courier New" pitchFamily="49" charset="0"/>
              </a:rPr>
              <a:t>notFull</a:t>
            </a:r>
            <a:r>
              <a:rPr lang="en-US" altLang="en-US" sz="2000" b="1" dirty="0">
                <a:latin typeface="Courier New" pitchFamily="49" charset="0"/>
              </a:rPr>
              <a:t> = S(K), </a:t>
            </a:r>
            <a:r>
              <a:rPr lang="en-US" altLang="en-US" sz="2000" b="1" dirty="0" err="1">
                <a:latin typeface="Courier New" pitchFamily="49" charset="0"/>
              </a:rPr>
              <a:t>notEmpty</a:t>
            </a:r>
            <a:r>
              <a:rPr lang="en-US" altLang="en-US" sz="2000" b="1" dirty="0">
                <a:latin typeface="Courier New" pitchFamily="49" charset="0"/>
              </a:rPr>
              <a:t> = S(0)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4696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8999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000" b="1" dirty="0" err="1">
                <a:latin typeface="Courier New" pitchFamily="49" charset="0"/>
              </a:rPr>
              <a:t>roomEmpty</a:t>
            </a:r>
            <a:r>
              <a:rPr lang="en-US" altLang="en-US" sz="2000" b="1" dirty="0">
                <a:latin typeface="Courier New" pitchFamily="49" charset="0"/>
              </a:rPr>
              <a:t> = S(1)</a:t>
            </a:r>
          </a:p>
          <a:p>
            <a:pPr lvl="1"/>
            <a:r>
              <a:rPr lang="en-US" altLang="en-US" sz="2000" b="1" dirty="0" err="1">
                <a:latin typeface="Courier New" pitchFamily="49" charset="0"/>
              </a:rPr>
              <a:t>mutex</a:t>
            </a:r>
            <a:r>
              <a:rPr lang="en-US" altLang="en-US" sz="2000" b="1" dirty="0">
                <a:latin typeface="Courier New" pitchFamily="49" charset="0"/>
              </a:rPr>
              <a:t> = S(1)</a:t>
            </a:r>
          </a:p>
          <a:p>
            <a:pPr lvl="1"/>
            <a:r>
              <a:rPr lang="en-US" altLang="en-US" sz="2000" b="1" dirty="0" err="1">
                <a:latin typeface="Courier New" pitchFamily="49" charset="0"/>
              </a:rPr>
              <a:t>nReader</a:t>
            </a:r>
            <a:r>
              <a:rPr lang="en-US" altLang="en-US" sz="2000" b="1" dirty="0">
                <a:latin typeface="Courier New" pitchFamily="49" charset="0"/>
              </a:rPr>
              <a:t> = 0</a:t>
            </a:r>
          </a:p>
          <a:p>
            <a:pPr lvl="0"/>
            <a:r>
              <a:rPr lang="en-US" altLang="en-US" sz="2000" b="1" dirty="0">
                <a:latin typeface="Courier New" pitchFamily="49" charset="0"/>
              </a:rPr>
              <a:t>Problem:</a:t>
            </a:r>
            <a:r>
              <a:rPr lang="en-US" altLang="en-US" sz="2000" b="1" baseline="0" dirty="0">
                <a:latin typeface="Courier New" pitchFamily="49" charset="0"/>
              </a:rPr>
              <a:t> Writer can get stuck if reader keep coming in.</a:t>
            </a:r>
            <a:endParaRPr lang="en-US" altLang="en-US" sz="2000" b="1" dirty="0">
              <a:latin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171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16C1FCC8-FA36-41FF-9F51-7AE14A6866E7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8469A4-C7F5-42FF-8F2E-C62C8C0343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144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7B2A14-CFC8-473E-8C77-48351E3F49F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305621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B5E2939-3BE2-4936-8AC1-BDE9A14CBB2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9968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F39AB6-C668-47D3-9001-494C06E2D4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68513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92921-E8D1-4F63-8B4B-BBDB7C33087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9424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E6F211-BC41-4ED1-890B-E54CA3E97DA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339134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3298642-FAC3-44D3-AECD-F3CEB9038C1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124414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D9C6624-AF88-47E7-8D01-20435D977E1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987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8D15E9-12D2-4AF7-8582-19867986D8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0272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FB2A9B-4A28-462A-95D9-803E8792E71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322831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846C3B52-913A-46E1-9898-C28782944A2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L6 -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texas.edu/users/EWD/ewd01xx/EWD123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Process Management</a:t>
            </a:r>
            <a:br>
              <a:rPr lang="en-US" altLang="en-US" sz="5400" dirty="0"/>
            </a:br>
            <a:r>
              <a:rPr lang="en-US" altLang="en-US" sz="5400" b="1" dirty="0">
                <a:solidFill>
                  <a:srgbClr val="C00000"/>
                </a:solidFill>
              </a:rPr>
              <a:t>Synchronization</a:t>
            </a:r>
            <a:endParaRPr lang="en-US" altLang="en-US" b="1" dirty="0">
              <a:solidFill>
                <a:srgbClr val="C00000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6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Race Condition</a:t>
            </a:r>
          </a:p>
          <a:p>
            <a:pPr lvl="1"/>
            <a:r>
              <a:rPr lang="en-US" altLang="en-US" dirty="0"/>
              <a:t>Problems with concurrent execution </a:t>
            </a:r>
          </a:p>
          <a:p>
            <a:r>
              <a:rPr lang="en-US" altLang="en-US" b="1" dirty="0">
                <a:solidFill>
                  <a:srgbClr val="003300"/>
                </a:solidFill>
              </a:rPr>
              <a:t>Critical Section</a:t>
            </a:r>
          </a:p>
          <a:p>
            <a:pPr lvl="1"/>
            <a:r>
              <a:rPr lang="en-US" altLang="en-US" dirty="0"/>
              <a:t>Properties of correct implementation</a:t>
            </a:r>
          </a:p>
          <a:p>
            <a:pPr lvl="1"/>
            <a:r>
              <a:rPr lang="en-US" altLang="en-US" dirty="0"/>
              <a:t>Symptoms of incorrect implementation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Implementations of Critical Section</a:t>
            </a:r>
          </a:p>
          <a:p>
            <a:pPr lvl="1"/>
            <a:r>
              <a:rPr lang="en-US" altLang="en-US" dirty="0"/>
              <a:t>Low level</a:t>
            </a:r>
          </a:p>
          <a:p>
            <a:pPr lvl="1"/>
            <a:r>
              <a:rPr lang="en-US" altLang="en-US" dirty="0"/>
              <a:t>High level language</a:t>
            </a:r>
          </a:p>
          <a:p>
            <a:pPr lvl="1"/>
            <a:r>
              <a:rPr lang="en-US" altLang="en-US" dirty="0"/>
              <a:t>High level abstraction</a:t>
            </a:r>
          </a:p>
          <a:p>
            <a:r>
              <a:rPr lang="en-US" altLang="en-US" b="1" dirty="0">
                <a:solidFill>
                  <a:schemeClr val="accent2"/>
                </a:solidFill>
              </a:rPr>
              <a:t>Classical synchronization problems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Problems </a:t>
            </a:r>
            <a:r>
              <a:rPr lang="en-US" altLang="en-US" sz="3800" b="1" dirty="0"/>
              <a:t>with Concurrent Execution</a:t>
            </a:r>
          </a:p>
        </p:txBody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When two or more processes: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Execute concurrently in interleaving fashion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 a modifiable resource</a:t>
            </a:r>
            <a:endParaRPr lang="en-US" altLang="en-US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è"/>
            </a:pPr>
            <a:r>
              <a:rPr lang="en-US" altLang="en-US" b="1" dirty="0">
                <a:sym typeface="Wingdings" pitchFamily="2" charset="2"/>
              </a:rPr>
              <a:t>Can cause </a:t>
            </a:r>
            <a:r>
              <a:rPr lang="en-US" altLang="en-US" b="1" dirty="0">
                <a:solidFill>
                  <a:srgbClr val="C00000"/>
                </a:solidFill>
                <a:sym typeface="Wingdings" pitchFamily="2" charset="2"/>
              </a:rPr>
              <a:t>synchronization problems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è"/>
            </a:pPr>
            <a:endParaRPr lang="en-US" altLang="en-US" b="1" dirty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Execution of a single sequential process is </a:t>
            </a:r>
            <a:r>
              <a:rPr lang="en-US" altLang="en-US" b="1" i="1" dirty="0">
                <a:solidFill>
                  <a:srgbClr val="006600"/>
                </a:solidFill>
                <a:sym typeface="Wingdings" pitchFamily="2" charset="2"/>
              </a:rPr>
              <a:t>deterministic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Repeated execution gives the same result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Execution of concurrent processes may be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non-deterministic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Execution outcome depends on the order in which the shared resource is access/modified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known as </a:t>
            </a:r>
            <a:r>
              <a:rPr lang="en-US" altLang="en-US" b="1" dirty="0">
                <a:solidFill>
                  <a:schemeClr val="accent2"/>
                </a:solidFill>
                <a:sym typeface="Wingdings" pitchFamily="2" charset="2"/>
              </a:rPr>
              <a:t>race conditions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Race Condition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637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505200"/>
            <a:ext cx="8229600" cy="2971800"/>
          </a:xfrm>
        </p:spPr>
        <p:txBody>
          <a:bodyPr/>
          <a:lstStyle/>
          <a:p>
            <a:pPr marL="571500" indent="-571500"/>
            <a:r>
              <a:rPr lang="en-US" altLang="en-US" sz="2600" dirty="0"/>
              <a:t>Process </a:t>
            </a:r>
            <a:r>
              <a:rPr lang="en-US" altLang="en-US" sz="2600" b="1" dirty="0">
                <a:latin typeface="Courier New" pitchFamily="49" charset="0"/>
              </a:rPr>
              <a:t>P1</a:t>
            </a:r>
            <a:r>
              <a:rPr lang="en-US" altLang="en-US" sz="2600" dirty="0"/>
              <a:t> and </a:t>
            </a:r>
            <a:r>
              <a:rPr lang="en-US" altLang="en-US" sz="2600" b="1" dirty="0">
                <a:latin typeface="Courier New" pitchFamily="49" charset="0"/>
              </a:rPr>
              <a:t>P2</a:t>
            </a:r>
            <a:r>
              <a:rPr lang="en-US" altLang="en-US" sz="2600" dirty="0"/>
              <a:t> shares a variable </a:t>
            </a:r>
            <a:r>
              <a:rPr lang="en-US" altLang="en-US" sz="2600" b="1" dirty="0">
                <a:latin typeface="Courier New" pitchFamily="49" charset="0"/>
              </a:rPr>
              <a:t>X</a:t>
            </a:r>
          </a:p>
          <a:p>
            <a:pPr marL="0" indent="0">
              <a:buNone/>
            </a:pPr>
            <a:endParaRPr lang="en-US" altLang="en-US" sz="1200" b="1" dirty="0">
              <a:latin typeface="Courier New" pitchFamily="49" charset="0"/>
            </a:endParaRPr>
          </a:p>
          <a:p>
            <a:pPr marL="571500" indent="-571500"/>
            <a:r>
              <a:rPr lang="en-US" altLang="en-US" sz="2600" dirty="0"/>
              <a:t>Rough translation for </a:t>
            </a:r>
            <a:r>
              <a:rPr lang="en-US" altLang="en-US" sz="2600" b="1" dirty="0">
                <a:latin typeface="Courier New" pitchFamily="49" charset="0"/>
              </a:rPr>
              <a:t>X = X + 1000</a:t>
            </a:r>
            <a:r>
              <a:rPr lang="en-US" altLang="en-US" sz="2600" dirty="0"/>
              <a:t>:</a:t>
            </a:r>
          </a:p>
          <a:p>
            <a:pPr marL="839788" lvl="1" indent="-495300">
              <a:buSzPct val="80000"/>
              <a:buFont typeface="Wingdings" pitchFamily="2" charset="2"/>
              <a:buAutoNum type="arabicPeriod"/>
            </a:pPr>
            <a:r>
              <a:rPr lang="en-US" altLang="en-US" sz="2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Load</a:t>
            </a:r>
            <a:r>
              <a:rPr lang="en-US" altLang="en-US" sz="2200" b="1" dirty="0">
                <a:latin typeface="Courier New" pitchFamily="49" charset="0"/>
              </a:rPr>
              <a:t> X </a:t>
            </a:r>
            <a:r>
              <a:rPr lang="en-US" altLang="en-US" sz="2200" b="1" dirty="0">
                <a:latin typeface="Courier New" pitchFamily="49" charset="0"/>
                <a:sym typeface="Wingdings" pitchFamily="2" charset="2"/>
              </a:rPr>
              <a:t> Register1</a:t>
            </a:r>
          </a:p>
          <a:p>
            <a:pPr marL="839788" lvl="1" indent="-495300">
              <a:buSzPct val="80000"/>
              <a:buFont typeface="Wingdings" pitchFamily="2" charset="2"/>
              <a:buAutoNum type="arabicPeriod"/>
            </a:pPr>
            <a:r>
              <a:rPr lang="en-US" altLang="en-US" sz="2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sym typeface="Wingdings" pitchFamily="2" charset="2"/>
              </a:rPr>
              <a:t>Add</a:t>
            </a:r>
            <a:r>
              <a:rPr lang="en-US" altLang="en-US" sz="2200" b="1" dirty="0">
                <a:latin typeface="Courier New" pitchFamily="49" charset="0"/>
                <a:sym typeface="Wingdings" pitchFamily="2" charset="2"/>
              </a:rPr>
              <a:t> 1000 to Register1</a:t>
            </a:r>
          </a:p>
          <a:p>
            <a:pPr marL="839788" lvl="1" indent="-495300">
              <a:buSzPct val="80000"/>
              <a:buFont typeface="Wingdings" pitchFamily="2" charset="2"/>
              <a:buAutoNum type="arabicPeriod"/>
            </a:pPr>
            <a:r>
              <a:rPr lang="en-US" altLang="en-US" sz="2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sym typeface="Wingdings" pitchFamily="2" charset="2"/>
              </a:rPr>
              <a:t>Store</a:t>
            </a:r>
            <a:r>
              <a:rPr lang="en-US" altLang="en-US" sz="2200" b="1" dirty="0">
                <a:latin typeface="Courier New" pitchFamily="49" charset="0"/>
                <a:sym typeface="Wingdings" pitchFamily="2" charset="2"/>
              </a:rPr>
              <a:t> Register1  X</a:t>
            </a:r>
            <a:endParaRPr lang="en-US" altLang="en-US" sz="2200" b="1" dirty="0">
              <a:latin typeface="Courier New" pitchFamily="49" charset="0"/>
            </a:endParaRPr>
          </a:p>
        </p:txBody>
      </p:sp>
      <p:grpSp>
        <p:nvGrpSpPr>
          <p:cNvPr id="637963" name="Group 11"/>
          <p:cNvGrpSpPr>
            <a:grpSpLocks/>
          </p:cNvGrpSpPr>
          <p:nvPr/>
        </p:nvGrpSpPr>
        <p:grpSpPr bwMode="auto">
          <a:xfrm>
            <a:off x="914400" y="2438400"/>
            <a:ext cx="2514600" cy="823913"/>
            <a:chOff x="576" y="1440"/>
            <a:chExt cx="1584" cy="519"/>
          </a:xfrm>
        </p:grpSpPr>
        <p:sp>
          <p:nvSpPr>
            <p:cNvPr id="637959" name="Text Box 7"/>
            <p:cNvSpPr txBox="1">
              <a:spLocks noChangeArrowheads="1"/>
            </p:cNvSpPr>
            <p:nvPr/>
          </p:nvSpPr>
          <p:spPr bwMode="auto">
            <a:xfrm>
              <a:off x="576" y="1440"/>
              <a:ext cx="1584" cy="2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en-US" sz="2400" b="1" dirty="0">
                  <a:latin typeface="Courier New" pitchFamily="49" charset="0"/>
                </a:rPr>
                <a:t>X = X + 1000</a:t>
              </a:r>
              <a:endParaRPr lang="en-US" altLang="en-US" sz="2400" dirty="0">
                <a:latin typeface="Courier New" pitchFamily="49" charset="0"/>
              </a:endParaRPr>
            </a:p>
          </p:txBody>
        </p:sp>
        <p:sp>
          <p:nvSpPr>
            <p:cNvPr id="637961" name="Text Box 9"/>
            <p:cNvSpPr txBox="1">
              <a:spLocks noChangeArrowheads="1"/>
            </p:cNvSpPr>
            <p:nvPr/>
          </p:nvSpPr>
          <p:spPr bwMode="auto">
            <a:xfrm>
              <a:off x="768" y="172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P1</a:t>
              </a:r>
            </a:p>
          </p:txBody>
        </p:sp>
      </p:grpSp>
      <p:grpSp>
        <p:nvGrpSpPr>
          <p:cNvPr id="637964" name="Group 12"/>
          <p:cNvGrpSpPr>
            <a:grpSpLocks/>
          </p:cNvGrpSpPr>
          <p:nvPr/>
        </p:nvGrpSpPr>
        <p:grpSpPr bwMode="auto">
          <a:xfrm>
            <a:off x="5638800" y="2438400"/>
            <a:ext cx="2514600" cy="823913"/>
            <a:chOff x="3552" y="1440"/>
            <a:chExt cx="1584" cy="519"/>
          </a:xfrm>
        </p:grpSpPr>
        <p:sp>
          <p:nvSpPr>
            <p:cNvPr id="637960" name="Text Box 8"/>
            <p:cNvSpPr txBox="1">
              <a:spLocks noChangeArrowheads="1"/>
            </p:cNvSpPr>
            <p:nvPr/>
          </p:nvSpPr>
          <p:spPr bwMode="auto">
            <a:xfrm>
              <a:off x="3552" y="1440"/>
              <a:ext cx="1584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en-US" sz="2400" b="1" dirty="0">
                  <a:latin typeface="Courier New" pitchFamily="49" charset="0"/>
                </a:rPr>
                <a:t>X = X + 1000</a:t>
              </a:r>
              <a:endParaRPr lang="en-US" altLang="en-US" sz="2400" dirty="0">
                <a:latin typeface="Courier New" pitchFamily="49" charset="0"/>
              </a:endParaRPr>
            </a:p>
          </p:txBody>
        </p:sp>
        <p:sp>
          <p:nvSpPr>
            <p:cNvPr id="637962" name="Text Box 10"/>
            <p:cNvSpPr txBox="1">
              <a:spLocks noChangeArrowheads="1"/>
            </p:cNvSpPr>
            <p:nvPr/>
          </p:nvSpPr>
          <p:spPr bwMode="auto">
            <a:xfrm>
              <a:off x="3744" y="172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P2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895600" y="1143000"/>
            <a:ext cx="2971800" cy="1066800"/>
            <a:chOff x="2895600" y="1143000"/>
            <a:chExt cx="2971800" cy="1066800"/>
          </a:xfrm>
        </p:grpSpPr>
        <p:grpSp>
          <p:nvGrpSpPr>
            <p:cNvPr id="637958" name="Group 6"/>
            <p:cNvGrpSpPr>
              <a:grpSpLocks/>
            </p:cNvGrpSpPr>
            <p:nvPr/>
          </p:nvGrpSpPr>
          <p:grpSpPr bwMode="auto">
            <a:xfrm>
              <a:off x="3200400" y="1143000"/>
              <a:ext cx="1752600" cy="533400"/>
              <a:chOff x="2016" y="672"/>
              <a:chExt cx="1104" cy="336"/>
            </a:xfrm>
          </p:grpSpPr>
          <p:sp>
            <p:nvSpPr>
              <p:cNvPr id="637956" name="Rectangle 4"/>
              <p:cNvSpPr>
                <a:spLocks noChangeArrowheads="1"/>
              </p:cNvSpPr>
              <p:nvPr/>
            </p:nvSpPr>
            <p:spPr bwMode="auto">
              <a:xfrm>
                <a:off x="2352" y="672"/>
                <a:ext cx="768" cy="336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>
                    <a:latin typeface="Courier New" pitchFamily="49" charset="0"/>
                  </a:rPr>
                  <a:t>345</a:t>
                </a:r>
              </a:p>
            </p:txBody>
          </p:sp>
          <p:sp>
            <p:nvSpPr>
              <p:cNvPr id="637957" name="Rectangle 5"/>
              <p:cNvSpPr>
                <a:spLocks noChangeArrowheads="1"/>
              </p:cNvSpPr>
              <p:nvPr/>
            </p:nvSpPr>
            <p:spPr bwMode="auto">
              <a:xfrm>
                <a:off x="2016" y="672"/>
                <a:ext cx="336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sz="2400" b="1">
                    <a:latin typeface="Courier New" pitchFamily="49" charset="0"/>
                  </a:rPr>
                  <a:t>X</a:t>
                </a:r>
              </a:p>
            </p:txBody>
          </p:sp>
        </p:grpSp>
        <p:sp>
          <p:nvSpPr>
            <p:cNvPr id="637965" name="AutoShape 13"/>
            <p:cNvSpPr>
              <a:spLocks noChangeArrowheads="1"/>
            </p:cNvSpPr>
            <p:nvPr/>
          </p:nvSpPr>
          <p:spPr bwMode="auto">
            <a:xfrm rot="-2169491">
              <a:off x="2895600" y="1905000"/>
              <a:ext cx="1143000" cy="304800"/>
            </a:xfrm>
            <a:prstGeom prst="rightArrow">
              <a:avLst>
                <a:gd name="adj1" fmla="val 50000"/>
                <a:gd name="adj2" fmla="val 9375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37966" name="AutoShape 14"/>
            <p:cNvSpPr>
              <a:spLocks noChangeArrowheads="1"/>
            </p:cNvSpPr>
            <p:nvPr/>
          </p:nvSpPr>
          <p:spPr bwMode="auto">
            <a:xfrm rot="-8626595">
              <a:off x="4724400" y="1905000"/>
              <a:ext cx="1143000" cy="304800"/>
            </a:xfrm>
            <a:prstGeom prst="rightArrow">
              <a:avLst>
                <a:gd name="adj1" fmla="val 50000"/>
                <a:gd name="adj2" fmla="val 9375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4274820" y="4213860"/>
            <a:ext cx="25146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2400" b="1" dirty="0">
                <a:latin typeface="Courier New" pitchFamily="49" charset="0"/>
              </a:rPr>
              <a:t>X = X + 1000</a:t>
            </a:r>
            <a:endParaRPr lang="en-US" altLang="en-US" sz="2400" dirty="0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5" grpId="0" uiExpand="1" build="p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9068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569720"/>
              </p:ext>
            </p:extLst>
          </p:nvPr>
        </p:nvGraphicFramePr>
        <p:xfrm>
          <a:off x="457200" y="1066800"/>
          <a:ext cx="8077200" cy="3338513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of 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</a:rPr>
                        <a:t>Load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X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 Reg1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495300" indent="-495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63588" indent="-419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052513" indent="-3810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66838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684338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415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5987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559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131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495300" marR="0" lvl="0" indent="-495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Add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1000 to </a:t>
                      </a:r>
                      <a:r>
                        <a:rPr kumimoji="0" lang="en-US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Reg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Store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Reg1  X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</a:rPr>
                        <a:t>Load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X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 Reg1'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Add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1000 to Reg1'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Store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Reg1'  X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Race Condition: </a:t>
            </a:r>
            <a:r>
              <a:rPr lang="en-US" altLang="en-US" sz="3800" b="1" dirty="0">
                <a:solidFill>
                  <a:srgbClr val="C00000"/>
                </a:solidFill>
              </a:rPr>
              <a:t>Good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1709159"/>
            <a:ext cx="2667000" cy="3482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381000" y="2133600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304800" y="3048000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/>
          <p:cNvSpPr/>
          <p:nvPr/>
        </p:nvSpPr>
        <p:spPr>
          <a:xfrm>
            <a:off x="304800" y="3505200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/>
          <p:cNvSpPr/>
          <p:nvPr/>
        </p:nvSpPr>
        <p:spPr>
          <a:xfrm>
            <a:off x="286284" y="3962400"/>
            <a:ext cx="8400516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2" name="Rectangle 1"/>
          <p:cNvSpPr/>
          <p:nvPr/>
        </p:nvSpPr>
        <p:spPr>
          <a:xfrm>
            <a:off x="3718560" y="337559"/>
            <a:ext cx="3048000" cy="576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Round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0" y="2597655"/>
            <a:ext cx="914400" cy="348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332874" y="2590800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2" grpId="0" animBg="1"/>
      <p:bldP spid="13" grpId="0" animBg="1"/>
      <p:bldP spid="2" grpId="0" animBg="1"/>
      <p:bldP spid="14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0048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052948"/>
              </p:ext>
            </p:extLst>
          </p:nvPr>
        </p:nvGraphicFramePr>
        <p:xfrm>
          <a:off x="457200" y="1066800"/>
          <a:ext cx="8077200" cy="3338513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of 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</a:rPr>
                        <a:t>Load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X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 Reg1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495300" indent="-495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63588" indent="-419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052513" indent="-3810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66838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684338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415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5987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559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131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495300" marR="0" lvl="0" indent="-495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Add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1000 to Reg1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</a:rPr>
                        <a:t>Load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X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 Reg1'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Add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1000 to Reg1'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Store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Reg1  X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Store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Reg1'  X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Race Condition: </a:t>
            </a:r>
            <a:r>
              <a:rPr lang="en-US" altLang="en-US" sz="3800" b="1" dirty="0">
                <a:solidFill>
                  <a:srgbClr val="C00000"/>
                </a:solidFill>
              </a:rPr>
              <a:t>Bad behavior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484" y="2582779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320842" y="3035969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362484" y="3493169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304800" y="3934327"/>
            <a:ext cx="8248116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12" name="Rectangle 11"/>
          <p:cNvSpPr/>
          <p:nvPr/>
        </p:nvSpPr>
        <p:spPr>
          <a:xfrm>
            <a:off x="3718560" y="337559"/>
            <a:ext cx="3048000" cy="576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Round 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29" y="4624137"/>
            <a:ext cx="6905625" cy="14844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Race Condition: </a:t>
            </a:r>
            <a:r>
              <a:rPr lang="en-US" altLang="en-US" sz="3800" b="1" dirty="0">
                <a:solidFill>
                  <a:srgbClr val="C00000"/>
                </a:solidFill>
              </a:rPr>
              <a:t>Solution</a:t>
            </a:r>
          </a:p>
        </p:txBody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71800"/>
            <a:ext cx="8229600" cy="3429000"/>
          </a:xfrm>
        </p:spPr>
        <p:txBody>
          <a:bodyPr/>
          <a:lstStyle/>
          <a:p>
            <a:r>
              <a:rPr lang="en-US" altLang="en-US" dirty="0"/>
              <a:t>Solution outline:</a:t>
            </a:r>
          </a:p>
          <a:p>
            <a:pPr lvl="1"/>
            <a:r>
              <a:rPr lang="en-US" altLang="en-US" dirty="0"/>
              <a:t>Designate code segment with race condition as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critical section</a:t>
            </a:r>
          </a:p>
          <a:p>
            <a:pPr marL="344487" lvl="1" indent="0">
              <a:buNone/>
            </a:pPr>
            <a:endParaRPr lang="en-US" altLang="en-US" b="1" dirty="0">
              <a:solidFill>
                <a:srgbClr val="66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en-US" dirty="0"/>
              <a:t>At any point in time, only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process </a:t>
            </a:r>
            <a:r>
              <a:rPr lang="en-US" altLang="en-US" dirty="0"/>
              <a:t>can execute in the critical section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2" name="Rounded Rectangle 1"/>
          <p:cNvSpPr/>
          <p:nvPr/>
        </p:nvSpPr>
        <p:spPr>
          <a:xfrm>
            <a:off x="499533" y="1066800"/>
            <a:ext cx="8187267" cy="1676400"/>
          </a:xfrm>
          <a:prstGeom prst="roundRect">
            <a:avLst>
              <a:gd name="adj" fmla="val 9091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3600" dirty="0"/>
              <a:t>Incorrect execution is due to the </a:t>
            </a:r>
            <a:r>
              <a:rPr lang="en-US" altLang="en-US" sz="36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unsynchronized access</a:t>
            </a: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3600" b="1" dirty="0"/>
              <a:t>to a </a:t>
            </a:r>
            <a:r>
              <a:rPr lang="en-US" altLang="en-US" sz="3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 modifiable resource</a:t>
            </a:r>
            <a:endParaRPr lang="en-SG" sz="36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</a:t>
            </a:r>
            <a:r>
              <a:rPr lang="en-US" altLang="en-US" sz="3800" dirty="0">
                <a:solidFill>
                  <a:srgbClr val="C00000"/>
                </a:solidFill>
              </a:rPr>
              <a:t>ritical </a:t>
            </a:r>
            <a:r>
              <a:rPr lang="en-US" altLang="en-US" sz="3800" b="1" dirty="0">
                <a:solidFill>
                  <a:srgbClr val="C00000"/>
                </a:solidFill>
              </a:rPr>
              <a:t>S</a:t>
            </a:r>
            <a:r>
              <a:rPr lang="en-US" altLang="en-US" sz="3800" dirty="0">
                <a:solidFill>
                  <a:srgbClr val="C00000"/>
                </a:solidFill>
              </a:rPr>
              <a:t>ection (</a:t>
            </a:r>
            <a:r>
              <a:rPr lang="en-US" altLang="en-US" sz="3800" b="1" dirty="0">
                <a:solidFill>
                  <a:srgbClr val="C00000"/>
                </a:solidFill>
              </a:rPr>
              <a:t>CS</a:t>
            </a:r>
            <a:r>
              <a:rPr lang="en-US" altLang="en-US" sz="3800" dirty="0">
                <a:solidFill>
                  <a:srgbClr val="C00000"/>
                </a:solidFill>
              </a:rPr>
              <a:t>)</a:t>
            </a:r>
          </a:p>
        </p:txBody>
      </p:sp>
      <p:grpSp>
        <p:nvGrpSpPr>
          <p:cNvPr id="649229" name="Group 13"/>
          <p:cNvGrpSpPr>
            <a:grpSpLocks/>
          </p:cNvGrpSpPr>
          <p:nvPr/>
        </p:nvGrpSpPr>
        <p:grpSpPr bwMode="auto">
          <a:xfrm>
            <a:off x="4724400" y="4845050"/>
            <a:ext cx="3352800" cy="1357313"/>
            <a:chOff x="3024" y="3024"/>
            <a:chExt cx="2112" cy="855"/>
          </a:xfrm>
        </p:grpSpPr>
        <p:sp>
          <p:nvSpPr>
            <p:cNvPr id="649224" name="Text Box 8"/>
            <p:cNvSpPr txBox="1">
              <a:spLocks noChangeArrowheads="1"/>
            </p:cNvSpPr>
            <p:nvPr/>
          </p:nvSpPr>
          <p:spPr bwMode="auto">
            <a:xfrm>
              <a:off x="3024" y="3024"/>
              <a:ext cx="2112" cy="6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Enter CS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	X = X + 1000</a:t>
              </a:r>
            </a:p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Exit CS</a:t>
              </a:r>
            </a:p>
          </p:txBody>
        </p:sp>
        <p:sp>
          <p:nvSpPr>
            <p:cNvPr id="649225" name="Text Box 9"/>
            <p:cNvSpPr txBox="1">
              <a:spLocks noChangeArrowheads="1"/>
            </p:cNvSpPr>
            <p:nvPr/>
          </p:nvSpPr>
          <p:spPr bwMode="auto">
            <a:xfrm>
              <a:off x="3504" y="364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P2</a:t>
              </a:r>
            </a:p>
          </p:txBody>
        </p:sp>
      </p:grpSp>
      <p:sp>
        <p:nvSpPr>
          <p:cNvPr id="649227" name="Text Box 11"/>
          <p:cNvSpPr txBox="1">
            <a:spLocks noChangeArrowheads="1"/>
          </p:cNvSpPr>
          <p:nvPr/>
        </p:nvSpPr>
        <p:spPr bwMode="auto">
          <a:xfrm>
            <a:off x="2590800" y="1334568"/>
            <a:ext cx="39624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     </a:t>
            </a:r>
            <a:r>
              <a:rPr lang="en-US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</a:rPr>
              <a:t>//Normal code</a:t>
            </a:r>
          </a:p>
          <a:p>
            <a:pPr eaLnBrk="0" hangingPunct="0"/>
            <a:endParaRPr lang="en-US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	</a:t>
            </a:r>
            <a:r>
              <a:rPr lang="en-US" altLang="en-US" sz="2400" b="1" dirty="0">
                <a:solidFill>
                  <a:srgbClr val="FF0000"/>
                </a:solidFill>
                <a:latin typeface="Courier New" pitchFamily="49" charset="0"/>
              </a:rPr>
              <a:t>//Critical Work</a:t>
            </a:r>
          </a:p>
          <a:p>
            <a:pPr eaLnBrk="0" hangingPunct="0"/>
            <a:endParaRPr lang="en-US" altLang="en-US" sz="2400" b="1" dirty="0">
              <a:solidFill>
                <a:srgbClr val="FF0000"/>
              </a:solidFill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US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</a:rPr>
              <a:t>//Normal code</a:t>
            </a:r>
          </a:p>
        </p:txBody>
      </p:sp>
      <p:grpSp>
        <p:nvGrpSpPr>
          <p:cNvPr id="649230" name="Group 14"/>
          <p:cNvGrpSpPr>
            <a:grpSpLocks/>
          </p:cNvGrpSpPr>
          <p:nvPr/>
        </p:nvGrpSpPr>
        <p:grpSpPr bwMode="auto">
          <a:xfrm>
            <a:off x="762000" y="4845050"/>
            <a:ext cx="3352800" cy="1357313"/>
            <a:chOff x="3024" y="3024"/>
            <a:chExt cx="2112" cy="855"/>
          </a:xfrm>
        </p:grpSpPr>
        <p:sp>
          <p:nvSpPr>
            <p:cNvPr id="649231" name="Text Box 15"/>
            <p:cNvSpPr txBox="1">
              <a:spLocks noChangeArrowheads="1"/>
            </p:cNvSpPr>
            <p:nvPr/>
          </p:nvSpPr>
          <p:spPr bwMode="auto">
            <a:xfrm>
              <a:off x="3024" y="3024"/>
              <a:ext cx="2112" cy="6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Enter CS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	X = X + 1000</a:t>
              </a:r>
            </a:p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Exit CS</a:t>
              </a:r>
            </a:p>
          </p:txBody>
        </p:sp>
        <p:sp>
          <p:nvSpPr>
            <p:cNvPr id="649232" name="Text Box 16"/>
            <p:cNvSpPr txBox="1">
              <a:spLocks noChangeArrowheads="1"/>
            </p:cNvSpPr>
            <p:nvPr/>
          </p:nvSpPr>
          <p:spPr bwMode="auto">
            <a:xfrm>
              <a:off x="3504" y="364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P1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724" y="1682410"/>
            <a:ext cx="5348151" cy="11569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/>
              <a:t>Properties of Correct CS Implementation</a:t>
            </a:r>
            <a:endParaRPr lang="en-US" sz="3800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26642147"/>
              </p:ext>
            </p:extLst>
          </p:nvPr>
        </p:nvGraphicFramePr>
        <p:xfrm>
          <a:off x="457200" y="990600"/>
          <a:ext cx="81534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18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Symptoms of </a:t>
            </a:r>
            <a:r>
              <a:rPr lang="en-US" altLang="en-US" sz="3800" b="1" dirty="0">
                <a:solidFill>
                  <a:srgbClr val="660066"/>
                </a:solidFill>
              </a:rPr>
              <a:t>Incorrect</a:t>
            </a:r>
            <a:r>
              <a:rPr lang="en-US" altLang="en-US" sz="3800" dirty="0">
                <a:solidFill>
                  <a:srgbClr val="660066"/>
                </a:solidFill>
              </a:rPr>
              <a:t> </a:t>
            </a:r>
            <a:r>
              <a:rPr lang="en-US" altLang="en-US" sz="3800" b="1" dirty="0">
                <a:solidFill>
                  <a:srgbClr val="660066"/>
                </a:solidFill>
              </a:rPr>
              <a:t>Synchronization</a:t>
            </a:r>
          </a:p>
        </p:txBody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sz="2700" b="1" dirty="0">
                <a:solidFill>
                  <a:srgbClr val="C00000"/>
                </a:solidFill>
              </a:rPr>
              <a:t>Deadlock: </a:t>
            </a:r>
          </a:p>
          <a:p>
            <a:pPr lvl="1"/>
            <a:r>
              <a:rPr lang="en-US" altLang="en-US" sz="2400" dirty="0"/>
              <a:t>All processes blocked </a:t>
            </a:r>
            <a:r>
              <a:rPr lang="en-US" altLang="en-US" sz="2400" dirty="0">
                <a:sym typeface="Wingdings" pitchFamily="2" charset="2"/>
              </a:rPr>
              <a:t> </a:t>
            </a:r>
            <a:r>
              <a:rPr lang="en-US" alt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progress </a:t>
            </a:r>
          </a:p>
          <a:p>
            <a:pPr marL="344487" lvl="1" indent="0">
              <a:buNone/>
            </a:pPr>
            <a:endParaRPr lang="en-US" altLang="en-US" sz="2400" dirty="0"/>
          </a:p>
          <a:p>
            <a:r>
              <a:rPr lang="en-US" altLang="en-US" sz="2700" b="1" dirty="0" err="1">
                <a:solidFill>
                  <a:srgbClr val="002060"/>
                </a:solidFill>
              </a:rPr>
              <a:t>Livelock</a:t>
            </a:r>
            <a:r>
              <a:rPr lang="en-US" altLang="en-US" sz="2700" b="1" dirty="0">
                <a:solidFill>
                  <a:srgbClr val="002060"/>
                </a:solidFill>
              </a:rPr>
              <a:t>: </a:t>
            </a:r>
          </a:p>
          <a:p>
            <a:pPr lvl="1"/>
            <a:r>
              <a:rPr lang="en-US" altLang="en-US" sz="2400" dirty="0"/>
              <a:t>Usually related to </a:t>
            </a:r>
            <a:r>
              <a:rPr lang="en-US" altLang="en-US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deadlock avoidance </a:t>
            </a:r>
            <a:r>
              <a:rPr lang="en-US" altLang="en-US" sz="2400" dirty="0"/>
              <a:t>mechanism</a:t>
            </a:r>
          </a:p>
          <a:p>
            <a:pPr lvl="1"/>
            <a:r>
              <a:rPr lang="en-US" altLang="en-US" sz="2400" dirty="0"/>
              <a:t>Processes keep changing state to avoid deadlock and make no other progress</a:t>
            </a:r>
          </a:p>
          <a:p>
            <a:pPr lvl="1"/>
            <a:r>
              <a:rPr lang="en-US" altLang="en-US" sz="2400" dirty="0"/>
              <a:t>Typically process are not blocked</a:t>
            </a:r>
          </a:p>
          <a:p>
            <a:pPr marL="344487" lvl="1" indent="0">
              <a:buNone/>
            </a:pPr>
            <a:endParaRPr lang="en-US" altLang="en-US" sz="2400" dirty="0"/>
          </a:p>
          <a:p>
            <a:r>
              <a:rPr lang="en-US" altLang="en-US" sz="2700" b="1" dirty="0">
                <a:solidFill>
                  <a:srgbClr val="660066"/>
                </a:solidFill>
              </a:rPr>
              <a:t>Starvation: </a:t>
            </a:r>
          </a:p>
          <a:p>
            <a:pPr lvl="1"/>
            <a:r>
              <a:rPr lang="en-US" altLang="en-US" sz="2400" dirty="0"/>
              <a:t>Some processes are blocked forever </a:t>
            </a:r>
            <a:endParaRPr lang="en-US" altLang="en-US" sz="2400" dirty="0">
              <a:cs typeface="Arial" charset="0"/>
            </a:endParaRPr>
          </a:p>
          <a:p>
            <a:pPr lvl="1"/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 Implementations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Assembly level </a:t>
            </a:r>
            <a:r>
              <a:rPr lang="en-US" b="1" dirty="0"/>
              <a:t>implementations:</a:t>
            </a:r>
          </a:p>
          <a:p>
            <a:pPr lvl="1"/>
            <a:r>
              <a:rPr lang="en-US" dirty="0"/>
              <a:t>Mechanisms provided by the processor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003300"/>
                </a:solidFill>
              </a:rPr>
              <a:t>High level abstractions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Provide abstracted mechanisms that provide additional useful features</a:t>
            </a:r>
          </a:p>
          <a:p>
            <a:pPr lvl="1"/>
            <a:r>
              <a:rPr lang="en-US" dirty="0"/>
              <a:t>Commonly implemented by assembly level mechanisms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84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assembly level </a:t>
            </a:r>
            <a:r>
              <a:rPr lang="en-US" dirty="0"/>
              <a:t>Implementation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worry! The processor has all the answers!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450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C00000"/>
                </a:solidFill>
              </a:rPr>
              <a:t>Test and Set</a:t>
            </a:r>
            <a:r>
              <a:rPr lang="en-US" sz="4000" dirty="0"/>
              <a:t>: An </a:t>
            </a:r>
            <a:r>
              <a:rPr lang="en-US" sz="4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Atomic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26720" y="1143000"/>
            <a:ext cx="8229600" cy="685800"/>
          </a:xfrm>
        </p:spPr>
        <p:txBody>
          <a:bodyPr/>
          <a:lstStyle/>
          <a:p>
            <a:r>
              <a:rPr lang="en-US" dirty="0"/>
              <a:t>Machine instruction to aid synchronization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04430" y="2051086"/>
            <a:ext cx="6629400" cy="46166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TestAndSet</a:t>
            </a:r>
            <a:r>
              <a:rPr lang="en-US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Register</a:t>
            </a:r>
            <a:r>
              <a:rPr lang="en-US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, </a:t>
            </a:r>
            <a:r>
              <a:rPr lang="en-US" altLang="en-US" sz="2400" b="1" dirty="0" err="1">
                <a:solidFill>
                  <a:srgbClr val="C00000"/>
                </a:solidFill>
                <a:latin typeface="Courier New" pitchFamily="49" charset="0"/>
              </a:rPr>
              <a:t>MemoryLocation</a:t>
            </a:r>
            <a:endParaRPr lang="en-US" altLang="en-US" sz="2400" b="1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9" name="Content Placeholder 6"/>
          <p:cNvSpPr txBox="1">
            <a:spLocks/>
          </p:cNvSpPr>
          <p:nvPr/>
        </p:nvSpPr>
        <p:spPr bwMode="auto">
          <a:xfrm>
            <a:off x="426720" y="3048000"/>
            <a:ext cx="8229600" cy="347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/>
              <a:t>Behavior: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kern="0" dirty="0"/>
              <a:t>Load the current content at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</a:rPr>
              <a:t>MemoryLocation</a:t>
            </a:r>
            <a:r>
              <a:rPr lang="en-US" kern="0" dirty="0"/>
              <a:t> into </a:t>
            </a:r>
            <a:r>
              <a:rPr lang="en-US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Register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kern="0" dirty="0"/>
              <a:t>Stores a </a:t>
            </a:r>
            <a:r>
              <a:rPr lang="en-US" b="1" u="sng" kern="0" dirty="0"/>
              <a:t>1</a:t>
            </a:r>
            <a:r>
              <a:rPr lang="en-US" kern="0" dirty="0"/>
              <a:t> into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</a:rPr>
              <a:t>MemoryLocation</a:t>
            </a:r>
            <a:endParaRPr lang="en-US" b="1" dirty="0">
              <a:solidFill>
                <a:srgbClr val="C00000"/>
              </a:solidFill>
              <a:latin typeface="Courier New" pitchFamily="49" charset="0"/>
            </a:endParaRPr>
          </a:p>
          <a:p>
            <a:pPr marL="344487" lvl="1" indent="0">
              <a:buNone/>
            </a:pPr>
            <a:endParaRPr lang="en-US" b="1" dirty="0">
              <a:solidFill>
                <a:srgbClr val="C00000"/>
              </a:solidFill>
              <a:latin typeface="Courier New" pitchFamily="49" charset="0"/>
            </a:endParaRPr>
          </a:p>
          <a:p>
            <a:pPr lvl="1"/>
            <a:r>
              <a:rPr lang="en-US" kern="0" dirty="0"/>
              <a:t>Important: The above is performed as a </a:t>
            </a:r>
            <a:r>
              <a:rPr lang="en-US" b="1" kern="0" dirty="0"/>
              <a:t>single machine operation</a:t>
            </a:r>
            <a:r>
              <a:rPr lang="en-US" kern="0" dirty="0"/>
              <a:t>, i.e. </a:t>
            </a:r>
            <a:r>
              <a:rPr lang="en-US" b="1" kern="0" dirty="0"/>
              <a:t>atomic</a:t>
            </a:r>
            <a:endParaRPr lang="en-US" kern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66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0066"/>
                </a:solidFill>
              </a:rPr>
              <a:t>Using Test and Set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452846" y="1029192"/>
            <a:ext cx="57150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006600"/>
                </a:solidFill>
                <a:latin typeface="Courier New" pitchFamily="49" charset="0"/>
              </a:rPr>
              <a:t>void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 err="1">
                <a:solidFill>
                  <a:srgbClr val="C00000"/>
                </a:solidFill>
                <a:latin typeface="Courier New" pitchFamily="49" charset="0"/>
              </a:rPr>
              <a:t>EnterCS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* Lock 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</a:rPr>
              <a:t>while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i="1" dirty="0" err="1">
                <a:solidFill>
                  <a:srgbClr val="C00000"/>
                </a:solidFill>
                <a:latin typeface="Courier New" pitchFamily="49" charset="0"/>
              </a:rPr>
              <a:t>TestAndSet</a:t>
            </a:r>
            <a:r>
              <a:rPr lang="en-US" altLang="en-US" sz="2000" b="1" dirty="0">
                <a:latin typeface="Courier New" pitchFamily="49" charset="0"/>
              </a:rPr>
              <a:t>( Lock ) == 1);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33251" y="5038102"/>
            <a:ext cx="57150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006600"/>
                </a:solidFill>
                <a:latin typeface="Courier New" pitchFamily="49" charset="0"/>
              </a:rPr>
              <a:t>void</a:t>
            </a:r>
            <a:r>
              <a:rPr lang="en-US" altLang="en-US" sz="2000" b="1" i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i="1" dirty="0" err="1">
                <a:solidFill>
                  <a:srgbClr val="C00000"/>
                </a:solidFill>
                <a:latin typeface="Courier New" pitchFamily="49" charset="0"/>
              </a:rPr>
              <a:t>ExitCS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* Lock 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*Lock = 0;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grpSp>
        <p:nvGrpSpPr>
          <p:cNvPr id="10" name="Group 15"/>
          <p:cNvGrpSpPr>
            <a:grpSpLocks/>
          </p:cNvGrpSpPr>
          <p:nvPr/>
        </p:nvGrpSpPr>
        <p:grpSpPr bwMode="auto">
          <a:xfrm>
            <a:off x="6400800" y="2552033"/>
            <a:ext cx="2133600" cy="533400"/>
            <a:chOff x="1872" y="720"/>
            <a:chExt cx="1344" cy="336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3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itchFamily="49" charset="0"/>
                </a:rPr>
                <a:t>Lock</a:t>
              </a:r>
            </a:p>
          </p:txBody>
        </p:sp>
      </p:grpSp>
      <p:grpSp>
        <p:nvGrpSpPr>
          <p:cNvPr id="13" name="Group 14"/>
          <p:cNvGrpSpPr>
            <a:grpSpLocks/>
          </p:cNvGrpSpPr>
          <p:nvPr/>
        </p:nvGrpSpPr>
        <p:grpSpPr bwMode="auto">
          <a:xfrm>
            <a:off x="422365" y="3289299"/>
            <a:ext cx="2320925" cy="1358901"/>
            <a:chOff x="3024" y="3024"/>
            <a:chExt cx="1462" cy="856"/>
          </a:xfrm>
        </p:grpSpPr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3024" y="3024"/>
              <a:ext cx="1462" cy="6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sz="2000" b="1" dirty="0" err="1">
                  <a:solidFill>
                    <a:srgbClr val="7030A0"/>
                  </a:solidFill>
                  <a:latin typeface="Courier New" pitchFamily="49" charset="0"/>
                </a:rPr>
                <a:t>EnterCS</a:t>
              </a:r>
              <a:r>
                <a:rPr lang="en-US" altLang="en-US" sz="2000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latin typeface="Courier New" pitchFamily="49" charset="0"/>
                </a:rPr>
                <a:t>  </a:t>
              </a:r>
              <a:r>
                <a:rPr lang="en-US" altLang="en-US" sz="2000" b="1" dirty="0">
                  <a:latin typeface="Courier New" pitchFamily="49" charset="0"/>
                </a:rPr>
                <a:t>X = X + 1000</a:t>
              </a:r>
            </a:p>
            <a:p>
              <a:pPr eaLnBrk="0" hangingPunct="0"/>
              <a:r>
                <a:rPr lang="en-US" altLang="en-US" sz="2000" b="1" dirty="0" err="1">
                  <a:solidFill>
                    <a:srgbClr val="7030A0"/>
                  </a:solidFill>
                  <a:latin typeface="Courier New" pitchFamily="49" charset="0"/>
                </a:rPr>
                <a:t>ExitCS</a:t>
              </a:r>
              <a:r>
                <a:rPr lang="en-US" altLang="en-US" sz="2000" b="1" dirty="0">
                  <a:latin typeface="Courier New" pitchFamily="49" charset="0"/>
                </a:rPr>
                <a:t>()</a:t>
              </a:r>
            </a:p>
          </p:txBody>
        </p: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3142" y="3649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Process </a:t>
              </a:r>
              <a:r>
                <a:rPr lang="en-US" altLang="en-US" b="1" dirty="0"/>
                <a:t>P0</a:t>
              </a:r>
            </a:p>
          </p:txBody>
        </p:sp>
      </p:grpSp>
      <p:grpSp>
        <p:nvGrpSpPr>
          <p:cNvPr id="16" name="Group 14"/>
          <p:cNvGrpSpPr>
            <a:grpSpLocks/>
          </p:cNvGrpSpPr>
          <p:nvPr/>
        </p:nvGrpSpPr>
        <p:grpSpPr bwMode="auto">
          <a:xfrm>
            <a:off x="3629387" y="3289299"/>
            <a:ext cx="2320925" cy="1358901"/>
            <a:chOff x="3024" y="3024"/>
            <a:chExt cx="1462" cy="856"/>
          </a:xfrm>
        </p:grpSpPr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3024" y="3024"/>
              <a:ext cx="1462" cy="6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sz="2000" b="1" dirty="0" err="1">
                  <a:solidFill>
                    <a:srgbClr val="7030A0"/>
                  </a:solidFill>
                  <a:latin typeface="Courier New" pitchFamily="49" charset="0"/>
                </a:rPr>
                <a:t>EnterCS</a:t>
              </a:r>
              <a:r>
                <a:rPr lang="en-US" altLang="en-US" sz="2000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latin typeface="Courier New" pitchFamily="49" charset="0"/>
                </a:rPr>
                <a:t>  </a:t>
              </a:r>
              <a:r>
                <a:rPr lang="en-US" altLang="en-US" sz="2000" b="1" dirty="0">
                  <a:latin typeface="Courier New" pitchFamily="49" charset="0"/>
                </a:rPr>
                <a:t>X = X + 1000</a:t>
              </a:r>
            </a:p>
            <a:p>
              <a:pPr eaLnBrk="0" hangingPunct="0"/>
              <a:r>
                <a:rPr lang="en-US" altLang="en-US" sz="2000" b="1" dirty="0" err="1">
                  <a:solidFill>
                    <a:srgbClr val="7030A0"/>
                  </a:solidFill>
                  <a:latin typeface="Courier New" pitchFamily="49" charset="0"/>
                </a:rPr>
                <a:t>ExitCS</a:t>
              </a:r>
              <a:r>
                <a:rPr lang="en-US" altLang="en-US" sz="2000" b="1" dirty="0">
                  <a:latin typeface="Courier New" pitchFamily="49" charset="0"/>
                </a:rPr>
                <a:t>()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3142" y="3649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Process </a:t>
              </a:r>
              <a:r>
                <a:rPr lang="en-US" altLang="en-US" b="1" dirty="0"/>
                <a:t>P1</a:t>
              </a:r>
            </a:p>
          </p:txBody>
        </p:sp>
      </p:grpSp>
      <p:graphicFrame>
        <p:nvGraphicFramePr>
          <p:cNvPr id="19" name="Diagram 18"/>
          <p:cNvGraphicFramePr/>
          <p:nvPr>
            <p:extLst>
              <p:ext uri="{D42A27DB-BD31-4B8C-83A1-F6EECF244321}">
                <p14:modId xmlns:p14="http://schemas.microsoft.com/office/powerpoint/2010/main" val="1512655365"/>
              </p:ext>
            </p:extLst>
          </p:nvPr>
        </p:nvGraphicFramePr>
        <p:xfrm>
          <a:off x="6736125" y="3338513"/>
          <a:ext cx="2156415" cy="3062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Thumbs Up Png Clipar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914400"/>
            <a:ext cx="1143000" cy="112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lide Number Placeholder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14</a:t>
            </a:fld>
            <a:endParaRPr lang="en-US" altLang="en-US"/>
          </a:p>
        </p:txBody>
      </p:sp>
      <p:grpSp>
        <p:nvGrpSpPr>
          <p:cNvPr id="22" name="Group 15"/>
          <p:cNvGrpSpPr>
            <a:grpSpLocks/>
          </p:cNvGrpSpPr>
          <p:nvPr/>
        </p:nvGrpSpPr>
        <p:grpSpPr bwMode="auto">
          <a:xfrm>
            <a:off x="516027" y="2552033"/>
            <a:ext cx="2133600" cy="533400"/>
            <a:chOff x="1872" y="720"/>
            <a:chExt cx="1344" cy="336"/>
          </a:xfrm>
        </p:grpSpPr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3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itchFamily="49" charset="0"/>
                </a:rPr>
                <a:t>$</a:t>
              </a:r>
              <a:r>
                <a:rPr lang="en-US" altLang="en-US" sz="2400" b="1" dirty="0" err="1">
                  <a:latin typeface="Courier New" pitchFamily="49" charset="0"/>
                </a:rPr>
                <a:t>reg</a:t>
              </a:r>
              <a:endParaRPr lang="en-US" altLang="en-US" sz="2400" b="1" dirty="0">
                <a:latin typeface="Courier New" pitchFamily="49" charset="0"/>
              </a:endParaRPr>
            </a:p>
          </p:txBody>
        </p:sp>
      </p:grpSp>
      <p:grpSp>
        <p:nvGrpSpPr>
          <p:cNvPr id="25" name="Group 15"/>
          <p:cNvGrpSpPr>
            <a:grpSpLocks/>
          </p:cNvGrpSpPr>
          <p:nvPr/>
        </p:nvGrpSpPr>
        <p:grpSpPr bwMode="auto">
          <a:xfrm>
            <a:off x="3626212" y="2552033"/>
            <a:ext cx="2133600" cy="533400"/>
            <a:chOff x="1872" y="720"/>
            <a:chExt cx="1344" cy="336"/>
          </a:xfrm>
        </p:grpSpPr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3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27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itchFamily="49" charset="0"/>
                </a:rPr>
                <a:t>$</a:t>
              </a:r>
              <a:r>
                <a:rPr lang="en-US" altLang="en-US" sz="2400" b="1" dirty="0" err="1">
                  <a:latin typeface="Courier New" pitchFamily="49" charset="0"/>
                </a:rPr>
                <a:t>reg</a:t>
              </a:r>
              <a:endParaRPr lang="en-US" altLang="en-US" sz="2400" b="1" dirty="0"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483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Graphic spid="19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 and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implementation </a:t>
            </a:r>
            <a:r>
              <a:rPr lang="en-US" b="1" dirty="0"/>
              <a:t>works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However, it employs </a:t>
            </a:r>
            <a:r>
              <a:rPr lang="en-US" b="1" dirty="0">
                <a:solidFill>
                  <a:srgbClr val="C00000"/>
                </a:solidFill>
              </a:rPr>
              <a:t>busy waiting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marL="344487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Wasteful use of processing power</a:t>
            </a:r>
          </a:p>
          <a:p>
            <a:pPr marL="344487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Variants of this instruction exists on most processors:</a:t>
            </a:r>
          </a:p>
          <a:p>
            <a:pPr lvl="1"/>
            <a:r>
              <a:rPr 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Compare and Exchange</a:t>
            </a:r>
          </a:p>
          <a:p>
            <a:pPr lvl="1"/>
            <a:r>
              <a:rPr lang="en-US" b="1" dirty="0">
                <a:solidFill>
                  <a:srgbClr val="003300"/>
                </a:solidFill>
                <a:sym typeface="Wingdings" panose="05000000000000000000" pitchFamily="2" charset="2"/>
              </a:rPr>
              <a:t>Atomic Swap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Load Link / Store Conditional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03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High Level </a:t>
            </a:r>
            <a:r>
              <a:rPr lang="en-US" dirty="0"/>
              <a:t>Abstraction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699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Semaphore:</a:t>
            </a:r>
          </a:p>
          <a:p>
            <a:pPr lvl="1"/>
            <a:r>
              <a:rPr lang="en-US" altLang="en-US" dirty="0"/>
              <a:t>An generalized synchronization mechanism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Only behaviors are specified </a:t>
            </a:r>
            <a:r>
              <a:rPr lang="en-US" altLang="en-US" dirty="0">
                <a:sym typeface="Wingdings" pitchFamily="2" charset="2"/>
              </a:rPr>
              <a:t> can have different implementations</a:t>
            </a:r>
            <a:endParaRPr lang="en-US" altLang="en-US" dirty="0"/>
          </a:p>
          <a:p>
            <a:pPr lvl="1"/>
            <a:r>
              <a:rPr lang="en-US" altLang="en-US" dirty="0"/>
              <a:t>Provides</a:t>
            </a:r>
          </a:p>
          <a:p>
            <a:pPr lvl="2"/>
            <a:r>
              <a:rPr lang="en-US" altLang="en-US" b="1" dirty="0"/>
              <a:t>A way to block </a:t>
            </a:r>
            <a:r>
              <a:rPr lang="en-US" altLang="en-US" dirty="0"/>
              <a:t>a number of processes</a:t>
            </a:r>
          </a:p>
          <a:p>
            <a:pPr lvl="3"/>
            <a:r>
              <a:rPr lang="en-US" altLang="en-US" dirty="0"/>
              <a:t>Known as </a:t>
            </a:r>
            <a:r>
              <a:rPr lang="en-US" altLang="en-US" b="1" dirty="0"/>
              <a:t>sleeping process</a:t>
            </a:r>
          </a:p>
          <a:p>
            <a:pPr lvl="2"/>
            <a:r>
              <a:rPr lang="en-US" altLang="en-US" b="1" dirty="0"/>
              <a:t>A way to unblock/wake up </a:t>
            </a:r>
            <a:r>
              <a:rPr lang="en-US" altLang="en-US" dirty="0"/>
              <a:t>one or more sleeping process</a:t>
            </a:r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History:</a:t>
            </a:r>
          </a:p>
          <a:p>
            <a:pPr lvl="1"/>
            <a:r>
              <a:rPr lang="en-US" altLang="en-US" dirty="0"/>
              <a:t>Proposed by </a:t>
            </a:r>
            <a:r>
              <a:rPr lang="en-US" altLang="en-US" b="1" dirty="0">
                <a:solidFill>
                  <a:srgbClr val="006600"/>
                </a:solidFill>
              </a:rPr>
              <a:t>Edgar W. </a:t>
            </a:r>
            <a:r>
              <a:rPr lang="en-US" altLang="en-US" b="1" dirty="0" err="1">
                <a:solidFill>
                  <a:srgbClr val="006600"/>
                </a:solidFill>
              </a:rPr>
              <a:t>Dijkstra</a:t>
            </a:r>
            <a:r>
              <a:rPr lang="en-US" altLang="en-US" b="1" dirty="0">
                <a:solidFill>
                  <a:srgbClr val="006600"/>
                </a:solidFill>
              </a:rPr>
              <a:t> </a:t>
            </a:r>
            <a:r>
              <a:rPr lang="en-US" altLang="en-US" dirty="0"/>
              <a:t>in 1965</a:t>
            </a:r>
          </a:p>
          <a:p>
            <a:pPr lvl="1"/>
            <a:endParaRPr lang="en-US" altLang="en-US" dirty="0"/>
          </a:p>
        </p:txBody>
      </p:sp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b="1" dirty="0"/>
              <a:t>High Level Synchronization Mechanism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5621"/>
            <a:ext cx="5181600" cy="690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419600" y="1107191"/>
            <a:ext cx="4495800" cy="1595618"/>
          </a:xfrm>
          <a:prstGeom prst="wedgeRoundRectCallout">
            <a:avLst>
              <a:gd name="adj1" fmla="val -53321"/>
              <a:gd name="adj2" fmla="val 72410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3200" dirty="0">
                <a:latin typeface="+mn-lt"/>
                <a:ea typeface="Dotum" panose="020B0600000101010101" pitchFamily="34" charset="-127"/>
              </a:rPr>
              <a:t>One does not simply </a:t>
            </a:r>
            <a:r>
              <a:rPr lang="en-US" altLang="en-US" sz="3200" b="1" dirty="0">
                <a:latin typeface="+mn-lt"/>
                <a:ea typeface="Dotum" panose="020B0600000101010101" pitchFamily="34" charset="-127"/>
              </a:rPr>
              <a:t>synchronize</a:t>
            </a:r>
            <a:r>
              <a:rPr lang="en-US" altLang="en-US" sz="3200" dirty="0">
                <a:latin typeface="+mn-lt"/>
                <a:ea typeface="Dotum" panose="020B0600000101010101" pitchFamily="34" charset="-127"/>
              </a:rPr>
              <a:t>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4453467" y="1676400"/>
            <a:ext cx="3987800" cy="986018"/>
          </a:xfrm>
          <a:prstGeom prst="wedgeRoundRectCallout">
            <a:avLst>
              <a:gd name="adj1" fmla="val -53983"/>
              <a:gd name="adj2" fmla="val 91629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3600" dirty="0">
                <a:latin typeface="+mn-lt"/>
                <a:ea typeface="Dotum" panose="020B0600000101010101" pitchFamily="34" charset="-127"/>
              </a:rPr>
              <a:t>Btw, I'm </a:t>
            </a:r>
            <a:r>
              <a:rPr lang="en-US" altLang="en-US" sz="36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Dotum" panose="020B0600000101010101" pitchFamily="34" charset="-127"/>
              </a:rPr>
              <a:t>Dutch</a:t>
            </a:r>
            <a:r>
              <a:rPr lang="en-US" altLang="en-US" sz="3600" dirty="0">
                <a:latin typeface="+mn-lt"/>
                <a:ea typeface="Dotum" panose="020B0600000101010101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7" grpId="1" build="allAtOnce" animBg="1"/>
      <p:bldP spid="8" grpId="0" uiExpand="1" build="p" animBg="1"/>
      <p:bldP spid="8" grpId="1" uiExpand="1" build="allAtOnc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Semaphore: </a:t>
            </a:r>
            <a:r>
              <a:rPr lang="en-US" altLang="en-US" sz="3800" b="1" dirty="0">
                <a:solidFill>
                  <a:srgbClr val="C00000"/>
                </a:solidFill>
              </a:rPr>
              <a:t>Wait</a:t>
            </a:r>
            <a:r>
              <a:rPr lang="en-US" altLang="en-US" sz="3800" dirty="0"/>
              <a:t>( ) and </a:t>
            </a:r>
            <a:r>
              <a:rPr lang="en-US" altLang="en-US" sz="3800" b="1" dirty="0">
                <a:solidFill>
                  <a:srgbClr val="003300"/>
                </a:solidFill>
              </a:rPr>
              <a:t>Signal</a:t>
            </a:r>
            <a:r>
              <a:rPr lang="en-US" altLang="en-US" sz="3800" dirty="0"/>
              <a:t>( )</a:t>
            </a: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143000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A semaphore </a:t>
            </a:r>
            <a:r>
              <a:rPr lang="en-US" altLang="en-US" b="1" dirty="0"/>
              <a:t>S </a:t>
            </a:r>
            <a:r>
              <a:rPr lang="en-US" altLang="en-US" dirty="0"/>
              <a:t>contains an integer value</a:t>
            </a:r>
          </a:p>
          <a:p>
            <a:pPr lvl="1"/>
            <a:r>
              <a:rPr lang="en-US" altLang="en-US" dirty="0"/>
              <a:t>Can be initialized to any non-negative values initially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468086" y="3324538"/>
            <a:ext cx="3886200" cy="3102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212725" indent="-325438">
              <a:spcBef>
                <a:spcPct val="20000"/>
              </a:spcBef>
              <a:buClr>
                <a:srgbClr val="9F2936"/>
              </a:buClr>
              <a:buSzPct val="60000"/>
              <a:buFont typeface="Wingdings" pitchFamily="2" charset="2"/>
              <a:buChar char="q"/>
            </a:pPr>
            <a:r>
              <a:rPr lang="en-US" altLang="en-US" sz="2400" b="1" kern="0" dirty="0">
                <a:solidFill>
                  <a:srgbClr val="C00000"/>
                </a:solidFill>
                <a:latin typeface="Courier New" pitchFamily="49" charset="0"/>
              </a:rPr>
              <a:t>Wait( S 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If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 &lt;= 0, blocks 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(go to sleep)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Decrement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214312" lvl="1">
              <a:spcBef>
                <a:spcPct val="20000"/>
              </a:spcBef>
              <a:buClr>
                <a:srgbClr val="F07F09"/>
              </a:buClr>
              <a:buSzPct val="65000"/>
            </a:pPr>
            <a:endParaRPr lang="en-US" altLang="en-US" sz="2200" kern="0" dirty="0">
              <a:solidFill>
                <a:prstClr val="black"/>
              </a:solidFill>
              <a:latin typeface="Arial"/>
            </a:endParaRP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endParaRPr lang="en-US" altLang="en-US" sz="2200" kern="0" dirty="0">
              <a:solidFill>
                <a:prstClr val="black"/>
              </a:solidFill>
              <a:latin typeface="Arial"/>
            </a:endParaRP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Also known as </a:t>
            </a:r>
            <a:r>
              <a:rPr lang="en-US" altLang="en-US" sz="2000" b="1" kern="0" dirty="0">
                <a:solidFill>
                  <a:prstClr val="black"/>
                </a:solidFill>
                <a:latin typeface="Courier New" pitchFamily="49" charset="0"/>
              </a:rPr>
              <a:t>P()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 or</a:t>
            </a:r>
            <a:r>
              <a:rPr lang="en-US" altLang="en-US" sz="2000" b="1" kern="0" dirty="0">
                <a:solidFill>
                  <a:prstClr val="black"/>
                </a:solidFill>
                <a:latin typeface="Courier New" pitchFamily="49" charset="0"/>
              </a:rPr>
              <a:t> Down()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600304" y="3324538"/>
            <a:ext cx="3962400" cy="310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12725" indent="-325438">
              <a:spcBef>
                <a:spcPct val="20000"/>
              </a:spcBef>
              <a:buClr>
                <a:srgbClr val="9F2936"/>
              </a:buClr>
              <a:buSzPct val="60000"/>
              <a:buFont typeface="Wingdings" pitchFamily="2" charset="2"/>
              <a:buChar char="q"/>
            </a:pPr>
            <a:r>
              <a:rPr lang="en-US" altLang="en-US" sz="2400" b="1" kern="0" dirty="0">
                <a:solidFill>
                  <a:srgbClr val="003300"/>
                </a:solidFill>
                <a:latin typeface="Courier New" pitchFamily="49" charset="0"/>
              </a:rPr>
              <a:t>Signal( S 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Increments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Wakes up one sleeping process if any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This operation </a:t>
            </a: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never 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blocks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Also known as </a:t>
            </a:r>
            <a:r>
              <a:rPr lang="en-US" altLang="en-US" sz="2000" b="1" kern="0" dirty="0">
                <a:solidFill>
                  <a:prstClr val="black"/>
                </a:solidFill>
                <a:latin typeface="Courier New" pitchFamily="49" charset="0"/>
              </a:rPr>
              <a:t>V()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 or </a:t>
            </a:r>
            <a:r>
              <a:rPr lang="en-US" altLang="en-US" sz="2000" b="1" kern="0" dirty="0">
                <a:solidFill>
                  <a:prstClr val="black"/>
                </a:solidFill>
                <a:latin typeface="Courier New" pitchFamily="49" charset="0"/>
              </a:rPr>
              <a:t>Up()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564674" y="1980524"/>
            <a:ext cx="3579223" cy="1143676"/>
            <a:chOff x="4191000" y="3425284"/>
            <a:chExt cx="3579223" cy="1379217"/>
          </a:xfrm>
        </p:grpSpPr>
        <p:sp>
          <p:nvSpPr>
            <p:cNvPr id="9" name="Rounded Rectangle 8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Semaphore S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/>
                <a:t>Integer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5334000" y="4000500"/>
              <a:ext cx="2286000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/>
                <a:t>List of processes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564674" y="1980524"/>
            <a:ext cx="3579223" cy="1143676"/>
            <a:chOff x="4191000" y="3425284"/>
            <a:chExt cx="3579223" cy="1379217"/>
          </a:xfrm>
        </p:grpSpPr>
        <p:sp>
          <p:nvSpPr>
            <p:cNvPr id="15" name="Rounded Rectangle 14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Semaphore S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18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644" y="1954075"/>
            <a:ext cx="5795075" cy="45726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 rot="265346">
            <a:off x="5024049" y="3333812"/>
            <a:ext cx="1533524" cy="9324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41362" y="21812"/>
            <a:ext cx="3886200" cy="160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212725" indent="-325438">
              <a:spcBef>
                <a:spcPct val="20000"/>
              </a:spcBef>
              <a:buClr>
                <a:srgbClr val="9F2936"/>
              </a:buClr>
              <a:buSzPct val="60000"/>
              <a:buFont typeface="Wingdings" pitchFamily="2" charset="2"/>
              <a:buChar char="q"/>
            </a:pPr>
            <a:r>
              <a:rPr lang="en-US" altLang="en-US" sz="2400" b="1" kern="0" dirty="0">
                <a:solidFill>
                  <a:srgbClr val="C00000"/>
                </a:solidFill>
                <a:latin typeface="Courier New" pitchFamily="49" charset="0"/>
              </a:rPr>
              <a:t>Wait( S 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If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 &lt;= 0, </a:t>
            </a:r>
            <a:r>
              <a:rPr lang="en-US" altLang="en-US" sz="2200" b="1" kern="0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blocks</a:t>
            </a: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(go to sleep)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Decrement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5171192" y="19616"/>
            <a:ext cx="3931446" cy="16127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12725" indent="-325438">
              <a:spcBef>
                <a:spcPct val="20000"/>
              </a:spcBef>
              <a:buClr>
                <a:srgbClr val="9F2936"/>
              </a:buClr>
              <a:buSzPct val="60000"/>
              <a:buFont typeface="Wingdings" pitchFamily="2" charset="2"/>
              <a:buChar char="q"/>
            </a:pPr>
            <a:r>
              <a:rPr lang="en-US" altLang="en-US" sz="2400" b="1" kern="0" dirty="0">
                <a:solidFill>
                  <a:srgbClr val="003300"/>
                </a:solidFill>
                <a:latin typeface="Courier New" pitchFamily="49" charset="0"/>
              </a:rPr>
              <a:t>Signal( S 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Increments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Wakes up one sleeping process if any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  <p:bldP spid="7" grpId="0" uiExpand="1" build="p" animBg="1"/>
      <p:bldP spid="4" grpId="0" animBg="1"/>
      <p:bldP spid="4" grpId="1" animBg="1"/>
      <p:bldP spid="22" grpId="0" uiExpand="1" build="p" animBg="1"/>
      <p:bldP spid="22" grpId="1" build="allAtOnce" animBg="1"/>
      <p:bldP spid="23" grpId="0" uiExpand="1" build="p" animBg="1"/>
      <p:bldP spid="23" grpId="1" build="allAtOnce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Semaphore: </a:t>
            </a:r>
            <a:r>
              <a:rPr lang="en-US" altLang="en-US" sz="4400" b="1" dirty="0">
                <a:solidFill>
                  <a:srgbClr val="C00000"/>
                </a:solidFill>
              </a:rPr>
              <a:t>Visualization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2895600"/>
          </a:xfrm>
        </p:spPr>
        <p:txBody>
          <a:bodyPr/>
          <a:lstStyle/>
          <a:p>
            <a:r>
              <a:rPr lang="en-US" dirty="0"/>
              <a:t>To aid understanding, you can visualize semaphore as:</a:t>
            </a:r>
          </a:p>
          <a:p>
            <a:pPr lvl="1"/>
            <a:r>
              <a:rPr lang="en-US" dirty="0"/>
              <a:t>A protected integer</a:t>
            </a:r>
          </a:p>
          <a:p>
            <a:pPr lvl="1"/>
            <a:r>
              <a:rPr lang="en-US" dirty="0"/>
              <a:t>A list to keep track of </a:t>
            </a:r>
            <a:br>
              <a:rPr lang="en-US" dirty="0"/>
            </a:br>
            <a:r>
              <a:rPr lang="en-US" dirty="0"/>
              <a:t>waiting processes</a:t>
            </a:r>
          </a:p>
          <a:p>
            <a:r>
              <a:rPr lang="en-US" dirty="0"/>
              <a:t>Example: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033554" y="1972551"/>
            <a:ext cx="3579223" cy="1379217"/>
            <a:chOff x="4191000" y="3425284"/>
            <a:chExt cx="3579223" cy="1379217"/>
          </a:xfrm>
        </p:grpSpPr>
        <p:sp>
          <p:nvSpPr>
            <p:cNvPr id="12" name="Rounded Rectangle 11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Semaphore S</a:t>
              </a: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/>
                <a:t>Integer</a:t>
              </a:r>
            </a:p>
          </p:txBody>
        </p:sp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5334000" y="4000500"/>
              <a:ext cx="2286000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/>
                <a:t>List of processes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50815" y="4005360"/>
            <a:ext cx="1676402" cy="1032185"/>
            <a:chOff x="761999" y="4005360"/>
            <a:chExt cx="1676402" cy="1032185"/>
          </a:xfrm>
        </p:grpSpPr>
        <p:sp>
          <p:nvSpPr>
            <p:cNvPr id="15" name="Rounded Rectangle 14"/>
            <p:cNvSpPr/>
            <p:nvPr/>
          </p:nvSpPr>
          <p:spPr>
            <a:xfrm>
              <a:off x="761999" y="4156301"/>
              <a:ext cx="1600201" cy="8812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026921" y="4005360"/>
              <a:ext cx="41148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838198" y="4402408"/>
              <a:ext cx="489857" cy="4963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1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1328056" y="4783409"/>
              <a:ext cx="872489" cy="115343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1328056" y="4402407"/>
              <a:ext cx="872490" cy="381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" name="Right Arrow 20"/>
          <p:cNvSpPr/>
          <p:nvPr/>
        </p:nvSpPr>
        <p:spPr>
          <a:xfrm>
            <a:off x="2325187" y="4461416"/>
            <a:ext cx="304800" cy="32199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27014" y="5235155"/>
            <a:ext cx="1362348" cy="85899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After initialization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34192" y="5250395"/>
            <a:ext cx="1900647" cy="85899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After P</a:t>
            </a:r>
            <a:r>
              <a:rPr lang="en-US" sz="1600" b="1" baseline="-25000" dirty="0">
                <a:solidFill>
                  <a:schemeClr val="tx1"/>
                </a:solidFill>
              </a:rPr>
              <a:t>1</a:t>
            </a:r>
            <a:r>
              <a:rPr lang="en-US" sz="1600" b="1" dirty="0">
                <a:solidFill>
                  <a:schemeClr val="tx1"/>
                </a:solidFill>
              </a:rPr>
              <a:t> wait(S)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</a:t>
            </a:r>
            <a:r>
              <a:rPr lang="en-US" sz="1600" b="1" baseline="-25000" dirty="0">
                <a:solidFill>
                  <a:schemeClr val="tx1"/>
                </a:solidFill>
              </a:rPr>
              <a:t>1</a:t>
            </a:r>
            <a:r>
              <a:rPr lang="en-US" sz="1600" b="1" dirty="0">
                <a:solidFill>
                  <a:schemeClr val="tx1"/>
                </a:solidFill>
              </a:rPr>
              <a:t> proceeds 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2684416" y="4005360"/>
            <a:ext cx="1676402" cy="1032185"/>
            <a:chOff x="761999" y="4005360"/>
            <a:chExt cx="1676402" cy="1032185"/>
          </a:xfrm>
        </p:grpSpPr>
        <p:sp>
          <p:nvSpPr>
            <p:cNvPr id="32" name="Rounded Rectangle 31"/>
            <p:cNvSpPr/>
            <p:nvPr/>
          </p:nvSpPr>
          <p:spPr>
            <a:xfrm>
              <a:off x="761999" y="4156301"/>
              <a:ext cx="1600201" cy="8812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2026921" y="4005360"/>
              <a:ext cx="41148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</a:t>
              </a: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auto">
            <a:xfrm>
              <a:off x="838198" y="4402408"/>
              <a:ext cx="489857" cy="4963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0</a:t>
              </a:r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auto">
            <a:xfrm>
              <a:off x="1328056" y="4783409"/>
              <a:ext cx="872489" cy="115343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1"/>
            <p:cNvSpPr>
              <a:spLocks noChangeArrowheads="1"/>
            </p:cNvSpPr>
            <p:nvPr/>
          </p:nvSpPr>
          <p:spPr bwMode="auto">
            <a:xfrm>
              <a:off x="1328056" y="4402407"/>
              <a:ext cx="872490" cy="381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7" name="Right Arrow 36"/>
          <p:cNvSpPr/>
          <p:nvPr/>
        </p:nvSpPr>
        <p:spPr>
          <a:xfrm>
            <a:off x="4371702" y="4461416"/>
            <a:ext cx="304800" cy="32199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580707" y="5250395"/>
            <a:ext cx="1900647" cy="85899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After P</a:t>
            </a:r>
            <a:r>
              <a:rPr lang="en-US" sz="1600" b="1" baseline="-25000" dirty="0">
                <a:solidFill>
                  <a:schemeClr val="tx1"/>
                </a:solidFill>
              </a:rPr>
              <a:t>2</a:t>
            </a:r>
            <a:r>
              <a:rPr lang="en-US" sz="1600" b="1" dirty="0">
                <a:solidFill>
                  <a:schemeClr val="tx1"/>
                </a:solidFill>
              </a:rPr>
              <a:t> wait(S)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</a:t>
            </a:r>
            <a:r>
              <a:rPr lang="en-US" sz="1600" b="1" baseline="-25000" dirty="0">
                <a:solidFill>
                  <a:schemeClr val="tx1"/>
                </a:solidFill>
              </a:rPr>
              <a:t>2</a:t>
            </a:r>
            <a:r>
              <a:rPr lang="en-US" sz="1600" b="1" dirty="0">
                <a:solidFill>
                  <a:schemeClr val="tx1"/>
                </a:solidFill>
              </a:rPr>
              <a:t> suspended 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4730931" y="4005360"/>
            <a:ext cx="1676402" cy="1032185"/>
            <a:chOff x="4942115" y="4005360"/>
            <a:chExt cx="1676402" cy="1032185"/>
          </a:xfrm>
        </p:grpSpPr>
        <p:sp>
          <p:nvSpPr>
            <p:cNvPr id="40" name="Rounded Rectangle 39"/>
            <p:cNvSpPr/>
            <p:nvPr/>
          </p:nvSpPr>
          <p:spPr>
            <a:xfrm>
              <a:off x="4942115" y="4156301"/>
              <a:ext cx="1600201" cy="8812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10"/>
            <p:cNvSpPr>
              <a:spLocks noChangeArrowheads="1"/>
            </p:cNvSpPr>
            <p:nvPr/>
          </p:nvSpPr>
          <p:spPr bwMode="auto">
            <a:xfrm>
              <a:off x="6207037" y="4005360"/>
              <a:ext cx="41148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</a:t>
              </a:r>
            </a:p>
          </p:txBody>
        </p:sp>
        <p:sp>
          <p:nvSpPr>
            <p:cNvPr id="42" name="Rectangle 11"/>
            <p:cNvSpPr>
              <a:spLocks noChangeArrowheads="1"/>
            </p:cNvSpPr>
            <p:nvPr/>
          </p:nvSpPr>
          <p:spPr bwMode="auto">
            <a:xfrm>
              <a:off x="5018314" y="4402408"/>
              <a:ext cx="489857" cy="4963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0</a:t>
              </a:r>
            </a:p>
          </p:txBody>
        </p:sp>
        <p:sp>
          <p:nvSpPr>
            <p:cNvPr id="43" name="Rectangle 12"/>
            <p:cNvSpPr>
              <a:spLocks noChangeArrowheads="1"/>
            </p:cNvSpPr>
            <p:nvPr/>
          </p:nvSpPr>
          <p:spPr bwMode="auto">
            <a:xfrm>
              <a:off x="5508172" y="4783409"/>
              <a:ext cx="872489" cy="115343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5508172" y="4402407"/>
              <a:ext cx="872490" cy="381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 dirty="0"/>
                <a:t>P</a:t>
              </a:r>
              <a:r>
                <a:rPr lang="en-US" b="1" baseline="-25000" dirty="0"/>
                <a:t>2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481355" y="5111265"/>
            <a:ext cx="2205446" cy="141018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After P</a:t>
            </a:r>
            <a:r>
              <a:rPr lang="en-US" sz="1600" b="1" baseline="-25000" dirty="0">
                <a:solidFill>
                  <a:schemeClr val="tx1"/>
                </a:solidFill>
              </a:rPr>
              <a:t>3</a:t>
            </a:r>
            <a:r>
              <a:rPr lang="en-US" sz="1600" b="1" dirty="0">
                <a:solidFill>
                  <a:schemeClr val="tx1"/>
                </a:solidFill>
              </a:rPr>
              <a:t> signal(S)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</a:t>
            </a:r>
            <a:r>
              <a:rPr lang="en-US" sz="1600" b="1" baseline="-25000" dirty="0">
                <a:solidFill>
                  <a:schemeClr val="tx1"/>
                </a:solidFill>
              </a:rPr>
              <a:t>3</a:t>
            </a:r>
            <a:r>
              <a:rPr lang="en-US" sz="1600" b="1" dirty="0">
                <a:solidFill>
                  <a:schemeClr val="tx1"/>
                </a:solidFill>
              </a:rPr>
              <a:t> proceeds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</a:t>
            </a:r>
            <a:r>
              <a:rPr lang="en-US" sz="1600" b="1" baseline="-25000" dirty="0">
                <a:solidFill>
                  <a:schemeClr val="tx1"/>
                </a:solidFill>
              </a:rPr>
              <a:t>2</a:t>
            </a:r>
            <a:r>
              <a:rPr lang="en-US" sz="1600" b="1" dirty="0">
                <a:solidFill>
                  <a:schemeClr val="tx1"/>
                </a:solidFill>
              </a:rPr>
              <a:t> wakes up, decreases S and proceeds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6783977" y="3991970"/>
            <a:ext cx="1676402" cy="1032185"/>
            <a:chOff x="4942115" y="4005360"/>
            <a:chExt cx="1676402" cy="1032185"/>
          </a:xfrm>
        </p:grpSpPr>
        <p:sp>
          <p:nvSpPr>
            <p:cNvPr id="48" name="Rounded Rectangle 47"/>
            <p:cNvSpPr/>
            <p:nvPr/>
          </p:nvSpPr>
          <p:spPr>
            <a:xfrm>
              <a:off x="4942115" y="4156301"/>
              <a:ext cx="1600201" cy="8812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10"/>
            <p:cNvSpPr>
              <a:spLocks noChangeArrowheads="1"/>
            </p:cNvSpPr>
            <p:nvPr/>
          </p:nvSpPr>
          <p:spPr bwMode="auto">
            <a:xfrm>
              <a:off x="6207037" y="4005360"/>
              <a:ext cx="41148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</a:t>
              </a:r>
            </a:p>
          </p:txBody>
        </p:sp>
        <p:sp>
          <p:nvSpPr>
            <p:cNvPr id="50" name="Rectangle 11"/>
            <p:cNvSpPr>
              <a:spLocks noChangeArrowheads="1"/>
            </p:cNvSpPr>
            <p:nvPr/>
          </p:nvSpPr>
          <p:spPr bwMode="auto">
            <a:xfrm>
              <a:off x="5018314" y="4402408"/>
              <a:ext cx="489857" cy="4963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0</a:t>
              </a:r>
            </a:p>
          </p:txBody>
        </p:sp>
        <p:sp>
          <p:nvSpPr>
            <p:cNvPr id="51" name="Rectangle 12"/>
            <p:cNvSpPr>
              <a:spLocks noChangeArrowheads="1"/>
            </p:cNvSpPr>
            <p:nvPr/>
          </p:nvSpPr>
          <p:spPr bwMode="auto">
            <a:xfrm>
              <a:off x="5508172" y="4783409"/>
              <a:ext cx="872489" cy="115343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11"/>
            <p:cNvSpPr>
              <a:spLocks noChangeArrowheads="1"/>
            </p:cNvSpPr>
            <p:nvPr/>
          </p:nvSpPr>
          <p:spPr bwMode="auto">
            <a:xfrm>
              <a:off x="5508172" y="4402407"/>
              <a:ext cx="872490" cy="381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 baseline="-25000" dirty="0"/>
            </a:p>
          </p:txBody>
        </p:sp>
      </p:grpSp>
      <p:sp>
        <p:nvSpPr>
          <p:cNvPr id="53" name="Right Arrow 52"/>
          <p:cNvSpPr/>
          <p:nvPr/>
        </p:nvSpPr>
        <p:spPr>
          <a:xfrm>
            <a:off x="6402976" y="4462356"/>
            <a:ext cx="304800" cy="32199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5317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General and Binary Semaphores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  <a:cs typeface="Arial" charset="0"/>
              </a:rPr>
              <a:t>General semaphore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S: 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S </a:t>
            </a:r>
            <a:r>
              <a:rPr lang="en-US" altLang="en-US" b="1" dirty="0">
                <a:cs typeface="Arial" charset="0"/>
              </a:rPr>
              <a:t>≥ 0 (S = 0, 1, 2, 3, ....)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also called </a:t>
            </a:r>
            <a:r>
              <a:rPr lang="en-US" altLang="en-US" dirty="0">
                <a:solidFill>
                  <a:srgbClr val="C00000"/>
                </a:solidFill>
                <a:cs typeface="Arial" charset="0"/>
              </a:rPr>
              <a:t>counting semaphores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00"/>
                </a:solidFill>
                <a:cs typeface="Arial" charset="0"/>
              </a:rPr>
              <a:t>Binary semaphore</a:t>
            </a:r>
            <a:r>
              <a:rPr lang="en-US" altLang="en-US" dirty="0">
                <a:solidFill>
                  <a:srgbClr val="003300"/>
                </a:solidFill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S: 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cs typeface="Arial" charset="0"/>
              </a:rPr>
              <a:t>S = 0 </a:t>
            </a:r>
            <a:r>
              <a:rPr lang="en-US" altLang="en-US" dirty="0">
                <a:cs typeface="Arial" charset="0"/>
              </a:rPr>
              <a:t>or</a:t>
            </a:r>
            <a:r>
              <a:rPr lang="en-US" altLang="en-US" b="1" dirty="0">
                <a:cs typeface="Arial" charset="0"/>
              </a:rPr>
              <a:t> 1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General semaphore is provided for convenience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cs typeface="Arial" charset="0"/>
              </a:rPr>
              <a:t>Binary semaphore is sufficient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i.e. general semaphore can be mimicked by binary semaphores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Semaphore Example: </a:t>
            </a:r>
            <a:r>
              <a:rPr lang="en-US" altLang="en-US" sz="3800" b="1" dirty="0">
                <a:solidFill>
                  <a:srgbClr val="C00000"/>
                </a:solidFill>
              </a:rPr>
              <a:t>Critical Section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679271"/>
          </a:xfrm>
        </p:spPr>
        <p:txBody>
          <a:bodyPr/>
          <a:lstStyle/>
          <a:p>
            <a:r>
              <a:rPr lang="en-US" altLang="en-US" dirty="0"/>
              <a:t>Binary semaphore </a:t>
            </a:r>
            <a:r>
              <a:rPr lang="en-US" altLang="en-US" sz="2800" b="1" dirty="0">
                <a:solidFill>
                  <a:srgbClr val="C00000"/>
                </a:solidFill>
                <a:latin typeface="Courier New" pitchFamily="49" charset="0"/>
              </a:rPr>
              <a:t>S = 1</a:t>
            </a:r>
          </a:p>
        </p:txBody>
      </p:sp>
      <p:sp>
        <p:nvSpPr>
          <p:cNvPr id="692229" name="Text Box 5"/>
          <p:cNvSpPr txBox="1">
            <a:spLocks noChangeArrowheads="1"/>
          </p:cNvSpPr>
          <p:nvPr/>
        </p:nvSpPr>
        <p:spPr bwMode="auto">
          <a:xfrm>
            <a:off x="603310" y="1919832"/>
            <a:ext cx="3810000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Wait( s );</a:t>
            </a:r>
          </a:p>
          <a:p>
            <a:pPr eaLnBrk="0" hangingPunct="0"/>
            <a:r>
              <a:rPr lang="en-US" altLang="en-US" sz="2400" b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0" hangingPunct="0"/>
            <a:endParaRPr lang="en-US" altLang="en-US" sz="2400" b="1" dirty="0">
              <a:solidFill>
                <a:srgbClr val="66006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hangingPunct="0"/>
            <a:r>
              <a:rPr lang="en-US" altLang="en-US" sz="2400" b="1" dirty="0">
                <a:solidFill>
                  <a:srgbClr val="003300"/>
                </a:solidFill>
                <a:latin typeface="Courier New" pitchFamily="49" charset="0"/>
              </a:rPr>
              <a:t>Signal( s );</a:t>
            </a:r>
          </a:p>
        </p:txBody>
      </p:sp>
      <p:sp>
        <p:nvSpPr>
          <p:cNvPr id="692231" name="Rectangle 7"/>
          <p:cNvSpPr>
            <a:spLocks noChangeArrowheads="1"/>
          </p:cNvSpPr>
          <p:nvPr/>
        </p:nvSpPr>
        <p:spPr bwMode="auto">
          <a:xfrm>
            <a:off x="457200" y="4192202"/>
            <a:ext cx="8229600" cy="2056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In this case, </a:t>
            </a:r>
            <a:r>
              <a:rPr lang="en-US" altLang="en-US" b="1" dirty="0"/>
              <a:t>S can only be 0 </a:t>
            </a:r>
            <a:r>
              <a:rPr lang="en-US" altLang="en-US" dirty="0"/>
              <a:t>or</a:t>
            </a:r>
            <a:r>
              <a:rPr lang="en-US" altLang="en-US" b="1" dirty="0"/>
              <a:t> 1</a:t>
            </a:r>
          </a:p>
          <a:p>
            <a:endParaRPr lang="en-US" altLang="en-US" dirty="0"/>
          </a:p>
          <a:p>
            <a:r>
              <a:rPr lang="en-US" altLang="en-US" dirty="0"/>
              <a:t>This semaphore is commonly known as </a:t>
            </a:r>
            <a:r>
              <a:rPr lang="en-US" altLang="en-US" b="1" dirty="0" err="1">
                <a:solidFill>
                  <a:srgbClr val="C00000"/>
                </a:solidFill>
              </a:rPr>
              <a:t>mutex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b="1" dirty="0"/>
              <a:t>mut</a:t>
            </a:r>
            <a:r>
              <a:rPr lang="en-US" altLang="en-US" dirty="0"/>
              <a:t>ual </a:t>
            </a:r>
            <a:r>
              <a:rPr lang="en-US" altLang="en-US" b="1" dirty="0"/>
              <a:t>ex</a:t>
            </a:r>
            <a:r>
              <a:rPr lang="en-US" altLang="en-US" dirty="0"/>
              <a:t>clusion)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007428" y="2260814"/>
            <a:ext cx="3579223" cy="1143676"/>
            <a:chOff x="4191000" y="3425284"/>
            <a:chExt cx="3579223" cy="1379217"/>
          </a:xfrm>
        </p:grpSpPr>
        <p:sp>
          <p:nvSpPr>
            <p:cNvPr id="9" name="Rounded Rectangle 8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Semaphore S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448733" y="2363680"/>
            <a:ext cx="4114800" cy="72108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Incorrect Use of Semaphore: </a:t>
            </a:r>
            <a:r>
              <a:rPr lang="en-US" altLang="en-US" sz="3800" b="1" dirty="0">
                <a:solidFill>
                  <a:srgbClr val="C00000"/>
                </a:solidFill>
              </a:rPr>
              <a:t>Deadlock</a:t>
            </a:r>
          </a:p>
        </p:txBody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286000"/>
          </a:xfrm>
        </p:spPr>
        <p:txBody>
          <a:bodyPr/>
          <a:lstStyle/>
          <a:p>
            <a:r>
              <a:rPr lang="en-US" altLang="en-US" dirty="0"/>
              <a:t>Deadlock is possible with </a:t>
            </a:r>
            <a:r>
              <a:rPr lang="en-US" altLang="en-US" b="1" dirty="0">
                <a:solidFill>
                  <a:srgbClr val="660066"/>
                </a:solidFill>
              </a:rPr>
              <a:t>incorrect use of semaphore</a:t>
            </a:r>
          </a:p>
          <a:p>
            <a:endParaRPr lang="en-US" altLang="en-US" b="1" dirty="0"/>
          </a:p>
          <a:p>
            <a:r>
              <a:rPr lang="en-US" altLang="en-US" dirty="0"/>
              <a:t>Example: Semaphore </a:t>
            </a:r>
            <a:r>
              <a:rPr lang="en-US" altLang="en-US" b="1" dirty="0"/>
              <a:t>P = 1</a:t>
            </a:r>
            <a:r>
              <a:rPr lang="en-US" altLang="en-US" dirty="0"/>
              <a:t>, </a:t>
            </a:r>
            <a:r>
              <a:rPr lang="en-US" altLang="en-US" b="1" dirty="0"/>
              <a:t>Q = 1</a:t>
            </a:r>
            <a:r>
              <a:rPr lang="en-US" altLang="en-US" dirty="0"/>
              <a:t> initially</a:t>
            </a:r>
          </a:p>
        </p:txBody>
      </p:sp>
      <p:grpSp>
        <p:nvGrpSpPr>
          <p:cNvPr id="695306" name="Group 10"/>
          <p:cNvGrpSpPr>
            <a:grpSpLocks/>
          </p:cNvGrpSpPr>
          <p:nvPr/>
        </p:nvGrpSpPr>
        <p:grpSpPr bwMode="auto">
          <a:xfrm>
            <a:off x="990600" y="3276601"/>
            <a:ext cx="2743200" cy="2674939"/>
            <a:chOff x="384" y="2016"/>
            <a:chExt cx="1728" cy="1685"/>
          </a:xfrm>
        </p:grpSpPr>
        <p:sp>
          <p:nvSpPr>
            <p:cNvPr id="695301" name="Text Box 5"/>
            <p:cNvSpPr txBox="1">
              <a:spLocks noChangeArrowheads="1"/>
            </p:cNvSpPr>
            <p:nvPr/>
          </p:nvSpPr>
          <p:spPr bwMode="auto">
            <a:xfrm>
              <a:off x="384" y="2016"/>
              <a:ext cx="1728" cy="145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Wait( P )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Wait( Q )</a:t>
              </a:r>
            </a:p>
            <a:p>
              <a:pPr eaLnBrk="0" hangingPunct="0"/>
              <a:endParaRPr lang="en-US" altLang="en-US" sz="2400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2400" b="1" dirty="0">
                  <a:solidFill>
                    <a:srgbClr val="9900CC"/>
                  </a:solidFill>
                  <a:latin typeface="Courier New" pitchFamily="49" charset="0"/>
                </a:rPr>
                <a:t> 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Signal( Q )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Signal( P )</a:t>
              </a:r>
            </a:p>
          </p:txBody>
        </p:sp>
        <p:sp>
          <p:nvSpPr>
            <p:cNvPr id="695302" name="Text Box 6"/>
            <p:cNvSpPr txBox="1">
              <a:spLocks noChangeArrowheads="1"/>
            </p:cNvSpPr>
            <p:nvPr/>
          </p:nvSpPr>
          <p:spPr bwMode="auto">
            <a:xfrm>
              <a:off x="552" y="3470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P0</a:t>
              </a:r>
            </a:p>
          </p:txBody>
        </p:sp>
      </p:grpSp>
      <p:grpSp>
        <p:nvGrpSpPr>
          <p:cNvPr id="695307" name="Group 11"/>
          <p:cNvGrpSpPr>
            <a:grpSpLocks/>
          </p:cNvGrpSpPr>
          <p:nvPr/>
        </p:nvGrpSpPr>
        <p:grpSpPr bwMode="auto">
          <a:xfrm>
            <a:off x="5029200" y="3288166"/>
            <a:ext cx="2743200" cy="2684464"/>
            <a:chOff x="384" y="2016"/>
            <a:chExt cx="1728" cy="1691"/>
          </a:xfrm>
        </p:grpSpPr>
        <p:sp>
          <p:nvSpPr>
            <p:cNvPr id="695308" name="Text Box 12"/>
            <p:cNvSpPr txBox="1">
              <a:spLocks noChangeArrowheads="1"/>
            </p:cNvSpPr>
            <p:nvPr/>
          </p:nvSpPr>
          <p:spPr bwMode="auto">
            <a:xfrm>
              <a:off x="384" y="2016"/>
              <a:ext cx="1728" cy="145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Wait( Q )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Wait( P )</a:t>
              </a:r>
            </a:p>
            <a:p>
              <a:pPr eaLnBrk="0" hangingPunct="0"/>
              <a:endParaRPr lang="en-US" altLang="en-US" sz="2400" b="1" dirty="0">
                <a:latin typeface="Courier New" pitchFamily="49" charset="0"/>
              </a:endParaRPr>
            </a:p>
            <a:p>
              <a:pPr eaLnBrk="0" hangingPunct="0"/>
              <a:endParaRPr lang="en-US" altLang="en-US" sz="2400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Signal( P )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Signal( Q )</a:t>
              </a:r>
            </a:p>
          </p:txBody>
        </p:sp>
        <p:sp>
          <p:nvSpPr>
            <p:cNvPr id="695309" name="Text Box 13"/>
            <p:cNvSpPr txBox="1">
              <a:spLocks noChangeArrowheads="1"/>
            </p:cNvSpPr>
            <p:nvPr/>
          </p:nvSpPr>
          <p:spPr bwMode="auto">
            <a:xfrm>
              <a:off x="600" y="3476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P1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914400" y="4045407"/>
            <a:ext cx="2895600" cy="72108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Some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0" y="4081735"/>
            <a:ext cx="2895600" cy="72108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Some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High Level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Semaphore is </a:t>
            </a:r>
            <a:r>
              <a:rPr lang="en-US" b="1" dirty="0">
                <a:solidFill>
                  <a:srgbClr val="C00000"/>
                </a:solidFill>
              </a:rPr>
              <a:t>very powerful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There are no known unsolvable synchronization problem with semaphore (so far </a:t>
            </a:r>
            <a:r>
              <a:rPr lang="en-US" dirty="0">
                <a:sym typeface="Wingdings" panose="05000000000000000000" pitchFamily="2" charset="2"/>
              </a:rPr>
              <a:t>)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Other high level abstractions essentially provide extended features</a:t>
            </a:r>
          </a:p>
          <a:p>
            <a:pPr lvl="1"/>
            <a:endParaRPr lang="en-US" dirty="0"/>
          </a:p>
          <a:p>
            <a:r>
              <a:rPr lang="en-US" dirty="0"/>
              <a:t>Common alternative: </a:t>
            </a:r>
            <a:r>
              <a:rPr lang="en-US" b="1" dirty="0">
                <a:solidFill>
                  <a:srgbClr val="C00000"/>
                </a:solidFill>
              </a:rPr>
              <a:t>Conditional Variable</a:t>
            </a:r>
          </a:p>
          <a:p>
            <a:pPr lvl="1"/>
            <a:r>
              <a:rPr lang="en-US" dirty="0"/>
              <a:t>Allow a task to wait for certain event to happens</a:t>
            </a:r>
          </a:p>
          <a:p>
            <a:pPr lvl="1"/>
            <a:r>
              <a:rPr lang="en-US" dirty="0"/>
              <a:t>Has the ability to </a:t>
            </a:r>
            <a:r>
              <a:rPr lang="en-US" b="1" i="1" dirty="0"/>
              <a:t>broadcast</a:t>
            </a:r>
            <a:r>
              <a:rPr lang="en-US" dirty="0"/>
              <a:t>, i.e. wakes up all waiting tasks</a:t>
            </a:r>
          </a:p>
          <a:p>
            <a:pPr lvl="1"/>
            <a:r>
              <a:rPr lang="en-US" dirty="0"/>
              <a:t>related to </a:t>
            </a:r>
            <a:r>
              <a:rPr lang="en-US" b="1" dirty="0"/>
              <a:t>monitor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1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800" dirty="0">
                <a:solidFill>
                  <a:srgbClr val="003300"/>
                </a:solidFill>
              </a:rPr>
              <a:t>Classical </a:t>
            </a:r>
            <a:r>
              <a:rPr lang="en-US" altLang="en-US" sz="4800" dirty="0">
                <a:solidFill>
                  <a:srgbClr val="C00000"/>
                </a:solidFill>
              </a:rPr>
              <a:t>Synchronization</a:t>
            </a:r>
            <a:r>
              <a:rPr lang="en-US" altLang="en-US" sz="4800" dirty="0"/>
              <a:t>  </a:t>
            </a:r>
            <a:r>
              <a:rPr lang="en-US" altLang="en-US" sz="4800" dirty="0">
                <a:solidFill>
                  <a:srgbClr val="660066"/>
                </a:solidFill>
              </a:rPr>
              <a:t>Problems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Killing brain cells of generations of students…..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Producer Consumer</a:t>
            </a:r>
            <a:r>
              <a:rPr lang="en-US" altLang="en-US" dirty="0"/>
              <a:t>: Specification</a:t>
            </a:r>
          </a:p>
        </p:txBody>
      </p:sp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470150"/>
          </a:xfrm>
        </p:spPr>
        <p:txBody>
          <a:bodyPr/>
          <a:lstStyle/>
          <a:p>
            <a:r>
              <a:rPr lang="en-US" altLang="en-US" dirty="0"/>
              <a:t>Processes share a bounded buffer of size </a:t>
            </a:r>
            <a:r>
              <a:rPr lang="en-US" altLang="en-US" b="1" dirty="0"/>
              <a:t>K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Producers</a:t>
            </a:r>
            <a:r>
              <a:rPr lang="en-US" altLang="en-US" dirty="0"/>
              <a:t> produce items to insert in buffer</a:t>
            </a:r>
          </a:p>
          <a:p>
            <a:pPr lvl="2"/>
            <a:r>
              <a:rPr lang="en-US" altLang="en-US" dirty="0"/>
              <a:t>Only when the buffer is </a:t>
            </a:r>
            <a:r>
              <a:rPr lang="en-US" altLang="en-US" b="1" dirty="0"/>
              <a:t>not full </a:t>
            </a:r>
            <a:r>
              <a:rPr lang="en-US" altLang="en-US" dirty="0"/>
              <a:t>( &lt; K items)</a:t>
            </a:r>
            <a:endParaRPr lang="en-US" altLang="en-US" b="1" dirty="0"/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Consumers</a:t>
            </a:r>
            <a:r>
              <a:rPr lang="en-US" altLang="en-US" dirty="0"/>
              <a:t> remove items from buffer</a:t>
            </a:r>
          </a:p>
          <a:p>
            <a:pPr lvl="2"/>
            <a:r>
              <a:rPr lang="en-US" altLang="en-US" dirty="0"/>
              <a:t>Only when the buffer is </a:t>
            </a:r>
            <a:r>
              <a:rPr lang="en-US" altLang="en-US" b="1" dirty="0"/>
              <a:t>not empty </a:t>
            </a:r>
            <a:r>
              <a:rPr lang="en-US" altLang="en-US" dirty="0"/>
              <a:t>( &gt; 0 items)</a:t>
            </a:r>
            <a:endParaRPr lang="en-US" altLang="en-US" b="1" dirty="0"/>
          </a:p>
        </p:txBody>
      </p:sp>
      <p:sp>
        <p:nvSpPr>
          <p:cNvPr id="675851" name="Oval 11"/>
          <p:cNvSpPr>
            <a:spLocks noChangeArrowheads="1"/>
          </p:cNvSpPr>
          <p:nvPr/>
        </p:nvSpPr>
        <p:spPr bwMode="auto">
          <a:xfrm>
            <a:off x="2911475" y="4856162"/>
            <a:ext cx="525462" cy="557213"/>
          </a:xfrm>
          <a:prstGeom prst="ellipse">
            <a:avLst/>
          </a:prstGeom>
          <a:solidFill>
            <a:srgbClr val="FFCC99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b="1"/>
              <a:t>P3</a:t>
            </a:r>
          </a:p>
        </p:txBody>
      </p:sp>
      <p:sp>
        <p:nvSpPr>
          <p:cNvPr id="675852" name="Oval 12"/>
          <p:cNvSpPr>
            <a:spLocks noChangeArrowheads="1"/>
          </p:cNvSpPr>
          <p:nvPr/>
        </p:nvSpPr>
        <p:spPr bwMode="auto">
          <a:xfrm>
            <a:off x="2319337" y="5343525"/>
            <a:ext cx="525463" cy="557212"/>
          </a:xfrm>
          <a:prstGeom prst="ellipse">
            <a:avLst/>
          </a:prstGeom>
          <a:solidFill>
            <a:srgbClr val="FFCC99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b="1"/>
              <a:t>P2</a:t>
            </a:r>
          </a:p>
        </p:txBody>
      </p:sp>
      <p:sp>
        <p:nvSpPr>
          <p:cNvPr id="675854" name="Oval 14"/>
          <p:cNvSpPr>
            <a:spLocks noChangeArrowheads="1"/>
          </p:cNvSpPr>
          <p:nvPr/>
        </p:nvSpPr>
        <p:spPr bwMode="auto">
          <a:xfrm>
            <a:off x="4487862" y="4994275"/>
            <a:ext cx="525463" cy="558800"/>
          </a:xfrm>
          <a:prstGeom prst="ellipse">
            <a:avLst/>
          </a:prstGeom>
          <a:solidFill>
            <a:srgbClr val="99FF33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b="1"/>
              <a:t>C1</a:t>
            </a:r>
          </a:p>
        </p:txBody>
      </p:sp>
      <p:sp>
        <p:nvSpPr>
          <p:cNvPr id="675856" name="Oval 16"/>
          <p:cNvSpPr>
            <a:spLocks noChangeArrowheads="1"/>
          </p:cNvSpPr>
          <p:nvPr/>
        </p:nvSpPr>
        <p:spPr bwMode="auto">
          <a:xfrm>
            <a:off x="5735637" y="5133975"/>
            <a:ext cx="525463" cy="557212"/>
          </a:xfrm>
          <a:prstGeom prst="ellipse">
            <a:avLst/>
          </a:prstGeom>
          <a:solidFill>
            <a:srgbClr val="99FF33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b="1"/>
              <a:t>C3</a:t>
            </a:r>
          </a:p>
        </p:txBody>
      </p:sp>
      <p:sp>
        <p:nvSpPr>
          <p:cNvPr id="675857" name="Line 17"/>
          <p:cNvSpPr>
            <a:spLocks noChangeShapeType="1"/>
          </p:cNvSpPr>
          <p:nvPr/>
        </p:nvSpPr>
        <p:spPr bwMode="auto">
          <a:xfrm>
            <a:off x="3765550" y="4297362"/>
            <a:ext cx="1247775" cy="349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4" name="Group 3"/>
          <p:cNvGrpSpPr/>
          <p:nvPr/>
        </p:nvGrpSpPr>
        <p:grpSpPr>
          <a:xfrm>
            <a:off x="941387" y="4856162"/>
            <a:ext cx="1247775" cy="981075"/>
            <a:chOff x="941387" y="4856162"/>
            <a:chExt cx="1247775" cy="981075"/>
          </a:xfrm>
        </p:grpSpPr>
        <p:sp>
          <p:nvSpPr>
            <p:cNvPr id="675850" name="Oval 10"/>
            <p:cNvSpPr>
              <a:spLocks noChangeArrowheads="1"/>
            </p:cNvSpPr>
            <p:nvPr/>
          </p:nvSpPr>
          <p:spPr bwMode="auto">
            <a:xfrm>
              <a:off x="1663700" y="4856162"/>
              <a:ext cx="525462" cy="557213"/>
            </a:xfrm>
            <a:prstGeom prst="ellipse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/>
                <a:t>P1</a:t>
              </a:r>
            </a:p>
          </p:txBody>
        </p:sp>
        <p:sp>
          <p:nvSpPr>
            <p:cNvPr id="675858" name="Text Box 18"/>
            <p:cNvSpPr txBox="1">
              <a:spLocks noChangeArrowheads="1"/>
            </p:cNvSpPr>
            <p:nvPr/>
          </p:nvSpPr>
          <p:spPr bwMode="auto">
            <a:xfrm>
              <a:off x="941387" y="5483225"/>
              <a:ext cx="1203325" cy="354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Producers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013325" y="4576762"/>
            <a:ext cx="2774950" cy="1050925"/>
            <a:chOff x="5013325" y="4576762"/>
            <a:chExt cx="2774950" cy="1050925"/>
          </a:xfrm>
        </p:grpSpPr>
        <p:sp>
          <p:nvSpPr>
            <p:cNvPr id="675855" name="Oval 15"/>
            <p:cNvSpPr>
              <a:spLocks noChangeArrowheads="1"/>
            </p:cNvSpPr>
            <p:nvPr/>
          </p:nvSpPr>
          <p:spPr bwMode="auto">
            <a:xfrm>
              <a:off x="5013325" y="4576762"/>
              <a:ext cx="525462" cy="557213"/>
            </a:xfrm>
            <a:prstGeom prst="ellipse">
              <a:avLst/>
            </a:prstGeom>
            <a:solidFill>
              <a:srgbClr val="99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/>
                <a:t>C2</a:t>
              </a:r>
            </a:p>
          </p:txBody>
        </p:sp>
        <p:sp>
          <p:nvSpPr>
            <p:cNvPr id="675859" name="Text Box 19"/>
            <p:cNvSpPr txBox="1">
              <a:spLocks noChangeArrowheads="1"/>
            </p:cNvSpPr>
            <p:nvPr/>
          </p:nvSpPr>
          <p:spPr bwMode="auto">
            <a:xfrm>
              <a:off x="6457950" y="5273675"/>
              <a:ext cx="1330325" cy="354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/>
                <a:t>Consumers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254250" y="3810000"/>
            <a:ext cx="6324172" cy="417512"/>
            <a:chOff x="2254250" y="3810000"/>
            <a:chExt cx="6324172" cy="417512"/>
          </a:xfrm>
        </p:grpSpPr>
        <p:sp>
          <p:nvSpPr>
            <p:cNvPr id="675844" name="Rectangle 4"/>
            <p:cNvSpPr>
              <a:spLocks noChangeArrowheads="1"/>
            </p:cNvSpPr>
            <p:nvPr/>
          </p:nvSpPr>
          <p:spPr bwMode="auto">
            <a:xfrm>
              <a:off x="225425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5" name="Rectangle 5"/>
            <p:cNvSpPr>
              <a:spLocks noChangeArrowheads="1"/>
            </p:cNvSpPr>
            <p:nvPr/>
          </p:nvSpPr>
          <p:spPr bwMode="auto">
            <a:xfrm>
              <a:off x="277971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6" name="Rectangle 6"/>
            <p:cNvSpPr>
              <a:spLocks noChangeArrowheads="1"/>
            </p:cNvSpPr>
            <p:nvPr/>
          </p:nvSpPr>
          <p:spPr bwMode="auto">
            <a:xfrm>
              <a:off x="3305175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7" name="Rectangle 7"/>
            <p:cNvSpPr>
              <a:spLocks noChangeArrowheads="1"/>
            </p:cNvSpPr>
            <p:nvPr/>
          </p:nvSpPr>
          <p:spPr bwMode="auto">
            <a:xfrm>
              <a:off x="3830637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8" name="Rectangle 8"/>
            <p:cNvSpPr>
              <a:spLocks noChangeArrowheads="1"/>
            </p:cNvSpPr>
            <p:nvPr/>
          </p:nvSpPr>
          <p:spPr bwMode="auto">
            <a:xfrm>
              <a:off x="435610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9" name="Rectangle 9"/>
            <p:cNvSpPr>
              <a:spLocks noChangeArrowheads="1"/>
            </p:cNvSpPr>
            <p:nvPr/>
          </p:nvSpPr>
          <p:spPr bwMode="auto">
            <a:xfrm>
              <a:off x="488156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60" name="Text Box 20"/>
            <p:cNvSpPr txBox="1">
              <a:spLocks noChangeArrowheads="1"/>
            </p:cNvSpPr>
            <p:nvPr/>
          </p:nvSpPr>
          <p:spPr bwMode="auto">
            <a:xfrm>
              <a:off x="5867400" y="3810000"/>
              <a:ext cx="2711022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Bounded Buffer (max: </a:t>
              </a:r>
              <a:r>
                <a:rPr lang="en-US" altLang="en-US" b="1" dirty="0"/>
                <a:t>K</a:t>
              </a:r>
              <a:r>
                <a:rPr lang="en-US" altLang="en-US" dirty="0"/>
                <a:t>)</a:t>
              </a:r>
            </a:p>
          </p:txBody>
        </p:sp>
      </p:grpSp>
      <p:sp>
        <p:nvSpPr>
          <p:cNvPr id="675861" name="Line 21"/>
          <p:cNvSpPr>
            <a:spLocks noChangeShapeType="1"/>
          </p:cNvSpPr>
          <p:nvPr/>
        </p:nvSpPr>
        <p:spPr bwMode="auto">
          <a:xfrm flipV="1">
            <a:off x="2517775" y="4367212"/>
            <a:ext cx="65087" cy="9064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75862" name="Line 22"/>
          <p:cNvSpPr>
            <a:spLocks noChangeShapeType="1"/>
          </p:cNvSpPr>
          <p:nvPr/>
        </p:nvSpPr>
        <p:spPr bwMode="auto">
          <a:xfrm>
            <a:off x="2714625" y="4367212"/>
            <a:ext cx="1773237" cy="5572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5" name="Group 4"/>
          <p:cNvGrpSpPr/>
          <p:nvPr/>
        </p:nvGrpSpPr>
        <p:grpSpPr>
          <a:xfrm>
            <a:off x="2122487" y="3879850"/>
            <a:ext cx="1708150" cy="1044574"/>
            <a:chOff x="2122487" y="3879850"/>
            <a:chExt cx="1708150" cy="1044574"/>
          </a:xfrm>
        </p:grpSpPr>
        <p:sp>
          <p:nvSpPr>
            <p:cNvPr id="675853" name="Line 13"/>
            <p:cNvSpPr>
              <a:spLocks noChangeShapeType="1"/>
            </p:cNvSpPr>
            <p:nvPr/>
          </p:nvSpPr>
          <p:spPr bwMode="auto">
            <a:xfrm flipV="1">
              <a:off x="2122487" y="4297361"/>
              <a:ext cx="1314450" cy="6270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Rectangle 6"/>
            <p:cNvSpPr>
              <a:spLocks noChangeArrowheads="1"/>
            </p:cNvSpPr>
            <p:nvPr/>
          </p:nvSpPr>
          <p:spPr bwMode="auto">
            <a:xfrm>
              <a:off x="3305175" y="3879850"/>
              <a:ext cx="525462" cy="347662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2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2">
                    <a:lumMod val="40000"/>
                    <a:lumOff val="60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51" grpId="0" animBg="1"/>
      <p:bldP spid="675852" grpId="0" animBg="1"/>
      <p:bldP spid="675854" grpId="0" animBg="1"/>
      <p:bldP spid="675856" grpId="0" animBg="1"/>
      <p:bldP spid="675857" grpId="0" animBg="1"/>
      <p:bldP spid="675861" grpId="0" animBg="1"/>
      <p:bldP spid="67586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20" name="Text Box 8"/>
          <p:cNvSpPr txBox="1">
            <a:spLocks noChangeArrowheads="1"/>
          </p:cNvSpPr>
          <p:nvPr/>
        </p:nvSpPr>
        <p:spPr bwMode="auto">
          <a:xfrm>
            <a:off x="4648200" y="2364815"/>
            <a:ext cx="4038600" cy="39764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(TRUE) {</a:t>
            </a:r>
            <a:r>
              <a:rPr lang="en-US" altLang="en-US" i="1" dirty="0">
                <a:latin typeface="Courier New" pitchFamily="49" charset="0"/>
                <a:cs typeface="Courier New" panose="02070309020205020404" pitchFamily="49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(!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  <a:cs typeface="Courier New" panose="02070309020205020404" pitchFamily="49" charset="0"/>
              </a:rPr>
              <a:t>canConsume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if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(count &gt; 0)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item = buffer[out];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out = (out+1) % K;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count--;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b="1" dirty="0" err="1">
                <a:solidFill>
                  <a:schemeClr val="tx2"/>
                </a:solidFill>
                <a:latin typeface="Courier New" pitchFamily="49" charset="0"/>
                <a:cs typeface="Courier New" panose="02070309020205020404" pitchFamily="49" charset="0"/>
              </a:rPr>
              <a:t>canProduce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= TRUE;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} </a:t>
            </a: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  <a:cs typeface="Courier New" panose="02070309020205020404" pitchFamily="49" charset="0"/>
              </a:rPr>
              <a:t>canConsume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= FALSE;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(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anose="02070309020205020404" pitchFamily="49" charset="0"/>
              </a:rPr>
              <a:t>Consume Item;</a:t>
            </a:r>
            <a:endParaRPr lang="en-US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  <a:cs typeface="Courier New" panose="02070309020205020404" pitchFamily="49" charset="0"/>
            </a:endParaRPr>
          </a:p>
        </p:txBody>
      </p:sp>
      <p:sp>
        <p:nvSpPr>
          <p:cNvPr id="704517" name="Text Box 5"/>
          <p:cNvSpPr txBox="1">
            <a:spLocks noChangeArrowheads="1"/>
          </p:cNvSpPr>
          <p:nvPr/>
        </p:nvSpPr>
        <p:spPr bwMode="auto">
          <a:xfrm>
            <a:off x="242751" y="2351293"/>
            <a:ext cx="4090468" cy="4007251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anose="02070309020205020404" pitchFamily="49" charset="0"/>
              </a:rPr>
              <a:t>Produce Item;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(!</a:t>
            </a:r>
            <a:r>
              <a:rPr lang="en-US" altLang="en-US" b="1" dirty="0" err="1">
                <a:solidFill>
                  <a:srgbClr val="003300"/>
                </a:solidFill>
                <a:latin typeface="Courier New" pitchFamily="49" charset="0"/>
                <a:cs typeface="Courier New" panose="02070309020205020404" pitchFamily="49" charset="0"/>
              </a:rPr>
              <a:t>canProduce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if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(count &lt; K)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 buffer[in] = item;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 in = (in+1) % K;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count++;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  <a:cs typeface="Courier New" panose="02070309020205020404" pitchFamily="49" charset="0"/>
              </a:rPr>
              <a:t>canConsume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= TRUE;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} </a:t>
            </a: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 err="1">
                <a:solidFill>
                  <a:srgbClr val="003300"/>
                </a:solidFill>
                <a:latin typeface="Courier New" pitchFamily="49" charset="0"/>
                <a:cs typeface="Courier New" panose="02070309020205020404" pitchFamily="49" charset="0"/>
              </a:rPr>
              <a:t>canProduce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= FALSE;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  <a:cs typeface="Courier New" panose="02070309020205020404" pitchFamily="49" charset="0"/>
            </a:endParaRPr>
          </a:p>
        </p:txBody>
      </p:sp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32889" y="188688"/>
            <a:ext cx="8229600" cy="712787"/>
          </a:xfrm>
        </p:spPr>
        <p:txBody>
          <a:bodyPr/>
          <a:lstStyle/>
          <a:p>
            <a:r>
              <a:rPr lang="en-US" altLang="en-US" sz="3800" dirty="0"/>
              <a:t>Producer Consumer: </a:t>
            </a:r>
            <a:r>
              <a:rPr lang="en-US" altLang="en-US" sz="3800" b="1" dirty="0">
                <a:solidFill>
                  <a:srgbClr val="C00000"/>
                </a:solidFill>
              </a:rPr>
              <a:t>Busy Waiting</a:t>
            </a:r>
          </a:p>
        </p:txBody>
      </p:sp>
      <p:sp>
        <p:nvSpPr>
          <p:cNvPr id="704518" name="Text Box 6"/>
          <p:cNvSpPr txBox="1">
            <a:spLocks noChangeArrowheads="1"/>
          </p:cNvSpPr>
          <p:nvPr/>
        </p:nvSpPr>
        <p:spPr bwMode="auto">
          <a:xfrm>
            <a:off x="2819400" y="6098615"/>
            <a:ext cx="14097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Producer</a:t>
            </a:r>
          </a:p>
        </p:txBody>
      </p:sp>
      <p:sp>
        <p:nvSpPr>
          <p:cNvPr id="704521" name="Text Box 9"/>
          <p:cNvSpPr txBox="1">
            <a:spLocks noChangeArrowheads="1"/>
          </p:cNvSpPr>
          <p:nvPr/>
        </p:nvSpPr>
        <p:spPr bwMode="auto">
          <a:xfrm>
            <a:off x="7239000" y="6098615"/>
            <a:ext cx="1371600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Consumer</a:t>
            </a:r>
          </a:p>
        </p:txBody>
      </p:sp>
      <p:grpSp>
        <p:nvGrpSpPr>
          <p:cNvPr id="11" name="Group 22"/>
          <p:cNvGrpSpPr>
            <a:grpSpLocks/>
          </p:cNvGrpSpPr>
          <p:nvPr/>
        </p:nvGrpSpPr>
        <p:grpSpPr bwMode="auto">
          <a:xfrm>
            <a:off x="661851" y="1035125"/>
            <a:ext cx="1600200" cy="1143000"/>
            <a:chOff x="1872" y="624"/>
            <a:chExt cx="1008" cy="720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2400" y="864"/>
              <a:ext cx="480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1872" y="86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>
                  <a:latin typeface="Courier New" panose="02070309020205020404" pitchFamily="49" charset="0"/>
                </a:rPr>
                <a:t>in</a:t>
              </a:r>
            </a:p>
          </p:txBody>
        </p:sp>
        <p:sp>
          <p:nvSpPr>
            <p:cNvPr id="14" name="Rectangle 17"/>
            <p:cNvSpPr>
              <a:spLocks noChangeArrowheads="1"/>
            </p:cNvSpPr>
            <p:nvPr/>
          </p:nvSpPr>
          <p:spPr bwMode="auto">
            <a:xfrm>
              <a:off x="2400" y="1104"/>
              <a:ext cx="480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18"/>
            <p:cNvSpPr>
              <a:spLocks noChangeArrowheads="1"/>
            </p:cNvSpPr>
            <p:nvPr/>
          </p:nvSpPr>
          <p:spPr bwMode="auto">
            <a:xfrm>
              <a:off x="1872" y="110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>
                  <a:latin typeface="Courier New" panose="02070309020205020404" pitchFamily="49" charset="0"/>
                </a:rPr>
                <a:t>out</a:t>
              </a:r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2400" y="624"/>
              <a:ext cx="480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1872" y="62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anose="02070309020205020404" pitchFamily="49" charset="0"/>
                </a:rPr>
                <a:t>count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77889" y="1365150"/>
            <a:ext cx="3579222" cy="859765"/>
            <a:chOff x="4191000" y="3425284"/>
            <a:chExt cx="3579222" cy="1379217"/>
          </a:xfrm>
        </p:grpSpPr>
        <p:sp>
          <p:nvSpPr>
            <p:cNvPr id="19" name="Rounded Rectangle 18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6671731" y="3425284"/>
              <a:ext cx="1098491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Mutex</a:t>
              </a:r>
              <a:endParaRPr lang="en-US" altLang="en-US" b="1" dirty="0"/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" name="Group 22"/>
          <p:cNvGrpSpPr>
            <a:grpSpLocks/>
          </p:cNvGrpSpPr>
          <p:nvPr/>
        </p:nvGrpSpPr>
        <p:grpSpPr bwMode="auto">
          <a:xfrm>
            <a:off x="2948940" y="1414033"/>
            <a:ext cx="1600200" cy="762000"/>
            <a:chOff x="1872" y="864"/>
            <a:chExt cx="1008" cy="480"/>
          </a:xfrm>
        </p:grpSpPr>
        <p:sp>
          <p:nvSpPr>
            <p:cNvPr id="24" name="Rectangle 14"/>
            <p:cNvSpPr>
              <a:spLocks noChangeArrowheads="1"/>
            </p:cNvSpPr>
            <p:nvPr/>
          </p:nvSpPr>
          <p:spPr bwMode="auto">
            <a:xfrm>
              <a:off x="2400" y="864"/>
              <a:ext cx="480" cy="2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1872" y="86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 err="1">
                  <a:latin typeface="Courier New" panose="02070309020205020404" pitchFamily="49" charset="0"/>
                </a:rPr>
                <a:t>canProd</a:t>
              </a:r>
              <a:endParaRPr lang="en-US" altLang="en-US" sz="2400" b="1" dirty="0">
                <a:latin typeface="Courier New" panose="02070309020205020404" pitchFamily="49" charset="0"/>
              </a:endParaRPr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2400" y="1104"/>
              <a:ext cx="480" cy="2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1872" y="110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 err="1">
                  <a:latin typeface="Courier New" panose="02070309020205020404" pitchFamily="49" charset="0"/>
                </a:rPr>
                <a:t>canCons</a:t>
              </a:r>
              <a:endParaRPr lang="en-US" altLang="en-US" sz="24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26</a:t>
            </a:fld>
            <a:endParaRPr lang="en-US" altLang="en-US"/>
          </a:p>
        </p:txBody>
      </p:sp>
      <p:sp>
        <p:nvSpPr>
          <p:cNvPr id="2" name="Rectangle 1"/>
          <p:cNvSpPr/>
          <p:nvPr/>
        </p:nvSpPr>
        <p:spPr>
          <a:xfrm>
            <a:off x="-242" y="2324665"/>
            <a:ext cx="8839200" cy="4235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8" name="Group 27"/>
          <p:cNvGrpSpPr/>
          <p:nvPr/>
        </p:nvGrpSpPr>
        <p:grpSpPr>
          <a:xfrm>
            <a:off x="215636" y="2347018"/>
            <a:ext cx="4117583" cy="2806922"/>
            <a:chOff x="259684" y="3751600"/>
            <a:chExt cx="4038600" cy="2806922"/>
          </a:xfrm>
        </p:grpSpPr>
        <p:sp>
          <p:nvSpPr>
            <p:cNvPr id="29" name="Text Box 5"/>
            <p:cNvSpPr txBox="1">
              <a:spLocks noChangeArrowheads="1"/>
            </p:cNvSpPr>
            <p:nvPr/>
          </p:nvSpPr>
          <p:spPr bwMode="auto">
            <a:xfrm>
              <a:off x="259684" y="3751600"/>
              <a:ext cx="4038600" cy="280692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solidFill>
                    <a:srgbClr val="660066"/>
                  </a:solidFill>
                  <a:latin typeface="Courier New" pitchFamily="49" charset="0"/>
                  <a:cs typeface="Courier New" panose="02070309020205020404" pitchFamily="49" charset="0"/>
                </a:rPr>
                <a:t>while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(</a:t>
              </a:r>
              <a:r>
                <a:rPr lang="en-US" altLang="en-US" b="1" dirty="0">
                  <a:solidFill>
                    <a:srgbClr val="0070C0"/>
                  </a:solidFill>
                  <a:latin typeface="Courier New" pitchFamily="49" charset="0"/>
                  <a:cs typeface="Courier New" panose="02070309020205020404" pitchFamily="49" charset="0"/>
                </a:rPr>
                <a:t>TRUE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) {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endParaRPr lang="en-US" altLang="en-US" b="1" dirty="0">
                <a:latin typeface="Courier New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Produce Item;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en-US" b="1" dirty="0">
                  <a:solidFill>
                    <a:srgbClr val="660066"/>
                  </a:solidFill>
                  <a:latin typeface="Courier New" pitchFamily="49" charset="0"/>
                  <a:cs typeface="Courier New" panose="02070309020205020404" pitchFamily="49" charset="0"/>
                </a:rPr>
                <a:t>if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(count &lt; K) {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   buffer[in] = item;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   in = (in+1) % K;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	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count++;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endParaRPr lang="en-US" altLang="en-US" b="1" dirty="0">
                <a:latin typeface="Courier New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30" name="Text Box 6"/>
            <p:cNvSpPr txBox="1">
              <a:spLocks noChangeArrowheads="1"/>
            </p:cNvSpPr>
            <p:nvPr/>
          </p:nvSpPr>
          <p:spPr bwMode="auto">
            <a:xfrm>
              <a:off x="2819400" y="6095471"/>
              <a:ext cx="1409700" cy="3762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Producer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638020" y="2347018"/>
            <a:ext cx="4038600" cy="2837700"/>
            <a:chOff x="4682067" y="3751600"/>
            <a:chExt cx="4038600" cy="2837700"/>
          </a:xfrm>
        </p:grpSpPr>
        <p:sp>
          <p:nvSpPr>
            <p:cNvPr id="32" name="Text Box 8"/>
            <p:cNvSpPr txBox="1">
              <a:spLocks noChangeArrowheads="1"/>
            </p:cNvSpPr>
            <p:nvPr/>
          </p:nvSpPr>
          <p:spPr bwMode="auto">
            <a:xfrm>
              <a:off x="4682067" y="3751600"/>
              <a:ext cx="4038600" cy="283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solidFill>
                    <a:srgbClr val="660066"/>
                  </a:solidFill>
                  <a:latin typeface="Courier New" pitchFamily="49" charset="0"/>
                  <a:cs typeface="Courier New" panose="02070309020205020404" pitchFamily="49" charset="0"/>
                </a:rPr>
                <a:t>while</a:t>
              </a:r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</a:t>
              </a:r>
              <a:r>
                <a:rPr lang="en-US" altLang="en-US" b="1" dirty="0">
                  <a:solidFill>
                    <a:srgbClr val="0070C0"/>
                  </a:solidFill>
                  <a:latin typeface="Courier New" pitchFamily="49" charset="0"/>
                  <a:cs typeface="Courier New" panose="02070309020205020404" pitchFamily="49" charset="0"/>
                </a:rPr>
                <a:t>TRUE</a:t>
              </a:r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{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	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</a:t>
              </a:r>
              <a:r>
                <a:rPr lang="en-US" altLang="en-US" b="1" dirty="0">
                  <a:solidFill>
                    <a:srgbClr val="660066"/>
                  </a:solidFill>
                  <a:latin typeface="Courier New" pitchFamily="49" charset="0"/>
                  <a:cs typeface="Courier New" panose="02070309020205020404" pitchFamily="49" charset="0"/>
                </a:rPr>
                <a:t>if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(count &gt; 0) {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  item = buffer[out];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  out = (out+1) % K;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      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count--;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endPara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Consume Item;</a:t>
              </a:r>
              <a:endParaRPr lang="en-US" altLang="en-US" b="1" dirty="0">
                <a:latin typeface="Courier New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33" name="Text Box 9"/>
            <p:cNvSpPr txBox="1">
              <a:spLocks noChangeArrowheads="1"/>
            </p:cNvSpPr>
            <p:nvPr/>
          </p:nvSpPr>
          <p:spPr bwMode="auto">
            <a:xfrm>
              <a:off x="7239000" y="6143626"/>
              <a:ext cx="1371600" cy="3762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Consumer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171964" y="946423"/>
            <a:ext cx="4799403" cy="358602"/>
            <a:chOff x="2254250" y="3873500"/>
            <a:chExt cx="4799403" cy="358602"/>
          </a:xfrm>
        </p:grpSpPr>
        <p:sp>
          <p:nvSpPr>
            <p:cNvPr id="35" name="Rectangle 4"/>
            <p:cNvSpPr>
              <a:spLocks noChangeArrowheads="1"/>
            </p:cNvSpPr>
            <p:nvPr/>
          </p:nvSpPr>
          <p:spPr bwMode="auto">
            <a:xfrm>
              <a:off x="225425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6" name="Rectangle 5"/>
            <p:cNvSpPr>
              <a:spLocks noChangeArrowheads="1"/>
            </p:cNvSpPr>
            <p:nvPr/>
          </p:nvSpPr>
          <p:spPr bwMode="auto">
            <a:xfrm>
              <a:off x="277971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7" name="Rectangle 6"/>
            <p:cNvSpPr>
              <a:spLocks noChangeArrowheads="1"/>
            </p:cNvSpPr>
            <p:nvPr/>
          </p:nvSpPr>
          <p:spPr bwMode="auto">
            <a:xfrm>
              <a:off x="3305175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8" name="Rectangle 7"/>
            <p:cNvSpPr>
              <a:spLocks noChangeArrowheads="1"/>
            </p:cNvSpPr>
            <p:nvPr/>
          </p:nvSpPr>
          <p:spPr bwMode="auto">
            <a:xfrm>
              <a:off x="3830637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9" name="Rectangle 8"/>
            <p:cNvSpPr>
              <a:spLocks noChangeArrowheads="1"/>
            </p:cNvSpPr>
            <p:nvPr/>
          </p:nvSpPr>
          <p:spPr bwMode="auto">
            <a:xfrm>
              <a:off x="435610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0" name="Rectangle 9"/>
            <p:cNvSpPr>
              <a:spLocks noChangeArrowheads="1"/>
            </p:cNvSpPr>
            <p:nvPr/>
          </p:nvSpPr>
          <p:spPr bwMode="auto">
            <a:xfrm>
              <a:off x="488156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1" name="Text Box 20"/>
            <p:cNvSpPr txBox="1">
              <a:spLocks noChangeArrowheads="1"/>
            </p:cNvSpPr>
            <p:nvPr/>
          </p:nvSpPr>
          <p:spPr bwMode="auto">
            <a:xfrm>
              <a:off x="5407025" y="3873500"/>
              <a:ext cx="1646628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Buffer (max </a:t>
              </a:r>
              <a:r>
                <a:rPr lang="en-US" altLang="en-US" b="1" dirty="0">
                  <a:solidFill>
                    <a:srgbClr val="C00000"/>
                  </a:solidFill>
                </a:rPr>
                <a:t>K</a:t>
              </a:r>
              <a:r>
                <a:rPr lang="en-US" altLang="en-US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863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Producer Consumer: </a:t>
            </a:r>
            <a:r>
              <a:rPr lang="en-US" altLang="en-US" sz="3800" b="1" dirty="0">
                <a:solidFill>
                  <a:srgbClr val="C00000"/>
                </a:solidFill>
              </a:rPr>
              <a:t>Busy Waiting</a:t>
            </a:r>
          </a:p>
        </p:txBody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b="1" dirty="0" err="1">
                <a:solidFill>
                  <a:srgbClr val="0033CC"/>
                </a:solidFill>
                <a:latin typeface="Courier New" pitchFamily="49" charset="0"/>
              </a:rPr>
              <a:t>canConsume</a:t>
            </a:r>
            <a:r>
              <a:rPr lang="en-US" altLang="en-US" sz="2600" dirty="0"/>
              <a:t>: </a:t>
            </a:r>
          </a:p>
          <a:p>
            <a:pPr lvl="1"/>
            <a:r>
              <a:rPr lang="en-US" altLang="en-US" sz="2200" dirty="0"/>
              <a:t>Triggers consumer to </a:t>
            </a:r>
            <a:r>
              <a:rPr lang="en-US" altLang="en-US" sz="2200" i="1" dirty="0"/>
              <a:t>try </a:t>
            </a:r>
            <a:r>
              <a:rPr lang="en-US" altLang="en-US" sz="2200" dirty="0"/>
              <a:t>to get item</a:t>
            </a:r>
          </a:p>
          <a:p>
            <a:r>
              <a:rPr lang="en-US" altLang="en-US" sz="2400" b="1" dirty="0" err="1">
                <a:solidFill>
                  <a:schemeClr val="tx2"/>
                </a:solidFill>
                <a:latin typeface="Courier New" pitchFamily="49" charset="0"/>
              </a:rPr>
              <a:t>canProduce</a:t>
            </a:r>
            <a:r>
              <a:rPr lang="en-US" altLang="en-US" sz="2600" dirty="0"/>
              <a:t>: </a:t>
            </a:r>
          </a:p>
          <a:p>
            <a:pPr lvl="1"/>
            <a:r>
              <a:rPr lang="en-US" altLang="en-US" sz="2200" dirty="0"/>
              <a:t>Triggers producer to </a:t>
            </a:r>
            <a:r>
              <a:rPr lang="en-US" altLang="en-US" sz="2200" i="1" dirty="0"/>
              <a:t>try </a:t>
            </a:r>
            <a:r>
              <a:rPr lang="en-US" altLang="en-US" sz="2200" dirty="0"/>
              <a:t>to produce item</a:t>
            </a:r>
          </a:p>
          <a:p>
            <a:endParaRPr lang="en-US" altLang="en-US" sz="2400" b="1" dirty="0">
              <a:solidFill>
                <a:srgbClr val="9900CC"/>
              </a:solidFill>
              <a:latin typeface="Courier New" pitchFamily="49" charset="0"/>
            </a:endParaRPr>
          </a:p>
          <a:p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wait(</a:t>
            </a:r>
            <a:r>
              <a:rPr lang="en-US" altLang="en-US" sz="2400" b="1" dirty="0" err="1">
                <a:solidFill>
                  <a:srgbClr val="9900CC"/>
                </a:solidFill>
                <a:latin typeface="Courier New" pitchFamily="49" charset="0"/>
              </a:rPr>
              <a:t>mutex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) + signal(</a:t>
            </a:r>
            <a:r>
              <a:rPr lang="en-US" altLang="en-US" sz="2400" b="1" dirty="0" err="1">
                <a:solidFill>
                  <a:srgbClr val="9900CC"/>
                </a:solidFill>
                <a:latin typeface="Courier New" pitchFamily="49" charset="0"/>
              </a:rPr>
              <a:t>mutex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)</a:t>
            </a:r>
            <a:r>
              <a:rPr lang="en-US" altLang="en-US" sz="2600" dirty="0"/>
              <a:t> : Creates a CS</a:t>
            </a:r>
          </a:p>
          <a:p>
            <a:r>
              <a:rPr lang="en-US" altLang="en-US" sz="2400" b="1" dirty="0">
                <a:solidFill>
                  <a:srgbClr val="003300"/>
                </a:solidFill>
                <a:latin typeface="Courier New" pitchFamily="49" charset="0"/>
              </a:rPr>
              <a:t>in  = (in+1) % K</a:t>
            </a:r>
            <a:r>
              <a:rPr lang="en-US" altLang="en-US" sz="2600" dirty="0">
                <a:solidFill>
                  <a:srgbClr val="003300"/>
                </a:solidFill>
              </a:rPr>
              <a:t>  </a:t>
            </a:r>
            <a:r>
              <a:rPr lang="en-US" altLang="en-US" sz="2600" dirty="0"/>
              <a:t>: </a:t>
            </a:r>
          </a:p>
          <a:p>
            <a:pPr>
              <a:buNone/>
            </a:pPr>
            <a:r>
              <a:rPr lang="en-US" altLang="en-US" sz="2600" dirty="0"/>
              <a:t>    </a:t>
            </a:r>
            <a:r>
              <a:rPr lang="en-US" altLang="en-US" sz="2400" b="1" dirty="0">
                <a:solidFill>
                  <a:srgbClr val="003300"/>
                </a:solidFill>
                <a:latin typeface="Courier New" pitchFamily="49" charset="0"/>
              </a:rPr>
              <a:t>out = (out+1)% K</a:t>
            </a:r>
            <a:r>
              <a:rPr lang="en-US" altLang="en-US" sz="2600" dirty="0">
                <a:solidFill>
                  <a:srgbClr val="003300"/>
                </a:solidFill>
              </a:rPr>
              <a:t>  </a:t>
            </a:r>
            <a:r>
              <a:rPr lang="en-US" altLang="en-US" sz="2600" dirty="0"/>
              <a:t>: Wraps around, circular array</a:t>
            </a:r>
          </a:p>
          <a:p>
            <a:pPr>
              <a:buNone/>
            </a:pPr>
            <a:endParaRPr lang="en-US" altLang="en-US" sz="2600" i="1" dirty="0"/>
          </a:p>
          <a:p>
            <a:r>
              <a:rPr lang="en-US" altLang="en-US" sz="2600" dirty="0"/>
              <a:t>Evaluation:</a:t>
            </a:r>
          </a:p>
          <a:p>
            <a:pPr lvl="1"/>
            <a:r>
              <a:rPr lang="en-US" altLang="en-US" sz="2200" dirty="0"/>
              <a:t>The code </a:t>
            </a:r>
            <a:r>
              <a:rPr lang="en-US" altLang="en-US" sz="2200" b="1" dirty="0"/>
              <a:t>correctly solve </a:t>
            </a:r>
            <a:r>
              <a:rPr lang="en-US" altLang="en-US" sz="2200" dirty="0"/>
              <a:t>the problem</a:t>
            </a:r>
          </a:p>
          <a:p>
            <a:pPr lvl="1"/>
            <a:r>
              <a:rPr lang="en-US" altLang="en-US" sz="2200" dirty="0"/>
              <a:t>However, </a:t>
            </a:r>
            <a:r>
              <a:rPr lang="en-US" altLang="en-US" sz="2200" b="1" dirty="0"/>
              <a:t>busy-waiting </a:t>
            </a:r>
            <a:r>
              <a:rPr lang="en-US" altLang="en-US" sz="2200" dirty="0"/>
              <a:t>is used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Producer Consumer: </a:t>
            </a:r>
            <a:r>
              <a:rPr lang="en-US" altLang="en-US" sz="3800" b="1" dirty="0">
                <a:solidFill>
                  <a:srgbClr val="C00000"/>
                </a:solidFill>
              </a:rPr>
              <a:t>Blocking Version</a:t>
            </a:r>
          </a:p>
        </p:txBody>
      </p:sp>
      <p:sp>
        <p:nvSpPr>
          <p:cNvPr id="708612" name="Text Box 4"/>
          <p:cNvSpPr txBox="1">
            <a:spLocks noChangeArrowheads="1"/>
          </p:cNvSpPr>
          <p:nvPr/>
        </p:nvSpPr>
        <p:spPr bwMode="auto">
          <a:xfrm>
            <a:off x="381000" y="2731180"/>
            <a:ext cx="4038600" cy="372745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while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b="1" i="1" dirty="0">
                <a:latin typeface="Courier New" pitchFamily="49" charset="0"/>
              </a:rPr>
              <a:t>Produce Item;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notFull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buffer[in] = item;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in = (in+1) % K;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count++;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notEmpty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708613" name="Text Box 5"/>
          <p:cNvSpPr txBox="1">
            <a:spLocks noChangeArrowheads="1"/>
          </p:cNvSpPr>
          <p:nvPr/>
        </p:nvSpPr>
        <p:spPr bwMode="auto">
          <a:xfrm>
            <a:off x="3200400" y="6007780"/>
            <a:ext cx="11430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Producer</a:t>
            </a:r>
            <a:endParaRPr lang="en-US" altLang="en-US" b="1" dirty="0"/>
          </a:p>
        </p:txBody>
      </p:sp>
      <p:sp>
        <p:nvSpPr>
          <p:cNvPr id="708614" name="Text Box 6"/>
          <p:cNvSpPr txBox="1">
            <a:spLocks noChangeArrowheads="1"/>
          </p:cNvSpPr>
          <p:nvPr/>
        </p:nvSpPr>
        <p:spPr bwMode="auto">
          <a:xfrm>
            <a:off x="4800600" y="2731180"/>
            <a:ext cx="4038600" cy="3757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while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notEmpty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item = buffer[out];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out = (out+1) % K;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count--;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dirty="0">
                <a:solidFill>
                  <a:schemeClr val="tx2"/>
                </a:solidFill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notFull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2000" b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b="1" i="1" dirty="0">
                <a:latin typeface="Courier New" pitchFamily="49" charset="0"/>
              </a:rPr>
              <a:t>Consume Item;</a:t>
            </a:r>
            <a:endParaRPr lang="en-US" altLang="en-US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708615" name="Text Box 7"/>
          <p:cNvSpPr txBox="1">
            <a:spLocks noChangeArrowheads="1"/>
          </p:cNvSpPr>
          <p:nvPr/>
        </p:nvSpPr>
        <p:spPr bwMode="auto">
          <a:xfrm>
            <a:off x="7391400" y="6007780"/>
            <a:ext cx="1371600" cy="36933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Consumer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457200" y="1040379"/>
            <a:ext cx="2287089" cy="859765"/>
            <a:chOff x="4191000" y="3425284"/>
            <a:chExt cx="3579222" cy="1379217"/>
          </a:xfrm>
        </p:grpSpPr>
        <p:sp>
          <p:nvSpPr>
            <p:cNvPr id="17" name="Rounded Rectangle 16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6468819" y="3425284"/>
              <a:ext cx="1301403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mutex</a:t>
              </a:r>
              <a:endParaRPr lang="en-US" altLang="en-US" b="1" dirty="0"/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76055" y="1051265"/>
            <a:ext cx="2287089" cy="859765"/>
            <a:chOff x="4191000" y="3425284"/>
            <a:chExt cx="3579222" cy="1379217"/>
          </a:xfrm>
        </p:grpSpPr>
        <p:sp>
          <p:nvSpPr>
            <p:cNvPr id="22" name="Rounded Rectangle 21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10"/>
            <p:cNvSpPr>
              <a:spLocks noChangeArrowheads="1"/>
            </p:cNvSpPr>
            <p:nvPr/>
          </p:nvSpPr>
          <p:spPr bwMode="auto">
            <a:xfrm>
              <a:off x="6730127" y="3425284"/>
              <a:ext cx="1040095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!Full</a:t>
              </a:r>
            </a:p>
          </p:txBody>
        </p:sp>
        <p:sp>
          <p:nvSpPr>
            <p:cNvPr id="24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5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067118" y="1039685"/>
            <a:ext cx="2287089" cy="859765"/>
            <a:chOff x="4191000" y="3425284"/>
            <a:chExt cx="3579222" cy="1379217"/>
          </a:xfrm>
        </p:grpSpPr>
        <p:sp>
          <p:nvSpPr>
            <p:cNvPr id="27" name="Rounded Rectangle 26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10"/>
            <p:cNvSpPr>
              <a:spLocks noChangeArrowheads="1"/>
            </p:cNvSpPr>
            <p:nvPr/>
          </p:nvSpPr>
          <p:spPr bwMode="auto">
            <a:xfrm>
              <a:off x="6382710" y="3425284"/>
              <a:ext cx="1387512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!Empty</a:t>
              </a: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28</a:t>
            </a:fld>
            <a:endParaRPr lang="en-US" altLang="en-US"/>
          </a:p>
        </p:txBody>
      </p:sp>
      <p:grpSp>
        <p:nvGrpSpPr>
          <p:cNvPr id="31" name="Group 30"/>
          <p:cNvGrpSpPr/>
          <p:nvPr/>
        </p:nvGrpSpPr>
        <p:grpSpPr>
          <a:xfrm>
            <a:off x="2501529" y="2122131"/>
            <a:ext cx="4655045" cy="365481"/>
            <a:chOff x="2254250" y="3879850"/>
            <a:chExt cx="4655045" cy="365481"/>
          </a:xfrm>
        </p:grpSpPr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225425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3" name="Rectangle 5"/>
            <p:cNvSpPr>
              <a:spLocks noChangeArrowheads="1"/>
            </p:cNvSpPr>
            <p:nvPr/>
          </p:nvSpPr>
          <p:spPr bwMode="auto">
            <a:xfrm>
              <a:off x="277971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3305175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5" name="Rectangle 7"/>
            <p:cNvSpPr>
              <a:spLocks noChangeArrowheads="1"/>
            </p:cNvSpPr>
            <p:nvPr/>
          </p:nvSpPr>
          <p:spPr bwMode="auto">
            <a:xfrm>
              <a:off x="3830637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4397046" y="3886729"/>
              <a:ext cx="2512249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Example Buffer (</a:t>
              </a:r>
              <a:r>
                <a:rPr lang="en-US" altLang="en-US" b="1" dirty="0">
                  <a:solidFill>
                    <a:srgbClr val="C00000"/>
                  </a:solidFill>
                </a:rPr>
                <a:t>K = 4</a:t>
              </a:r>
              <a:r>
                <a:rPr lang="en-US" altLang="en-US" dirty="0"/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Producer Consumer: </a:t>
            </a:r>
            <a:r>
              <a:rPr lang="en-US" altLang="en-US" sz="3800" b="1" dirty="0">
                <a:solidFill>
                  <a:srgbClr val="C00000"/>
                </a:solidFill>
              </a:rPr>
              <a:t>Blocking Version</a:t>
            </a:r>
          </a:p>
        </p:txBody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b="1">
                <a:solidFill>
                  <a:schemeClr val="tx2"/>
                </a:solidFill>
                <a:latin typeface="Courier New" pitchFamily="49" charset="0"/>
              </a:rPr>
              <a:t>wait( notFull )</a:t>
            </a:r>
            <a:r>
              <a:rPr lang="en-US" altLang="en-US" sz="2600"/>
              <a:t> : Forces producers to go to sleep</a:t>
            </a:r>
          </a:p>
          <a:p>
            <a:r>
              <a:rPr lang="en-US" altLang="en-US" sz="2400" b="1">
                <a:solidFill>
                  <a:srgbClr val="0033CC"/>
                </a:solidFill>
                <a:latin typeface="Courier New" pitchFamily="49" charset="0"/>
              </a:rPr>
              <a:t>wait( notEmpty )</a:t>
            </a:r>
            <a:r>
              <a:rPr lang="en-US" altLang="en-US" sz="2600"/>
              <a:t> : Forces consumers to go to sleep</a:t>
            </a:r>
          </a:p>
          <a:p>
            <a:r>
              <a:rPr lang="en-US" altLang="en-US" sz="2400" b="1">
                <a:solidFill>
                  <a:schemeClr val="tx2"/>
                </a:solidFill>
                <a:latin typeface="Courier New" pitchFamily="49" charset="0"/>
              </a:rPr>
              <a:t>signal( notFull )</a:t>
            </a:r>
            <a:r>
              <a:rPr lang="en-US" altLang="en-US" sz="2600"/>
              <a:t> : 1 consumer wakes up 1 producer</a:t>
            </a:r>
          </a:p>
          <a:p>
            <a:r>
              <a:rPr lang="en-US" altLang="en-US" sz="2400" b="1">
                <a:solidFill>
                  <a:srgbClr val="0033CC"/>
                </a:solidFill>
                <a:latin typeface="Courier New" pitchFamily="49" charset="0"/>
              </a:rPr>
              <a:t>signal( notEmpty )</a:t>
            </a:r>
            <a:r>
              <a:rPr lang="en-US" altLang="en-US" sz="2600"/>
              <a:t> : 1 producer wakes up 1 consumer</a:t>
            </a:r>
          </a:p>
          <a:p>
            <a:pPr>
              <a:buFont typeface="Wingdings" pitchFamily="2" charset="2"/>
              <a:buNone/>
            </a:pPr>
            <a:endParaRPr lang="en-US" altLang="en-US" sz="2600"/>
          </a:p>
          <a:p>
            <a:r>
              <a:rPr lang="en-US" altLang="en-US" sz="2600"/>
              <a:t>Evaluation:</a:t>
            </a:r>
          </a:p>
          <a:p>
            <a:pPr lvl="1"/>
            <a:r>
              <a:rPr lang="en-US" altLang="en-US" sz="2200"/>
              <a:t>This code correctly solve the problem</a:t>
            </a:r>
          </a:p>
          <a:p>
            <a:pPr lvl="1"/>
            <a:r>
              <a:rPr lang="en-US" altLang="en-US" sz="2200"/>
              <a:t>No busy-waiting, “unwanted” producer/consumer will go to sleep on respective semaphores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Readers Writers</a:t>
            </a:r>
            <a:r>
              <a:rPr lang="en-US" dirty="0"/>
              <a:t>: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2712720"/>
          </a:xfrm>
        </p:spPr>
        <p:txBody>
          <a:bodyPr/>
          <a:lstStyle/>
          <a:p>
            <a:r>
              <a:rPr lang="en-US" dirty="0"/>
              <a:t>Processes share a data structure </a:t>
            </a:r>
            <a:r>
              <a:rPr lang="en-US" b="1" dirty="0"/>
              <a:t>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Reader: </a:t>
            </a:r>
            <a:r>
              <a:rPr lang="en-US" b="1" dirty="0">
                <a:solidFill>
                  <a:srgbClr val="003300"/>
                </a:solidFill>
              </a:rPr>
              <a:t>Retrieves</a:t>
            </a:r>
            <a:r>
              <a:rPr lang="en-US" b="1" dirty="0"/>
              <a:t> </a:t>
            </a:r>
            <a:r>
              <a:rPr lang="en-US" dirty="0"/>
              <a:t>information from </a:t>
            </a:r>
            <a:r>
              <a:rPr lang="en-US" b="1" dirty="0"/>
              <a:t>D</a:t>
            </a:r>
          </a:p>
          <a:p>
            <a:pPr lvl="1"/>
            <a:r>
              <a:rPr lang="en-US" dirty="0"/>
              <a:t>Writer: </a:t>
            </a:r>
            <a:r>
              <a:rPr lang="en-US" b="1" dirty="0">
                <a:solidFill>
                  <a:srgbClr val="C00000"/>
                </a:solidFill>
              </a:rPr>
              <a:t>Modifies</a:t>
            </a:r>
            <a:r>
              <a:rPr lang="en-US" dirty="0"/>
              <a:t> information in </a:t>
            </a:r>
            <a:r>
              <a:rPr lang="en-US" b="1" dirty="0"/>
              <a:t>D</a:t>
            </a:r>
          </a:p>
          <a:p>
            <a:r>
              <a:rPr lang="en-US" dirty="0"/>
              <a:t>Writer must have exclusive access to</a:t>
            </a:r>
            <a:r>
              <a:rPr lang="en-US" b="1" dirty="0"/>
              <a:t> D</a:t>
            </a:r>
          </a:p>
          <a:p>
            <a:r>
              <a:rPr lang="en-US" dirty="0"/>
              <a:t>Reader can access with other readers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906495" y="3846687"/>
            <a:ext cx="3215326" cy="728488"/>
            <a:chOff x="2906495" y="3846687"/>
            <a:chExt cx="3215326" cy="728488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906495" y="4227513"/>
              <a:ext cx="525462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431957" y="4227513"/>
              <a:ext cx="525463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957420" y="4227513"/>
              <a:ext cx="525462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4482882" y="4227513"/>
              <a:ext cx="525463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5008345" y="4227513"/>
              <a:ext cx="525462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5533807" y="4227513"/>
              <a:ext cx="525463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2906495" y="3846687"/>
              <a:ext cx="3215326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Some kind of data structure </a:t>
              </a:r>
              <a:r>
                <a:rPr lang="en-US" altLang="en-US" b="1" dirty="0"/>
                <a:t>D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449023" y="4875113"/>
            <a:ext cx="559321" cy="1327249"/>
            <a:chOff x="4449023" y="4875113"/>
            <a:chExt cx="559321" cy="1327249"/>
          </a:xfrm>
        </p:grpSpPr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4449023" y="5643562"/>
              <a:ext cx="525463" cy="558800"/>
            </a:xfrm>
            <a:prstGeom prst="ellipse">
              <a:avLst/>
            </a:prstGeom>
            <a:solidFill>
              <a:srgbClr val="99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R1</a:t>
              </a: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4717831" y="4875113"/>
              <a:ext cx="290513" cy="72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206429" y="4786411"/>
            <a:ext cx="3242111" cy="1602483"/>
            <a:chOff x="5206429" y="4786411"/>
            <a:chExt cx="3242111" cy="1602483"/>
          </a:xfrm>
        </p:grpSpPr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5714350" y="5086349"/>
              <a:ext cx="525462" cy="557213"/>
            </a:xfrm>
            <a:prstGeom prst="ellipse">
              <a:avLst/>
            </a:prstGeom>
            <a:solidFill>
              <a:srgbClr val="99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R2</a:t>
              </a:r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5582137" y="5831682"/>
              <a:ext cx="525463" cy="557212"/>
            </a:xfrm>
            <a:prstGeom prst="ellipse">
              <a:avLst/>
            </a:prstGeom>
            <a:solidFill>
              <a:srgbClr val="99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R3</a:t>
              </a:r>
            </a:p>
          </p:txBody>
        </p:sp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6246312" y="5525293"/>
              <a:ext cx="2202228" cy="63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Readers </a:t>
              </a:r>
            </a:p>
            <a:p>
              <a:r>
                <a:rPr lang="en-US" altLang="en-US" dirty="0"/>
                <a:t>(can read </a:t>
              </a:r>
              <a:r>
                <a:rPr lang="en-US" altLang="en-US" b="1" dirty="0"/>
                <a:t>together</a:t>
              </a:r>
              <a:r>
                <a:rPr lang="en-US" altLang="en-US" dirty="0"/>
                <a:t>)</a:t>
              </a: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5378153" y="4786411"/>
              <a:ext cx="400843" cy="3685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206429" y="4875113"/>
              <a:ext cx="403667" cy="9926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438400" y="4786410"/>
            <a:ext cx="1285273" cy="857151"/>
            <a:chOff x="2438400" y="4786410"/>
            <a:chExt cx="1285273" cy="857151"/>
          </a:xfrm>
        </p:grpSpPr>
        <p:sp>
          <p:nvSpPr>
            <p:cNvPr id="20" name="Oval 10"/>
            <p:cNvSpPr>
              <a:spLocks noChangeArrowheads="1"/>
            </p:cNvSpPr>
            <p:nvPr/>
          </p:nvSpPr>
          <p:spPr bwMode="auto">
            <a:xfrm>
              <a:off x="2438400" y="5086348"/>
              <a:ext cx="525462" cy="557213"/>
            </a:xfrm>
            <a:prstGeom prst="ellipse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W1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 flipV="1">
              <a:off x="2906495" y="4786410"/>
              <a:ext cx="817178" cy="368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541110" y="4875113"/>
            <a:ext cx="2372600" cy="1348805"/>
            <a:chOff x="1541110" y="4875113"/>
            <a:chExt cx="2372600" cy="1348805"/>
          </a:xfrm>
        </p:grpSpPr>
        <p:sp>
          <p:nvSpPr>
            <p:cNvPr id="22" name="Oval 12"/>
            <p:cNvSpPr>
              <a:spLocks noChangeArrowheads="1"/>
            </p:cNvSpPr>
            <p:nvPr/>
          </p:nvSpPr>
          <p:spPr bwMode="auto">
            <a:xfrm>
              <a:off x="3198210" y="5525294"/>
              <a:ext cx="525463" cy="557212"/>
            </a:xfrm>
            <a:prstGeom prst="ellipse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W2</a:t>
              </a:r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 flipV="1">
              <a:off x="3498632" y="4875113"/>
              <a:ext cx="415078" cy="6501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1541110" y="5588317"/>
              <a:ext cx="1518388" cy="63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Writers </a:t>
              </a:r>
            </a:p>
            <a:p>
              <a:r>
                <a:rPr lang="en-US" altLang="en-US" dirty="0"/>
                <a:t>(Write </a:t>
              </a:r>
              <a:r>
                <a:rPr lang="en-US" altLang="en-US" b="1" dirty="0"/>
                <a:t>alone</a:t>
              </a:r>
              <a:r>
                <a:rPr lang="en-US" altLang="en-US" dirty="0"/>
                <a:t>)</a:t>
              </a:r>
            </a:p>
          </p:txBody>
        </p:sp>
      </p:grpSp>
      <p:sp>
        <p:nvSpPr>
          <p:cNvPr id="31" name="Slide Number Placeholder 3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477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Readers Writers: </a:t>
            </a:r>
            <a:r>
              <a:rPr lang="en-US" altLang="en-US" sz="3800" b="1" dirty="0">
                <a:solidFill>
                  <a:srgbClr val="C00000"/>
                </a:solidFill>
              </a:rPr>
              <a:t>Simple Version</a:t>
            </a:r>
          </a:p>
        </p:txBody>
      </p:sp>
      <p:sp>
        <p:nvSpPr>
          <p:cNvPr id="708612" name="Text Box 4"/>
          <p:cNvSpPr txBox="1">
            <a:spLocks noChangeArrowheads="1"/>
          </p:cNvSpPr>
          <p:nvPr/>
        </p:nvSpPr>
        <p:spPr bwMode="auto">
          <a:xfrm>
            <a:off x="370114" y="990600"/>
            <a:ext cx="4038600" cy="2930033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while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endParaRPr lang="en-US" altLang="en-US" i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   </a:t>
            </a:r>
            <a:r>
              <a:rPr lang="en-US" altLang="en-US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roomEmpty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2000" b="1" dirty="0">
              <a:solidFill>
                <a:schemeClr val="tx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i="1" dirty="0">
                <a:solidFill>
                  <a:schemeClr val="tx2"/>
                </a:solidFill>
                <a:latin typeface="Courier New" pitchFamily="49" charset="0"/>
              </a:rPr>
              <a:t>    </a:t>
            </a:r>
            <a:r>
              <a:rPr lang="en-US" altLang="en-US" b="1" i="1" dirty="0">
                <a:latin typeface="Courier New" pitchFamily="49" charset="0"/>
              </a:rPr>
              <a:t>Modifies data</a:t>
            </a:r>
            <a:endParaRPr lang="en-US" altLang="en-US" sz="2000" b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roomEmpty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708613" name="Text Box 5"/>
          <p:cNvSpPr txBox="1">
            <a:spLocks noChangeArrowheads="1"/>
          </p:cNvSpPr>
          <p:nvPr/>
        </p:nvSpPr>
        <p:spPr bwMode="auto">
          <a:xfrm>
            <a:off x="3505200" y="3479549"/>
            <a:ext cx="8382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Writer</a:t>
            </a:r>
            <a:endParaRPr lang="en-US" altLang="en-US" b="1" dirty="0"/>
          </a:p>
        </p:txBody>
      </p:sp>
      <p:sp>
        <p:nvSpPr>
          <p:cNvPr id="708614" name="Text Box 6"/>
          <p:cNvSpPr txBox="1">
            <a:spLocks noChangeArrowheads="1"/>
          </p:cNvSpPr>
          <p:nvPr/>
        </p:nvSpPr>
        <p:spPr bwMode="auto">
          <a:xfrm>
            <a:off x="4635138" y="990600"/>
            <a:ext cx="4220391" cy="50229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while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   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</a:t>
            </a:r>
            <a:r>
              <a:rPr lang="en-US" altLang="en-US" b="1" dirty="0" err="1">
                <a:latin typeface="Courier New" pitchFamily="49" charset="0"/>
              </a:rPr>
              <a:t>nReader</a:t>
            </a:r>
            <a:r>
              <a:rPr lang="en-US" altLang="en-US" dirty="0">
                <a:latin typeface="Courier New" pitchFamily="49" charset="0"/>
              </a:rPr>
              <a:t>++;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if (</a:t>
            </a:r>
            <a:r>
              <a:rPr lang="en-US" altLang="en-US" b="1" dirty="0" err="1">
                <a:latin typeface="Courier New" pitchFamily="49" charset="0"/>
              </a:rPr>
              <a:t>nReader</a:t>
            </a:r>
            <a:r>
              <a:rPr lang="en-US" altLang="en-US" dirty="0">
                <a:latin typeface="Courier New" pitchFamily="49" charset="0"/>
              </a:rPr>
              <a:t> == 1)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 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roomEmpty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   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b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    </a:t>
            </a:r>
            <a:r>
              <a:rPr lang="en-US" altLang="en-US" i="1" dirty="0">
                <a:latin typeface="Courier New" pitchFamily="49" charset="0"/>
              </a:rPr>
              <a:t>Reads data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b="1" i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  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</a:t>
            </a:r>
            <a:r>
              <a:rPr lang="en-US" altLang="en-US" b="1" dirty="0" err="1">
                <a:latin typeface="Courier New" pitchFamily="49" charset="0"/>
              </a:rPr>
              <a:t>nReader</a:t>
            </a:r>
            <a:r>
              <a:rPr lang="en-US" altLang="en-US" dirty="0">
                <a:latin typeface="Courier New" pitchFamily="49" charset="0"/>
              </a:rPr>
              <a:t>--;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if (</a:t>
            </a:r>
            <a:r>
              <a:rPr lang="en-US" altLang="en-US" b="1" dirty="0" err="1">
                <a:latin typeface="Courier New" pitchFamily="49" charset="0"/>
              </a:rPr>
              <a:t>nReader</a:t>
            </a:r>
            <a:r>
              <a:rPr lang="en-US" altLang="en-US" dirty="0">
                <a:latin typeface="Courier New" pitchFamily="49" charset="0"/>
              </a:rPr>
              <a:t> == 0)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 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roomEmpty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   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b="1" i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708615" name="Text Box 7"/>
          <p:cNvSpPr txBox="1">
            <a:spLocks noChangeArrowheads="1"/>
          </p:cNvSpPr>
          <p:nvPr/>
        </p:nvSpPr>
        <p:spPr bwMode="auto">
          <a:xfrm>
            <a:off x="7772400" y="5552484"/>
            <a:ext cx="977538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Reader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54842" y="5546798"/>
            <a:ext cx="2287089" cy="859765"/>
            <a:chOff x="4191000" y="3425284"/>
            <a:chExt cx="3579222" cy="1379217"/>
          </a:xfrm>
        </p:grpSpPr>
        <p:sp>
          <p:nvSpPr>
            <p:cNvPr id="12" name="Rounded Rectangle 11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5535946" y="3425284"/>
              <a:ext cx="2234276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roomEmpty</a:t>
              </a:r>
              <a:endParaRPr lang="en-US" altLang="en-US" b="1" dirty="0"/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54842" y="4593305"/>
            <a:ext cx="2287090" cy="859765"/>
            <a:chOff x="4191000" y="3425284"/>
            <a:chExt cx="3579224" cy="1379217"/>
          </a:xfrm>
        </p:grpSpPr>
        <p:sp>
          <p:nvSpPr>
            <p:cNvPr id="17" name="Rounded Rectangle 16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6347733" y="3425284"/>
              <a:ext cx="1422491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mutex</a:t>
              </a:r>
              <a:endParaRPr lang="en-US" altLang="en-US" b="1" dirty="0"/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" name="Group 22"/>
          <p:cNvGrpSpPr>
            <a:grpSpLocks/>
          </p:cNvGrpSpPr>
          <p:nvPr/>
        </p:nvGrpSpPr>
        <p:grpSpPr bwMode="auto">
          <a:xfrm>
            <a:off x="990601" y="4116344"/>
            <a:ext cx="1751013" cy="381000"/>
            <a:chOff x="1872" y="1104"/>
            <a:chExt cx="1103" cy="240"/>
          </a:xfrm>
        </p:grpSpPr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2400" y="1104"/>
              <a:ext cx="575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1872" y="110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000" b="1" dirty="0" err="1">
                  <a:latin typeface="Courier New" panose="02070309020205020404" pitchFamily="49" charset="0"/>
                </a:rPr>
                <a:t>nReader</a:t>
              </a:r>
              <a:endParaRPr lang="en-US" altLang="en-US" sz="20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64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Readers Writers: </a:t>
            </a:r>
            <a:r>
              <a:rPr lang="en-US" altLang="en-US" sz="4400" b="1" dirty="0">
                <a:solidFill>
                  <a:srgbClr val="C00000"/>
                </a:solidFill>
              </a:rPr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Convince yourself that the solution satisfies the specification</a:t>
            </a:r>
          </a:p>
          <a:p>
            <a:endParaRPr lang="en-US" dirty="0"/>
          </a:p>
          <a:p>
            <a:r>
              <a:rPr lang="en-US" dirty="0"/>
              <a:t>However:</a:t>
            </a:r>
          </a:p>
          <a:p>
            <a:pPr lvl="1"/>
            <a:r>
              <a:rPr lang="en-US" dirty="0"/>
              <a:t>It has one problem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(hint: Something to do with writer….)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1186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Synchronization Implementations</a:t>
            </a:r>
          </a:p>
        </p:txBody>
      </p:sp>
      <p:sp>
        <p:nvSpPr>
          <p:cNvPr id="74240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Ahem….. lab 3…. ahem….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8988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POSIX Semaphore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Popular implementation of semaphore under Unix</a:t>
            </a:r>
          </a:p>
          <a:p>
            <a:r>
              <a:rPr lang="en-US" altLang="en-US"/>
              <a:t>Header File:</a:t>
            </a:r>
          </a:p>
          <a:p>
            <a:pPr lvl="1"/>
            <a:r>
              <a:rPr lang="en-US" altLang="en-US" sz="2000" b="1">
                <a:solidFill>
                  <a:srgbClr val="0033CC"/>
                </a:solidFill>
                <a:latin typeface="Courier New" panose="02070309020205020404" pitchFamily="49" charset="0"/>
              </a:rPr>
              <a:t>#include &lt;semaphore.h&gt;</a:t>
            </a:r>
          </a:p>
          <a:p>
            <a:r>
              <a:rPr lang="en-US" altLang="en-US"/>
              <a:t>Compilation Flag: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gcc something.c</a:t>
            </a: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</a:rPr>
              <a:t> –lrt</a:t>
            </a:r>
          </a:p>
          <a:p>
            <a:pPr lvl="1"/>
            <a:r>
              <a:rPr lang="en-US" altLang="en-US"/>
              <a:t>Stand for "real time library"</a:t>
            </a:r>
          </a:p>
          <a:p>
            <a:r>
              <a:rPr lang="en-US" altLang="en-US"/>
              <a:t>Basic Usage:</a:t>
            </a:r>
          </a:p>
          <a:p>
            <a:pPr lvl="1"/>
            <a:r>
              <a:rPr lang="en-US" altLang="en-US"/>
              <a:t>Initialize a semaphore</a:t>
            </a:r>
          </a:p>
          <a:p>
            <a:pPr lvl="1"/>
            <a:r>
              <a:rPr lang="en-US" altLang="en-US"/>
              <a:t>Perform </a:t>
            </a:r>
            <a:r>
              <a:rPr lang="en-US" altLang="en-US" b="1">
                <a:latin typeface="Courier New" panose="02070309020205020404" pitchFamily="49" charset="0"/>
              </a:rPr>
              <a:t>wait()</a:t>
            </a:r>
            <a:r>
              <a:rPr lang="en-US" altLang="en-US"/>
              <a:t> or </a:t>
            </a:r>
            <a:r>
              <a:rPr lang="en-US" altLang="en-US" b="1">
                <a:latin typeface="Courier New" panose="02070309020205020404" pitchFamily="49" charset="0"/>
              </a:rPr>
              <a:t>signal()</a:t>
            </a:r>
            <a:r>
              <a:rPr lang="en-US" altLang="en-US"/>
              <a:t> on semaphore</a:t>
            </a:r>
          </a:p>
          <a:p>
            <a:pPr lvl="1"/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366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err="1"/>
              <a:t>pthread</a:t>
            </a:r>
            <a:r>
              <a:rPr lang="en-US" b="1" i="1" dirty="0"/>
              <a:t> </a:t>
            </a:r>
            <a:r>
              <a:rPr lang="en-US" dirty="0" err="1"/>
              <a:t>Mutex</a:t>
            </a:r>
            <a:r>
              <a:rPr lang="en-US" dirty="0"/>
              <a:t> and Conditional Variables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Synchronization mechanisms for </a:t>
            </a:r>
            <a:r>
              <a:rPr lang="en-US" dirty="0" err="1"/>
              <a:t>pthreads</a:t>
            </a:r>
            <a:endParaRPr lang="en-US" dirty="0"/>
          </a:p>
          <a:p>
            <a:r>
              <a:rPr lang="en-US" dirty="0" err="1"/>
              <a:t>Mutex</a:t>
            </a:r>
            <a:r>
              <a:rPr lang="en-US" dirty="0"/>
              <a:t> (</a:t>
            </a:r>
            <a:r>
              <a:rPr lang="en-US" dirty="0" err="1"/>
              <a:t>pthread_mutex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Binary semaphore (i.e. equivalent Semaphore(1)).</a:t>
            </a:r>
          </a:p>
          <a:p>
            <a:pPr lvl="1"/>
            <a:r>
              <a:rPr lang="en-US" dirty="0"/>
              <a:t>Lock: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pthread_mutex_lock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Unlock: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pthread_mutex_unlock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US" dirty="0"/>
          </a:p>
          <a:p>
            <a:r>
              <a:rPr lang="en-US" dirty="0"/>
              <a:t>Conditional Variables( </a:t>
            </a:r>
            <a:r>
              <a:rPr lang="en-US" dirty="0" err="1"/>
              <a:t>pthread_cond</a:t>
            </a:r>
            <a:r>
              <a:rPr lang="en-US" dirty="0"/>
              <a:t> ):</a:t>
            </a:r>
          </a:p>
          <a:p>
            <a:pPr lvl="1"/>
            <a:r>
              <a:rPr lang="en-US" dirty="0"/>
              <a:t>Wait: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pthread_cond_wait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Signal: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pthread_cond_signal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Broadcast: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pthread_cond_broadcast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122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Programming languages with thread support will have some forms of synchronization mechanism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b="1" dirty="0"/>
              <a:t>Java</a:t>
            </a:r>
            <a:r>
              <a:rPr lang="en-US" dirty="0"/>
              <a:t>: all object has built-in lock (</a:t>
            </a:r>
            <a:r>
              <a:rPr lang="en-US" dirty="0" err="1"/>
              <a:t>mutex</a:t>
            </a:r>
            <a:r>
              <a:rPr lang="en-US" dirty="0"/>
              <a:t>), </a:t>
            </a:r>
            <a:r>
              <a:rPr lang="en-US" b="1" dirty="0"/>
              <a:t>synchronized </a:t>
            </a:r>
            <a:r>
              <a:rPr lang="en-US" dirty="0"/>
              <a:t>method access, </a:t>
            </a:r>
            <a:r>
              <a:rPr lang="en-US" dirty="0" err="1"/>
              <a:t>etc</a:t>
            </a: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lvl="1"/>
            <a:r>
              <a:rPr lang="en-US" b="1" dirty="0"/>
              <a:t>Python</a:t>
            </a:r>
            <a:r>
              <a:rPr lang="en-US" dirty="0"/>
              <a:t>: supports </a:t>
            </a:r>
            <a:r>
              <a:rPr lang="en-US" dirty="0" err="1"/>
              <a:t>mutex</a:t>
            </a:r>
            <a:r>
              <a:rPr lang="en-US" dirty="0"/>
              <a:t>, semaphore, conditional variable,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C++</a:t>
            </a:r>
            <a:r>
              <a:rPr lang="en-US" dirty="0"/>
              <a:t>: Added built-in thread in C++11; Support </a:t>
            </a:r>
            <a:r>
              <a:rPr lang="en-US" dirty="0" err="1"/>
              <a:t>mutex</a:t>
            </a:r>
            <a:r>
              <a:rPr lang="en-US" dirty="0"/>
              <a:t>, conditional variable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833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Synchronization:</a:t>
            </a:r>
          </a:p>
          <a:p>
            <a:pPr lvl="1"/>
            <a:r>
              <a:rPr lang="en-US" altLang="en-US" sz="2200" dirty="0"/>
              <a:t>Problem: Race condition</a:t>
            </a:r>
          </a:p>
          <a:p>
            <a:pPr lvl="1"/>
            <a:r>
              <a:rPr lang="en-US" altLang="en-US" sz="2200" dirty="0"/>
              <a:t>Solution: Critical Section</a:t>
            </a:r>
          </a:p>
          <a:p>
            <a:pPr lvl="1"/>
            <a:r>
              <a:rPr lang="en-US" altLang="en-US" sz="2200" dirty="0"/>
              <a:t>Criteria of good solution:</a:t>
            </a:r>
          </a:p>
          <a:p>
            <a:pPr lvl="2"/>
            <a:r>
              <a:rPr lang="en-US" altLang="en-US" sz="2000" dirty="0"/>
              <a:t>Mutual Exclusion, progress, bounded waiting time, independence</a:t>
            </a:r>
            <a:endParaRPr lang="en-US" altLang="en-US" sz="2200" dirty="0"/>
          </a:p>
          <a:p>
            <a:pPr lvl="1"/>
            <a:r>
              <a:rPr lang="en-US" altLang="en-US" sz="2200" dirty="0"/>
              <a:t>Important High Level Construct: Semaphore</a:t>
            </a:r>
          </a:p>
          <a:p>
            <a:pPr lvl="1"/>
            <a:endParaRPr lang="en-US" altLang="en-US" sz="2200" dirty="0"/>
          </a:p>
          <a:p>
            <a:r>
              <a:rPr lang="en-US" altLang="en-US" sz="2600" dirty="0"/>
              <a:t>Classic Synchronization problems:</a:t>
            </a:r>
          </a:p>
          <a:p>
            <a:pPr lvl="1"/>
            <a:r>
              <a:rPr lang="en-US" altLang="en-US" sz="2200" dirty="0"/>
              <a:t>Producer + Consumer</a:t>
            </a:r>
          </a:p>
          <a:p>
            <a:pPr lvl="1"/>
            <a:r>
              <a:rPr lang="en-US" altLang="en-US" sz="2200" dirty="0"/>
              <a:t>Reader + Writer</a:t>
            </a:r>
          </a:p>
          <a:p>
            <a:pPr lvl="1"/>
            <a:r>
              <a:rPr lang="en-US" altLang="en-US" sz="2200" dirty="0"/>
              <a:t>Dining Philosophers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Chapter 2.4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</a:t>
            </a:r>
            <a:r>
              <a:rPr lang="en-US" altLang="en-US" i="1" dirty="0"/>
              <a:t> </a:t>
            </a:r>
            <a:r>
              <a:rPr lang="en-US" altLang="en-US" dirty="0"/>
              <a:t>(7</a:t>
            </a:r>
            <a:r>
              <a:rPr lang="en-US" altLang="en-US" baseline="30000" dirty="0"/>
              <a:t>th</a:t>
            </a:r>
            <a:r>
              <a:rPr lang="en-US" altLang="en-US" dirty="0"/>
              <a:t>  Edition)</a:t>
            </a:r>
          </a:p>
          <a:p>
            <a:pPr lvl="1"/>
            <a:r>
              <a:rPr lang="en-US" altLang="en-US" dirty="0"/>
              <a:t>Chapter 5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Edgar W. </a:t>
            </a:r>
            <a:r>
              <a:rPr lang="en-US" altLang="en-US" dirty="0" err="1"/>
              <a:t>Dijkstra</a:t>
            </a:r>
            <a:r>
              <a:rPr lang="en-US" altLang="en-US" dirty="0"/>
              <a:t>,  “Note No.123: Cooperating Sequential Processes”</a:t>
            </a:r>
          </a:p>
          <a:p>
            <a:pPr lvl="1"/>
            <a:r>
              <a:rPr lang="en-US" altLang="en-US" dirty="0">
                <a:hlinkClick r:id="rId2"/>
              </a:rPr>
              <a:t>http://www.cs.utexas.edu/users/EWD/ewd01xx/EWD123.PDF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10187</TotalTime>
  <Words>2396</Words>
  <Application>Microsoft Office PowerPoint</Application>
  <PresentationFormat>On-screen Show (4:3)</PresentationFormat>
  <Paragraphs>597</Paragraphs>
  <Slides>38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  <vt:variant>
        <vt:lpstr>Custom Shows</vt:lpstr>
      </vt:variant>
      <vt:variant>
        <vt:i4>1</vt:i4>
      </vt:variant>
    </vt:vector>
  </HeadingPairs>
  <TitlesOfParts>
    <vt:vector size="44" baseType="lpstr">
      <vt:lpstr>Arial</vt:lpstr>
      <vt:lpstr>Courier New</vt:lpstr>
      <vt:lpstr>Garamond</vt:lpstr>
      <vt:lpstr>Wingdings</vt:lpstr>
      <vt:lpstr>Edge</vt:lpstr>
      <vt:lpstr>Process Management Synchronization</vt:lpstr>
      <vt:lpstr>Overview</vt:lpstr>
      <vt:lpstr>Problems with Concurrent Execution</vt:lpstr>
      <vt:lpstr>Race Condition: Illustration</vt:lpstr>
      <vt:lpstr>Race Condition: Good behavior</vt:lpstr>
      <vt:lpstr>Race Condition: Bad behavior</vt:lpstr>
      <vt:lpstr>Race Condition: Solution</vt:lpstr>
      <vt:lpstr>Critical Section (CS)</vt:lpstr>
      <vt:lpstr>Properties of Correct CS Implementation</vt:lpstr>
      <vt:lpstr>Symptoms of Incorrect Synchronization</vt:lpstr>
      <vt:lpstr>CS Implementations Overview</vt:lpstr>
      <vt:lpstr>assembly level Implementation</vt:lpstr>
      <vt:lpstr>Test and Set: An Atomic Instruction</vt:lpstr>
      <vt:lpstr>Using Test and Set</vt:lpstr>
      <vt:lpstr>Observations and Comments</vt:lpstr>
      <vt:lpstr>High Level Abstraction</vt:lpstr>
      <vt:lpstr>High Level Synchronization Mechanism</vt:lpstr>
      <vt:lpstr>Semaphore: Wait( ) and Signal( )</vt:lpstr>
      <vt:lpstr>Semaphore: Visualization</vt:lpstr>
      <vt:lpstr>General and Binary Semaphores</vt:lpstr>
      <vt:lpstr>Semaphore Example: Critical Section</vt:lpstr>
      <vt:lpstr>Incorrect Use of Semaphore: Deadlock</vt:lpstr>
      <vt:lpstr>Other High Level Abstractions</vt:lpstr>
      <vt:lpstr>Classical Synchronization  Problems</vt:lpstr>
      <vt:lpstr>Producer Consumer: Specification</vt:lpstr>
      <vt:lpstr>Producer Consumer: Busy Waiting</vt:lpstr>
      <vt:lpstr>Producer Consumer: Busy Waiting</vt:lpstr>
      <vt:lpstr>Producer Consumer: Blocking Version</vt:lpstr>
      <vt:lpstr>Producer Consumer: Blocking Version</vt:lpstr>
      <vt:lpstr>Readers Writers: Specification</vt:lpstr>
      <vt:lpstr>Readers Writers: Simple Version</vt:lpstr>
      <vt:lpstr>Readers Writers: Evaluation</vt:lpstr>
      <vt:lpstr>Synchronization Implementations</vt:lpstr>
      <vt:lpstr>POSIX Semaphore</vt:lpstr>
      <vt:lpstr>pthread Mutex and Conditional Variables</vt:lpstr>
      <vt:lpstr>Others</vt:lpstr>
      <vt:lpstr>Summary</vt:lpstr>
      <vt:lpstr>Reference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Colin Tan</cp:lastModifiedBy>
  <cp:revision>701</cp:revision>
  <cp:lastPrinted>2015-09-07T02:38:48Z</cp:lastPrinted>
  <dcterms:created xsi:type="dcterms:W3CDTF">1601-01-01T00:00:00Z</dcterms:created>
  <dcterms:modified xsi:type="dcterms:W3CDTF">2025-09-24T07:49:39Z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