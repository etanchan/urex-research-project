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9" r:id="rId1"/>
    <p:sldMasterId id="2147483707" r:id="rId2"/>
    <p:sldMasterId id="2147483720" r:id="rId3"/>
  </p:sldMasterIdLst>
  <p:notesMasterIdLst>
    <p:notesMasterId r:id="rId36"/>
  </p:notesMasterIdLst>
  <p:sldIdLst>
    <p:sldId id="256" r:id="rId4"/>
    <p:sldId id="269" r:id="rId5"/>
    <p:sldId id="270" r:id="rId6"/>
    <p:sldId id="271" r:id="rId7"/>
    <p:sldId id="274" r:id="rId8"/>
    <p:sldId id="278" r:id="rId9"/>
    <p:sldId id="272" r:id="rId10"/>
    <p:sldId id="275" r:id="rId11"/>
    <p:sldId id="273" r:id="rId12"/>
    <p:sldId id="277" r:id="rId13"/>
    <p:sldId id="276" r:id="rId14"/>
    <p:sldId id="279" r:id="rId15"/>
    <p:sldId id="280" r:id="rId16"/>
    <p:sldId id="281" r:id="rId17"/>
    <p:sldId id="282" r:id="rId18"/>
    <p:sldId id="283" r:id="rId19"/>
    <p:sldId id="284" r:id="rId20"/>
    <p:sldId id="285" r:id="rId21"/>
    <p:sldId id="286" r:id="rId22"/>
    <p:sldId id="287" r:id="rId23"/>
    <p:sldId id="288" r:id="rId24"/>
    <p:sldId id="290" r:id="rId25"/>
    <p:sldId id="289" r:id="rId26"/>
    <p:sldId id="291" r:id="rId27"/>
    <p:sldId id="292" r:id="rId28"/>
    <p:sldId id="293" r:id="rId29"/>
    <p:sldId id="294" r:id="rId30"/>
    <p:sldId id="295" r:id="rId31"/>
    <p:sldId id="296" r:id="rId32"/>
    <p:sldId id="297" r:id="rId33"/>
    <p:sldId id="298" r:id="rId34"/>
    <p:sldId id="299" r:id="rId35"/>
  </p:sldIdLst>
  <p:sldSz cx="9144000" cy="6858000" type="screen4x3"/>
  <p:notesSz cx="7099300" cy="1023461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298" autoAdjust="0"/>
    <p:restoredTop sz="94500"/>
  </p:normalViewPr>
  <p:slideViewPr>
    <p:cSldViewPr>
      <p:cViewPr>
        <p:scale>
          <a:sx n="95" d="100"/>
          <a:sy n="95" d="100"/>
        </p:scale>
        <p:origin x="1376" y="-1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theme" Target="theme/theme1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defTabSz="990600">
              <a:defRPr sz="1300"/>
            </a:lvl1pPr>
          </a:lstStyle>
          <a:p>
            <a:endParaRPr lang="en-US" altLang="en-US"/>
          </a:p>
        </p:txBody>
      </p:sp>
      <p:sp>
        <p:nvSpPr>
          <p:cNvPr id="573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defTabSz="990600">
              <a:defRPr sz="1300"/>
            </a:lvl1pPr>
          </a:lstStyle>
          <a:p>
            <a:endParaRPr lang="en-US" altLang="en-US"/>
          </a:p>
        </p:txBody>
      </p:sp>
      <p:sp>
        <p:nvSpPr>
          <p:cNvPr id="5734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8350"/>
            <a:ext cx="5118100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573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0925"/>
            <a:ext cx="5680075" cy="4605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573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defTabSz="990600">
              <a:defRPr sz="1300"/>
            </a:lvl1pPr>
          </a:lstStyle>
          <a:p>
            <a:endParaRPr lang="en-US" altLang="en-US"/>
          </a:p>
        </p:txBody>
      </p:sp>
      <p:sp>
        <p:nvSpPr>
          <p:cNvPr id="573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defTabSz="990600">
              <a:defRPr sz="1300"/>
            </a:lvl1pPr>
          </a:lstStyle>
          <a:p>
            <a:fld id="{77077CC8-28D7-419B-AFB3-DD18205363D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434018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524000"/>
            <a:ext cx="7623175" cy="1752600"/>
          </a:xfrm>
        </p:spPr>
        <p:txBody>
          <a:bodyPr/>
          <a:lstStyle>
            <a:lvl1pPr>
              <a:defRPr sz="5000"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81200" y="3962400"/>
            <a:ext cx="65532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36868" name="Freeform 4"/>
          <p:cNvSpPr>
            <a:spLocks noChangeArrowheads="1"/>
          </p:cNvSpPr>
          <p:nvPr/>
        </p:nvSpPr>
        <p:spPr bwMode="auto">
          <a:xfrm>
            <a:off x="609600" y="1219200"/>
            <a:ext cx="7924800" cy="914400"/>
          </a:xfrm>
          <a:custGeom>
            <a:avLst/>
            <a:gdLst>
              <a:gd name="T0" fmla="*/ 0 w 1000"/>
              <a:gd name="T1" fmla="*/ 1000 h 1000"/>
              <a:gd name="T2" fmla="*/ 0 w 1000"/>
              <a:gd name="T3" fmla="*/ 0 h 1000"/>
              <a:gd name="T4" fmla="*/ 1000 w 1000"/>
              <a:gd name="T5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36869" name="Line 5"/>
          <p:cNvSpPr>
            <a:spLocks noChangeShapeType="1"/>
          </p:cNvSpPr>
          <p:nvPr/>
        </p:nvSpPr>
        <p:spPr bwMode="auto">
          <a:xfrm>
            <a:off x="1981200" y="3962400"/>
            <a:ext cx="6511925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F0D8D79-08E0-48CA-9203-A37DB9B01E0E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CG2271 Lab Lecture 6</a:t>
            </a:r>
          </a:p>
        </p:txBody>
      </p:sp>
    </p:spTree>
    <p:extLst>
      <p:ext uri="{BB962C8B-B14F-4D97-AF65-F5344CB8AC3E}">
        <p14:creationId xmlns:p14="http://schemas.microsoft.com/office/powerpoint/2010/main" val="20668338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E740D621-3521-4C00-9508-D1BF9CF0F093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CG2271 Lab Lecture 6</a:t>
            </a:r>
          </a:p>
        </p:txBody>
      </p:sp>
    </p:spTree>
    <p:extLst>
      <p:ext uri="{BB962C8B-B14F-4D97-AF65-F5344CB8AC3E}">
        <p14:creationId xmlns:p14="http://schemas.microsoft.com/office/powerpoint/2010/main" val="19341300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19200"/>
            <a:ext cx="4038600" cy="5334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19200"/>
            <a:ext cx="4038600" cy="5334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C80D4CE2-6DBC-47F2-BC92-D26F595DC398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CG2271 Lab Lecture 6</a:t>
            </a:r>
          </a:p>
        </p:txBody>
      </p:sp>
    </p:spTree>
    <p:extLst>
      <p:ext uri="{BB962C8B-B14F-4D97-AF65-F5344CB8AC3E}">
        <p14:creationId xmlns:p14="http://schemas.microsoft.com/office/powerpoint/2010/main" val="33942015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A094941A-1381-426D-8678-8110645A465C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CG2271 Lab Lecture 6</a:t>
            </a:r>
          </a:p>
        </p:txBody>
      </p:sp>
    </p:spTree>
    <p:extLst>
      <p:ext uri="{BB962C8B-B14F-4D97-AF65-F5344CB8AC3E}">
        <p14:creationId xmlns:p14="http://schemas.microsoft.com/office/powerpoint/2010/main" val="17038065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14584971-4E7E-49CD-A58B-4D6798B16E9E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CG2271 Lab Lecture 6</a:t>
            </a:r>
          </a:p>
        </p:txBody>
      </p:sp>
    </p:spTree>
    <p:extLst>
      <p:ext uri="{BB962C8B-B14F-4D97-AF65-F5344CB8AC3E}">
        <p14:creationId xmlns:p14="http://schemas.microsoft.com/office/powerpoint/2010/main" val="40824104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31B1802-8301-4F2A-8DDB-CE880733FF80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CG2271 Lab Lecture 6</a:t>
            </a:r>
          </a:p>
        </p:txBody>
      </p:sp>
    </p:spTree>
    <p:extLst>
      <p:ext uri="{BB962C8B-B14F-4D97-AF65-F5344CB8AC3E}">
        <p14:creationId xmlns:p14="http://schemas.microsoft.com/office/powerpoint/2010/main" val="6791040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E1C0C41C-3BFF-4F00-9103-6A74971BCA1A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CG2271 Lab Lecture 6</a:t>
            </a:r>
          </a:p>
        </p:txBody>
      </p:sp>
    </p:spTree>
    <p:extLst>
      <p:ext uri="{BB962C8B-B14F-4D97-AF65-F5344CB8AC3E}">
        <p14:creationId xmlns:p14="http://schemas.microsoft.com/office/powerpoint/2010/main" val="3263123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4E13FA90-484E-4DE3-B424-C392F04A17A7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CG2271 Lab Lecture 6</a:t>
            </a:r>
          </a:p>
        </p:txBody>
      </p:sp>
    </p:spTree>
    <p:extLst>
      <p:ext uri="{BB962C8B-B14F-4D97-AF65-F5344CB8AC3E}">
        <p14:creationId xmlns:p14="http://schemas.microsoft.com/office/powerpoint/2010/main" val="42136219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53736A7-1CF8-489E-892E-251703C596F5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CG2271 Lab Lecture 6</a:t>
            </a:r>
          </a:p>
        </p:txBody>
      </p:sp>
    </p:spTree>
    <p:extLst>
      <p:ext uri="{BB962C8B-B14F-4D97-AF65-F5344CB8AC3E}">
        <p14:creationId xmlns:p14="http://schemas.microsoft.com/office/powerpoint/2010/main" val="4803923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28600"/>
            <a:ext cx="2057400" cy="6324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28600"/>
            <a:ext cx="6019800" cy="6324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8DB63F7-3E41-4A34-957B-2A3C4747AE5E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CG2271 Lab Lecture 6</a:t>
            </a:r>
          </a:p>
        </p:txBody>
      </p:sp>
    </p:spTree>
    <p:extLst>
      <p:ext uri="{BB962C8B-B14F-4D97-AF65-F5344CB8AC3E}">
        <p14:creationId xmlns:p14="http://schemas.microsoft.com/office/powerpoint/2010/main" val="16323084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524000"/>
            <a:ext cx="7623175" cy="1752600"/>
          </a:xfrm>
        </p:spPr>
        <p:txBody>
          <a:bodyPr/>
          <a:lstStyle>
            <a:lvl1pPr>
              <a:defRPr sz="5000"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81200" y="3962400"/>
            <a:ext cx="65532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8196" name="Freeform 4"/>
          <p:cNvSpPr>
            <a:spLocks noChangeArrowheads="1"/>
          </p:cNvSpPr>
          <p:nvPr/>
        </p:nvSpPr>
        <p:spPr bwMode="auto">
          <a:xfrm>
            <a:off x="609600" y="1219200"/>
            <a:ext cx="7924800" cy="914400"/>
          </a:xfrm>
          <a:custGeom>
            <a:avLst/>
            <a:gdLst>
              <a:gd name="T0" fmla="*/ 0 w 1000"/>
              <a:gd name="T1" fmla="*/ 1000 h 1000"/>
              <a:gd name="T2" fmla="*/ 0 w 1000"/>
              <a:gd name="T3" fmla="*/ 0 h 1000"/>
              <a:gd name="T4" fmla="*/ 1000 w 1000"/>
              <a:gd name="T5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8197" name="Line 5"/>
          <p:cNvSpPr>
            <a:spLocks noChangeShapeType="1"/>
          </p:cNvSpPr>
          <p:nvPr/>
        </p:nvSpPr>
        <p:spPr bwMode="auto">
          <a:xfrm>
            <a:off x="1981200" y="3962400"/>
            <a:ext cx="6511925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8198" name="Rectangle 6"/>
          <p:cNvSpPr>
            <a:spLocks noChangeArrowheads="1"/>
          </p:cNvSpPr>
          <p:nvPr/>
        </p:nvSpPr>
        <p:spPr bwMode="auto">
          <a:xfrm>
            <a:off x="8610600" y="6400800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/>
          <a:p>
            <a:pPr algn="r"/>
            <a:fld id="{2B9BC0BA-7162-46C8-A117-543B5FF937FE}" type="slidenum">
              <a:rPr lang="en-US" altLang="en-US" sz="1400" b="1">
                <a:latin typeface="Garamond" pitchFamily="18" charset="0"/>
              </a:rPr>
              <a:pPr algn="r"/>
              <a:t>‹#›</a:t>
            </a:fld>
            <a:endParaRPr lang="en-US" altLang="en-US" sz="1400" b="1">
              <a:latin typeface="Garamond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6959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E4B16682-6FB4-4344-B037-3C8A3CEB850D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SG" altLang="en-US"/>
              <a:t>CG2271 Lab Lecture 6</a:t>
            </a: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191515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E6DC585-B3F4-4B1B-8C67-9C227CDAE85B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CG2271 Lab Lecture 6</a:t>
            </a:r>
          </a:p>
        </p:txBody>
      </p:sp>
    </p:spTree>
    <p:extLst>
      <p:ext uri="{BB962C8B-B14F-4D97-AF65-F5344CB8AC3E}">
        <p14:creationId xmlns:p14="http://schemas.microsoft.com/office/powerpoint/2010/main" val="33244742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90600"/>
            <a:ext cx="403860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90600"/>
            <a:ext cx="403860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5688B9D5-0321-4243-8ED9-54D29AAF37EC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CG2271 Lab Lecture 6</a:t>
            </a:r>
          </a:p>
        </p:txBody>
      </p:sp>
    </p:spTree>
    <p:extLst>
      <p:ext uri="{BB962C8B-B14F-4D97-AF65-F5344CB8AC3E}">
        <p14:creationId xmlns:p14="http://schemas.microsoft.com/office/powerpoint/2010/main" val="33909611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5A48AF77-D65C-4E9E-B478-17E3FD86D810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CG2271 Lab Lecture 6</a:t>
            </a:r>
          </a:p>
        </p:txBody>
      </p:sp>
    </p:spTree>
    <p:extLst>
      <p:ext uri="{BB962C8B-B14F-4D97-AF65-F5344CB8AC3E}">
        <p14:creationId xmlns:p14="http://schemas.microsoft.com/office/powerpoint/2010/main" val="10462752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878A42F-32DF-4555-A3D9-B208AC03E8B9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CG2271 Lab Lecture 6</a:t>
            </a:r>
          </a:p>
        </p:txBody>
      </p:sp>
    </p:spTree>
    <p:extLst>
      <p:ext uri="{BB962C8B-B14F-4D97-AF65-F5344CB8AC3E}">
        <p14:creationId xmlns:p14="http://schemas.microsoft.com/office/powerpoint/2010/main" val="89363223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C2D7119-D0B9-434A-965E-B7C4A460BE32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CG2271 Lab Lecture 6</a:t>
            </a:r>
          </a:p>
        </p:txBody>
      </p:sp>
    </p:spTree>
    <p:extLst>
      <p:ext uri="{BB962C8B-B14F-4D97-AF65-F5344CB8AC3E}">
        <p14:creationId xmlns:p14="http://schemas.microsoft.com/office/powerpoint/2010/main" val="345894638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D56026C-F7A5-4BDA-898E-B00A800C5FF8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CG2271 Lab Lecture 6</a:t>
            </a:r>
          </a:p>
        </p:txBody>
      </p:sp>
    </p:spTree>
    <p:extLst>
      <p:ext uri="{BB962C8B-B14F-4D97-AF65-F5344CB8AC3E}">
        <p14:creationId xmlns:p14="http://schemas.microsoft.com/office/powerpoint/2010/main" val="271382914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A67EED0-2586-40FE-805F-5628AC864DAF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CG2271 Lab Lecture 6</a:t>
            </a:r>
          </a:p>
        </p:txBody>
      </p:sp>
    </p:spTree>
    <p:extLst>
      <p:ext uri="{BB962C8B-B14F-4D97-AF65-F5344CB8AC3E}">
        <p14:creationId xmlns:p14="http://schemas.microsoft.com/office/powerpoint/2010/main" val="369672209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C97E0452-540F-4E7F-8F1B-B48A49509A51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CG2271 Lab Lecture 6</a:t>
            </a:r>
          </a:p>
        </p:txBody>
      </p:sp>
    </p:spTree>
    <p:extLst>
      <p:ext uri="{BB962C8B-B14F-4D97-AF65-F5344CB8AC3E}">
        <p14:creationId xmlns:p14="http://schemas.microsoft.com/office/powerpoint/2010/main" val="117446096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61991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61991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E1ED2E85-14B5-41B8-BB68-5CCA814DB1A7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CG2271 Lab Lecture 6</a:t>
            </a:r>
          </a:p>
        </p:txBody>
      </p:sp>
    </p:spTree>
    <p:extLst>
      <p:ext uri="{BB962C8B-B14F-4D97-AF65-F5344CB8AC3E}">
        <p14:creationId xmlns:p14="http://schemas.microsoft.com/office/powerpoint/2010/main" val="408349455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71278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990600"/>
            <a:ext cx="8229600" cy="5486400"/>
          </a:xfrm>
        </p:spPr>
        <p:txBody>
          <a:bodyPr/>
          <a:lstStyle/>
          <a:p>
            <a:r>
              <a:rPr lang="en-US"/>
              <a:t>Click icon to add table</a:t>
            </a:r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8610600" y="6400800"/>
            <a:ext cx="533400" cy="457200"/>
          </a:xfrm>
        </p:spPr>
        <p:txBody>
          <a:bodyPr/>
          <a:lstStyle>
            <a:lvl1pPr>
              <a:defRPr/>
            </a:lvl1pPr>
          </a:lstStyle>
          <a:p>
            <a:fld id="{9D4C96A0-4412-4C95-B2BA-559D798589E5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9600" y="6521450"/>
            <a:ext cx="4495800" cy="2286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CG2271 Lab Lecture 6</a:t>
            </a:r>
          </a:p>
        </p:txBody>
      </p:sp>
    </p:spTree>
    <p:extLst>
      <p:ext uri="{BB962C8B-B14F-4D97-AF65-F5344CB8AC3E}">
        <p14:creationId xmlns:p14="http://schemas.microsoft.com/office/powerpoint/2010/main" val="132539505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4530"/>
            <a:ext cx="6858000" cy="2387600"/>
          </a:xfrm>
        </p:spPr>
        <p:txBody>
          <a:bodyPr anchor="b">
            <a:normAutofit/>
          </a:bodyPr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 algn="ctr">
              <a:buNone/>
              <a:defRPr sz="21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CG2271 Lab Lecture 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00110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CG2271 Lab Lecture 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63580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12423"/>
            <a:ext cx="7886700" cy="2851208"/>
          </a:xfrm>
        </p:spPr>
        <p:txBody>
          <a:bodyPr anchor="b">
            <a:normAutofit/>
          </a:bodyPr>
          <a:lstStyle>
            <a:lvl1pPr>
              <a:defRPr sz="45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52634"/>
            <a:ext cx="78867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CG2271 Lab Lecture 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13200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33845" y="1828801"/>
            <a:ext cx="3886200" cy="43513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8801"/>
            <a:ext cx="3886200" cy="43513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CG2271 Lab Lecture 6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41248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3845" y="1681851"/>
            <a:ext cx="386715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45" y="2507551"/>
            <a:ext cx="3867150" cy="36805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851"/>
            <a:ext cx="38862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7551"/>
            <a:ext cx="3886201" cy="36805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CG2271 Lab Lecture 6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088772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CG2271 Lab Lecture 6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1288419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CG2271 Lab Lecture 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1959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457201"/>
            <a:ext cx="2948940" cy="1600197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6200" y="990600"/>
            <a:ext cx="4629150" cy="487680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936" y="2057399"/>
            <a:ext cx="294894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CG2271 Lab Lecture 6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68407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457200"/>
            <a:ext cx="2948940" cy="1600200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6200" y="990600"/>
            <a:ext cx="4629150" cy="4876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936" y="2057400"/>
            <a:ext cx="294894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CG2271 Lab Lecture 6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8884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CG2271 Lab Lecture 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56340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0362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0363"/>
            <a:ext cx="5800725" cy="581183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CG2271 Lab Lecture 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4535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28600"/>
            <a:ext cx="8229600" cy="788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19200"/>
            <a:ext cx="8229600" cy="533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35844" name="Freeform 4"/>
          <p:cNvSpPr>
            <a:spLocks noChangeArrowheads="1"/>
          </p:cNvSpPr>
          <p:nvPr/>
        </p:nvSpPr>
        <p:spPr bwMode="auto">
          <a:xfrm>
            <a:off x="381000" y="152400"/>
            <a:ext cx="8229600" cy="609600"/>
          </a:xfrm>
          <a:custGeom>
            <a:avLst/>
            <a:gdLst>
              <a:gd name="T0" fmla="*/ 0 w 1000"/>
              <a:gd name="T1" fmla="*/ 1000 h 1000"/>
              <a:gd name="T2" fmla="*/ 0 w 1000"/>
              <a:gd name="T3" fmla="*/ 0 h 1000"/>
              <a:gd name="T4" fmla="*/ 1000 w 1000"/>
              <a:gd name="T5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1905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35845" name="Line 5"/>
          <p:cNvSpPr>
            <a:spLocks noChangeShapeType="1"/>
          </p:cNvSpPr>
          <p:nvPr/>
        </p:nvSpPr>
        <p:spPr bwMode="auto">
          <a:xfrm>
            <a:off x="457200" y="6629400"/>
            <a:ext cx="8229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3584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86800" y="6629400"/>
            <a:ext cx="4572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50000"/>
              </a:lnSpc>
              <a:defRPr sz="1400"/>
            </a:lvl1pPr>
          </a:lstStyle>
          <a:p>
            <a:fld id="{340BAAAD-52D6-4FB3-AB55-71C64A1E2A0A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35847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33400" y="6553200"/>
            <a:ext cx="1905000" cy="1524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ctr">
              <a:defRPr sz="800">
                <a:solidFill>
                  <a:schemeClr val="tx2"/>
                </a:solidFill>
                <a:latin typeface="Arial Black" pitchFamily="34" charset="0"/>
              </a:defRPr>
            </a:lvl1pPr>
          </a:lstStyle>
          <a:p>
            <a:r>
              <a:rPr lang="en-US" altLang="en-US"/>
              <a:t>CG2271 Lab Lecture 6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</p:sldLayoutIdLst>
  <p:hf hdr="0" dt="0"/>
  <p:txStyles>
    <p:titleStyle>
      <a:lvl1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cs typeface="Arial" charset="0"/>
        </a:defRPr>
      </a:lvl2pPr>
      <a:lvl3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cs typeface="Arial" charset="0"/>
        </a:defRPr>
      </a:lvl3pPr>
      <a:lvl4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cs typeface="Arial" charset="0"/>
        </a:defRPr>
      </a:lvl4pPr>
      <a:lvl5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cs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669925" indent="-325438" algn="l" rtl="0" fontAlgn="base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q"/>
        <a:defRPr sz="2600">
          <a:solidFill>
            <a:schemeClr val="tx1"/>
          </a:solidFill>
          <a:latin typeface="+mn-lt"/>
          <a:cs typeface="+mn-cs"/>
        </a:defRPr>
      </a:lvl2pPr>
      <a:lvl3pPr marL="1022350" indent="-350838" algn="l" rtl="0" fontAlgn="base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2200">
          <a:solidFill>
            <a:schemeClr val="tx1"/>
          </a:solidFill>
          <a:latin typeface="+mn-lt"/>
          <a:cs typeface="+mn-cs"/>
        </a:defRPr>
      </a:lvl3pPr>
      <a:lvl4pPr marL="1339850" indent="-315913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q"/>
        <a:defRPr sz="2000">
          <a:solidFill>
            <a:schemeClr val="tx1"/>
          </a:solidFill>
          <a:latin typeface="+mn-lt"/>
          <a:cs typeface="+mn-cs"/>
        </a:defRPr>
      </a:lvl4pPr>
      <a:lvl5pPr marL="16811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5pPr>
      <a:lvl6pPr marL="21383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6pPr>
      <a:lvl7pPr marL="25955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7pPr>
      <a:lvl8pPr marL="30527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8pPr>
      <a:lvl9pPr marL="35099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712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990600"/>
            <a:ext cx="8229600" cy="548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7172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10600" y="6400800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800" b="1" i="1">
                <a:solidFill>
                  <a:srgbClr val="C00000"/>
                </a:solidFill>
                <a:latin typeface="+mn-lt"/>
              </a:defRPr>
            </a:lvl1pPr>
          </a:lstStyle>
          <a:p>
            <a:fld id="{340BAAAD-52D6-4FB3-AB55-71C64A1E2A0A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7173" name="Freeform 5"/>
          <p:cNvSpPr>
            <a:spLocks noChangeArrowheads="1"/>
          </p:cNvSpPr>
          <p:nvPr/>
        </p:nvSpPr>
        <p:spPr bwMode="auto">
          <a:xfrm>
            <a:off x="381000" y="228600"/>
            <a:ext cx="8229600" cy="609600"/>
          </a:xfrm>
          <a:custGeom>
            <a:avLst/>
            <a:gdLst>
              <a:gd name="T0" fmla="*/ 0 w 1000"/>
              <a:gd name="T1" fmla="*/ 1000 h 1000"/>
              <a:gd name="T2" fmla="*/ 0 w 1000"/>
              <a:gd name="T3" fmla="*/ 0 h 1000"/>
              <a:gd name="T4" fmla="*/ 1000 w 1000"/>
              <a:gd name="T5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1905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7174" name="Line 6"/>
          <p:cNvSpPr>
            <a:spLocks noChangeShapeType="1"/>
          </p:cNvSpPr>
          <p:nvPr/>
        </p:nvSpPr>
        <p:spPr bwMode="auto">
          <a:xfrm>
            <a:off x="457200" y="6629400"/>
            <a:ext cx="8229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09600" y="6521450"/>
            <a:ext cx="2209800" cy="22860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+mj-lt"/>
              </a:defRPr>
            </a:lvl1pPr>
          </a:lstStyle>
          <a:p>
            <a:r>
              <a:rPr lang="en-US" altLang="en-US"/>
              <a:t>CG2271 Lab Lecture 6</a:t>
            </a:r>
          </a:p>
        </p:txBody>
      </p:sp>
    </p:spTree>
    <p:extLst>
      <p:ext uri="{BB962C8B-B14F-4D97-AF65-F5344CB8AC3E}">
        <p14:creationId xmlns:p14="http://schemas.microsoft.com/office/powerpoint/2010/main" val="34439844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8" r:id="rId11"/>
    <p:sldLayoutId id="2147483719" r:id="rId12"/>
  </p:sldLayoutIdLst>
  <p:hf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669925" indent="-325438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q"/>
        <a:defRPr sz="2600">
          <a:solidFill>
            <a:schemeClr val="tx1"/>
          </a:solidFill>
          <a:latin typeface="+mn-lt"/>
        </a:defRPr>
      </a:lvl2pPr>
      <a:lvl3pPr marL="1022350" indent="-350838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2200">
          <a:solidFill>
            <a:schemeClr val="tx1"/>
          </a:solidFill>
          <a:latin typeface="+mn-lt"/>
        </a:defRPr>
      </a:lvl3pPr>
      <a:lvl4pPr marL="1339850" indent="-315913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q"/>
        <a:defRPr sz="2000">
          <a:solidFill>
            <a:schemeClr val="tx1"/>
          </a:solidFill>
          <a:latin typeface="+mn-lt"/>
        </a:defRPr>
      </a:lvl4pPr>
      <a:lvl5pPr marL="1681163" indent="-3397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5pPr>
      <a:lvl6pPr marL="2138363" indent="-3397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595563" indent="-3397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052763" indent="-3397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509963" indent="-3397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33845" y="365760"/>
            <a:ext cx="78867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3845" y="1828801"/>
            <a:ext cx="78867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2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2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CG2271 Lab Lecture 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63145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9121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Wingdings 2" pitchFamily="18" charset="2"/>
        <a:buChar char="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 b="1" dirty="0">
                <a:solidFill>
                  <a:srgbClr val="C00000"/>
                </a:solidFill>
              </a:rPr>
              <a:t>CG2271 Real Time Operating Systems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n-US" altLang="en-US" b="1" dirty="0">
                <a:solidFill>
                  <a:srgbClr val="660066"/>
                </a:solidFill>
              </a:rPr>
              <a:t>Lab Lecture 6</a:t>
            </a:r>
          </a:p>
          <a:p>
            <a:pPr algn="ctr"/>
            <a:r>
              <a:rPr lang="en-US" altLang="en-US" b="1" dirty="0">
                <a:solidFill>
                  <a:srgbClr val="660066"/>
                </a:solidFill>
              </a:rPr>
              <a:t>Analog – Digital programming</a:t>
            </a:r>
          </a:p>
          <a:p>
            <a:pPr algn="ctr"/>
            <a:r>
              <a:rPr lang="en-US" altLang="en-US" b="1" dirty="0">
                <a:solidFill>
                  <a:srgbClr val="660066"/>
                </a:solidFill>
              </a:rPr>
              <a:t>(Reference Guide Chapter 23)</a:t>
            </a:r>
            <a:endParaRPr lang="en-US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116860A-B2FE-88A4-5442-000AD1C2DC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Introduction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FD06690-20D4-5527-26DD-E2A0FB321B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Lab Lecture 6  –  Analog – Digital Programming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E9B28C-29CC-34C1-E4FF-9D7E682692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B16682-6FB4-4344-B037-3C8A3CEB850D}" type="slidenum">
              <a:rPr lang="en-US" altLang="en-US" smtClean="0"/>
              <a:pPr/>
              <a:t>2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231E71-4AE7-D35A-572E-190C3CA3C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altLang="en-US"/>
              <a:t>CG2271 Lab Lecture 6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7243475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57E1BF8-1E92-2FE0-C875-62A485384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Introduction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46E9A28-2AD0-2D0E-6B73-EA6AC13326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In Lab Lecture 5 we saw how to generate “</a:t>
            </a:r>
            <a:r>
              <a:rPr lang="en-SG" dirty="0" err="1"/>
              <a:t>analog</a:t>
            </a:r>
            <a:r>
              <a:rPr lang="en-SG" dirty="0"/>
              <a:t>” output using the Timer/PWM Modules (TPMs).</a:t>
            </a:r>
          </a:p>
          <a:p>
            <a:r>
              <a:rPr lang="en-SG" dirty="0"/>
              <a:t>In this lecture we will look at the Analog-Digital Converter (ADC) on the MCXC444.</a:t>
            </a:r>
          </a:p>
          <a:p>
            <a:pPr lvl="1"/>
            <a:r>
              <a:rPr lang="en-SG" dirty="0"/>
              <a:t>We will read the visible light sensor on the FRDM-MCXC444 board and use this to control the brightness of the RGB LED.</a:t>
            </a:r>
          </a:p>
          <a:p>
            <a:pPr lvl="1"/>
            <a:r>
              <a:rPr lang="en-SG" dirty="0"/>
              <a:t>Please see Lab Lectures 4 and 5 on how to configure the TPMs to generate PWM to </a:t>
            </a:r>
            <a:r>
              <a:rPr lang="en-SG"/>
              <a:t>control the LEDs.</a:t>
            </a:r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C38906-C844-7DDD-ABDE-A4BCF73A81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6DC585-B3F4-4B1B-8C67-9C227CDAE85B}" type="slidenum">
              <a:rPr lang="en-US" altLang="en-US" smtClean="0"/>
              <a:pPr/>
              <a:t>3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EBE5D3-4E66-6879-D57C-C34D82C83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CG2271 Lab Lecture 6</a:t>
            </a:r>
          </a:p>
        </p:txBody>
      </p:sp>
    </p:spTree>
    <p:extLst>
      <p:ext uri="{BB962C8B-B14F-4D97-AF65-F5344CB8AC3E}">
        <p14:creationId xmlns:p14="http://schemas.microsoft.com/office/powerpoint/2010/main" val="26136347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378258-DEDB-898D-FC96-0B4532078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ADC Features on the MCXC444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4E3D9F-69C9-16FD-8BA5-CAA13E05DC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Successive Approximation.</a:t>
            </a:r>
          </a:p>
          <a:p>
            <a:r>
              <a:rPr lang="en-US" dirty="0"/>
              <a:t>Up to 24 channels, with up to 16 bits of resolution per channel.</a:t>
            </a:r>
          </a:p>
          <a:p>
            <a:pPr lvl="1"/>
            <a:r>
              <a:rPr lang="en-US" dirty="0"/>
              <a:t>Analog inputs 0 to 3 can operate in “differential mode”.</a:t>
            </a:r>
          </a:p>
          <a:p>
            <a:pPr lvl="2"/>
            <a:r>
              <a:rPr lang="en-US" dirty="0"/>
              <a:t>Measures voltages relative between two pins, rather than relative to ground.</a:t>
            </a:r>
          </a:p>
          <a:p>
            <a:pPr lvl="2"/>
            <a:r>
              <a:rPr lang="en-US" dirty="0"/>
              <a:t>Provides more accurate measurements</a:t>
            </a:r>
          </a:p>
          <a:p>
            <a:pPr lvl="2"/>
            <a:r>
              <a:rPr lang="en-US" dirty="0"/>
              <a:t>Using differential mode reduces the total number of ADC channels available.</a:t>
            </a:r>
          </a:p>
          <a:p>
            <a:pPr lvl="1"/>
            <a:r>
              <a:rPr lang="en-US" dirty="0"/>
              <a:t>Other inputs operate in single ended mode.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9DEBA0-97CE-F9EA-F09B-437388862EC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B16682-6FB4-4344-B037-3C8A3CEB850D}" type="slidenum">
              <a:rPr lang="en-US" altLang="en-US" smtClean="0"/>
              <a:pPr/>
              <a:t>4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75F8AC-DE2E-9243-5E39-751FFBC35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altLang="en-US"/>
              <a:t>CG2271 Lab Lecture 6</a:t>
            </a: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851558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F0330F-615E-07BB-1158-DB0481C693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F853A6-6C26-0E20-DE8D-2B0FF7B2F4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ADC Features on the MCXC444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181598-ABD0-C00B-9810-27DD98AAF8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ADC input pins are spread around the MCXC444 chip – Note that not all 24 inputs are available (e.g. ADC0_SE10 does not exist)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3354E8-CA77-39E1-8BB7-359306FC72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B16682-6FB4-4344-B037-3C8A3CEB850D}" type="slidenum">
              <a:rPr lang="en-US" altLang="en-US" smtClean="0"/>
              <a:pPr/>
              <a:t>5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A1D106-1CAF-9FBA-23B8-D77B33B5FC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altLang="en-US"/>
              <a:t>CG2271 Lab Lecture 6</a:t>
            </a:r>
            <a:endParaRPr lang="en-US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C05EEF7-5021-2FA0-0D31-28DE28DF73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0013" y="2461510"/>
            <a:ext cx="6800850" cy="3939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125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C1DE54-7A17-7533-EDA7-77EB1843BA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6C02D2-8A00-A288-FF4B-A22F7E9F6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ADC Features on the MCXC444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B658F7-8000-0B8A-C7C5-8A2B8362E4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Note the existence of “a” and “b” versions of some pins, e.g. ADC0_SE7a and ADC0_SE7b.</a:t>
            </a:r>
          </a:p>
          <a:p>
            <a:pPr lvl="1"/>
            <a:r>
              <a:rPr lang="en-US" dirty="0"/>
              <a:t>“b” pins are controlled using the ADC0_SC1b status and control register (see later), while all other pins are controlled using ADC0_SC1a.</a:t>
            </a:r>
          </a:p>
          <a:p>
            <a:pPr lvl="1"/>
            <a:r>
              <a:rPr lang="en-US" dirty="0"/>
              <a:t>ADC conversion on the “b” pins can only be triggered by internal hardware.</a:t>
            </a:r>
          </a:p>
          <a:p>
            <a:pPr lvl="2"/>
            <a:r>
              <a:rPr lang="en-US" dirty="0"/>
              <a:t>I.e. We cannot start conversion on the “b” pins through programming.</a:t>
            </a:r>
          </a:p>
          <a:p>
            <a:pPr lvl="2"/>
            <a:r>
              <a:rPr lang="en-US" dirty="0"/>
              <a:t>Conversion on the ”a” and other pins can be triggered by both internal hardware and software.</a:t>
            </a:r>
          </a:p>
          <a:p>
            <a:pPr lvl="2"/>
            <a:endParaRPr lang="en-US" dirty="0"/>
          </a:p>
          <a:p>
            <a:pPr lvl="1"/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F32DCA-E704-208B-F2E9-BC6840693EF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B16682-6FB4-4344-B037-3C8A3CEB850D}" type="slidenum">
              <a:rPr lang="en-US" altLang="en-US" smtClean="0"/>
              <a:pPr/>
              <a:t>6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A8F8E9-A494-7FAB-5CD7-34F8A56EAE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altLang="en-US"/>
              <a:t>CG2271 Lab Lecture 6</a:t>
            </a: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123340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5B9427-306F-ED71-5889-BAAD92751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CDF80-8D44-CAC9-D850-77632682A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ADC Features on the MCXC444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427E7D-81C9-474E-6ADE-182EB87373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B16682-6FB4-4344-B037-3C8A3CEB850D}" type="slidenum">
              <a:rPr lang="en-US" altLang="en-US" smtClean="0"/>
              <a:pPr/>
              <a:t>7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F194DC-01C5-0D08-B4CB-ED8775666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altLang="en-US"/>
              <a:t>CG2271 Lab Lecture 6</a:t>
            </a:r>
            <a:endParaRPr lang="en-US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A4FA1EA-2FC4-05EE-D6FD-008F3882B3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400" y="990600"/>
            <a:ext cx="4506070" cy="515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36520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69103-DBAC-1379-5188-E41CF0CA1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Configuring the ADC Module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D6C96B-8C8D-1777-40AE-3E6F5BA3C4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FRDM-MCXC444 board has a light sensor connected to ADC0_SE3 on PTE22.</a:t>
            </a:r>
          </a:p>
          <a:p>
            <a:pPr lvl="1"/>
            <a:r>
              <a:rPr lang="en-US" dirty="0"/>
              <a:t>Our examples will assume we are using this pin.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84C552-E64A-CEE1-CF25-8FDE4689F87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B16682-6FB4-4344-B037-3C8A3CEB850D}" type="slidenum">
              <a:rPr lang="en-US" altLang="en-US" smtClean="0"/>
              <a:pPr/>
              <a:t>8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E4169F-994B-C6FC-950B-3C06B69D6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altLang="en-US"/>
              <a:t>CG2271 Lab Lecture 6</a:t>
            </a:r>
            <a:endParaRPr lang="en-US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CD539FD-8582-A651-1D3F-335B132494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621" y="3183815"/>
            <a:ext cx="8670758" cy="469666"/>
          </a:xfrm>
          <a:prstGeom prst="rect">
            <a:avLst/>
          </a:prstGeom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20452CBB-C73D-17CC-5EDA-3023655B9605}"/>
              </a:ext>
            </a:extLst>
          </p:cNvPr>
          <p:cNvSpPr/>
          <p:nvPr/>
        </p:nvSpPr>
        <p:spPr>
          <a:xfrm>
            <a:off x="457200" y="3418648"/>
            <a:ext cx="8450179" cy="315152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19446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75DE46-26F4-7666-68E9-FF2C62AB72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ADC Clock Gating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7A5DB3-1281-D47C-EFA9-B1448D9E2C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Clock gating is controlled by SIM_SCGC6; we need to turn this on: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We are accessing PTE22, so we turn on the clock to PORTE on SIM_SCGC5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FA6A37-E285-D958-A709-A360681E8A8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B16682-6FB4-4344-B037-3C8A3CEB850D}" type="slidenum">
              <a:rPr lang="en-US" altLang="en-US" smtClean="0"/>
              <a:pPr/>
              <a:t>9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CB9AEE-C5EF-FFCF-9198-BE97280848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altLang="en-US"/>
              <a:t>CG2271 Lab Lecture 6</a:t>
            </a:r>
            <a:endParaRPr lang="en-US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9537D5B-9B7D-C51E-7E60-F75DE0C229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133600"/>
            <a:ext cx="4978400" cy="635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EF909B6-8544-8D4D-7513-C8F9ACBF91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400550"/>
            <a:ext cx="7137400" cy="1511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5489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F8FF39-27ED-35E1-43D3-83F55E3B34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0CE0C-270E-72FB-AE34-D4A05B9B5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ADC Pin Configuration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C82303-82E9-7865-2261-281B88E554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Select the correct ALT value (ALT0) for the ADC pin you want to use (PTE22 in our example)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4C2C2F-BA03-9BF6-EF8A-BE76A26347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B16682-6FB4-4344-B037-3C8A3CEB850D}" type="slidenum">
              <a:rPr lang="en-US" altLang="en-US" smtClean="0"/>
              <a:pPr/>
              <a:t>10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A047A5-1BBD-739A-B9BC-310FE9C12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altLang="en-US"/>
              <a:t>CG2271 Lab Lecture 6</a:t>
            </a:r>
            <a:endParaRPr lang="en-US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30C1DB2-0819-ABAE-84C0-2942CA40EB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429000"/>
            <a:ext cx="6616700" cy="3683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2A7C4E3-8B2A-75E4-D56E-03FB33DAED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841750"/>
            <a:ext cx="5905500" cy="99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90804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62863-698F-18DC-4774-F90FDBEB8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ADC0_SC1a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B621C-914B-1DBA-C873-C4D7D7BB53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now need to configure the ADC first. We begin with Status and Control Register 1.</a:t>
            </a:r>
          </a:p>
          <a:p>
            <a:pPr lvl="1"/>
            <a:r>
              <a:rPr lang="en-US" dirty="0"/>
              <a:t>ADC0_SE3 is not a “b” pin, so we will configure ADC0_SC1a. In CMSIS it is accessible via: ADC0-&gt;SC1[0].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25014B-3DF0-AF1B-D675-7FB860E2287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B16682-6FB4-4344-B037-3C8A3CEB850D}" type="slidenum">
              <a:rPr lang="en-US" altLang="en-US" smtClean="0"/>
              <a:pPr/>
              <a:t>11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C7C2F9-B346-F69B-BF4D-DEDE7D29A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altLang="en-US"/>
              <a:t>CG2271 Lab Lecture 6</a:t>
            </a:r>
            <a:endParaRPr lang="en-US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0874315-A257-8002-FDCF-8D6F661BB2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429000"/>
            <a:ext cx="7772400" cy="2625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44663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65EABA-9BA7-E549-6C94-0C28CF46E7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ADC0_SC1a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2FFCD5-D4B5-5990-D314-650EFB1165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B16682-6FB4-4344-B037-3C8A3CEB850D}" type="slidenum">
              <a:rPr lang="en-US" altLang="en-US" smtClean="0"/>
              <a:pPr/>
              <a:t>12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2CF4A8-B819-0FC4-BBD5-FA2DD9167A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altLang="en-US"/>
              <a:t>CG2271 Lab Lecture 6</a:t>
            </a:r>
            <a:endParaRPr lang="en-US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E2746C6-7732-E826-7FFC-EAF6E33BCF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800" y="1059880"/>
            <a:ext cx="6032500" cy="5520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29039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09113-114D-4CDE-5A8A-5AC6F8A96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ADC0_SC1a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D89390-CB73-E855-3E52-BCC11F6422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B16682-6FB4-4344-B037-3C8A3CEB850D}" type="slidenum">
              <a:rPr lang="en-US" altLang="en-US" smtClean="0"/>
              <a:pPr/>
              <a:t>13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5E460D-A341-2E39-6336-34193935D2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altLang="en-US"/>
              <a:t>CG2271 Lab Lecture 6</a:t>
            </a:r>
            <a:endParaRPr lang="en-US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FA492A5-72D3-8411-F32C-B86578D5A1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0334" y="927100"/>
            <a:ext cx="5083331" cy="553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870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57044-FAD6-81F7-1DD7-DD2D70229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ADC0_SC1a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FF2365-D708-2C35-4E1A-607A7528B4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will choose the ADC channel later; for now,  we want to enable interrupts, and disable differential mode by setting AIEN to 1 and DIFF to 0: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EBE949-EF7A-61F7-B4B6-42D31F5C41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B16682-6FB4-4344-B037-3C8A3CEB850D}" type="slidenum">
              <a:rPr lang="en-US" altLang="en-US" smtClean="0"/>
              <a:pPr/>
              <a:t>14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61CE65-2917-8A52-BC44-E2290ED84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altLang="en-US"/>
              <a:t>CG2271 Lab Lecture 6</a:t>
            </a:r>
            <a:endParaRPr lang="en-US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B8F2D9B-0F40-24FA-F3AA-7A8A6012F3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048000"/>
            <a:ext cx="4927600" cy="2171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44721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86CEF7-3CA6-25F1-071F-31728ED19E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ADC0_CFG1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D48086-5DAB-ACDC-B76B-9FC36952E4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will now look at the ADC Configuration Register 1, which lets us choose the resolution, low power/normal power mode, long sample mode, etc.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76A802-4F34-208A-3A9B-4C915863BD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B16682-6FB4-4344-B037-3C8A3CEB850D}" type="slidenum">
              <a:rPr lang="en-US" altLang="en-US" smtClean="0"/>
              <a:pPr/>
              <a:t>15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2458F2-363E-BCF9-1B95-B0B040BFF7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altLang="en-US"/>
              <a:t>CG2271 Lab Lecture 6</a:t>
            </a:r>
            <a:endParaRPr lang="en-US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0C6998A-7CC5-9F67-1F90-6BF9F4B718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420533"/>
            <a:ext cx="7772400" cy="1370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17250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74DEA-BC12-E05D-4989-0103A6FEE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ADC0_CFG1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049B42-C252-799A-B173-B481B320885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B16682-6FB4-4344-B037-3C8A3CEB850D}" type="slidenum">
              <a:rPr lang="en-US" altLang="en-US" smtClean="0"/>
              <a:pPr/>
              <a:t>16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43DE5E-96B5-F0C1-C7A9-84667CD61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altLang="en-US"/>
              <a:t>CG2271 Lab Lecture 6</a:t>
            </a:r>
            <a:endParaRPr lang="en-US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B3D7B17-082A-BF08-9329-7B9212721F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650" y="1123950"/>
            <a:ext cx="6870700" cy="461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57481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1142-4115-AAB4-4FAD-B753B1DF3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ADC0_CFG1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79248E-471B-5C0A-9D49-DCFE583E92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B16682-6FB4-4344-B037-3C8A3CEB850D}" type="slidenum">
              <a:rPr lang="en-US" altLang="en-US" smtClean="0"/>
              <a:pPr/>
              <a:t>17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8C5DD6-3E25-0502-F3B2-BE8465BEC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altLang="en-US"/>
              <a:t>CG2271 Lab Lecture 6</a:t>
            </a:r>
            <a:endParaRPr lang="en-US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3CA0358-43C7-C76A-599D-466A5CBB90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0950" y="1282700"/>
            <a:ext cx="6642100" cy="429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66277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267E-FC50-1F02-19F0-BCE921F18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ADC0_CFG1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70A378-20CF-E677-4125-57800C0C35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will keep everything as default, but use a 12-bit resolution</a:t>
            </a:r>
            <a:r>
              <a:rPr lang="en-US" dirty="0">
                <a:sym typeface="Wingdings" pitchFamily="2" charset="2"/>
              </a:rPr>
              <a:t> (0b01):</a:t>
            </a:r>
          </a:p>
          <a:p>
            <a:endParaRPr lang="en-US" dirty="0">
              <a:sym typeface="Wingdings" pitchFamily="2" charset="2"/>
            </a:endParaRPr>
          </a:p>
          <a:p>
            <a:endParaRPr lang="en-US" dirty="0">
              <a:sym typeface="Wingdings" pitchFamily="2" charset="2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47A04F-C3EF-0700-3CE4-CB5EB0B040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B16682-6FB4-4344-B037-3C8A3CEB850D}" type="slidenum">
              <a:rPr lang="en-US" altLang="en-US" smtClean="0"/>
              <a:pPr/>
              <a:t>18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B005C8-EE92-BE89-B20F-B9EAE0E50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altLang="en-US"/>
              <a:t>CG2271 Lab Lecture 6</a:t>
            </a:r>
            <a:endParaRPr lang="en-US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F51167B-A936-35E8-FF12-16FE71CC23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981199"/>
            <a:ext cx="6096000" cy="1179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1274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9352F-C264-B5E2-8BDA-2A2F576A9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ADC0_SC2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56E00-1DDA-044C-3BB6-BE78DA337E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Status and Control Register (ADC0_SC2) lets us choose whether to trigger the conversion in software or via internal hardware, and choose the reference voltage source, amongst other things.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4D387A-4D45-DAAE-A61D-5900F3119C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B16682-6FB4-4344-B037-3C8A3CEB850D}" type="slidenum">
              <a:rPr lang="en-US" altLang="en-US" smtClean="0"/>
              <a:pPr/>
              <a:t>19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4E9972-F644-FEF9-CC85-31B1678FD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altLang="en-US"/>
              <a:t>CG2271 Lab Lecture 6</a:t>
            </a:r>
            <a:endParaRPr lang="en-US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B4DC39A-7312-3A80-748F-2B4574ECB2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3447661"/>
            <a:ext cx="7239000" cy="2850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32784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4C260D-DF41-2B88-B4B0-4AD033E3D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ADC0_SC2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807CED-643D-09DB-B19E-2C76ADC53E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B16682-6FB4-4344-B037-3C8A3CEB850D}" type="slidenum">
              <a:rPr lang="en-US" altLang="en-US" smtClean="0"/>
              <a:pPr/>
              <a:t>20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3E6AE1-68B8-6B1E-C7DE-7116D607E9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altLang="en-US"/>
              <a:t>CG2271 Lab Lecture 6</a:t>
            </a:r>
            <a:endParaRPr lang="en-US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C05D2F7-6FB8-FCDD-1919-E315F0E1BE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47800"/>
            <a:ext cx="7772400" cy="2993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69906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E800D-A7E1-F369-B0D6-662E9EF04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ADC0_SC2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10144E-AE50-2D7B-1EFD-2F23C102FF4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B16682-6FB4-4344-B037-3C8A3CEB850D}" type="slidenum">
              <a:rPr lang="en-US" altLang="en-US" smtClean="0"/>
              <a:pPr/>
              <a:t>21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9E9B8F-AA69-EDBC-9BC7-8C4280ACF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altLang="en-US"/>
              <a:t>CG2271 Lab Lecture 6</a:t>
            </a:r>
            <a:endParaRPr lang="en-US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2700013-0311-AB15-3461-A47371FA63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990600"/>
            <a:ext cx="7365004" cy="5323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03190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6ED993-DFBE-A24C-2688-A5BC20DAF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ADC0_SC2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36DC3F-AD6D-FAC3-774B-700658D9D4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B16682-6FB4-4344-B037-3C8A3CEB850D}" type="slidenum">
              <a:rPr lang="en-US" altLang="en-US" smtClean="0"/>
              <a:pPr/>
              <a:t>22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A870CF-8389-FBE1-B8B0-DB143708A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altLang="en-US"/>
              <a:t>CG2271 Lab Lecture 6</a:t>
            </a:r>
            <a:endParaRPr lang="en-US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5B7FB2E-567E-822B-08A0-607841925E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037569"/>
            <a:ext cx="7772400" cy="2782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11349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1469C-E9EE-4F90-361D-5AF66EE736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ADC_SC2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94D5BC-B437-0900-360C-234F3C26C8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are interested in two fields in ADC0_SC2:</a:t>
            </a:r>
          </a:p>
          <a:p>
            <a:pPr lvl="1"/>
            <a:r>
              <a:rPr lang="en-US" dirty="0"/>
              <a:t>ADTRG: Select between software or hardware to trigger conversion.</a:t>
            </a:r>
          </a:p>
          <a:p>
            <a:pPr lvl="2"/>
            <a:r>
              <a:rPr lang="en-US" dirty="0"/>
              <a:t>We want to trigger in software by writing to ADC0_SC1.</a:t>
            </a:r>
          </a:p>
          <a:p>
            <a:pPr lvl="1"/>
            <a:r>
              <a:rPr lang="en-US" dirty="0"/>
              <a:t>REFSEL: Choose reference voltage.</a:t>
            </a:r>
          </a:p>
          <a:p>
            <a:pPr lvl="2"/>
            <a:r>
              <a:rPr lang="en-US" dirty="0"/>
              <a:t>The FRDM-MCXC444 board uses the alternate voltage reference VALTH and VALTL rather than the default voltage reference VREFH and VREFL.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B13454-2D34-7535-D461-FB76F0EDFA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B16682-6FB4-4344-B037-3C8A3CEB850D}" type="slidenum">
              <a:rPr lang="en-US" altLang="en-US" smtClean="0"/>
              <a:pPr/>
              <a:t>23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1DDF1F-9070-F84B-DE20-817417265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altLang="en-US"/>
              <a:t>CG2271 Lab Lecture 6</a:t>
            </a:r>
            <a:endParaRPr lang="en-US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5DBD87D-C1A3-626A-EEF2-65E700241D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4500" y="4419600"/>
            <a:ext cx="4927600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6676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1AEEA-74CB-588A-BD01-C22B03EF7F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ADC0_SC3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CF173-5DA4-9515-1338-475E2DBFA6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Status and Control Register 3 (ADC0_SC3) lets us control calibration, averaging and continuous conversion.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732A07-0430-D3CF-80FD-951B251843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B16682-6FB4-4344-B037-3C8A3CEB850D}" type="slidenum">
              <a:rPr lang="en-US" altLang="en-US" smtClean="0"/>
              <a:pPr/>
              <a:t>24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E0D390-64A6-C373-B456-4F936B127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altLang="en-US"/>
              <a:t>CG2271 Lab Lecture 6</a:t>
            </a:r>
            <a:endParaRPr lang="en-US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06336DE-FF7A-27EB-0182-98E938E385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819400"/>
            <a:ext cx="7772400" cy="2178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04544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1EFA09-B6B8-D63C-2826-7E9BE54392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ADC0_SC3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DA58B0-D5FC-1345-ECCA-39320BA1930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B16682-6FB4-4344-B037-3C8A3CEB850D}" type="slidenum">
              <a:rPr lang="en-US" altLang="en-US" smtClean="0"/>
              <a:pPr/>
              <a:t>25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0B825A-AFBE-911C-CAE3-89C94A4E1E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altLang="en-US"/>
              <a:t>CG2271 Lab Lecture 6</a:t>
            </a:r>
            <a:endParaRPr lang="en-US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2DB6291-48CA-DF6D-921E-62B3297CF9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793658"/>
            <a:ext cx="7772400" cy="3270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08536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6251E-FD3F-5BD7-AF67-2676A581F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ADC0_SC3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39971E-3BD5-C497-A9FA-7A1B184DFEF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B16682-6FB4-4344-B037-3C8A3CEB850D}" type="slidenum">
              <a:rPr lang="en-US" altLang="en-US" smtClean="0"/>
              <a:pPr/>
              <a:t>26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63A4A0-814F-4F2D-788C-9E05400F22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altLang="en-US"/>
              <a:t>CG2271 Lab Lecture 6</a:t>
            </a:r>
            <a:endParaRPr lang="en-US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6762A99-EAAE-48D9-7AFF-2C25460EE1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049317"/>
            <a:ext cx="7772400" cy="4759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373044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1A5A8-F0AD-7A01-B549-7FA6806082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ADC0_SC3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EB13B0-17A8-912C-A459-B58F14B856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ADC0 can average across 4, 8, 16 or 32 samples to produce its value.</a:t>
            </a:r>
          </a:p>
          <a:p>
            <a:pPr lvl="1"/>
            <a:r>
              <a:rPr lang="en-US" dirty="0"/>
              <a:t>We aren’t interested in this, so we are going to turn off averaging.</a:t>
            </a:r>
          </a:p>
          <a:p>
            <a:r>
              <a:rPr lang="en-US" dirty="0"/>
              <a:t>We can do continuous conversion:</a:t>
            </a:r>
          </a:p>
          <a:p>
            <a:pPr lvl="1"/>
            <a:r>
              <a:rPr lang="en-US" dirty="0"/>
              <a:t>A new conversion begins after the previous ends.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1AA42B-EB85-6637-238A-0A3D0A16DF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B16682-6FB4-4344-B037-3C8A3CEB850D}" type="slidenum">
              <a:rPr lang="en-US" altLang="en-US" smtClean="0"/>
              <a:pPr/>
              <a:t>27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E25D5C-CD64-2666-0243-A1993F0AB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altLang="en-US"/>
              <a:t>CG2271 Lab Lecture 6</a:t>
            </a:r>
            <a:endParaRPr lang="en-US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D1450FD-A12F-9294-A71A-80AED43AF9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4250" y="4038600"/>
            <a:ext cx="4635500" cy="205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792153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1CD3C-F86E-8253-3FC0-2A7D7FFBE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Setting up IRQ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74CBFC-FB38-ABD2-78F7-5E9B968E56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ADC0 triggers the ADC0_IRQn interrupt if AIEN in ADC0_SC1 is set.</a:t>
            </a:r>
          </a:p>
          <a:p>
            <a:pPr lvl="1"/>
            <a:r>
              <a:rPr lang="en-US" dirty="0"/>
              <a:t>We set the priority number and enable interrupts: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50FAAB-0903-3D95-8569-B8DAC5825F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B16682-6FB4-4344-B037-3C8A3CEB850D}" type="slidenum">
              <a:rPr lang="en-US" altLang="en-US" smtClean="0"/>
              <a:pPr/>
              <a:t>28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9A5563-1A02-FF7A-1C13-C81876E65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altLang="en-US"/>
              <a:t>CG2271 Lab Lecture 6</a:t>
            </a:r>
            <a:endParaRPr lang="en-US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07B6363-9BEB-93B0-A922-790C40C58C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2734913"/>
            <a:ext cx="4724400" cy="207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101254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D07A8-CCEE-893B-E875-6A28591F8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Starting Conversion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06C90E-6DB3-482A-73E2-E312158C5D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ADCH field in ADC0_SC1 lets us choose which channel to convert:</a:t>
            </a:r>
          </a:p>
          <a:p>
            <a:pPr lvl="1"/>
            <a:r>
              <a:rPr lang="en-US" dirty="0"/>
              <a:t>Set to 0b11111 to stop conversions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Set to any other channel to start conversion.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A7F231-3B5C-0934-9852-CB2C642A15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B16682-6FB4-4344-B037-3C8A3CEB850D}" type="slidenum">
              <a:rPr lang="en-US" altLang="en-US" smtClean="0"/>
              <a:pPr/>
              <a:t>29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BA3121-781D-4633-311E-EE030F3D25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altLang="en-US"/>
              <a:t>CG2271 Lab Lecture 6</a:t>
            </a:r>
            <a:endParaRPr lang="en-US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415105C-6474-098C-D931-C0A4D85860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4500" y="2743200"/>
            <a:ext cx="5105400" cy="172429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6294BAB-4569-346F-2241-29E8F44E95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6200" y="5451475"/>
            <a:ext cx="5842000" cy="69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550150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EFDEB6-39C3-59FC-0FC2-5E5C695C26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Getting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7F9DC2-D7C6-8CC7-DE4A-97120E10A9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have configured our ADC to trigger ADC0_IRQn each time conversion is completed.</a:t>
            </a:r>
          </a:p>
          <a:p>
            <a:pPr lvl="1"/>
            <a:r>
              <a:rPr lang="en-US" dirty="0"/>
              <a:t>Caught by the ADC0_IRQHandler ISR.</a:t>
            </a:r>
          </a:p>
          <a:p>
            <a:r>
              <a:rPr lang="en-US" dirty="0"/>
              <a:t>Must check the COCO (Conversion Complete) flag in ADC0_SC1a.</a:t>
            </a:r>
          </a:p>
          <a:p>
            <a:pPr lvl="1"/>
            <a:r>
              <a:rPr lang="en-US" dirty="0"/>
              <a:t>Actual result can be read from ADC0_Ra (ADC0-&gt;R[0])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930131-C9F9-B41D-F91F-41D3B976C1B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B16682-6FB4-4344-B037-3C8A3CEB850D}" type="slidenum">
              <a:rPr lang="en-US" altLang="en-US" smtClean="0"/>
              <a:pPr/>
              <a:t>30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2F4871-39D6-F8BF-2337-3BC2712EE5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altLang="en-US"/>
              <a:t>CG2271 Lab Lecture 6</a:t>
            </a:r>
            <a:endParaRPr lang="en-US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CA4F312-68CC-6D1E-5C19-D9AAFB4413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9400" y="4419600"/>
            <a:ext cx="5253318" cy="1774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049222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16E4A-1211-3C0E-3E8C-BCD6B8C9A5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Getting Results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0E0623-24C1-B988-FB43-B6151928A95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B16682-6FB4-4344-B037-3C8A3CEB850D}" type="slidenum">
              <a:rPr lang="en-US" altLang="en-US" smtClean="0"/>
              <a:pPr/>
              <a:t>31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467F44-1C58-81C3-B5B8-E18C3E8B9F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altLang="en-US"/>
              <a:t>CG2271 Lab Lecture 6</a:t>
            </a:r>
            <a:endParaRPr lang="en-US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0C11633-7E5B-B2FE-C136-016B879DB4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317625"/>
            <a:ext cx="6502400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000963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8920E-F30C-6115-A19F-10644D09A4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8D55B1-6C61-077B-5AE3-5EDDE91A63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this chapter we looked at how to program the Analog to Digital Convertor (ADC) on the MCXC444.</a:t>
            </a:r>
          </a:p>
          <a:p>
            <a:r>
              <a:rPr lang="en-US" dirty="0"/>
              <a:t>In the next chapter we will look at how to do serial communications </a:t>
            </a:r>
            <a:r>
              <a:rPr lang="en-US"/>
              <a:t>on the MCXC444.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36CB97-1456-9CEB-3E64-2003A4D562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B16682-6FB4-4344-B037-3C8A3CEB850D}" type="slidenum">
              <a:rPr lang="en-US" altLang="en-US" smtClean="0"/>
              <a:pPr/>
              <a:t>32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A8DD60-10E7-F733-D3FA-8FEAF89184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altLang="en-US"/>
              <a:t>CG2271 Lab Lecture 6</a:t>
            </a: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97037709"/>
      </p:ext>
    </p:extLst>
  </p:cSld>
  <p:clrMapOvr>
    <a:masterClrMapping/>
  </p:clrMapOvr>
</p:sld>
</file>

<file path=ppt/theme/theme1.xml><?xml version="1.0" encoding="utf-8"?>
<a:theme xmlns:a="http://schemas.openxmlformats.org/drawingml/2006/main" name="L1 - Basic of C++">
  <a:themeElements>
    <a:clrScheme name="L1 - Basic of C++ 9">
      <a:dk1>
        <a:srgbClr val="000000"/>
      </a:dk1>
      <a:lt1>
        <a:srgbClr val="FFFFFF"/>
      </a:lt1>
      <a:dk2>
        <a:srgbClr val="003399"/>
      </a:dk2>
      <a:lt2>
        <a:srgbClr val="666699"/>
      </a:lt2>
      <a:accent1>
        <a:srgbClr val="009999"/>
      </a:accent1>
      <a:accent2>
        <a:srgbClr val="4C6D4E"/>
      </a:accent2>
      <a:accent3>
        <a:srgbClr val="FFFFFF"/>
      </a:accent3>
      <a:accent4>
        <a:srgbClr val="000000"/>
      </a:accent4>
      <a:accent5>
        <a:srgbClr val="AACACA"/>
      </a:accent5>
      <a:accent6>
        <a:srgbClr val="446246"/>
      </a:accent6>
      <a:hlink>
        <a:srgbClr val="4C6D80"/>
      </a:hlink>
      <a:folHlink>
        <a:srgbClr val="B2B2B2"/>
      </a:folHlink>
    </a:clrScheme>
    <a:fontScheme name="L1 - Basic of C++">
      <a:majorFont>
        <a:latin typeface="Garamond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L1 - Basic of C++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1 - Basic of C++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1 - Basic of C++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1 - Basic of C++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1 - Basic of C++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1 - Basic of C++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1 - Basic of C++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 - Basic of C++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1 - Basic of C++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Edge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Edge">
      <a:majorFont>
        <a:latin typeface="Garamond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>
          <a:solidFill>
            <a:srgbClr val="C00000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>
          <a:solidFill>
            <a:srgbClr val="C00000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15469</TotalTime>
  <Words>1083</Words>
  <Application>Microsoft Macintosh PowerPoint</Application>
  <PresentationFormat>On-screen Show (4:3)</PresentationFormat>
  <Paragraphs>160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32</vt:i4>
      </vt:variant>
    </vt:vector>
  </HeadingPairs>
  <TitlesOfParts>
    <vt:vector size="42" baseType="lpstr">
      <vt:lpstr>Arial</vt:lpstr>
      <vt:lpstr>Arial Black</vt:lpstr>
      <vt:lpstr>Calibri</vt:lpstr>
      <vt:lpstr>Calibri Light</vt:lpstr>
      <vt:lpstr>Garamond</vt:lpstr>
      <vt:lpstr>Wingdings</vt:lpstr>
      <vt:lpstr>Wingdings 2</vt:lpstr>
      <vt:lpstr>L1 - Basic of C++</vt:lpstr>
      <vt:lpstr>Edge</vt:lpstr>
      <vt:lpstr>HDOfficeLightV0</vt:lpstr>
      <vt:lpstr>CG2271 Real Time Operating Systems</vt:lpstr>
      <vt:lpstr>Introduction</vt:lpstr>
      <vt:lpstr>Introduction</vt:lpstr>
      <vt:lpstr>ADC Features on the MCXC444</vt:lpstr>
      <vt:lpstr>ADC Features on the MCXC444</vt:lpstr>
      <vt:lpstr>ADC Features on the MCXC444</vt:lpstr>
      <vt:lpstr>ADC Features on the MCXC444</vt:lpstr>
      <vt:lpstr>Configuring the ADC Module</vt:lpstr>
      <vt:lpstr>ADC Clock Gating</vt:lpstr>
      <vt:lpstr>ADC Pin Configuration</vt:lpstr>
      <vt:lpstr>ADC0_SC1a</vt:lpstr>
      <vt:lpstr>ADC0_SC1a</vt:lpstr>
      <vt:lpstr>ADC0_SC1a</vt:lpstr>
      <vt:lpstr>ADC0_SC1a</vt:lpstr>
      <vt:lpstr>ADC0_CFG1</vt:lpstr>
      <vt:lpstr>ADC0_CFG1</vt:lpstr>
      <vt:lpstr>ADC0_CFG1</vt:lpstr>
      <vt:lpstr>ADC0_CFG1</vt:lpstr>
      <vt:lpstr>ADC0_SC2</vt:lpstr>
      <vt:lpstr>ADC0_SC2</vt:lpstr>
      <vt:lpstr>ADC0_SC2</vt:lpstr>
      <vt:lpstr>ADC0_SC2</vt:lpstr>
      <vt:lpstr>ADC_SC2</vt:lpstr>
      <vt:lpstr>ADC0_SC3</vt:lpstr>
      <vt:lpstr>ADC0_SC3</vt:lpstr>
      <vt:lpstr>ADC0_SC3</vt:lpstr>
      <vt:lpstr>ADC0_SC3</vt:lpstr>
      <vt:lpstr>Setting up IRQ</vt:lpstr>
      <vt:lpstr>Starting Conversion</vt:lpstr>
      <vt:lpstr>Getting Results</vt:lpstr>
      <vt:lpstr>Getting Results</vt:lpstr>
      <vt:lpstr>Conclusion</vt:lpstr>
    </vt:vector>
  </TitlesOfParts>
  <Company>NUS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Soo Yuen Jien</dc:creator>
  <cp:lastModifiedBy>Tan Keng Yan, Colin</cp:lastModifiedBy>
  <cp:revision>313</cp:revision>
  <dcterms:created xsi:type="dcterms:W3CDTF">2009-01-07T10:53:41Z</dcterms:created>
  <dcterms:modified xsi:type="dcterms:W3CDTF">2025-08-04T02:53:02Z</dcterms:modified>
</cp:coreProperties>
</file>