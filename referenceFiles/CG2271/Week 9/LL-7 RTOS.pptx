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9" r:id="rId1"/>
    <p:sldMasterId id="2147483707" r:id="rId2"/>
    <p:sldMasterId id="2147483720" r:id="rId3"/>
  </p:sldMasterIdLst>
  <p:notesMasterIdLst>
    <p:notesMasterId r:id="rId36"/>
  </p:notesMasterIdLst>
  <p:sldIdLst>
    <p:sldId id="256" r:id="rId4"/>
    <p:sldId id="269" r:id="rId5"/>
    <p:sldId id="355" r:id="rId6"/>
    <p:sldId id="356" r:id="rId7"/>
    <p:sldId id="361" r:id="rId8"/>
    <p:sldId id="377" r:id="rId9"/>
    <p:sldId id="362" r:id="rId10"/>
    <p:sldId id="363" r:id="rId11"/>
    <p:sldId id="364" r:id="rId12"/>
    <p:sldId id="365" r:id="rId13"/>
    <p:sldId id="366" r:id="rId14"/>
    <p:sldId id="367" r:id="rId15"/>
    <p:sldId id="370" r:id="rId16"/>
    <p:sldId id="368" r:id="rId17"/>
    <p:sldId id="369" r:id="rId18"/>
    <p:sldId id="371" r:id="rId19"/>
    <p:sldId id="372" r:id="rId20"/>
    <p:sldId id="373" r:id="rId21"/>
    <p:sldId id="374" r:id="rId22"/>
    <p:sldId id="375" r:id="rId23"/>
    <p:sldId id="376" r:id="rId24"/>
    <p:sldId id="382" r:id="rId25"/>
    <p:sldId id="378" r:id="rId26"/>
    <p:sldId id="388" r:id="rId27"/>
    <p:sldId id="379" r:id="rId28"/>
    <p:sldId id="380" r:id="rId29"/>
    <p:sldId id="381" r:id="rId30"/>
    <p:sldId id="384" r:id="rId31"/>
    <p:sldId id="383" r:id="rId32"/>
    <p:sldId id="385" r:id="rId33"/>
    <p:sldId id="386" r:id="rId34"/>
    <p:sldId id="387" r:id="rId35"/>
  </p:sldIdLst>
  <p:sldSz cx="12192000" cy="6858000"/>
  <p:notesSz cx="7099300" cy="10234613"/>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98" autoAdjust="0"/>
    <p:restoredTop sz="94500"/>
  </p:normalViewPr>
  <p:slideViewPr>
    <p:cSldViewPr>
      <p:cViewPr varScale="1">
        <p:scale>
          <a:sx n="65" d="100"/>
          <a:sy n="65" d="100"/>
        </p:scale>
        <p:origin x="515" y="21"/>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a:defRPr sz="1300"/>
            </a:lvl1pPr>
          </a:lstStyle>
          <a:p>
            <a:endParaRPr lang="en-US" altLang="en-US"/>
          </a:p>
        </p:txBody>
      </p:sp>
      <p:sp>
        <p:nvSpPr>
          <p:cNvPr id="57347"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a:defRPr sz="1300"/>
            </a:lvl1pPr>
          </a:lstStyle>
          <a:p>
            <a:endParaRPr lang="en-US" altLang="en-US"/>
          </a:p>
        </p:txBody>
      </p:sp>
      <p:sp>
        <p:nvSpPr>
          <p:cNvPr id="57348"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7349"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7350"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a:defRPr sz="1300"/>
            </a:lvl1pPr>
          </a:lstStyle>
          <a:p>
            <a:endParaRPr lang="en-US" altLang="en-US"/>
          </a:p>
        </p:txBody>
      </p:sp>
      <p:sp>
        <p:nvSpPr>
          <p:cNvPr id="57351"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a:defRPr sz="1300"/>
            </a:lvl1pPr>
          </a:lstStyle>
          <a:p>
            <a:fld id="{77077CC8-28D7-419B-AFB3-DD18205363D6}" type="slidenum">
              <a:rPr lang="en-US" altLang="en-US"/>
              <a:pPr/>
              <a:t>‹#›</a:t>
            </a:fld>
            <a:endParaRPr lang="en-US" altLang="en-US"/>
          </a:p>
        </p:txBody>
      </p:sp>
    </p:spTree>
    <p:extLst>
      <p:ext uri="{BB962C8B-B14F-4D97-AF65-F5344CB8AC3E}">
        <p14:creationId xmlns:p14="http://schemas.microsoft.com/office/powerpoint/2010/main" val="25434018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6866" name="Rectangle 2"/>
          <p:cNvSpPr>
            <a:spLocks noGrp="1" noChangeArrowheads="1"/>
          </p:cNvSpPr>
          <p:nvPr>
            <p:ph type="ctrTitle"/>
          </p:nvPr>
        </p:nvSpPr>
        <p:spPr>
          <a:xfrm>
            <a:off x="1219201" y="1524000"/>
            <a:ext cx="10164233" cy="1752600"/>
          </a:xfrm>
        </p:spPr>
        <p:txBody>
          <a:bodyPr/>
          <a:lstStyle>
            <a:lvl1pPr>
              <a:defRPr sz="5000"/>
            </a:lvl1pPr>
          </a:lstStyle>
          <a:p>
            <a:pPr lvl="0"/>
            <a:r>
              <a:rPr lang="en-US" altLang="en-US" noProof="0"/>
              <a:t>Click to edit Master title style</a:t>
            </a:r>
          </a:p>
        </p:txBody>
      </p:sp>
      <p:sp>
        <p:nvSpPr>
          <p:cNvPr id="36867"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pPr lvl="0"/>
            <a:r>
              <a:rPr lang="en-US" altLang="en-US" noProof="0"/>
              <a:t>Click to edit Master subtitle style</a:t>
            </a:r>
          </a:p>
        </p:txBody>
      </p:sp>
      <p:sp>
        <p:nvSpPr>
          <p:cNvPr id="36868" name="Freeform 4"/>
          <p:cNvSpPr>
            <a:spLocks noChangeArrowheads="1"/>
          </p:cNvSpPr>
          <p:nvPr/>
        </p:nvSpPr>
        <p:spPr bwMode="auto">
          <a:xfrm>
            <a:off x="812800" y="1219200"/>
            <a:ext cx="10566400" cy="9144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36869" name="Line 5"/>
          <p:cNvSpPr>
            <a:spLocks noChangeShapeType="1"/>
          </p:cNvSpPr>
          <p:nvPr/>
        </p:nvSpPr>
        <p:spPr bwMode="auto">
          <a:xfrm>
            <a:off x="2641601" y="3962400"/>
            <a:ext cx="8682567"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Slide Number Placeholder 3"/>
          <p:cNvSpPr>
            <a:spLocks noGrp="1"/>
          </p:cNvSpPr>
          <p:nvPr>
            <p:ph type="sldNum" sz="quarter" idx="10"/>
          </p:nvPr>
        </p:nvSpPr>
        <p:spPr/>
        <p:txBody>
          <a:bodyPr/>
          <a:lstStyle>
            <a:lvl1pPr>
              <a:defRPr/>
            </a:lvl1pPr>
          </a:lstStyle>
          <a:p>
            <a:fld id="{6F0D8D79-08E0-48CA-9203-A37DB9B01E0E}"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2066833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lstStyle>
            <a:lvl1pPr algn="l">
              <a:defRPr sz="4000" b="1" cap="all"/>
            </a:lvl1pPr>
          </a:lstStyle>
          <a:p>
            <a:r>
              <a:rPr lang="en-US"/>
              <a:t>Click to edit Master title style</a:t>
            </a:r>
            <a:endParaRPr lang="en-SG"/>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lvl1pPr>
          </a:lstStyle>
          <a:p>
            <a:fld id="{E740D621-3521-4C00-9508-D1BF9CF0F093}"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1934130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609600" y="1219200"/>
            <a:ext cx="53848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6197600" y="1219200"/>
            <a:ext cx="53848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Slide Number Placeholder 4"/>
          <p:cNvSpPr>
            <a:spLocks noGrp="1"/>
          </p:cNvSpPr>
          <p:nvPr>
            <p:ph type="sldNum" sz="quarter" idx="10"/>
          </p:nvPr>
        </p:nvSpPr>
        <p:spPr/>
        <p:txBody>
          <a:bodyPr/>
          <a:lstStyle>
            <a:lvl1pPr>
              <a:defRPr/>
            </a:lvl1pPr>
          </a:lstStyle>
          <a:p>
            <a:fld id="{C80D4CE2-6DBC-47F2-BC92-D26F595DC398}" type="slidenum">
              <a:rPr lang="en-US" altLang="en-US"/>
              <a:pPr/>
              <a:t>‹#›</a:t>
            </a:fld>
            <a:endParaRPr lang="en-US" altLang="en-US"/>
          </a:p>
        </p:txBody>
      </p:sp>
      <p:sp>
        <p:nvSpPr>
          <p:cNvPr id="6" name="Footer Placeholder 5"/>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3394201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SG"/>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Slide Number Placeholder 6"/>
          <p:cNvSpPr>
            <a:spLocks noGrp="1"/>
          </p:cNvSpPr>
          <p:nvPr>
            <p:ph type="sldNum" sz="quarter" idx="10"/>
          </p:nvPr>
        </p:nvSpPr>
        <p:spPr/>
        <p:txBody>
          <a:bodyPr/>
          <a:lstStyle>
            <a:lvl1pPr>
              <a:defRPr/>
            </a:lvl1pPr>
          </a:lstStyle>
          <a:p>
            <a:fld id="{A094941A-1381-426D-8678-8110645A465C}" type="slidenum">
              <a:rPr lang="en-US" altLang="en-US"/>
              <a:pPr/>
              <a:t>‹#›</a:t>
            </a:fld>
            <a:endParaRPr lang="en-US" altLang="en-US"/>
          </a:p>
        </p:txBody>
      </p:sp>
      <p:sp>
        <p:nvSpPr>
          <p:cNvPr id="8" name="Footer Placeholder 7"/>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1703806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Slide Number Placeholder 2"/>
          <p:cNvSpPr>
            <a:spLocks noGrp="1"/>
          </p:cNvSpPr>
          <p:nvPr>
            <p:ph type="sldNum" sz="quarter" idx="10"/>
          </p:nvPr>
        </p:nvSpPr>
        <p:spPr/>
        <p:txBody>
          <a:bodyPr/>
          <a:lstStyle>
            <a:lvl1pPr>
              <a:defRPr/>
            </a:lvl1pPr>
          </a:lstStyle>
          <a:p>
            <a:fld id="{14584971-4E7E-49CD-A58B-4D6798B16E9E}" type="slidenum">
              <a:rPr lang="en-US" altLang="en-US"/>
              <a:pPr/>
              <a:t>‹#›</a:t>
            </a:fld>
            <a:endParaRPr lang="en-US" altLang="en-US"/>
          </a:p>
        </p:txBody>
      </p:sp>
      <p:sp>
        <p:nvSpPr>
          <p:cNvPr id="4" name="Footer Placeholder 3"/>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4082410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331B1802-8301-4F2A-8DDB-CE880733FF80}" type="slidenum">
              <a:rPr lang="en-US" altLang="en-US"/>
              <a:pPr/>
              <a:t>‹#›</a:t>
            </a:fld>
            <a:endParaRPr lang="en-US" altLang="en-US"/>
          </a:p>
        </p:txBody>
      </p:sp>
      <p:sp>
        <p:nvSpPr>
          <p:cNvPr id="3" name="Footer Placeholder 2"/>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679104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SG"/>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E1C0C41C-3BFF-4F00-9103-6A74971BCA1A}" type="slidenum">
              <a:rPr lang="en-US" altLang="en-US"/>
              <a:pPr/>
              <a:t>‹#›</a:t>
            </a:fld>
            <a:endParaRPr lang="en-US" altLang="en-US"/>
          </a:p>
        </p:txBody>
      </p:sp>
      <p:sp>
        <p:nvSpPr>
          <p:cNvPr id="6" name="Footer Placeholder 5"/>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326312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SG"/>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4E13FA90-484E-4DE3-B424-C392F04A17A7}" type="slidenum">
              <a:rPr lang="en-US" altLang="en-US"/>
              <a:pPr/>
              <a:t>‹#›</a:t>
            </a:fld>
            <a:endParaRPr lang="en-US" altLang="en-US"/>
          </a:p>
        </p:txBody>
      </p:sp>
      <p:sp>
        <p:nvSpPr>
          <p:cNvPr id="6" name="Footer Placeholder 5"/>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4213621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Slide Number Placeholder 3"/>
          <p:cNvSpPr>
            <a:spLocks noGrp="1"/>
          </p:cNvSpPr>
          <p:nvPr>
            <p:ph type="sldNum" sz="quarter" idx="10"/>
          </p:nvPr>
        </p:nvSpPr>
        <p:spPr/>
        <p:txBody>
          <a:bodyPr/>
          <a:lstStyle>
            <a:lvl1pPr>
              <a:defRPr/>
            </a:lvl1pPr>
          </a:lstStyle>
          <a:p>
            <a:fld id="{353736A7-1CF8-489E-892E-251703C596F5}"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480392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28600"/>
            <a:ext cx="2743200" cy="6324600"/>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609600" y="228600"/>
            <a:ext cx="802640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Slide Number Placeholder 3"/>
          <p:cNvSpPr>
            <a:spLocks noGrp="1"/>
          </p:cNvSpPr>
          <p:nvPr>
            <p:ph type="sldNum" sz="quarter" idx="10"/>
          </p:nvPr>
        </p:nvSpPr>
        <p:spPr/>
        <p:txBody>
          <a:bodyPr/>
          <a:lstStyle>
            <a:lvl1pPr>
              <a:defRPr/>
            </a:lvl1pPr>
          </a:lstStyle>
          <a:p>
            <a:fld id="{98DB63F7-3E41-4A34-957B-2A3C4747AE5E}"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1632308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1219201" y="1524000"/>
            <a:ext cx="10164233" cy="1752600"/>
          </a:xfrm>
        </p:spPr>
        <p:txBody>
          <a:bodyPr/>
          <a:lstStyle>
            <a:lvl1pPr>
              <a:defRPr sz="5000"/>
            </a:lvl1pPr>
          </a:lstStyle>
          <a:p>
            <a:pPr lvl="0"/>
            <a:r>
              <a:rPr lang="en-US" altLang="en-US" noProof="0"/>
              <a:t>Click to edit Master title style</a:t>
            </a:r>
          </a:p>
        </p:txBody>
      </p:sp>
      <p:sp>
        <p:nvSpPr>
          <p:cNvPr id="8195"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pPr lvl="0"/>
            <a:r>
              <a:rPr lang="en-US" altLang="en-US" noProof="0"/>
              <a:t>Click to edit Master subtitle style</a:t>
            </a:r>
          </a:p>
        </p:txBody>
      </p:sp>
      <p:sp>
        <p:nvSpPr>
          <p:cNvPr id="8196" name="Freeform 4"/>
          <p:cNvSpPr>
            <a:spLocks noChangeArrowheads="1"/>
          </p:cNvSpPr>
          <p:nvPr/>
        </p:nvSpPr>
        <p:spPr bwMode="auto">
          <a:xfrm>
            <a:off x="812800" y="1219200"/>
            <a:ext cx="10566400" cy="9144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8197" name="Line 5"/>
          <p:cNvSpPr>
            <a:spLocks noChangeShapeType="1"/>
          </p:cNvSpPr>
          <p:nvPr/>
        </p:nvSpPr>
        <p:spPr bwMode="auto">
          <a:xfrm>
            <a:off x="2641601" y="3962400"/>
            <a:ext cx="8682567"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a:p>
        </p:txBody>
      </p:sp>
      <p:sp>
        <p:nvSpPr>
          <p:cNvPr id="8198" name="Rectangle 6"/>
          <p:cNvSpPr>
            <a:spLocks noChangeArrowheads="1"/>
          </p:cNvSpPr>
          <p:nvPr/>
        </p:nvSpPr>
        <p:spPr bwMode="auto">
          <a:xfrm>
            <a:off x="11480800" y="6400800"/>
            <a:ext cx="71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r"/>
            <a:fld id="{2B9BC0BA-7162-46C8-A117-543B5FF937FE}" type="slidenum">
              <a:rPr lang="en-US" altLang="en-US" sz="1400" b="1">
                <a:latin typeface="Garamond" pitchFamily="18" charset="0"/>
              </a:rPr>
              <a:pPr algn="r"/>
              <a:t>‹#›</a:t>
            </a:fld>
            <a:endParaRPr lang="en-US" altLang="en-US" sz="1400" b="1">
              <a:latin typeface="Garamond" pitchFamily="18" charset="0"/>
            </a:endParaRPr>
          </a:p>
        </p:txBody>
      </p:sp>
    </p:spTree>
    <p:extLst>
      <p:ext uri="{BB962C8B-B14F-4D97-AF65-F5344CB8AC3E}">
        <p14:creationId xmlns:p14="http://schemas.microsoft.com/office/powerpoint/2010/main" val="137695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Slide Number Placeholder 3"/>
          <p:cNvSpPr>
            <a:spLocks noGrp="1"/>
          </p:cNvSpPr>
          <p:nvPr>
            <p:ph type="sldNum" sz="quarter" idx="10"/>
          </p:nvPr>
        </p:nvSpPr>
        <p:spPr/>
        <p:txBody>
          <a:bodyPr/>
          <a:lstStyle>
            <a:lvl1pPr>
              <a:defRPr/>
            </a:lvl1pPr>
          </a:lstStyle>
          <a:p>
            <a:fld id="{E4B16682-6FB4-4344-B037-3C8A3CEB850D}" type="slidenum">
              <a:rPr lang="en-US" altLang="en-US" smtClean="0"/>
              <a:pPr/>
              <a:t>‹#›</a:t>
            </a:fld>
            <a:endParaRPr lang="en-US" altLang="en-US"/>
          </a:p>
        </p:txBody>
      </p:sp>
      <p:sp>
        <p:nvSpPr>
          <p:cNvPr id="5" name="Footer Placeholder 4"/>
          <p:cNvSpPr>
            <a:spLocks noGrp="1"/>
          </p:cNvSpPr>
          <p:nvPr>
            <p:ph type="ftr" sz="quarter" idx="11"/>
          </p:nvPr>
        </p:nvSpPr>
        <p:spPr/>
        <p:txBody>
          <a:bodyPr/>
          <a:lstStyle>
            <a:lvl1pPr>
              <a:defRPr/>
            </a:lvl1pPr>
          </a:lstStyle>
          <a:p>
            <a:r>
              <a:rPr lang="en-SG" altLang="en-US"/>
              <a:t>CG2271 Lab Lecture 7</a:t>
            </a:r>
            <a:endParaRPr lang="en-US" altLang="en-US"/>
          </a:p>
        </p:txBody>
      </p:sp>
    </p:spTree>
    <p:extLst>
      <p:ext uri="{BB962C8B-B14F-4D97-AF65-F5344CB8AC3E}">
        <p14:creationId xmlns:p14="http://schemas.microsoft.com/office/powerpoint/2010/main" val="5191515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lstStyle>
            <a:lvl1pPr algn="l">
              <a:defRPr sz="4000" b="1" cap="all"/>
            </a:lvl1pPr>
          </a:lstStyle>
          <a:p>
            <a:r>
              <a:rPr lang="en-US"/>
              <a:t>Click to edit Master title style</a:t>
            </a:r>
            <a:endParaRPr lang="en-SG"/>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lvl1pPr>
          </a:lstStyle>
          <a:p>
            <a:fld id="{3E6DC585-B3F4-4B1B-8C67-9C227CDAE85B}" type="slidenum">
              <a:rPr lang="en-US" altLang="en-US" smtClean="0"/>
              <a:pPr/>
              <a:t>‹#›</a:t>
            </a:fld>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33244742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609600" y="990600"/>
            <a:ext cx="53848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6197600" y="990600"/>
            <a:ext cx="53848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Slide Number Placeholder 4"/>
          <p:cNvSpPr>
            <a:spLocks noGrp="1"/>
          </p:cNvSpPr>
          <p:nvPr>
            <p:ph type="sldNum" sz="quarter" idx="10"/>
          </p:nvPr>
        </p:nvSpPr>
        <p:spPr/>
        <p:txBody>
          <a:bodyPr/>
          <a:lstStyle>
            <a:lvl1pPr>
              <a:defRPr/>
            </a:lvl1pPr>
          </a:lstStyle>
          <a:p>
            <a:fld id="{5688B9D5-0321-4243-8ED9-54D29AAF37EC}" type="slidenum">
              <a:rPr lang="en-US" altLang="en-US" smtClean="0"/>
              <a:pPr/>
              <a:t>‹#›</a:t>
            </a:fld>
            <a:endParaRPr lang="en-US" altLang="en-US"/>
          </a:p>
        </p:txBody>
      </p:sp>
      <p:sp>
        <p:nvSpPr>
          <p:cNvPr id="6" name="Footer Placeholder 5"/>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33909611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SG"/>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Slide Number Placeholder 6"/>
          <p:cNvSpPr>
            <a:spLocks noGrp="1"/>
          </p:cNvSpPr>
          <p:nvPr>
            <p:ph type="sldNum" sz="quarter" idx="10"/>
          </p:nvPr>
        </p:nvSpPr>
        <p:spPr/>
        <p:txBody>
          <a:bodyPr/>
          <a:lstStyle>
            <a:lvl1pPr>
              <a:defRPr/>
            </a:lvl1pPr>
          </a:lstStyle>
          <a:p>
            <a:fld id="{5A48AF77-D65C-4E9E-B478-17E3FD86D810}" type="slidenum">
              <a:rPr lang="en-US" altLang="en-US" smtClean="0"/>
              <a:pPr/>
              <a:t>‹#›</a:t>
            </a:fld>
            <a:endParaRPr lang="en-US" altLang="en-US"/>
          </a:p>
        </p:txBody>
      </p:sp>
      <p:sp>
        <p:nvSpPr>
          <p:cNvPr id="8" name="Footer Placeholder 7"/>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1046275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Slide Number Placeholder 2"/>
          <p:cNvSpPr>
            <a:spLocks noGrp="1"/>
          </p:cNvSpPr>
          <p:nvPr>
            <p:ph type="sldNum" sz="quarter" idx="10"/>
          </p:nvPr>
        </p:nvSpPr>
        <p:spPr/>
        <p:txBody>
          <a:bodyPr/>
          <a:lstStyle>
            <a:lvl1pPr>
              <a:defRPr/>
            </a:lvl1pPr>
          </a:lstStyle>
          <a:p>
            <a:fld id="{D878A42F-32DF-4555-A3D9-B208AC03E8B9}" type="slidenum">
              <a:rPr lang="en-US" altLang="en-US" smtClean="0"/>
              <a:pPr/>
              <a:t>‹#›</a:t>
            </a:fld>
            <a:endParaRPr lang="en-US" altLang="en-US"/>
          </a:p>
        </p:txBody>
      </p:sp>
      <p:sp>
        <p:nvSpPr>
          <p:cNvPr id="4" name="Footer Placeholder 3"/>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8936322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3C2D7119-D0B9-434A-965E-B7C4A460BE32}" type="slidenum">
              <a:rPr lang="en-US" altLang="en-US" smtClean="0"/>
              <a:pPr/>
              <a:t>‹#›</a:t>
            </a:fld>
            <a:endParaRPr lang="en-US" altLang="en-US"/>
          </a:p>
        </p:txBody>
      </p:sp>
      <p:sp>
        <p:nvSpPr>
          <p:cNvPr id="3" name="Footer Placeholder 2"/>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34589463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SG"/>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9D56026C-F7A5-4BDA-898E-B00A800C5FF8}" type="slidenum">
              <a:rPr lang="en-US" altLang="en-US" smtClean="0"/>
              <a:pPr/>
              <a:t>‹#›</a:t>
            </a:fld>
            <a:endParaRPr lang="en-US" altLang="en-US"/>
          </a:p>
        </p:txBody>
      </p:sp>
      <p:sp>
        <p:nvSpPr>
          <p:cNvPr id="6" name="Footer Placeholder 5"/>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2713829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SG"/>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6A67EED0-2586-40FE-805F-5628AC864DAF}" type="slidenum">
              <a:rPr lang="en-US" altLang="en-US" smtClean="0"/>
              <a:pPr/>
              <a:t>‹#›</a:t>
            </a:fld>
            <a:endParaRPr lang="en-US" altLang="en-US"/>
          </a:p>
        </p:txBody>
      </p:sp>
      <p:sp>
        <p:nvSpPr>
          <p:cNvPr id="6" name="Footer Placeholder 5"/>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36967220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Slide Number Placeholder 3"/>
          <p:cNvSpPr>
            <a:spLocks noGrp="1"/>
          </p:cNvSpPr>
          <p:nvPr>
            <p:ph type="sldNum" sz="quarter" idx="10"/>
          </p:nvPr>
        </p:nvSpPr>
        <p:spPr/>
        <p:txBody>
          <a:bodyPr/>
          <a:lstStyle>
            <a:lvl1pPr>
              <a:defRPr/>
            </a:lvl1pPr>
          </a:lstStyle>
          <a:p>
            <a:fld id="{C97E0452-540F-4E7F-8F1B-B48A49509A51}" type="slidenum">
              <a:rPr lang="en-US" altLang="en-US" smtClean="0"/>
              <a:pPr/>
              <a:t>‹#›</a:t>
            </a:fld>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11744609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7814"/>
            <a:ext cx="2743200" cy="6199187"/>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609600" y="277814"/>
            <a:ext cx="8026400" cy="61991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Slide Number Placeholder 3"/>
          <p:cNvSpPr>
            <a:spLocks noGrp="1"/>
          </p:cNvSpPr>
          <p:nvPr>
            <p:ph type="sldNum" sz="quarter" idx="10"/>
          </p:nvPr>
        </p:nvSpPr>
        <p:spPr/>
        <p:txBody>
          <a:bodyPr/>
          <a:lstStyle>
            <a:lvl1pPr>
              <a:defRPr/>
            </a:lvl1pPr>
          </a:lstStyle>
          <a:p>
            <a:fld id="{E1ED2E85-14B5-41B8-BB68-5CCA814DB1A7}" type="slidenum">
              <a:rPr lang="en-US" altLang="en-US" smtClean="0"/>
              <a:pPr/>
              <a:t>‹#›</a:t>
            </a:fld>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CG2271 Lab Lecture 7</a:t>
            </a:r>
          </a:p>
        </p:txBody>
      </p:sp>
    </p:spTree>
    <p:extLst>
      <p:ext uri="{BB962C8B-B14F-4D97-AF65-F5344CB8AC3E}">
        <p14:creationId xmlns:p14="http://schemas.microsoft.com/office/powerpoint/2010/main" val="40834945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712787"/>
          </a:xfrm>
        </p:spPr>
        <p:txBody>
          <a:bodyPr/>
          <a:lstStyle/>
          <a:p>
            <a:r>
              <a:rPr lang="en-US"/>
              <a:t>Click to edit Master title style</a:t>
            </a:r>
            <a:endParaRPr lang="en-SG"/>
          </a:p>
        </p:txBody>
      </p:sp>
      <p:sp>
        <p:nvSpPr>
          <p:cNvPr id="3" name="Table Placeholder 2"/>
          <p:cNvSpPr>
            <a:spLocks noGrp="1"/>
          </p:cNvSpPr>
          <p:nvPr>
            <p:ph type="tbl" idx="1"/>
          </p:nvPr>
        </p:nvSpPr>
        <p:spPr>
          <a:xfrm>
            <a:off x="609600" y="990600"/>
            <a:ext cx="10972800" cy="5486400"/>
          </a:xfrm>
        </p:spPr>
        <p:txBody>
          <a:bodyPr/>
          <a:lstStyle/>
          <a:p>
            <a:r>
              <a:rPr lang="en-US"/>
              <a:t>Click icon to add table</a:t>
            </a:r>
            <a:endParaRPr lang="en-SG"/>
          </a:p>
        </p:txBody>
      </p:sp>
      <p:sp>
        <p:nvSpPr>
          <p:cNvPr id="4" name="Slide Number Placeholder 3"/>
          <p:cNvSpPr>
            <a:spLocks noGrp="1"/>
          </p:cNvSpPr>
          <p:nvPr>
            <p:ph type="sldNum" sz="quarter" idx="10"/>
          </p:nvPr>
        </p:nvSpPr>
        <p:spPr>
          <a:xfrm>
            <a:off x="11480800" y="6400800"/>
            <a:ext cx="711200" cy="457200"/>
          </a:xfrm>
        </p:spPr>
        <p:txBody>
          <a:bodyPr/>
          <a:lstStyle>
            <a:lvl1pPr>
              <a:defRPr/>
            </a:lvl1pPr>
          </a:lstStyle>
          <a:p>
            <a:fld id="{9D4C96A0-4412-4C95-B2BA-559D798589E5}" type="slidenum">
              <a:rPr lang="en-US" altLang="en-US" smtClean="0"/>
              <a:pPr/>
              <a:t>‹#›</a:t>
            </a:fld>
            <a:endParaRPr lang="en-US" altLang="en-US"/>
          </a:p>
        </p:txBody>
      </p:sp>
      <p:sp>
        <p:nvSpPr>
          <p:cNvPr id="5" name="Footer Placeholder 4"/>
          <p:cNvSpPr>
            <a:spLocks noGrp="1"/>
          </p:cNvSpPr>
          <p:nvPr>
            <p:ph type="ftr" sz="quarter" idx="11"/>
          </p:nvPr>
        </p:nvSpPr>
        <p:spPr>
          <a:xfrm>
            <a:off x="812800" y="6521450"/>
            <a:ext cx="5994400" cy="228600"/>
          </a:xfrm>
        </p:spPr>
        <p:txBody>
          <a:bodyPr/>
          <a:lstStyle>
            <a:lvl1pPr>
              <a:defRPr/>
            </a:lvl1pPr>
          </a:lstStyle>
          <a:p>
            <a:r>
              <a:rPr lang="en-US" altLang="en-US"/>
              <a:t>CG2271 Lab Lecture 7</a:t>
            </a:r>
          </a:p>
        </p:txBody>
      </p:sp>
    </p:spTree>
    <p:extLst>
      <p:ext uri="{BB962C8B-B14F-4D97-AF65-F5344CB8AC3E}">
        <p14:creationId xmlns:p14="http://schemas.microsoft.com/office/powerpoint/2010/main" val="13253950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CG2271 Lab Lecture 7</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530011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CG2271 Lab Lecture 7</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486358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12423"/>
            <a:ext cx="10515600" cy="2851208"/>
          </a:xfrm>
        </p:spPr>
        <p:txBody>
          <a:bodyPr anchor="b">
            <a:normAutofit/>
          </a:bodyPr>
          <a:lstStyle>
            <a:lvl1pPr>
              <a:defRPr sz="4500" b="0"/>
            </a:lvl1pPr>
          </a:lstStyle>
          <a:p>
            <a:r>
              <a:rPr lang="en-US"/>
              <a:t>Click to edit Master title style</a:t>
            </a:r>
            <a:endParaRPr lang="en-US" dirty="0"/>
          </a:p>
        </p:txBody>
      </p:sp>
      <p:sp>
        <p:nvSpPr>
          <p:cNvPr id="3" name="Text Placeholder 2"/>
          <p:cNvSpPr>
            <a:spLocks noGrp="1"/>
          </p:cNvSpPr>
          <p:nvPr>
            <p:ph type="body" idx="1"/>
          </p:nvPr>
        </p:nvSpPr>
        <p:spPr>
          <a:xfrm>
            <a:off x="831851" y="4552635"/>
            <a:ext cx="105156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CG2271 Lab Lecture 7</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391320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45127" y="1828802"/>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8802"/>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CG2271 Lab Lecture 7</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064124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2"/>
            <a:ext cx="515620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45127" y="2507552"/>
            <a:ext cx="5156200" cy="3680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851"/>
            <a:ext cx="51816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7552"/>
            <a:ext cx="5181601" cy="3680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CG2271 Lab Lecture 7</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6008877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CG2271 Lab Lecture 7</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128841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CG2271 Lab Lecture 7</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6195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2"/>
            <a:ext cx="3931920" cy="1600197"/>
          </a:xfrm>
        </p:spPr>
        <p:txBody>
          <a:bodyPr anchor="b">
            <a:normAutofit/>
          </a:bodyPr>
          <a:lstStyle>
            <a:lvl1pPr>
              <a:defRPr sz="2400" b="0"/>
            </a:lvl1pPr>
          </a:lstStyle>
          <a:p>
            <a:r>
              <a:rPr lang="en-US"/>
              <a:t>Click to edit Master title style</a:t>
            </a:r>
            <a:endParaRPr lang="en-US" dirty="0"/>
          </a:p>
        </p:txBody>
      </p:sp>
      <p:sp>
        <p:nvSpPr>
          <p:cNvPr id="3" name="Content Placeholder 2"/>
          <p:cNvSpPr>
            <a:spLocks noGrp="1"/>
          </p:cNvSpPr>
          <p:nvPr>
            <p:ph idx="1"/>
          </p:nvPr>
        </p:nvSpPr>
        <p:spPr>
          <a:xfrm>
            <a:off x="5181600" y="990600"/>
            <a:ext cx="617220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CG2271 Lab Lecture 7</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856840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2400" b="0"/>
            </a:lvl1pPr>
          </a:lstStyle>
          <a:p>
            <a:r>
              <a:rPr lang="en-US"/>
              <a:t>Click to edit Master title style</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CG2271 Lab Lecture 7</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32888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CG2271 Lab Lecture 7</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25634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0362"/>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0364"/>
            <a:ext cx="7734300" cy="5811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CG2271 Lab Lecture 7</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52453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xfrm>
            <a:off x="609600" y="228600"/>
            <a:ext cx="10972800" cy="78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35843" name="Rectangle 3"/>
          <p:cNvSpPr>
            <a:spLocks noGrp="1" noChangeArrowheads="1"/>
          </p:cNvSpPr>
          <p:nvPr>
            <p:ph type="body" idx="1"/>
          </p:nvPr>
        </p:nvSpPr>
        <p:spPr bwMode="auto">
          <a:xfrm>
            <a:off x="609600" y="1219200"/>
            <a:ext cx="109728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5844" name="Freeform 4"/>
          <p:cNvSpPr>
            <a:spLocks noChangeArrowheads="1"/>
          </p:cNvSpPr>
          <p:nvPr/>
        </p:nvSpPr>
        <p:spPr bwMode="auto">
          <a:xfrm>
            <a:off x="508000" y="152400"/>
            <a:ext cx="10972800" cy="6096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35845" name="Line 5"/>
          <p:cNvSpPr>
            <a:spLocks noChangeShapeType="1"/>
          </p:cNvSpPr>
          <p:nvPr/>
        </p:nvSpPr>
        <p:spPr bwMode="auto">
          <a:xfrm>
            <a:off x="609600" y="6629400"/>
            <a:ext cx="109728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a:p>
        </p:txBody>
      </p:sp>
      <p:sp>
        <p:nvSpPr>
          <p:cNvPr id="35846" name="Rectangle 6"/>
          <p:cNvSpPr>
            <a:spLocks noGrp="1" noChangeArrowheads="1"/>
          </p:cNvSpPr>
          <p:nvPr>
            <p:ph type="sldNum" sz="quarter" idx="4"/>
          </p:nvPr>
        </p:nvSpPr>
        <p:spPr bwMode="auto">
          <a:xfrm>
            <a:off x="11582400" y="6629400"/>
            <a:ext cx="609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50000"/>
              </a:lnSpc>
              <a:defRPr sz="1400"/>
            </a:lvl1pPr>
          </a:lstStyle>
          <a:p>
            <a:fld id="{340BAAAD-52D6-4FB3-AB55-71C64A1E2A0A}" type="slidenum">
              <a:rPr lang="en-US" altLang="en-US"/>
              <a:pPr/>
              <a:t>‹#›</a:t>
            </a:fld>
            <a:endParaRPr lang="en-US" altLang="en-US"/>
          </a:p>
        </p:txBody>
      </p:sp>
      <p:sp>
        <p:nvSpPr>
          <p:cNvPr id="35847" name="Rectangle 7"/>
          <p:cNvSpPr>
            <a:spLocks noGrp="1" noChangeArrowheads="1"/>
          </p:cNvSpPr>
          <p:nvPr>
            <p:ph type="ftr" sz="quarter" idx="3"/>
          </p:nvPr>
        </p:nvSpPr>
        <p:spPr bwMode="auto">
          <a:xfrm>
            <a:off x="711200" y="6553200"/>
            <a:ext cx="2540000" cy="152400"/>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defRPr sz="800">
                <a:solidFill>
                  <a:schemeClr val="tx2"/>
                </a:solidFill>
                <a:latin typeface="Arial Black" pitchFamily="34" charset="0"/>
              </a:defRPr>
            </a:lvl1pPr>
          </a:lstStyle>
          <a:p>
            <a:r>
              <a:rPr lang="en-US" altLang="en-US"/>
              <a:t>CG2271 Lab Lecture 7</a:t>
            </a:r>
          </a:p>
        </p:txBody>
      </p:sp>
    </p:spTree>
  </p:cSld>
  <p:clrMap bg1="lt1" tx1="dk1" bg2="lt2" tx2="dk2" accent1="accent1" accent2="accent2" accent3="accent3" accent4="accent4" accent5="accent5" accent6="accent6" hlink="hlink" folHlink="folHlink"/>
  <p:sldLayoutIdLst>
    <p:sldLayoutId id="2147483680"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dt="0"/>
  <p:txStyles>
    <p:titleStyle>
      <a:lvl1pPr algn="l" rtl="0" fontAlgn="base">
        <a:spcBef>
          <a:spcPct val="0"/>
        </a:spcBef>
        <a:spcAft>
          <a:spcPct val="0"/>
        </a:spcAft>
        <a:defRPr sz="4200">
          <a:solidFill>
            <a:schemeClr val="tx2"/>
          </a:solidFill>
          <a:latin typeface="+mj-lt"/>
          <a:ea typeface="+mj-ea"/>
          <a:cs typeface="+mj-cs"/>
        </a:defRPr>
      </a:lvl1pPr>
      <a:lvl2pPr algn="l" rtl="0" fontAlgn="base">
        <a:spcBef>
          <a:spcPct val="0"/>
        </a:spcBef>
        <a:spcAft>
          <a:spcPct val="0"/>
        </a:spcAft>
        <a:defRPr sz="4200">
          <a:solidFill>
            <a:schemeClr val="tx2"/>
          </a:solidFill>
          <a:latin typeface="Garamond" pitchFamily="18" charset="0"/>
          <a:cs typeface="Arial" charset="0"/>
        </a:defRPr>
      </a:lvl2pPr>
      <a:lvl3pPr algn="l" rtl="0" fontAlgn="base">
        <a:spcBef>
          <a:spcPct val="0"/>
        </a:spcBef>
        <a:spcAft>
          <a:spcPct val="0"/>
        </a:spcAft>
        <a:defRPr sz="4200">
          <a:solidFill>
            <a:schemeClr val="tx2"/>
          </a:solidFill>
          <a:latin typeface="Garamond" pitchFamily="18" charset="0"/>
          <a:cs typeface="Arial" charset="0"/>
        </a:defRPr>
      </a:lvl3pPr>
      <a:lvl4pPr algn="l" rtl="0" fontAlgn="base">
        <a:spcBef>
          <a:spcPct val="0"/>
        </a:spcBef>
        <a:spcAft>
          <a:spcPct val="0"/>
        </a:spcAft>
        <a:defRPr sz="4200">
          <a:solidFill>
            <a:schemeClr val="tx2"/>
          </a:solidFill>
          <a:latin typeface="Garamond" pitchFamily="18" charset="0"/>
          <a:cs typeface="Arial" charset="0"/>
        </a:defRPr>
      </a:lvl4pPr>
      <a:lvl5pPr algn="l" rtl="0" fontAlgn="base">
        <a:spcBef>
          <a:spcPct val="0"/>
        </a:spcBef>
        <a:spcAft>
          <a:spcPct val="0"/>
        </a:spcAft>
        <a:defRPr sz="4200">
          <a:solidFill>
            <a:schemeClr val="tx2"/>
          </a:solidFill>
          <a:latin typeface="Garamond" pitchFamily="18" charset="0"/>
          <a:cs typeface="Arial" charset="0"/>
        </a:defRPr>
      </a:lvl5pPr>
      <a:lvl6pPr marL="457200" algn="l" rtl="0" fontAlgn="base">
        <a:spcBef>
          <a:spcPct val="0"/>
        </a:spcBef>
        <a:spcAft>
          <a:spcPct val="0"/>
        </a:spcAft>
        <a:defRPr sz="4200">
          <a:solidFill>
            <a:schemeClr val="tx2"/>
          </a:solidFill>
          <a:latin typeface="Garamond" pitchFamily="18" charset="0"/>
          <a:cs typeface="Arial" charset="0"/>
        </a:defRPr>
      </a:lvl6pPr>
      <a:lvl7pPr marL="914400" algn="l" rtl="0" fontAlgn="base">
        <a:spcBef>
          <a:spcPct val="0"/>
        </a:spcBef>
        <a:spcAft>
          <a:spcPct val="0"/>
        </a:spcAft>
        <a:defRPr sz="4200">
          <a:solidFill>
            <a:schemeClr val="tx2"/>
          </a:solidFill>
          <a:latin typeface="Garamond" pitchFamily="18" charset="0"/>
          <a:cs typeface="Arial" charset="0"/>
        </a:defRPr>
      </a:lvl7pPr>
      <a:lvl8pPr marL="1371600" algn="l" rtl="0" fontAlgn="base">
        <a:spcBef>
          <a:spcPct val="0"/>
        </a:spcBef>
        <a:spcAft>
          <a:spcPct val="0"/>
        </a:spcAft>
        <a:defRPr sz="4200">
          <a:solidFill>
            <a:schemeClr val="tx2"/>
          </a:solidFill>
          <a:latin typeface="Garamond" pitchFamily="18" charset="0"/>
          <a:cs typeface="Arial" charset="0"/>
        </a:defRPr>
      </a:lvl8pPr>
      <a:lvl9pPr marL="1828800" algn="l" rtl="0" fontAlgn="base">
        <a:spcBef>
          <a:spcPct val="0"/>
        </a:spcBef>
        <a:spcAft>
          <a:spcPct val="0"/>
        </a:spcAft>
        <a:defRPr sz="4200">
          <a:solidFill>
            <a:schemeClr val="tx2"/>
          </a:solidFill>
          <a:latin typeface="Garamond" pitchFamily="18" charset="0"/>
          <a:cs typeface="Arial" charset="0"/>
        </a:defRPr>
      </a:lvl9pPr>
    </p:titleStyle>
    <p:bodyStyle>
      <a:lvl1pPr marL="342900" indent="-342900" algn="l" rtl="0" fontAlgn="base">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fontAlgn="base">
        <a:spcBef>
          <a:spcPct val="20000"/>
        </a:spcBef>
        <a:spcAft>
          <a:spcPct val="0"/>
        </a:spcAft>
        <a:buClr>
          <a:schemeClr val="accent2"/>
        </a:buClr>
        <a:buSzPct val="60000"/>
        <a:buFont typeface="Wingdings" pitchFamily="2" charset="2"/>
        <a:buChar char="q"/>
        <a:defRPr sz="2600">
          <a:solidFill>
            <a:schemeClr val="tx1"/>
          </a:solidFill>
          <a:latin typeface="+mn-lt"/>
          <a:cs typeface="+mn-cs"/>
        </a:defRPr>
      </a:lvl2pPr>
      <a:lvl3pPr marL="1022350" indent="-350838" algn="l" rtl="0" fontAlgn="base">
        <a:spcBef>
          <a:spcPct val="20000"/>
        </a:spcBef>
        <a:spcAft>
          <a:spcPct val="0"/>
        </a:spcAft>
        <a:buClr>
          <a:schemeClr val="accent1"/>
        </a:buClr>
        <a:buSzPct val="65000"/>
        <a:buFont typeface="Wingdings" pitchFamily="2" charset="2"/>
        <a:buChar char="n"/>
        <a:defRPr sz="2200">
          <a:solidFill>
            <a:schemeClr val="tx1"/>
          </a:solidFill>
          <a:latin typeface="+mn-lt"/>
          <a:cs typeface="+mn-cs"/>
        </a:defRPr>
      </a:lvl3pPr>
      <a:lvl4pPr marL="1339850" indent="-315913" algn="l" rtl="0" fontAlgn="base">
        <a:spcBef>
          <a:spcPct val="20000"/>
        </a:spcBef>
        <a:spcAft>
          <a:spcPct val="0"/>
        </a:spcAft>
        <a:buClr>
          <a:schemeClr val="accent2"/>
        </a:buClr>
        <a:buSzPct val="70000"/>
        <a:buFont typeface="Wingdings" pitchFamily="2" charset="2"/>
        <a:buChar char="q"/>
        <a:defRPr sz="2000">
          <a:solidFill>
            <a:schemeClr val="tx1"/>
          </a:solidFill>
          <a:latin typeface="+mn-lt"/>
          <a:cs typeface="+mn-cs"/>
        </a:defRPr>
      </a:lvl4pPr>
      <a:lvl5pPr marL="16811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609600" y="277814"/>
            <a:ext cx="10972800" cy="71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7171" name="Rectangle 3"/>
          <p:cNvSpPr>
            <a:spLocks noGrp="1" noChangeArrowheads="1"/>
          </p:cNvSpPr>
          <p:nvPr>
            <p:ph type="body" idx="1"/>
          </p:nvPr>
        </p:nvSpPr>
        <p:spPr bwMode="auto">
          <a:xfrm>
            <a:off x="609600" y="990600"/>
            <a:ext cx="109728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172" name="Rectangle 4"/>
          <p:cNvSpPr>
            <a:spLocks noGrp="1" noChangeArrowheads="1"/>
          </p:cNvSpPr>
          <p:nvPr>
            <p:ph type="sldNum" sz="quarter" idx="4"/>
          </p:nvPr>
        </p:nvSpPr>
        <p:spPr bwMode="auto">
          <a:xfrm>
            <a:off x="11480800" y="6400800"/>
            <a:ext cx="71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800" b="1" i="1">
                <a:solidFill>
                  <a:srgbClr val="C00000"/>
                </a:solidFill>
                <a:latin typeface="+mn-lt"/>
              </a:defRPr>
            </a:lvl1pPr>
          </a:lstStyle>
          <a:p>
            <a:fld id="{340BAAAD-52D6-4FB3-AB55-71C64A1E2A0A}" type="slidenum">
              <a:rPr lang="en-US" altLang="en-US" smtClean="0"/>
              <a:pPr/>
              <a:t>‹#›</a:t>
            </a:fld>
            <a:endParaRPr lang="en-US" altLang="en-US"/>
          </a:p>
        </p:txBody>
      </p:sp>
      <p:sp>
        <p:nvSpPr>
          <p:cNvPr id="7173" name="Freeform 5"/>
          <p:cNvSpPr>
            <a:spLocks noChangeArrowheads="1"/>
          </p:cNvSpPr>
          <p:nvPr/>
        </p:nvSpPr>
        <p:spPr bwMode="auto">
          <a:xfrm>
            <a:off x="508000" y="228600"/>
            <a:ext cx="10972800" cy="6096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7174" name="Line 6"/>
          <p:cNvSpPr>
            <a:spLocks noChangeShapeType="1"/>
          </p:cNvSpPr>
          <p:nvPr/>
        </p:nvSpPr>
        <p:spPr bwMode="auto">
          <a:xfrm>
            <a:off x="609600" y="6629400"/>
            <a:ext cx="109728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a:p>
        </p:txBody>
      </p:sp>
      <p:sp>
        <p:nvSpPr>
          <p:cNvPr id="7175" name="Rectangle 7"/>
          <p:cNvSpPr>
            <a:spLocks noGrp="1" noChangeArrowheads="1"/>
          </p:cNvSpPr>
          <p:nvPr>
            <p:ph type="ftr" sz="quarter" idx="3"/>
          </p:nvPr>
        </p:nvSpPr>
        <p:spPr bwMode="auto">
          <a:xfrm>
            <a:off x="812800" y="6521450"/>
            <a:ext cx="2946400" cy="228600"/>
          </a:xfrm>
          <a:prstGeom prst="rect">
            <a:avLst/>
          </a:prstGeom>
          <a:solidFill>
            <a:schemeClr val="bg1">
              <a:alpha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mj-lt"/>
              </a:defRPr>
            </a:lvl1pPr>
          </a:lstStyle>
          <a:p>
            <a:r>
              <a:rPr lang="en-US" altLang="en-US"/>
              <a:t>CG2271 Lab Lecture 7</a:t>
            </a:r>
          </a:p>
        </p:txBody>
      </p:sp>
    </p:spTree>
    <p:extLst>
      <p:ext uri="{BB962C8B-B14F-4D97-AF65-F5344CB8AC3E}">
        <p14:creationId xmlns:p14="http://schemas.microsoft.com/office/powerpoint/2010/main" val="3443984424"/>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Lst>
  <p:hf hdr="0" dt="0"/>
  <p:txStyles>
    <p:titleStyle>
      <a:lvl1pPr algn="l" rtl="0" eaLnBrk="1" fontAlgn="base" hangingPunct="1">
        <a:spcBef>
          <a:spcPct val="0"/>
        </a:spcBef>
        <a:spcAft>
          <a:spcPct val="0"/>
        </a:spcAft>
        <a:defRPr sz="4200">
          <a:solidFill>
            <a:schemeClr val="tx2"/>
          </a:solidFill>
          <a:latin typeface="+mj-lt"/>
          <a:ea typeface="+mj-ea"/>
          <a:cs typeface="+mj-cs"/>
        </a:defRPr>
      </a:lvl1pPr>
      <a:lvl2pPr algn="l" rtl="0" eaLnBrk="1" fontAlgn="base" hangingPunct="1">
        <a:spcBef>
          <a:spcPct val="0"/>
        </a:spcBef>
        <a:spcAft>
          <a:spcPct val="0"/>
        </a:spcAft>
        <a:defRPr sz="4200">
          <a:solidFill>
            <a:schemeClr val="tx2"/>
          </a:solidFill>
          <a:latin typeface="Garamond" pitchFamily="18" charset="0"/>
        </a:defRPr>
      </a:lvl2pPr>
      <a:lvl3pPr algn="l" rtl="0" eaLnBrk="1" fontAlgn="base" hangingPunct="1">
        <a:spcBef>
          <a:spcPct val="0"/>
        </a:spcBef>
        <a:spcAft>
          <a:spcPct val="0"/>
        </a:spcAft>
        <a:defRPr sz="4200">
          <a:solidFill>
            <a:schemeClr val="tx2"/>
          </a:solidFill>
          <a:latin typeface="Garamond" pitchFamily="18" charset="0"/>
        </a:defRPr>
      </a:lvl3pPr>
      <a:lvl4pPr algn="l" rtl="0" eaLnBrk="1" fontAlgn="base" hangingPunct="1">
        <a:spcBef>
          <a:spcPct val="0"/>
        </a:spcBef>
        <a:spcAft>
          <a:spcPct val="0"/>
        </a:spcAft>
        <a:defRPr sz="4200">
          <a:solidFill>
            <a:schemeClr val="tx2"/>
          </a:solidFill>
          <a:latin typeface="Garamond" pitchFamily="18" charset="0"/>
        </a:defRPr>
      </a:lvl4pPr>
      <a:lvl5pPr algn="l" rtl="0" eaLnBrk="1" fontAlgn="base" hangingPunct="1">
        <a:spcBef>
          <a:spcPct val="0"/>
        </a:spcBef>
        <a:spcAft>
          <a:spcPct val="0"/>
        </a:spcAft>
        <a:defRPr sz="4200">
          <a:solidFill>
            <a:schemeClr val="tx2"/>
          </a:solidFill>
          <a:latin typeface="Garamond" pitchFamily="18" charset="0"/>
        </a:defRPr>
      </a:lvl5pPr>
      <a:lvl6pPr marL="457200" algn="l" rtl="0" eaLnBrk="1" fontAlgn="base" hangingPunct="1">
        <a:spcBef>
          <a:spcPct val="0"/>
        </a:spcBef>
        <a:spcAft>
          <a:spcPct val="0"/>
        </a:spcAft>
        <a:defRPr sz="4200">
          <a:solidFill>
            <a:schemeClr val="tx2"/>
          </a:solidFill>
          <a:latin typeface="Garamond" pitchFamily="18" charset="0"/>
        </a:defRPr>
      </a:lvl6pPr>
      <a:lvl7pPr marL="914400" algn="l" rtl="0" eaLnBrk="1" fontAlgn="base" hangingPunct="1">
        <a:spcBef>
          <a:spcPct val="0"/>
        </a:spcBef>
        <a:spcAft>
          <a:spcPct val="0"/>
        </a:spcAft>
        <a:defRPr sz="4200">
          <a:solidFill>
            <a:schemeClr val="tx2"/>
          </a:solidFill>
          <a:latin typeface="Garamond" pitchFamily="18" charset="0"/>
        </a:defRPr>
      </a:lvl7pPr>
      <a:lvl8pPr marL="1371600" algn="l" rtl="0" eaLnBrk="1" fontAlgn="base" hangingPunct="1">
        <a:spcBef>
          <a:spcPct val="0"/>
        </a:spcBef>
        <a:spcAft>
          <a:spcPct val="0"/>
        </a:spcAft>
        <a:defRPr sz="4200">
          <a:solidFill>
            <a:schemeClr val="tx2"/>
          </a:solidFill>
          <a:latin typeface="Garamond" pitchFamily="18" charset="0"/>
        </a:defRPr>
      </a:lvl8pPr>
      <a:lvl9pPr marL="1828800" algn="l" rtl="0" eaLnBrk="1" fontAlgn="base" hangingPunct="1">
        <a:spcBef>
          <a:spcPct val="0"/>
        </a:spcBef>
        <a:spcAft>
          <a:spcPct val="0"/>
        </a:spcAft>
        <a:defRPr sz="4200">
          <a:solidFill>
            <a:schemeClr val="tx2"/>
          </a:solidFill>
          <a:latin typeface="Garamond" pitchFamily="18" charset="0"/>
        </a:defRPr>
      </a:lvl9pPr>
    </p:titleStyle>
    <p:bodyStyle>
      <a:lvl1pPr marL="342900" indent="-342900" algn="l" rtl="0" eaLnBrk="1" fontAlgn="base" hangingPunct="1">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1" fontAlgn="base" hangingPunct="1">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1" fontAlgn="base" hangingPunct="1">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1" fontAlgn="base" hangingPunct="1">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45127" y="1828802"/>
            <a:ext cx="1051560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r>
              <a:rPr lang="en-US"/>
              <a:t>CG2271 Lab Lecture 7</a:t>
            </a:r>
          </a:p>
        </p:txBody>
      </p:sp>
      <p:sp>
        <p:nvSpPr>
          <p:cNvPr id="6" name="Slide Number Placeholder 5"/>
          <p:cNvSpPr>
            <a:spLocks noGrp="1"/>
          </p:cNvSpPr>
          <p:nvPr>
            <p:ph type="sldNum" sz="quarter" idx="4"/>
          </p:nvPr>
        </p:nvSpPr>
        <p:spPr>
          <a:xfrm>
            <a:off x="8617527" y="6356352"/>
            <a:ext cx="27432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82091218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hyperlink" Target="https://www.freertos.org/media/2018/FreeRTOS_Reference_Manual_V10.0.0.pdf" TargetMode="Externa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altLang="en-US" b="1" dirty="0">
                <a:solidFill>
                  <a:srgbClr val="C00000"/>
                </a:solidFill>
              </a:rPr>
              <a:t>CG2271 Real Time Operating Systems</a:t>
            </a:r>
          </a:p>
        </p:txBody>
      </p:sp>
      <p:sp>
        <p:nvSpPr>
          <p:cNvPr id="2051" name="Rectangle 3"/>
          <p:cNvSpPr>
            <a:spLocks noGrp="1" noChangeArrowheads="1"/>
          </p:cNvSpPr>
          <p:nvPr>
            <p:ph type="subTitle" idx="1"/>
          </p:nvPr>
        </p:nvSpPr>
        <p:spPr/>
        <p:txBody>
          <a:bodyPr/>
          <a:lstStyle/>
          <a:p>
            <a:pPr algn="ctr"/>
            <a:r>
              <a:rPr lang="en-US" altLang="en-US" b="1" dirty="0">
                <a:solidFill>
                  <a:srgbClr val="660066"/>
                </a:solidFill>
              </a:rPr>
              <a:t>Lab Lecture 7</a:t>
            </a:r>
          </a:p>
          <a:p>
            <a:pPr algn="ctr"/>
            <a:r>
              <a:rPr lang="en-US" altLang="en-US" b="1" dirty="0">
                <a:solidFill>
                  <a:srgbClr val="660066"/>
                </a:solidFill>
              </a:rPr>
              <a:t>Real Time Operating Systems</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116860A-B2FE-88A4-5442-000AD1C2DCDF}"/>
              </a:ext>
            </a:extLst>
          </p:cNvPr>
          <p:cNvSpPr>
            <a:spLocks noGrp="1"/>
          </p:cNvSpPr>
          <p:nvPr>
            <p:ph type="title"/>
          </p:nvPr>
        </p:nvSpPr>
        <p:spPr/>
        <p:txBody>
          <a:bodyPr/>
          <a:lstStyle/>
          <a:p>
            <a:r>
              <a:rPr lang="en-SG" dirty="0"/>
              <a:t>Introduction</a:t>
            </a:r>
          </a:p>
        </p:txBody>
      </p:sp>
      <p:sp>
        <p:nvSpPr>
          <p:cNvPr id="7" name="Text Placeholder 6">
            <a:extLst>
              <a:ext uri="{FF2B5EF4-FFF2-40B4-BE49-F238E27FC236}">
                <a16:creationId xmlns:a16="http://schemas.microsoft.com/office/drawing/2014/main" id="{9FD06690-20D4-5527-26DD-E2A0FB321BDB}"/>
              </a:ext>
            </a:extLst>
          </p:cNvPr>
          <p:cNvSpPr>
            <a:spLocks noGrp="1"/>
          </p:cNvSpPr>
          <p:nvPr>
            <p:ph type="body" idx="1"/>
          </p:nvPr>
        </p:nvSpPr>
        <p:spPr/>
        <p:txBody>
          <a:bodyPr/>
          <a:lstStyle/>
          <a:p>
            <a:r>
              <a:rPr lang="en-SG" dirty="0"/>
              <a:t>Lab Lecture 7  –  Real Time Operating Systems</a:t>
            </a:r>
          </a:p>
        </p:txBody>
      </p:sp>
      <p:sp>
        <p:nvSpPr>
          <p:cNvPr id="4" name="Slide Number Placeholder 3">
            <a:extLst>
              <a:ext uri="{FF2B5EF4-FFF2-40B4-BE49-F238E27FC236}">
                <a16:creationId xmlns:a16="http://schemas.microsoft.com/office/drawing/2014/main" id="{28E9B28C-29CC-34C1-E4FF-9D7E682692BC}"/>
              </a:ext>
            </a:extLst>
          </p:cNvPr>
          <p:cNvSpPr>
            <a:spLocks noGrp="1"/>
          </p:cNvSpPr>
          <p:nvPr>
            <p:ph type="sldNum" sz="quarter" idx="10"/>
          </p:nvPr>
        </p:nvSpPr>
        <p:spPr/>
        <p:txBody>
          <a:bodyPr/>
          <a:lstStyle/>
          <a:p>
            <a:fld id="{E4B16682-6FB4-4344-B037-3C8A3CEB850D}" type="slidenum">
              <a:rPr lang="en-US" altLang="en-US" smtClean="0"/>
              <a:pPr/>
              <a:t>2</a:t>
            </a:fld>
            <a:endParaRPr lang="en-US" altLang="en-US"/>
          </a:p>
        </p:txBody>
      </p:sp>
      <p:sp>
        <p:nvSpPr>
          <p:cNvPr id="5" name="Footer Placeholder 4">
            <a:extLst>
              <a:ext uri="{FF2B5EF4-FFF2-40B4-BE49-F238E27FC236}">
                <a16:creationId xmlns:a16="http://schemas.microsoft.com/office/drawing/2014/main" id="{A4231E71-4AE7-D35A-572E-190C3CA3C116}"/>
              </a:ext>
            </a:extLst>
          </p:cNvPr>
          <p:cNvSpPr>
            <a:spLocks noGrp="1"/>
          </p:cNvSpPr>
          <p:nvPr>
            <p:ph type="ftr" sz="quarter" idx="11"/>
          </p:nvPr>
        </p:nvSpPr>
        <p:spPr/>
        <p:txBody>
          <a:bodyPr/>
          <a:lstStyle/>
          <a:p>
            <a:r>
              <a:rPr lang="en-SG" altLang="en-US"/>
              <a:t>CG2271 Lab Lecture 7</a:t>
            </a:r>
            <a:endParaRPr lang="en-US" altLang="en-US" dirty="0"/>
          </a:p>
        </p:txBody>
      </p:sp>
    </p:spTree>
    <p:extLst>
      <p:ext uri="{BB962C8B-B14F-4D97-AF65-F5344CB8AC3E}">
        <p14:creationId xmlns:p14="http://schemas.microsoft.com/office/powerpoint/2010/main" val="724347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F0D6E-8BC7-7A00-3291-A45B8806C412}"/>
              </a:ext>
            </a:extLst>
          </p:cNvPr>
          <p:cNvSpPr>
            <a:spLocks noGrp="1"/>
          </p:cNvSpPr>
          <p:nvPr>
            <p:ph type="title"/>
          </p:nvPr>
        </p:nvSpPr>
        <p:spPr/>
        <p:txBody>
          <a:bodyPr/>
          <a:lstStyle/>
          <a:p>
            <a:r>
              <a:rPr lang="en-GB" dirty="0"/>
              <a:t>1. Real-Time Operating Systems</a:t>
            </a:r>
          </a:p>
        </p:txBody>
      </p:sp>
      <p:sp>
        <p:nvSpPr>
          <p:cNvPr id="3" name="Content Placeholder 2">
            <a:extLst>
              <a:ext uri="{FF2B5EF4-FFF2-40B4-BE49-F238E27FC236}">
                <a16:creationId xmlns:a16="http://schemas.microsoft.com/office/drawing/2014/main" id="{6706CEF4-DA90-A8CE-6A58-82DFB3747986}"/>
              </a:ext>
            </a:extLst>
          </p:cNvPr>
          <p:cNvSpPr>
            <a:spLocks noGrp="1"/>
          </p:cNvSpPr>
          <p:nvPr>
            <p:ph idx="1"/>
          </p:nvPr>
        </p:nvSpPr>
        <p:spPr>
          <a:xfrm>
            <a:off x="609600" y="990600"/>
            <a:ext cx="7673788" cy="5486400"/>
          </a:xfrm>
        </p:spPr>
        <p:txBody>
          <a:bodyPr/>
          <a:lstStyle/>
          <a:p>
            <a:r>
              <a:rPr lang="en-GB" dirty="0"/>
              <a:t>We are all familiar with operating systems:</a:t>
            </a:r>
          </a:p>
          <a:p>
            <a:pPr lvl="1"/>
            <a:r>
              <a:rPr lang="en-GB" dirty="0"/>
              <a:t>Makes the hardware on our computers available to us:</a:t>
            </a:r>
          </a:p>
          <a:p>
            <a:pPr lvl="2"/>
            <a:r>
              <a:rPr lang="en-GB" dirty="0"/>
              <a:t>Otherwise you will need to program your keyboard, screen, </a:t>
            </a:r>
            <a:r>
              <a:rPr lang="en-GB" dirty="0" err="1"/>
              <a:t>WiFi</a:t>
            </a:r>
            <a:r>
              <a:rPr lang="en-GB" dirty="0"/>
              <a:t> and everything else “bare-metal”!</a:t>
            </a:r>
          </a:p>
          <a:p>
            <a:pPr lvl="1"/>
            <a:r>
              <a:rPr lang="en-GB" dirty="0"/>
              <a:t>Allows us to plug in hardware from different manufacturers without problem.</a:t>
            </a:r>
          </a:p>
          <a:p>
            <a:pPr lvl="2"/>
            <a:r>
              <a:rPr lang="en-GB" dirty="0"/>
              <a:t>Achieved through “device drivers”, most are built into the OS.</a:t>
            </a:r>
          </a:p>
          <a:p>
            <a:pPr lvl="2"/>
            <a:r>
              <a:rPr lang="en-GB" dirty="0"/>
              <a:t>Otherwise you will not be able to use even disk drives from different manufacturers!</a:t>
            </a:r>
          </a:p>
          <a:p>
            <a:pPr lvl="1"/>
            <a:r>
              <a:rPr lang="en-GB" dirty="0"/>
              <a:t>Our main way to interact with your computers.</a:t>
            </a:r>
          </a:p>
          <a:p>
            <a:pPr lvl="2"/>
            <a:r>
              <a:rPr lang="en-GB" dirty="0"/>
              <a:t>Through a part of the OS called the “shell”.</a:t>
            </a:r>
          </a:p>
        </p:txBody>
      </p:sp>
      <p:sp>
        <p:nvSpPr>
          <p:cNvPr id="4" name="Slide Number Placeholder 3">
            <a:extLst>
              <a:ext uri="{FF2B5EF4-FFF2-40B4-BE49-F238E27FC236}">
                <a16:creationId xmlns:a16="http://schemas.microsoft.com/office/drawing/2014/main" id="{655786A0-5781-40F4-6DEF-AEAB283733C5}"/>
              </a:ext>
            </a:extLst>
          </p:cNvPr>
          <p:cNvSpPr>
            <a:spLocks noGrp="1"/>
          </p:cNvSpPr>
          <p:nvPr>
            <p:ph type="sldNum" sz="quarter" idx="10"/>
          </p:nvPr>
        </p:nvSpPr>
        <p:spPr/>
        <p:txBody>
          <a:bodyPr/>
          <a:lstStyle/>
          <a:p>
            <a:fld id="{375F0208-B501-1940-A7C0-92DF3AA3486D}" type="slidenum">
              <a:rPr lang="en-US" smtClean="0"/>
              <a:t>3</a:t>
            </a:fld>
            <a:endParaRPr lang="en-US" dirty="0"/>
          </a:p>
        </p:txBody>
      </p:sp>
      <p:pic>
        <p:nvPicPr>
          <p:cNvPr id="5122" name="Picture 2" descr="Windows 11 logo windows 11 wallpaper windows 11 background ...">
            <a:extLst>
              <a:ext uri="{FF2B5EF4-FFF2-40B4-BE49-F238E27FC236}">
                <a16:creationId xmlns:a16="http://schemas.microsoft.com/office/drawing/2014/main" id="{1BA90181-435B-8F26-F090-79BD32DF18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90100" y="545353"/>
            <a:ext cx="1892300" cy="133899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MACOS LOGO - eDiscovery Software| eDiscovery Collection ...">
            <a:extLst>
              <a:ext uri="{FF2B5EF4-FFF2-40B4-BE49-F238E27FC236}">
                <a16:creationId xmlns:a16="http://schemas.microsoft.com/office/drawing/2014/main" id="{C5BF317C-A82B-9668-8928-F855BE12B6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3388" y="1982175"/>
            <a:ext cx="1338996" cy="1338996"/>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Linux Logo and symbol, meaning, history, PNG, brand">
            <a:extLst>
              <a:ext uri="{FF2B5EF4-FFF2-40B4-BE49-F238E27FC236}">
                <a16:creationId xmlns:a16="http://schemas.microsoft.com/office/drawing/2014/main" id="{2C32B454-1439-8D4F-6464-004596B57F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95330" y="2651673"/>
            <a:ext cx="1892300" cy="1044028"/>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E69C8677-4A85-0131-1D65-34540F0079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6262" y="3708047"/>
            <a:ext cx="1209396" cy="1209396"/>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a:extLst>
              <a:ext uri="{FF2B5EF4-FFF2-40B4-BE49-F238E27FC236}">
                <a16:creationId xmlns:a16="http://schemas.microsoft.com/office/drawing/2014/main" id="{7EE79FEE-E7C4-5A6C-AA9D-8CC3CB744A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71982" y="4586795"/>
            <a:ext cx="1338996" cy="133899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D16813C0-1EFC-F8D8-1102-DB40F9ABC0AE}"/>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1491533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F0D6E-8BC7-7A00-3291-A45B8806C412}"/>
              </a:ext>
            </a:extLst>
          </p:cNvPr>
          <p:cNvSpPr>
            <a:spLocks noGrp="1"/>
          </p:cNvSpPr>
          <p:nvPr>
            <p:ph type="title"/>
          </p:nvPr>
        </p:nvSpPr>
        <p:spPr/>
        <p:txBody>
          <a:bodyPr/>
          <a:lstStyle/>
          <a:p>
            <a:r>
              <a:rPr lang="en-GB" dirty="0"/>
              <a:t>1. Real-Time Operating Systems</a:t>
            </a:r>
          </a:p>
        </p:txBody>
      </p:sp>
      <p:sp>
        <p:nvSpPr>
          <p:cNvPr id="3" name="Content Placeholder 2">
            <a:extLst>
              <a:ext uri="{FF2B5EF4-FFF2-40B4-BE49-F238E27FC236}">
                <a16:creationId xmlns:a16="http://schemas.microsoft.com/office/drawing/2014/main" id="{6706CEF4-DA90-A8CE-6A58-82DFB3747986}"/>
              </a:ext>
            </a:extLst>
          </p:cNvPr>
          <p:cNvSpPr>
            <a:spLocks noGrp="1"/>
          </p:cNvSpPr>
          <p:nvPr>
            <p:ph idx="1"/>
          </p:nvPr>
        </p:nvSpPr>
        <p:spPr>
          <a:xfrm>
            <a:off x="609600" y="990600"/>
            <a:ext cx="7673788" cy="5486400"/>
          </a:xfrm>
        </p:spPr>
        <p:txBody>
          <a:bodyPr/>
          <a:lstStyle/>
          <a:p>
            <a:r>
              <a:rPr lang="en-GB" dirty="0"/>
              <a:t>A real-time operating system (RTOS) is very different from what we understand as an “operating system”.</a:t>
            </a:r>
          </a:p>
          <a:p>
            <a:pPr lvl="1"/>
            <a:r>
              <a:rPr lang="en-GB" dirty="0"/>
              <a:t>Focus is on small size, high speed, reliability, and “guaranteed deadlines”.</a:t>
            </a:r>
          </a:p>
          <a:p>
            <a:pPr lvl="1"/>
            <a:r>
              <a:rPr lang="en-GB" dirty="0"/>
              <a:t>No shell; your application starts the OS!</a:t>
            </a:r>
          </a:p>
          <a:p>
            <a:r>
              <a:rPr lang="en-GB" dirty="0"/>
              <a:t>Used in mission critical system:</a:t>
            </a:r>
          </a:p>
          <a:p>
            <a:pPr lvl="1"/>
            <a:r>
              <a:rPr lang="en-GB" dirty="0"/>
              <a:t>Aircraft flight and engine controls.</a:t>
            </a:r>
          </a:p>
          <a:p>
            <a:pPr lvl="1"/>
            <a:r>
              <a:rPr lang="en-GB" dirty="0"/>
              <a:t>Car engine and braking controls.</a:t>
            </a:r>
          </a:p>
          <a:p>
            <a:pPr lvl="1"/>
            <a:r>
              <a:rPr lang="en-GB" dirty="0"/>
              <a:t>Industrial control systems.</a:t>
            </a:r>
          </a:p>
          <a:p>
            <a:pPr lvl="1"/>
            <a:r>
              <a:rPr lang="en-GB" dirty="0"/>
              <a:t>…</a:t>
            </a:r>
          </a:p>
          <a:p>
            <a:pPr lvl="3"/>
            <a:endParaRPr lang="en-GB" dirty="0"/>
          </a:p>
          <a:p>
            <a:pPr lvl="2"/>
            <a:endParaRPr lang="en-GB" dirty="0"/>
          </a:p>
          <a:p>
            <a:pPr lvl="1"/>
            <a:endParaRPr lang="en-GB" dirty="0"/>
          </a:p>
        </p:txBody>
      </p:sp>
      <p:sp>
        <p:nvSpPr>
          <p:cNvPr id="4" name="Slide Number Placeholder 3">
            <a:extLst>
              <a:ext uri="{FF2B5EF4-FFF2-40B4-BE49-F238E27FC236}">
                <a16:creationId xmlns:a16="http://schemas.microsoft.com/office/drawing/2014/main" id="{655786A0-5781-40F4-6DEF-AEAB283733C5}"/>
              </a:ext>
            </a:extLst>
          </p:cNvPr>
          <p:cNvSpPr>
            <a:spLocks noGrp="1"/>
          </p:cNvSpPr>
          <p:nvPr>
            <p:ph type="sldNum" sz="quarter" idx="10"/>
          </p:nvPr>
        </p:nvSpPr>
        <p:spPr/>
        <p:txBody>
          <a:bodyPr/>
          <a:lstStyle/>
          <a:p>
            <a:fld id="{375F0208-B501-1940-A7C0-92DF3AA3486D}" type="slidenum">
              <a:rPr lang="en-US" smtClean="0"/>
              <a:t>4</a:t>
            </a:fld>
            <a:endParaRPr lang="en-US" dirty="0"/>
          </a:p>
        </p:txBody>
      </p:sp>
      <p:pic>
        <p:nvPicPr>
          <p:cNvPr id="6146" name="Picture 2" descr="FreeRTOS - Market leading RTOS (Real Time Operating System) for embedded  systems with Internet of Things extensions">
            <a:extLst>
              <a:ext uri="{FF2B5EF4-FFF2-40B4-BE49-F238E27FC236}">
                <a16:creationId xmlns:a16="http://schemas.microsoft.com/office/drawing/2014/main" id="{803AEA35-F212-C74A-9121-F0A81DECA3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5497" y="634207"/>
            <a:ext cx="2786903" cy="117938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SafeRTOS | DIOIZ JAPAN">
            <a:extLst>
              <a:ext uri="{FF2B5EF4-FFF2-40B4-BE49-F238E27FC236}">
                <a16:creationId xmlns:a16="http://schemas.microsoft.com/office/drawing/2014/main" id="{F64428C3-1EA4-5978-4C05-C59244F6E8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6455" y="1813592"/>
            <a:ext cx="2585945" cy="110826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VxWorks Operating System - javatpoint">
            <a:extLst>
              <a:ext uri="{FF2B5EF4-FFF2-40B4-BE49-F238E27FC236}">
                <a16:creationId xmlns:a16="http://schemas.microsoft.com/office/drawing/2014/main" id="{3C15E7F9-10AE-87B9-A6A4-43BF27F36F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6455" y="2986486"/>
            <a:ext cx="2713318" cy="949661"/>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Top 4 Embedded Operating Systems with Examples (2023 Update)">
            <a:extLst>
              <a:ext uri="{FF2B5EF4-FFF2-40B4-BE49-F238E27FC236}">
                <a16:creationId xmlns:a16="http://schemas.microsoft.com/office/drawing/2014/main" id="{B4434735-01E9-7788-6E35-432CC3CDEF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65381" y="4278245"/>
            <a:ext cx="2498151" cy="1176499"/>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0C0EDDC3-BA72-C821-F5A9-D5EE7866007C}"/>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1365041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F0D6E-8BC7-7A00-3291-A45B8806C412}"/>
              </a:ext>
            </a:extLst>
          </p:cNvPr>
          <p:cNvSpPr>
            <a:spLocks noGrp="1"/>
          </p:cNvSpPr>
          <p:nvPr>
            <p:ph type="title"/>
          </p:nvPr>
        </p:nvSpPr>
        <p:spPr/>
        <p:txBody>
          <a:bodyPr/>
          <a:lstStyle/>
          <a:p>
            <a:r>
              <a:rPr lang="en-GB" dirty="0"/>
              <a:t>1. Real-Time Operating Systems</a:t>
            </a:r>
          </a:p>
        </p:txBody>
      </p:sp>
      <p:sp>
        <p:nvSpPr>
          <p:cNvPr id="3" name="Content Placeholder 2">
            <a:extLst>
              <a:ext uri="{FF2B5EF4-FFF2-40B4-BE49-F238E27FC236}">
                <a16:creationId xmlns:a16="http://schemas.microsoft.com/office/drawing/2014/main" id="{6706CEF4-DA90-A8CE-6A58-82DFB3747986}"/>
              </a:ext>
            </a:extLst>
          </p:cNvPr>
          <p:cNvSpPr>
            <a:spLocks noGrp="1"/>
          </p:cNvSpPr>
          <p:nvPr>
            <p:ph idx="1"/>
          </p:nvPr>
        </p:nvSpPr>
        <p:spPr>
          <a:xfrm>
            <a:off x="609600" y="990600"/>
            <a:ext cx="7673788" cy="5589586"/>
          </a:xfrm>
        </p:spPr>
        <p:txBody>
          <a:bodyPr/>
          <a:lstStyle/>
          <a:p>
            <a:pPr lvl="1"/>
            <a:r>
              <a:rPr lang="en-GB" dirty="0"/>
              <a:t>Mostly, you still need to program the hardware yourself. But it gives you facilities for:</a:t>
            </a:r>
          </a:p>
          <a:p>
            <a:pPr lvl="2"/>
            <a:r>
              <a:rPr lang="en-GB" dirty="0"/>
              <a:t>Managing multiple “tasks”.</a:t>
            </a:r>
          </a:p>
          <a:p>
            <a:pPr lvl="3"/>
            <a:r>
              <a:rPr lang="en-GB" dirty="0"/>
              <a:t>A “task” is (almost) equivalent to a thread. Implemented as functions with infinite loops.</a:t>
            </a:r>
          </a:p>
          <a:p>
            <a:pPr lvl="2"/>
            <a:r>
              <a:rPr lang="en-GB" dirty="0"/>
              <a:t>Providing synchronization and communications between tasks.</a:t>
            </a:r>
          </a:p>
          <a:p>
            <a:pPr lvl="3"/>
            <a:r>
              <a:rPr lang="en-GB" dirty="0"/>
              <a:t>FIFO queues, priority queues, semaphores, monitors.</a:t>
            </a:r>
          </a:p>
          <a:p>
            <a:pPr lvl="3"/>
            <a:r>
              <a:rPr lang="en-GB" dirty="0"/>
              <a:t>Also provided by normal OS, but much more critical in an RTOS.</a:t>
            </a:r>
          </a:p>
          <a:p>
            <a:r>
              <a:rPr lang="en-GB" dirty="0"/>
              <a:t>In this class we will use </a:t>
            </a:r>
            <a:r>
              <a:rPr lang="en-GB" dirty="0" err="1"/>
              <a:t>FreeRTOS</a:t>
            </a:r>
            <a:r>
              <a:rPr lang="en-GB" dirty="0"/>
              <a:t>. </a:t>
            </a:r>
          </a:p>
          <a:p>
            <a:pPr lvl="1"/>
            <a:r>
              <a:rPr lang="en-GB" dirty="0"/>
              <a:t>Fully featured RTOS.</a:t>
            </a:r>
          </a:p>
          <a:p>
            <a:pPr lvl="1"/>
            <a:r>
              <a:rPr lang="en-GB" dirty="0" err="1"/>
              <a:t>SafeRTOS</a:t>
            </a:r>
            <a:r>
              <a:rPr lang="en-GB" dirty="0"/>
              <a:t> is a safety-certified version of </a:t>
            </a:r>
            <a:r>
              <a:rPr lang="en-GB" dirty="0" err="1"/>
              <a:t>FreeRTOS</a:t>
            </a:r>
            <a:endParaRPr lang="en-GB" dirty="0"/>
          </a:p>
          <a:p>
            <a:pPr lvl="1"/>
            <a:endParaRPr lang="en-GB" dirty="0"/>
          </a:p>
        </p:txBody>
      </p:sp>
      <p:sp>
        <p:nvSpPr>
          <p:cNvPr id="4" name="Slide Number Placeholder 3">
            <a:extLst>
              <a:ext uri="{FF2B5EF4-FFF2-40B4-BE49-F238E27FC236}">
                <a16:creationId xmlns:a16="http://schemas.microsoft.com/office/drawing/2014/main" id="{655786A0-5781-40F4-6DEF-AEAB283733C5}"/>
              </a:ext>
            </a:extLst>
          </p:cNvPr>
          <p:cNvSpPr>
            <a:spLocks noGrp="1"/>
          </p:cNvSpPr>
          <p:nvPr>
            <p:ph type="sldNum" sz="quarter" idx="10"/>
          </p:nvPr>
        </p:nvSpPr>
        <p:spPr/>
        <p:txBody>
          <a:bodyPr/>
          <a:lstStyle/>
          <a:p>
            <a:fld id="{375F0208-B501-1940-A7C0-92DF3AA3486D}" type="slidenum">
              <a:rPr lang="en-US" smtClean="0"/>
              <a:t>5</a:t>
            </a:fld>
            <a:endParaRPr lang="en-US" dirty="0"/>
          </a:p>
        </p:txBody>
      </p:sp>
      <p:pic>
        <p:nvPicPr>
          <p:cNvPr id="6146" name="Picture 2" descr="FreeRTOS - Market leading RTOS (Real Time Operating System) for embedded  systems with Internet of Things extensions">
            <a:extLst>
              <a:ext uri="{FF2B5EF4-FFF2-40B4-BE49-F238E27FC236}">
                <a16:creationId xmlns:a16="http://schemas.microsoft.com/office/drawing/2014/main" id="{803AEA35-F212-C74A-9121-F0A81DECA3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5497" y="634207"/>
            <a:ext cx="2786903" cy="117938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SafeRTOS | DIOIZ JAPAN">
            <a:extLst>
              <a:ext uri="{FF2B5EF4-FFF2-40B4-BE49-F238E27FC236}">
                <a16:creationId xmlns:a16="http://schemas.microsoft.com/office/drawing/2014/main" id="{F64428C3-1EA4-5978-4C05-C59244F6E8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6455" y="1813592"/>
            <a:ext cx="2585945" cy="110826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VxWorks Operating System - javatpoint">
            <a:extLst>
              <a:ext uri="{FF2B5EF4-FFF2-40B4-BE49-F238E27FC236}">
                <a16:creationId xmlns:a16="http://schemas.microsoft.com/office/drawing/2014/main" id="{3C15E7F9-10AE-87B9-A6A4-43BF27F36F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6455" y="2986486"/>
            <a:ext cx="2713318" cy="949661"/>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Top 4 Embedded Operating Systems with Examples (2023 Update)">
            <a:extLst>
              <a:ext uri="{FF2B5EF4-FFF2-40B4-BE49-F238E27FC236}">
                <a16:creationId xmlns:a16="http://schemas.microsoft.com/office/drawing/2014/main" id="{B4434735-01E9-7788-6E35-432CC3CDEF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65381" y="4278245"/>
            <a:ext cx="2498151" cy="1176499"/>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76136C60-EC11-0D16-1CAF-466BC35DB255}"/>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1533699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E532F-20F7-0BF6-F28A-9B8D3A39B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7EFF95-F88D-5256-2C05-ADD8520C382A}"/>
              </a:ext>
            </a:extLst>
          </p:cNvPr>
          <p:cNvSpPr>
            <a:spLocks noGrp="1"/>
          </p:cNvSpPr>
          <p:nvPr>
            <p:ph type="title"/>
          </p:nvPr>
        </p:nvSpPr>
        <p:spPr/>
        <p:txBody>
          <a:bodyPr/>
          <a:lstStyle/>
          <a:p>
            <a:r>
              <a:rPr lang="en-GB" dirty="0"/>
              <a:t>1. Real-Time Operating Systems</a:t>
            </a:r>
          </a:p>
        </p:txBody>
      </p:sp>
      <p:sp>
        <p:nvSpPr>
          <p:cNvPr id="3" name="Content Placeholder 2">
            <a:extLst>
              <a:ext uri="{FF2B5EF4-FFF2-40B4-BE49-F238E27FC236}">
                <a16:creationId xmlns:a16="http://schemas.microsoft.com/office/drawing/2014/main" id="{59C7255A-61FD-F136-4875-5CA3C2011D7C}"/>
              </a:ext>
            </a:extLst>
          </p:cNvPr>
          <p:cNvSpPr>
            <a:spLocks noGrp="1"/>
          </p:cNvSpPr>
          <p:nvPr>
            <p:ph idx="1"/>
          </p:nvPr>
        </p:nvSpPr>
        <p:spPr>
          <a:xfrm>
            <a:off x="609600" y="990600"/>
            <a:ext cx="7673788" cy="5589586"/>
          </a:xfrm>
        </p:spPr>
        <p:txBody>
          <a:bodyPr/>
          <a:lstStyle/>
          <a:p>
            <a:r>
              <a:rPr lang="en-GB" dirty="0"/>
              <a:t>One (of many) important difference between an RTOS and a “normal” OS.</a:t>
            </a:r>
          </a:p>
          <a:p>
            <a:pPr lvl="1"/>
            <a:r>
              <a:rPr lang="en-GB" dirty="0"/>
              <a:t>In a normal OS, we start up the OS, and use the OS to start up the application, which then may fork other processes or spawn threads.</a:t>
            </a:r>
          </a:p>
          <a:p>
            <a:pPr lvl="1"/>
            <a:r>
              <a:rPr lang="en-GB" dirty="0"/>
              <a:t>In an RTOS:</a:t>
            </a:r>
          </a:p>
          <a:p>
            <a:pPr lvl="2"/>
            <a:r>
              <a:rPr lang="en-GB" dirty="0"/>
              <a:t>The application registers tasks that need to be run.</a:t>
            </a:r>
          </a:p>
          <a:p>
            <a:pPr lvl="2"/>
            <a:r>
              <a:rPr lang="en-GB" dirty="0"/>
              <a:t>The application then starts the OS.</a:t>
            </a:r>
          </a:p>
          <a:p>
            <a:pPr lvl="1"/>
            <a:r>
              <a:rPr lang="en-GB" dirty="0"/>
              <a:t>So in an RTOS it is the application that starts the OS, not the other way around.</a:t>
            </a:r>
            <a:br>
              <a:rPr lang="en-GB" dirty="0"/>
            </a:br>
            <a:endParaRPr lang="en-GB" dirty="0"/>
          </a:p>
          <a:p>
            <a:pPr lvl="1"/>
            <a:endParaRPr lang="en-GB" dirty="0"/>
          </a:p>
        </p:txBody>
      </p:sp>
      <p:sp>
        <p:nvSpPr>
          <p:cNvPr id="4" name="Slide Number Placeholder 3">
            <a:extLst>
              <a:ext uri="{FF2B5EF4-FFF2-40B4-BE49-F238E27FC236}">
                <a16:creationId xmlns:a16="http://schemas.microsoft.com/office/drawing/2014/main" id="{D4C68C66-ABF7-97E1-82C1-5C6A8F3AB9B4}"/>
              </a:ext>
            </a:extLst>
          </p:cNvPr>
          <p:cNvSpPr>
            <a:spLocks noGrp="1"/>
          </p:cNvSpPr>
          <p:nvPr>
            <p:ph type="sldNum" sz="quarter" idx="10"/>
          </p:nvPr>
        </p:nvSpPr>
        <p:spPr/>
        <p:txBody>
          <a:bodyPr/>
          <a:lstStyle/>
          <a:p>
            <a:fld id="{375F0208-B501-1940-A7C0-92DF3AA3486D}" type="slidenum">
              <a:rPr lang="en-US" smtClean="0"/>
              <a:t>6</a:t>
            </a:fld>
            <a:endParaRPr lang="en-US" dirty="0"/>
          </a:p>
        </p:txBody>
      </p:sp>
      <p:pic>
        <p:nvPicPr>
          <p:cNvPr id="6146" name="Picture 2" descr="FreeRTOS - Market leading RTOS (Real Time Operating System) for embedded  systems with Internet of Things extensions">
            <a:extLst>
              <a:ext uri="{FF2B5EF4-FFF2-40B4-BE49-F238E27FC236}">
                <a16:creationId xmlns:a16="http://schemas.microsoft.com/office/drawing/2014/main" id="{1B288479-2BE2-344F-5E86-39E64484B3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5497" y="634207"/>
            <a:ext cx="2786903" cy="117938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SafeRTOS | DIOIZ JAPAN">
            <a:extLst>
              <a:ext uri="{FF2B5EF4-FFF2-40B4-BE49-F238E27FC236}">
                <a16:creationId xmlns:a16="http://schemas.microsoft.com/office/drawing/2014/main" id="{4AE79786-C4C0-FF38-A694-7F0C1756AC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6455" y="1813592"/>
            <a:ext cx="2585945" cy="110826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VxWorks Operating System - javatpoint">
            <a:extLst>
              <a:ext uri="{FF2B5EF4-FFF2-40B4-BE49-F238E27FC236}">
                <a16:creationId xmlns:a16="http://schemas.microsoft.com/office/drawing/2014/main" id="{1A8CAE43-7A56-67FF-9D34-B2F685E93E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6455" y="2986486"/>
            <a:ext cx="2713318" cy="949661"/>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Top 4 Embedded Operating Systems with Examples (2023 Update)">
            <a:extLst>
              <a:ext uri="{FF2B5EF4-FFF2-40B4-BE49-F238E27FC236}">
                <a16:creationId xmlns:a16="http://schemas.microsoft.com/office/drawing/2014/main" id="{C331E169-B3AB-27B6-C55A-C72F1B7CAF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65381" y="4278245"/>
            <a:ext cx="2498151" cy="1176499"/>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C4618ED1-E08C-8EA1-729D-3DE3BB587D00}"/>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3733720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949A5-79BA-DBC8-2831-5C65652CA16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49D1D80-62BB-E5EC-5CEA-583A54680038}"/>
              </a:ext>
            </a:extLst>
          </p:cNvPr>
          <p:cNvSpPr>
            <a:spLocks noGrp="1"/>
          </p:cNvSpPr>
          <p:nvPr>
            <p:ph type="title"/>
          </p:nvPr>
        </p:nvSpPr>
        <p:spPr/>
        <p:txBody>
          <a:bodyPr/>
          <a:lstStyle/>
          <a:p>
            <a:r>
              <a:rPr lang="en-SG" dirty="0"/>
              <a:t>RTOS tasks</a:t>
            </a:r>
          </a:p>
        </p:txBody>
      </p:sp>
      <p:sp>
        <p:nvSpPr>
          <p:cNvPr id="7" name="Text Placeholder 6">
            <a:extLst>
              <a:ext uri="{FF2B5EF4-FFF2-40B4-BE49-F238E27FC236}">
                <a16:creationId xmlns:a16="http://schemas.microsoft.com/office/drawing/2014/main" id="{C6F5DCA6-1474-7469-321F-C9E4D30BED0E}"/>
              </a:ext>
            </a:extLst>
          </p:cNvPr>
          <p:cNvSpPr>
            <a:spLocks noGrp="1"/>
          </p:cNvSpPr>
          <p:nvPr>
            <p:ph type="body" idx="1"/>
          </p:nvPr>
        </p:nvSpPr>
        <p:spPr/>
        <p:txBody>
          <a:bodyPr/>
          <a:lstStyle/>
          <a:p>
            <a:r>
              <a:rPr lang="en-SG" dirty="0"/>
              <a:t>Lab Lecture 7  –  Real Time Operating Systems</a:t>
            </a:r>
          </a:p>
        </p:txBody>
      </p:sp>
      <p:sp>
        <p:nvSpPr>
          <p:cNvPr id="4" name="Slide Number Placeholder 3">
            <a:extLst>
              <a:ext uri="{FF2B5EF4-FFF2-40B4-BE49-F238E27FC236}">
                <a16:creationId xmlns:a16="http://schemas.microsoft.com/office/drawing/2014/main" id="{2E8C6DBC-8B16-B161-F829-DD73A8D891F9}"/>
              </a:ext>
            </a:extLst>
          </p:cNvPr>
          <p:cNvSpPr>
            <a:spLocks noGrp="1"/>
          </p:cNvSpPr>
          <p:nvPr>
            <p:ph type="sldNum" sz="quarter" idx="10"/>
          </p:nvPr>
        </p:nvSpPr>
        <p:spPr/>
        <p:txBody>
          <a:bodyPr/>
          <a:lstStyle/>
          <a:p>
            <a:fld id="{E4B16682-6FB4-4344-B037-3C8A3CEB850D}" type="slidenum">
              <a:rPr lang="en-US" altLang="en-US" smtClean="0"/>
              <a:pPr/>
              <a:t>7</a:t>
            </a:fld>
            <a:endParaRPr lang="en-US" altLang="en-US"/>
          </a:p>
        </p:txBody>
      </p:sp>
      <p:sp>
        <p:nvSpPr>
          <p:cNvPr id="5" name="Footer Placeholder 4">
            <a:extLst>
              <a:ext uri="{FF2B5EF4-FFF2-40B4-BE49-F238E27FC236}">
                <a16:creationId xmlns:a16="http://schemas.microsoft.com/office/drawing/2014/main" id="{3BE208DA-F790-5DFA-4CC4-6F3583CD6576}"/>
              </a:ext>
            </a:extLst>
          </p:cNvPr>
          <p:cNvSpPr>
            <a:spLocks noGrp="1"/>
          </p:cNvSpPr>
          <p:nvPr>
            <p:ph type="ftr" sz="quarter" idx="11"/>
          </p:nvPr>
        </p:nvSpPr>
        <p:spPr/>
        <p:txBody>
          <a:bodyPr/>
          <a:lstStyle/>
          <a:p>
            <a:r>
              <a:rPr lang="en-SG" altLang="en-US"/>
              <a:t>CG2271 Lab Lecture 7</a:t>
            </a:r>
            <a:endParaRPr lang="en-US" altLang="en-US" dirty="0"/>
          </a:p>
        </p:txBody>
      </p:sp>
    </p:spTree>
    <p:extLst>
      <p:ext uri="{BB962C8B-B14F-4D97-AF65-F5344CB8AC3E}">
        <p14:creationId xmlns:p14="http://schemas.microsoft.com/office/powerpoint/2010/main" val="3342801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2003A-E171-3293-9B1E-91BE54CBEA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629DE-6689-C8D1-CF67-1B259C0CDB99}"/>
              </a:ext>
            </a:extLst>
          </p:cNvPr>
          <p:cNvSpPr>
            <a:spLocks noGrp="1"/>
          </p:cNvSpPr>
          <p:nvPr>
            <p:ph type="title"/>
          </p:nvPr>
        </p:nvSpPr>
        <p:spPr/>
        <p:txBody>
          <a:bodyPr/>
          <a:lstStyle/>
          <a:p>
            <a:r>
              <a:rPr lang="en-GB" dirty="0"/>
              <a:t>2. RTOS Tasks</a:t>
            </a:r>
          </a:p>
        </p:txBody>
      </p:sp>
      <p:sp>
        <p:nvSpPr>
          <p:cNvPr id="3" name="Content Placeholder 2">
            <a:extLst>
              <a:ext uri="{FF2B5EF4-FFF2-40B4-BE49-F238E27FC236}">
                <a16:creationId xmlns:a16="http://schemas.microsoft.com/office/drawing/2014/main" id="{7217EB4A-5D85-33F0-2B81-33CF8568DE45}"/>
              </a:ext>
            </a:extLst>
          </p:cNvPr>
          <p:cNvSpPr>
            <a:spLocks noGrp="1"/>
          </p:cNvSpPr>
          <p:nvPr>
            <p:ph idx="1"/>
          </p:nvPr>
        </p:nvSpPr>
        <p:spPr>
          <a:xfrm>
            <a:off x="609600" y="990600"/>
            <a:ext cx="10820400" cy="5589586"/>
          </a:xfrm>
        </p:spPr>
        <p:txBody>
          <a:bodyPr/>
          <a:lstStyle/>
          <a:p>
            <a:r>
              <a:rPr lang="en-GB" dirty="0" err="1"/>
              <a:t>FreeRTOS</a:t>
            </a:r>
            <a:r>
              <a:rPr lang="en-GB" dirty="0"/>
              <a:t> systems are centred upon “tasks” and interrupts.</a:t>
            </a:r>
          </a:p>
          <a:p>
            <a:pPr lvl="1"/>
            <a:r>
              <a:rPr lang="en-GB" dirty="0"/>
              <a:t>Tasks are similar to POSIX threads</a:t>
            </a:r>
          </a:p>
          <a:p>
            <a:pPr lvl="2"/>
            <a:r>
              <a:rPr lang="en-GB" dirty="0"/>
              <a:t>Every task is usually written as a function.</a:t>
            </a:r>
          </a:p>
          <a:p>
            <a:pPr lvl="2"/>
            <a:r>
              <a:rPr lang="en-GB" dirty="0"/>
              <a:t>Just like </a:t>
            </a:r>
            <a:r>
              <a:rPr lang="en-GB" dirty="0" err="1"/>
              <a:t>pthreads</a:t>
            </a:r>
            <a:r>
              <a:rPr lang="en-GB" dirty="0"/>
              <a:t>, a single function can be used to spawn multiple threads.</a:t>
            </a:r>
          </a:p>
          <a:p>
            <a:pPr marL="671512" lvl="2" indent="0">
              <a:buNone/>
            </a:pPr>
            <a:endParaRPr lang="en-GB" dirty="0"/>
          </a:p>
          <a:p>
            <a:pPr marL="671512" lvl="2" indent="0">
              <a:buNone/>
            </a:pPr>
            <a:endParaRPr lang="en-GB" dirty="0"/>
          </a:p>
          <a:p>
            <a:pPr marL="671512" lvl="2" indent="0">
              <a:buNone/>
            </a:pPr>
            <a:endParaRPr lang="en-GB" dirty="0"/>
          </a:p>
        </p:txBody>
      </p:sp>
      <p:sp>
        <p:nvSpPr>
          <p:cNvPr id="4" name="Slide Number Placeholder 3">
            <a:extLst>
              <a:ext uri="{FF2B5EF4-FFF2-40B4-BE49-F238E27FC236}">
                <a16:creationId xmlns:a16="http://schemas.microsoft.com/office/drawing/2014/main" id="{4E39B69C-F508-E92C-78F3-8C5B13147253}"/>
              </a:ext>
            </a:extLst>
          </p:cNvPr>
          <p:cNvSpPr>
            <a:spLocks noGrp="1"/>
          </p:cNvSpPr>
          <p:nvPr>
            <p:ph type="sldNum" sz="quarter" idx="10"/>
          </p:nvPr>
        </p:nvSpPr>
        <p:spPr/>
        <p:txBody>
          <a:bodyPr/>
          <a:lstStyle/>
          <a:p>
            <a:fld id="{375F0208-B501-1940-A7C0-92DF3AA3486D}" type="slidenum">
              <a:rPr lang="en-US" smtClean="0"/>
              <a:t>8</a:t>
            </a:fld>
            <a:endParaRPr lang="en-US" dirty="0"/>
          </a:p>
        </p:txBody>
      </p:sp>
      <p:pic>
        <p:nvPicPr>
          <p:cNvPr id="8" name="Picture 7">
            <a:extLst>
              <a:ext uri="{FF2B5EF4-FFF2-40B4-BE49-F238E27FC236}">
                <a16:creationId xmlns:a16="http://schemas.microsoft.com/office/drawing/2014/main" id="{CB39503E-C987-E4A8-6D3E-9651DB3287D8}"/>
              </a:ext>
            </a:extLst>
          </p:cNvPr>
          <p:cNvPicPr>
            <a:picLocks noChangeAspect="1"/>
          </p:cNvPicPr>
          <p:nvPr/>
        </p:nvPicPr>
        <p:blipFill>
          <a:blip r:embed="rId2"/>
          <a:stretch>
            <a:fillRect/>
          </a:stretch>
        </p:blipFill>
        <p:spPr>
          <a:xfrm>
            <a:off x="618309" y="3052127"/>
            <a:ext cx="11018471" cy="2362200"/>
          </a:xfrm>
          <a:prstGeom prst="rect">
            <a:avLst/>
          </a:prstGeom>
        </p:spPr>
      </p:pic>
      <p:sp>
        <p:nvSpPr>
          <p:cNvPr id="9" name="Footer Placeholder 8">
            <a:extLst>
              <a:ext uri="{FF2B5EF4-FFF2-40B4-BE49-F238E27FC236}">
                <a16:creationId xmlns:a16="http://schemas.microsoft.com/office/drawing/2014/main" id="{213776F4-E737-1D6D-F823-3E17C4074B32}"/>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2636725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E32E2-6B8F-9D5D-979C-EC1887B0CDC4}"/>
              </a:ext>
            </a:extLst>
          </p:cNvPr>
          <p:cNvSpPr>
            <a:spLocks noGrp="1"/>
          </p:cNvSpPr>
          <p:nvPr>
            <p:ph type="title"/>
          </p:nvPr>
        </p:nvSpPr>
        <p:spPr/>
        <p:txBody>
          <a:bodyPr/>
          <a:lstStyle/>
          <a:p>
            <a:r>
              <a:rPr lang="en-GB" dirty="0"/>
              <a:t>2. RTOS Tasks</a:t>
            </a:r>
            <a:endParaRPr lang="en-SG" dirty="0"/>
          </a:p>
        </p:txBody>
      </p:sp>
      <p:sp>
        <p:nvSpPr>
          <p:cNvPr id="3" name="Content Placeholder 2">
            <a:extLst>
              <a:ext uri="{FF2B5EF4-FFF2-40B4-BE49-F238E27FC236}">
                <a16:creationId xmlns:a16="http://schemas.microsoft.com/office/drawing/2014/main" id="{6022238A-D2B2-9561-7E4F-0D0F928C8719}"/>
              </a:ext>
            </a:extLst>
          </p:cNvPr>
          <p:cNvSpPr>
            <a:spLocks noGrp="1"/>
          </p:cNvSpPr>
          <p:nvPr>
            <p:ph idx="1"/>
          </p:nvPr>
        </p:nvSpPr>
        <p:spPr/>
        <p:txBody>
          <a:bodyPr/>
          <a:lstStyle/>
          <a:p>
            <a:r>
              <a:rPr lang="en-SG" dirty="0"/>
              <a:t>Example equivalent task in </a:t>
            </a:r>
            <a:r>
              <a:rPr lang="en-SG" dirty="0" err="1"/>
              <a:t>FreeRTOS</a:t>
            </a:r>
            <a:r>
              <a:rPr lang="en-SG" dirty="0"/>
              <a:t>:</a:t>
            </a:r>
          </a:p>
          <a:p>
            <a:endParaRPr lang="en-SG" dirty="0"/>
          </a:p>
          <a:p>
            <a:endParaRPr lang="en-SG" dirty="0"/>
          </a:p>
          <a:p>
            <a:endParaRPr lang="en-SG" dirty="0"/>
          </a:p>
          <a:p>
            <a:endParaRPr lang="en-SG" dirty="0"/>
          </a:p>
          <a:p>
            <a:endParaRPr lang="en-SG" dirty="0"/>
          </a:p>
          <a:p>
            <a:r>
              <a:rPr lang="en-SG" dirty="0"/>
              <a:t>Key differences:</a:t>
            </a:r>
          </a:p>
          <a:p>
            <a:pPr lvl="1"/>
            <a:r>
              <a:rPr lang="en-SG" dirty="0"/>
              <a:t>Tasks generally run in infinite loops. Call </a:t>
            </a:r>
            <a:r>
              <a:rPr lang="en-SG" dirty="0" err="1"/>
              <a:t>vTaskSuspend</a:t>
            </a:r>
            <a:r>
              <a:rPr lang="en-SG" dirty="0"/>
              <a:t> if the task should not loop anymore. Note: The “static” keyword is optional.</a:t>
            </a:r>
          </a:p>
          <a:p>
            <a:pPr lvl="1"/>
            <a:r>
              <a:rPr lang="en-SG" dirty="0"/>
              <a:t>Tasks have priorities at creation. Here all tasks have equal priority of 1 (smaller number = lower priority).</a:t>
            </a:r>
          </a:p>
        </p:txBody>
      </p:sp>
      <p:sp>
        <p:nvSpPr>
          <p:cNvPr id="4" name="Slide Number Placeholder 3">
            <a:extLst>
              <a:ext uri="{FF2B5EF4-FFF2-40B4-BE49-F238E27FC236}">
                <a16:creationId xmlns:a16="http://schemas.microsoft.com/office/drawing/2014/main" id="{9D3E2B27-8029-08AE-48E6-7596C3BA3FAD}"/>
              </a:ext>
            </a:extLst>
          </p:cNvPr>
          <p:cNvSpPr>
            <a:spLocks noGrp="1"/>
          </p:cNvSpPr>
          <p:nvPr>
            <p:ph type="sldNum" sz="quarter" idx="10"/>
          </p:nvPr>
        </p:nvSpPr>
        <p:spPr/>
        <p:txBody>
          <a:bodyPr/>
          <a:lstStyle/>
          <a:p>
            <a:fld id="{E4B16682-6FB4-4344-B037-3C8A3CEB850D}" type="slidenum">
              <a:rPr lang="en-US" altLang="en-US" smtClean="0"/>
              <a:pPr/>
              <a:t>9</a:t>
            </a:fld>
            <a:endParaRPr lang="en-US" altLang="en-US"/>
          </a:p>
        </p:txBody>
      </p:sp>
      <p:sp>
        <p:nvSpPr>
          <p:cNvPr id="5" name="Footer Placeholder 4">
            <a:extLst>
              <a:ext uri="{FF2B5EF4-FFF2-40B4-BE49-F238E27FC236}">
                <a16:creationId xmlns:a16="http://schemas.microsoft.com/office/drawing/2014/main" id="{E6C9F513-4F2E-94CA-8BC5-C573DFBE846E}"/>
              </a:ext>
            </a:extLst>
          </p:cNvPr>
          <p:cNvSpPr>
            <a:spLocks noGrp="1"/>
          </p:cNvSpPr>
          <p:nvPr>
            <p:ph type="ftr" sz="quarter" idx="11"/>
          </p:nvPr>
        </p:nvSpPr>
        <p:spPr/>
        <p:txBody>
          <a:bodyPr/>
          <a:lstStyle/>
          <a:p>
            <a:r>
              <a:rPr lang="en-SG" altLang="en-US"/>
              <a:t>CG2271 Lab Lecture 7</a:t>
            </a:r>
            <a:endParaRPr lang="en-US" altLang="en-US"/>
          </a:p>
        </p:txBody>
      </p:sp>
      <p:pic>
        <p:nvPicPr>
          <p:cNvPr id="7" name="Picture 6">
            <a:extLst>
              <a:ext uri="{FF2B5EF4-FFF2-40B4-BE49-F238E27FC236}">
                <a16:creationId xmlns:a16="http://schemas.microsoft.com/office/drawing/2014/main" id="{680691EC-B135-9E08-D328-D85C9D47B9E4}"/>
              </a:ext>
            </a:extLst>
          </p:cNvPr>
          <p:cNvPicPr>
            <a:picLocks noChangeAspect="1"/>
          </p:cNvPicPr>
          <p:nvPr/>
        </p:nvPicPr>
        <p:blipFill>
          <a:blip r:embed="rId2"/>
          <a:stretch>
            <a:fillRect/>
          </a:stretch>
        </p:blipFill>
        <p:spPr>
          <a:xfrm>
            <a:off x="685800" y="1676400"/>
            <a:ext cx="10439400" cy="2482723"/>
          </a:xfrm>
          <a:prstGeom prst="rect">
            <a:avLst/>
          </a:prstGeom>
        </p:spPr>
      </p:pic>
    </p:spTree>
    <p:extLst>
      <p:ext uri="{BB962C8B-B14F-4D97-AF65-F5344CB8AC3E}">
        <p14:creationId xmlns:p14="http://schemas.microsoft.com/office/powerpoint/2010/main" val="503457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9607C-F8FB-F268-4666-8CCD6DC5CB9E}"/>
              </a:ext>
            </a:extLst>
          </p:cNvPr>
          <p:cNvSpPr>
            <a:spLocks noGrp="1"/>
          </p:cNvSpPr>
          <p:nvPr>
            <p:ph type="title"/>
          </p:nvPr>
        </p:nvSpPr>
        <p:spPr/>
        <p:txBody>
          <a:bodyPr/>
          <a:lstStyle/>
          <a:p>
            <a:r>
              <a:rPr lang="en-GB" dirty="0"/>
              <a:t>2. RTOS Tasks</a:t>
            </a:r>
            <a:endParaRPr lang="en-SG" dirty="0"/>
          </a:p>
        </p:txBody>
      </p:sp>
      <p:sp>
        <p:nvSpPr>
          <p:cNvPr id="3" name="Content Placeholder 2">
            <a:extLst>
              <a:ext uri="{FF2B5EF4-FFF2-40B4-BE49-F238E27FC236}">
                <a16:creationId xmlns:a16="http://schemas.microsoft.com/office/drawing/2014/main" id="{EB71196E-A0B9-046A-03D4-A4053DFB6B92}"/>
              </a:ext>
            </a:extLst>
          </p:cNvPr>
          <p:cNvSpPr>
            <a:spLocks noGrp="1"/>
          </p:cNvSpPr>
          <p:nvPr>
            <p:ph idx="1"/>
          </p:nvPr>
        </p:nvSpPr>
        <p:spPr/>
        <p:txBody>
          <a:bodyPr/>
          <a:lstStyle/>
          <a:p>
            <a:r>
              <a:rPr lang="en-SG" sz="2800" dirty="0"/>
              <a:t>ARM Cortex M0+ version of </a:t>
            </a:r>
            <a:r>
              <a:rPr lang="en-SG" sz="2800" dirty="0" err="1"/>
              <a:t>FreeRTOS</a:t>
            </a:r>
            <a:r>
              <a:rPr lang="en-SG" sz="2800" dirty="0"/>
              <a:t> is pre-emptive by default - A higher priority task will pre-empt a lower-priority task when it becomes ready.</a:t>
            </a:r>
          </a:p>
          <a:p>
            <a:r>
              <a:rPr lang="en-SG" sz="2800" dirty="0"/>
              <a:t>However time-slicing is turned off by default. In the code below, one of the two tasks will not be able to run as they have equal priority and neither gives up CPU control.</a:t>
            </a:r>
          </a:p>
        </p:txBody>
      </p:sp>
      <p:sp>
        <p:nvSpPr>
          <p:cNvPr id="4" name="Slide Number Placeholder 3">
            <a:extLst>
              <a:ext uri="{FF2B5EF4-FFF2-40B4-BE49-F238E27FC236}">
                <a16:creationId xmlns:a16="http://schemas.microsoft.com/office/drawing/2014/main" id="{C4CF976F-9B44-A035-DB08-8DC020F56390}"/>
              </a:ext>
            </a:extLst>
          </p:cNvPr>
          <p:cNvSpPr>
            <a:spLocks noGrp="1"/>
          </p:cNvSpPr>
          <p:nvPr>
            <p:ph type="sldNum" sz="quarter" idx="10"/>
          </p:nvPr>
        </p:nvSpPr>
        <p:spPr/>
        <p:txBody>
          <a:bodyPr/>
          <a:lstStyle/>
          <a:p>
            <a:fld id="{E4B16682-6FB4-4344-B037-3C8A3CEB850D}" type="slidenum">
              <a:rPr lang="en-US" altLang="en-US" smtClean="0"/>
              <a:pPr/>
              <a:t>10</a:t>
            </a:fld>
            <a:endParaRPr lang="en-US" altLang="en-US"/>
          </a:p>
        </p:txBody>
      </p:sp>
      <p:sp>
        <p:nvSpPr>
          <p:cNvPr id="5" name="Footer Placeholder 4">
            <a:extLst>
              <a:ext uri="{FF2B5EF4-FFF2-40B4-BE49-F238E27FC236}">
                <a16:creationId xmlns:a16="http://schemas.microsoft.com/office/drawing/2014/main" id="{3061D4BB-AA6A-9B59-7B37-9FDB7C72AC67}"/>
              </a:ext>
            </a:extLst>
          </p:cNvPr>
          <p:cNvSpPr>
            <a:spLocks noGrp="1"/>
          </p:cNvSpPr>
          <p:nvPr>
            <p:ph type="ftr" sz="quarter" idx="11"/>
          </p:nvPr>
        </p:nvSpPr>
        <p:spPr/>
        <p:txBody>
          <a:bodyPr/>
          <a:lstStyle/>
          <a:p>
            <a:r>
              <a:rPr lang="en-SG" altLang="en-US"/>
              <a:t>CG2271 Lab Lecture 7</a:t>
            </a:r>
            <a:endParaRPr lang="en-US" altLang="en-US"/>
          </a:p>
        </p:txBody>
      </p:sp>
      <p:pic>
        <p:nvPicPr>
          <p:cNvPr id="7" name="Picture 6">
            <a:extLst>
              <a:ext uri="{FF2B5EF4-FFF2-40B4-BE49-F238E27FC236}">
                <a16:creationId xmlns:a16="http://schemas.microsoft.com/office/drawing/2014/main" id="{AF396E06-6315-1633-D9CF-35D97EF067CD}"/>
              </a:ext>
            </a:extLst>
          </p:cNvPr>
          <p:cNvPicPr>
            <a:picLocks noChangeAspect="1"/>
          </p:cNvPicPr>
          <p:nvPr/>
        </p:nvPicPr>
        <p:blipFill>
          <a:blip r:embed="rId2"/>
          <a:stretch>
            <a:fillRect/>
          </a:stretch>
        </p:blipFill>
        <p:spPr>
          <a:xfrm>
            <a:off x="1295400" y="3893768"/>
            <a:ext cx="9220200" cy="2605457"/>
          </a:xfrm>
          <a:prstGeom prst="rect">
            <a:avLst/>
          </a:prstGeom>
        </p:spPr>
      </p:pic>
    </p:spTree>
    <p:extLst>
      <p:ext uri="{BB962C8B-B14F-4D97-AF65-F5344CB8AC3E}">
        <p14:creationId xmlns:p14="http://schemas.microsoft.com/office/powerpoint/2010/main" val="2673421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12E54-5E78-A32C-35C6-0D00F4CB939A}"/>
              </a:ext>
            </a:extLst>
          </p:cNvPr>
          <p:cNvSpPr>
            <a:spLocks noGrp="1"/>
          </p:cNvSpPr>
          <p:nvPr>
            <p:ph type="title"/>
          </p:nvPr>
        </p:nvSpPr>
        <p:spPr/>
        <p:txBody>
          <a:bodyPr/>
          <a:lstStyle/>
          <a:p>
            <a:r>
              <a:rPr lang="en-GB" dirty="0"/>
              <a:t>2. RTOS Tasks</a:t>
            </a:r>
            <a:endParaRPr lang="en-SG" dirty="0"/>
          </a:p>
        </p:txBody>
      </p:sp>
      <p:sp>
        <p:nvSpPr>
          <p:cNvPr id="3" name="Content Placeholder 2">
            <a:extLst>
              <a:ext uri="{FF2B5EF4-FFF2-40B4-BE49-F238E27FC236}">
                <a16:creationId xmlns:a16="http://schemas.microsoft.com/office/drawing/2014/main" id="{E52965F4-7697-E141-C406-9A0D962FC3E1}"/>
              </a:ext>
            </a:extLst>
          </p:cNvPr>
          <p:cNvSpPr>
            <a:spLocks noGrp="1"/>
          </p:cNvSpPr>
          <p:nvPr>
            <p:ph idx="1"/>
          </p:nvPr>
        </p:nvSpPr>
        <p:spPr/>
        <p:txBody>
          <a:bodyPr/>
          <a:lstStyle/>
          <a:p>
            <a:r>
              <a:rPr lang="en-SG" dirty="0"/>
              <a:t>A task needs to yield CPU (e.g. calling </a:t>
            </a:r>
            <a:r>
              <a:rPr lang="en-SG" dirty="0" err="1"/>
              <a:t>vTaskDelay</a:t>
            </a:r>
            <a:r>
              <a:rPr lang="en-SG" dirty="0"/>
              <a:t>) to allow another task at the same or lower priority level to run:</a:t>
            </a:r>
          </a:p>
        </p:txBody>
      </p:sp>
      <p:sp>
        <p:nvSpPr>
          <p:cNvPr id="4" name="Slide Number Placeholder 3">
            <a:extLst>
              <a:ext uri="{FF2B5EF4-FFF2-40B4-BE49-F238E27FC236}">
                <a16:creationId xmlns:a16="http://schemas.microsoft.com/office/drawing/2014/main" id="{F6742427-E211-9C20-11A5-0349193B8980}"/>
              </a:ext>
            </a:extLst>
          </p:cNvPr>
          <p:cNvSpPr>
            <a:spLocks noGrp="1"/>
          </p:cNvSpPr>
          <p:nvPr>
            <p:ph type="sldNum" sz="quarter" idx="10"/>
          </p:nvPr>
        </p:nvSpPr>
        <p:spPr/>
        <p:txBody>
          <a:bodyPr/>
          <a:lstStyle/>
          <a:p>
            <a:fld id="{E4B16682-6FB4-4344-B037-3C8A3CEB850D}" type="slidenum">
              <a:rPr lang="en-US" altLang="en-US" smtClean="0"/>
              <a:pPr/>
              <a:t>11</a:t>
            </a:fld>
            <a:endParaRPr lang="en-US" altLang="en-US"/>
          </a:p>
        </p:txBody>
      </p:sp>
      <p:sp>
        <p:nvSpPr>
          <p:cNvPr id="5" name="Footer Placeholder 4">
            <a:extLst>
              <a:ext uri="{FF2B5EF4-FFF2-40B4-BE49-F238E27FC236}">
                <a16:creationId xmlns:a16="http://schemas.microsoft.com/office/drawing/2014/main" id="{306CDC49-038E-9734-1752-D60E4E9BE5F9}"/>
              </a:ext>
            </a:extLst>
          </p:cNvPr>
          <p:cNvSpPr>
            <a:spLocks noGrp="1"/>
          </p:cNvSpPr>
          <p:nvPr>
            <p:ph type="ftr" sz="quarter" idx="11"/>
          </p:nvPr>
        </p:nvSpPr>
        <p:spPr/>
        <p:txBody>
          <a:bodyPr/>
          <a:lstStyle/>
          <a:p>
            <a:r>
              <a:rPr lang="en-SG" altLang="en-US"/>
              <a:t>CG2271 Lab Lecture 7</a:t>
            </a:r>
            <a:endParaRPr lang="en-US" altLang="en-US"/>
          </a:p>
        </p:txBody>
      </p:sp>
      <p:pic>
        <p:nvPicPr>
          <p:cNvPr id="7" name="Picture 6">
            <a:extLst>
              <a:ext uri="{FF2B5EF4-FFF2-40B4-BE49-F238E27FC236}">
                <a16:creationId xmlns:a16="http://schemas.microsoft.com/office/drawing/2014/main" id="{3F9FCC9B-6A77-EFDE-A34C-42263ECCBD07}"/>
              </a:ext>
            </a:extLst>
          </p:cNvPr>
          <p:cNvPicPr>
            <a:picLocks noChangeAspect="1"/>
          </p:cNvPicPr>
          <p:nvPr/>
        </p:nvPicPr>
        <p:blipFill>
          <a:blip r:embed="rId2"/>
          <a:stretch>
            <a:fillRect/>
          </a:stretch>
        </p:blipFill>
        <p:spPr>
          <a:xfrm>
            <a:off x="1219200" y="2133600"/>
            <a:ext cx="9677400" cy="3996715"/>
          </a:xfrm>
          <a:prstGeom prst="rect">
            <a:avLst/>
          </a:prstGeom>
        </p:spPr>
      </p:pic>
    </p:spTree>
    <p:extLst>
      <p:ext uri="{BB962C8B-B14F-4D97-AF65-F5344CB8AC3E}">
        <p14:creationId xmlns:p14="http://schemas.microsoft.com/office/powerpoint/2010/main" val="819262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BF6AC-0A40-09CB-6460-6D3B706D46A5}"/>
              </a:ext>
            </a:extLst>
          </p:cNvPr>
          <p:cNvSpPr>
            <a:spLocks noGrp="1"/>
          </p:cNvSpPr>
          <p:nvPr>
            <p:ph type="title"/>
          </p:nvPr>
        </p:nvSpPr>
        <p:spPr/>
        <p:txBody>
          <a:bodyPr/>
          <a:lstStyle/>
          <a:p>
            <a:r>
              <a:rPr lang="en-GB" dirty="0"/>
              <a:t>2. RTOS Tasks</a:t>
            </a:r>
            <a:endParaRPr lang="en-SG" dirty="0"/>
          </a:p>
        </p:txBody>
      </p:sp>
      <p:sp>
        <p:nvSpPr>
          <p:cNvPr id="3" name="Content Placeholder 2">
            <a:extLst>
              <a:ext uri="{FF2B5EF4-FFF2-40B4-BE49-F238E27FC236}">
                <a16:creationId xmlns:a16="http://schemas.microsoft.com/office/drawing/2014/main" id="{92611632-A9A9-59D8-1C23-28E41E834872}"/>
              </a:ext>
            </a:extLst>
          </p:cNvPr>
          <p:cNvSpPr>
            <a:spLocks noGrp="1"/>
          </p:cNvSpPr>
          <p:nvPr>
            <p:ph idx="1"/>
          </p:nvPr>
        </p:nvSpPr>
        <p:spPr>
          <a:xfrm>
            <a:off x="609600" y="990600"/>
            <a:ext cx="8610600" cy="5486400"/>
          </a:xfrm>
        </p:spPr>
        <p:txBody>
          <a:bodyPr/>
          <a:lstStyle/>
          <a:p>
            <a:r>
              <a:rPr lang="en-SG" dirty="0"/>
              <a:t>What are tasks used for?</a:t>
            </a:r>
          </a:p>
          <a:p>
            <a:pPr lvl="1"/>
            <a:r>
              <a:rPr lang="en-SG" dirty="0"/>
              <a:t>Controlling actuators. </a:t>
            </a:r>
          </a:p>
          <a:p>
            <a:pPr lvl="2"/>
            <a:r>
              <a:rPr lang="en-SG" dirty="0"/>
              <a:t>Generally each actuator will have its own task.</a:t>
            </a:r>
          </a:p>
          <a:p>
            <a:pPr lvl="3"/>
            <a:r>
              <a:rPr lang="en-SG" dirty="0"/>
              <a:t>A buzzer task, and LCD task, a linear motor task, etc.</a:t>
            </a:r>
          </a:p>
          <a:p>
            <a:pPr lvl="2"/>
            <a:r>
              <a:rPr lang="en-SG" dirty="0"/>
              <a:t>However groups of actuators of one kind might be easier to control from a single task.</a:t>
            </a:r>
          </a:p>
          <a:p>
            <a:pPr lvl="3"/>
            <a:r>
              <a:rPr lang="en-SG" dirty="0"/>
              <a:t>E.g. four motors of a robot should be controlled from a single task.</a:t>
            </a:r>
          </a:p>
          <a:p>
            <a:pPr lvl="1"/>
            <a:r>
              <a:rPr lang="en-SG" dirty="0"/>
              <a:t>Polling sensors that do not support interrupts.</a:t>
            </a:r>
          </a:p>
          <a:p>
            <a:pPr lvl="2"/>
            <a:r>
              <a:rPr lang="en-SG" dirty="0"/>
              <a:t>Again general rule is one task per sensor.</a:t>
            </a:r>
          </a:p>
          <a:p>
            <a:pPr lvl="2"/>
            <a:r>
              <a:rPr lang="en-SG" dirty="0"/>
              <a:t>However, may make more sense for groups of the same type of sensor to be controlled by a single task.</a:t>
            </a:r>
          </a:p>
          <a:p>
            <a:pPr lvl="3"/>
            <a:r>
              <a:rPr lang="en-SG" dirty="0"/>
              <a:t>E.g. polling a group of thermistors to measure temperatures around a device.</a:t>
            </a:r>
          </a:p>
        </p:txBody>
      </p:sp>
      <p:sp>
        <p:nvSpPr>
          <p:cNvPr id="4" name="Slide Number Placeholder 3">
            <a:extLst>
              <a:ext uri="{FF2B5EF4-FFF2-40B4-BE49-F238E27FC236}">
                <a16:creationId xmlns:a16="http://schemas.microsoft.com/office/drawing/2014/main" id="{4B43406A-9937-C638-9FA7-E3D645F72106}"/>
              </a:ext>
            </a:extLst>
          </p:cNvPr>
          <p:cNvSpPr>
            <a:spLocks noGrp="1"/>
          </p:cNvSpPr>
          <p:nvPr>
            <p:ph type="sldNum" sz="quarter" idx="10"/>
          </p:nvPr>
        </p:nvSpPr>
        <p:spPr/>
        <p:txBody>
          <a:bodyPr/>
          <a:lstStyle/>
          <a:p>
            <a:fld id="{E4B16682-6FB4-4344-B037-3C8A3CEB850D}" type="slidenum">
              <a:rPr lang="en-US" altLang="en-US" smtClean="0"/>
              <a:pPr/>
              <a:t>12</a:t>
            </a:fld>
            <a:endParaRPr lang="en-US" altLang="en-US"/>
          </a:p>
        </p:txBody>
      </p:sp>
      <p:sp>
        <p:nvSpPr>
          <p:cNvPr id="5" name="Footer Placeholder 4">
            <a:extLst>
              <a:ext uri="{FF2B5EF4-FFF2-40B4-BE49-F238E27FC236}">
                <a16:creationId xmlns:a16="http://schemas.microsoft.com/office/drawing/2014/main" id="{7F3E5344-B193-283F-5930-2225ED631F26}"/>
              </a:ext>
            </a:extLst>
          </p:cNvPr>
          <p:cNvSpPr>
            <a:spLocks noGrp="1"/>
          </p:cNvSpPr>
          <p:nvPr>
            <p:ph type="ftr" sz="quarter" idx="11"/>
          </p:nvPr>
        </p:nvSpPr>
        <p:spPr/>
        <p:txBody>
          <a:bodyPr/>
          <a:lstStyle/>
          <a:p>
            <a:r>
              <a:rPr lang="en-SG" altLang="en-US"/>
              <a:t>CG2271 Lab Lecture 7</a:t>
            </a:r>
            <a:endParaRPr lang="en-US" altLang="en-US"/>
          </a:p>
        </p:txBody>
      </p:sp>
      <p:pic>
        <p:nvPicPr>
          <p:cNvPr id="7" name="Picture 6">
            <a:extLst>
              <a:ext uri="{FF2B5EF4-FFF2-40B4-BE49-F238E27FC236}">
                <a16:creationId xmlns:a16="http://schemas.microsoft.com/office/drawing/2014/main" id="{AE74D3A7-97E6-738A-8F7E-6F50DF89DBA6}"/>
              </a:ext>
            </a:extLst>
          </p:cNvPr>
          <p:cNvPicPr>
            <a:picLocks noChangeAspect="1"/>
          </p:cNvPicPr>
          <p:nvPr/>
        </p:nvPicPr>
        <p:blipFill>
          <a:blip r:embed="rId2"/>
          <a:stretch>
            <a:fillRect/>
          </a:stretch>
        </p:blipFill>
        <p:spPr>
          <a:xfrm>
            <a:off x="9677400" y="389710"/>
            <a:ext cx="1347875" cy="1296034"/>
          </a:xfrm>
          <a:prstGeom prst="rect">
            <a:avLst/>
          </a:prstGeom>
        </p:spPr>
      </p:pic>
      <p:pic>
        <p:nvPicPr>
          <p:cNvPr id="9" name="Picture 8">
            <a:extLst>
              <a:ext uri="{FF2B5EF4-FFF2-40B4-BE49-F238E27FC236}">
                <a16:creationId xmlns:a16="http://schemas.microsoft.com/office/drawing/2014/main" id="{58D57058-C525-16E4-7E78-9EC307CB7863}"/>
              </a:ext>
            </a:extLst>
          </p:cNvPr>
          <p:cNvPicPr>
            <a:picLocks noChangeAspect="1"/>
          </p:cNvPicPr>
          <p:nvPr/>
        </p:nvPicPr>
        <p:blipFill>
          <a:blip r:embed="rId3"/>
          <a:stretch>
            <a:fillRect/>
          </a:stretch>
        </p:blipFill>
        <p:spPr>
          <a:xfrm>
            <a:off x="9640389" y="1905000"/>
            <a:ext cx="1582892" cy="1667690"/>
          </a:xfrm>
          <a:prstGeom prst="rect">
            <a:avLst/>
          </a:prstGeom>
        </p:spPr>
      </p:pic>
      <p:pic>
        <p:nvPicPr>
          <p:cNvPr id="1026" name="Picture 2" descr="9501-004-003 Dryer Temperature Sensor ...">
            <a:extLst>
              <a:ext uri="{FF2B5EF4-FFF2-40B4-BE49-F238E27FC236}">
                <a16:creationId xmlns:a16="http://schemas.microsoft.com/office/drawing/2014/main" id="{8100B383-DC1F-8A90-DEB6-B4FBADF85D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94425" y="4343400"/>
            <a:ext cx="2486025" cy="1838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2560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BA099-F2CA-3DC0-589F-48941136A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221EE-FF02-A86F-ECE0-3AC1407ED43B}"/>
              </a:ext>
            </a:extLst>
          </p:cNvPr>
          <p:cNvSpPr>
            <a:spLocks noGrp="1"/>
          </p:cNvSpPr>
          <p:nvPr>
            <p:ph type="title"/>
          </p:nvPr>
        </p:nvSpPr>
        <p:spPr/>
        <p:txBody>
          <a:bodyPr/>
          <a:lstStyle/>
          <a:p>
            <a:r>
              <a:rPr lang="en-GB" dirty="0"/>
              <a:t>2. RTOS Tasks</a:t>
            </a:r>
            <a:endParaRPr lang="en-SG" dirty="0"/>
          </a:p>
        </p:txBody>
      </p:sp>
      <p:sp>
        <p:nvSpPr>
          <p:cNvPr id="3" name="Content Placeholder 2">
            <a:extLst>
              <a:ext uri="{FF2B5EF4-FFF2-40B4-BE49-F238E27FC236}">
                <a16:creationId xmlns:a16="http://schemas.microsoft.com/office/drawing/2014/main" id="{E44843A3-D653-EC80-16A4-52688980D457}"/>
              </a:ext>
            </a:extLst>
          </p:cNvPr>
          <p:cNvSpPr>
            <a:spLocks noGrp="1"/>
          </p:cNvSpPr>
          <p:nvPr>
            <p:ph idx="1"/>
          </p:nvPr>
        </p:nvSpPr>
        <p:spPr>
          <a:xfrm>
            <a:off x="609600" y="990600"/>
            <a:ext cx="8610600" cy="5486400"/>
          </a:xfrm>
        </p:spPr>
        <p:txBody>
          <a:bodyPr/>
          <a:lstStyle/>
          <a:p>
            <a:r>
              <a:rPr lang="en-SG" dirty="0"/>
              <a:t>What are tasks used for?</a:t>
            </a:r>
          </a:p>
          <a:p>
            <a:pPr lvl="1"/>
            <a:r>
              <a:rPr lang="en-SG" dirty="0"/>
              <a:t>Handling data from sensors that trigger interrupts.</a:t>
            </a:r>
          </a:p>
          <a:p>
            <a:pPr lvl="2"/>
            <a:r>
              <a:rPr lang="en-SG" dirty="0"/>
              <a:t>E.g. radios, networking cards, microswitches.</a:t>
            </a:r>
          </a:p>
          <a:p>
            <a:pPr lvl="1"/>
            <a:r>
              <a:rPr lang="en-SG" dirty="0"/>
              <a:t>Generally one task per sensor.</a:t>
            </a:r>
          </a:p>
          <a:p>
            <a:pPr lvl="2"/>
            <a:r>
              <a:rPr lang="en-SG" dirty="0"/>
              <a:t>Again makes sense to process groups of microswitches together.</a:t>
            </a:r>
          </a:p>
          <a:p>
            <a:pPr lvl="2"/>
            <a:r>
              <a:rPr lang="en-SG" dirty="0"/>
              <a:t>Generally though each serial or network input should have its own task.</a:t>
            </a:r>
          </a:p>
          <a:p>
            <a:pPr lvl="1"/>
            <a:r>
              <a:rPr lang="en-SG" dirty="0"/>
              <a:t>Why have a task? Why not do everything in the ISR?</a:t>
            </a:r>
          </a:p>
        </p:txBody>
      </p:sp>
      <p:sp>
        <p:nvSpPr>
          <p:cNvPr id="4" name="Slide Number Placeholder 3">
            <a:extLst>
              <a:ext uri="{FF2B5EF4-FFF2-40B4-BE49-F238E27FC236}">
                <a16:creationId xmlns:a16="http://schemas.microsoft.com/office/drawing/2014/main" id="{41BE768E-E1E7-E4F7-15A5-DAB3AD1C841F}"/>
              </a:ext>
            </a:extLst>
          </p:cNvPr>
          <p:cNvSpPr>
            <a:spLocks noGrp="1"/>
          </p:cNvSpPr>
          <p:nvPr>
            <p:ph type="sldNum" sz="quarter" idx="10"/>
          </p:nvPr>
        </p:nvSpPr>
        <p:spPr/>
        <p:txBody>
          <a:bodyPr/>
          <a:lstStyle/>
          <a:p>
            <a:fld id="{E4B16682-6FB4-4344-B037-3C8A3CEB850D}" type="slidenum">
              <a:rPr lang="en-US" altLang="en-US" smtClean="0"/>
              <a:pPr/>
              <a:t>13</a:t>
            </a:fld>
            <a:endParaRPr lang="en-US" altLang="en-US"/>
          </a:p>
        </p:txBody>
      </p:sp>
      <p:sp>
        <p:nvSpPr>
          <p:cNvPr id="5" name="Footer Placeholder 4">
            <a:extLst>
              <a:ext uri="{FF2B5EF4-FFF2-40B4-BE49-F238E27FC236}">
                <a16:creationId xmlns:a16="http://schemas.microsoft.com/office/drawing/2014/main" id="{97D3D17E-E3AC-F971-0CC1-E6B58E52CE8F}"/>
              </a:ext>
            </a:extLst>
          </p:cNvPr>
          <p:cNvSpPr>
            <a:spLocks noGrp="1"/>
          </p:cNvSpPr>
          <p:nvPr>
            <p:ph type="ftr" sz="quarter" idx="11"/>
          </p:nvPr>
        </p:nvSpPr>
        <p:spPr/>
        <p:txBody>
          <a:bodyPr/>
          <a:lstStyle/>
          <a:p>
            <a:r>
              <a:rPr lang="en-SG" altLang="en-US"/>
              <a:t>CG2271 Lab Lecture 7</a:t>
            </a:r>
            <a:endParaRPr lang="en-US" altLang="en-US"/>
          </a:p>
        </p:txBody>
      </p:sp>
      <p:pic>
        <p:nvPicPr>
          <p:cNvPr id="8" name="Picture 7">
            <a:extLst>
              <a:ext uri="{FF2B5EF4-FFF2-40B4-BE49-F238E27FC236}">
                <a16:creationId xmlns:a16="http://schemas.microsoft.com/office/drawing/2014/main" id="{11372FFA-C2A8-1146-D4DA-D04028DEE0A0}"/>
              </a:ext>
            </a:extLst>
          </p:cNvPr>
          <p:cNvPicPr>
            <a:picLocks noChangeAspect="1"/>
          </p:cNvPicPr>
          <p:nvPr/>
        </p:nvPicPr>
        <p:blipFill>
          <a:blip r:embed="rId2"/>
          <a:stretch>
            <a:fillRect/>
          </a:stretch>
        </p:blipFill>
        <p:spPr>
          <a:xfrm>
            <a:off x="9448800" y="781594"/>
            <a:ext cx="2444975" cy="2997926"/>
          </a:xfrm>
          <a:prstGeom prst="rect">
            <a:avLst/>
          </a:prstGeom>
        </p:spPr>
      </p:pic>
    </p:spTree>
    <p:extLst>
      <p:ext uri="{BB962C8B-B14F-4D97-AF65-F5344CB8AC3E}">
        <p14:creationId xmlns:p14="http://schemas.microsoft.com/office/powerpoint/2010/main" val="1492115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C6B4D-24C5-4620-AAC4-E6AD3ADCA48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D6728FE-8497-2FD5-0789-90112082543B}"/>
              </a:ext>
            </a:extLst>
          </p:cNvPr>
          <p:cNvSpPr>
            <a:spLocks noGrp="1"/>
          </p:cNvSpPr>
          <p:nvPr>
            <p:ph type="title"/>
          </p:nvPr>
        </p:nvSpPr>
        <p:spPr/>
        <p:txBody>
          <a:bodyPr/>
          <a:lstStyle/>
          <a:p>
            <a:r>
              <a:rPr lang="en-SG" dirty="0"/>
              <a:t>integrating interrupts with tasks </a:t>
            </a:r>
          </a:p>
        </p:txBody>
      </p:sp>
      <p:sp>
        <p:nvSpPr>
          <p:cNvPr id="7" name="Text Placeholder 6">
            <a:extLst>
              <a:ext uri="{FF2B5EF4-FFF2-40B4-BE49-F238E27FC236}">
                <a16:creationId xmlns:a16="http://schemas.microsoft.com/office/drawing/2014/main" id="{29DE00BD-99DB-706E-3F94-B9C857E3805A}"/>
              </a:ext>
            </a:extLst>
          </p:cNvPr>
          <p:cNvSpPr>
            <a:spLocks noGrp="1"/>
          </p:cNvSpPr>
          <p:nvPr>
            <p:ph type="body" idx="1"/>
          </p:nvPr>
        </p:nvSpPr>
        <p:spPr/>
        <p:txBody>
          <a:bodyPr/>
          <a:lstStyle/>
          <a:p>
            <a:r>
              <a:rPr lang="en-SG" dirty="0"/>
              <a:t>Lab Lecture 7  –  Real Time Operating Systems</a:t>
            </a:r>
          </a:p>
        </p:txBody>
      </p:sp>
      <p:sp>
        <p:nvSpPr>
          <p:cNvPr id="4" name="Slide Number Placeholder 3">
            <a:extLst>
              <a:ext uri="{FF2B5EF4-FFF2-40B4-BE49-F238E27FC236}">
                <a16:creationId xmlns:a16="http://schemas.microsoft.com/office/drawing/2014/main" id="{9B7A7804-02FA-F875-A1C3-6D1D2AF11D66}"/>
              </a:ext>
            </a:extLst>
          </p:cNvPr>
          <p:cNvSpPr>
            <a:spLocks noGrp="1"/>
          </p:cNvSpPr>
          <p:nvPr>
            <p:ph type="sldNum" sz="quarter" idx="10"/>
          </p:nvPr>
        </p:nvSpPr>
        <p:spPr/>
        <p:txBody>
          <a:bodyPr/>
          <a:lstStyle/>
          <a:p>
            <a:fld id="{E4B16682-6FB4-4344-B037-3C8A3CEB850D}" type="slidenum">
              <a:rPr lang="en-US" altLang="en-US" smtClean="0"/>
              <a:pPr/>
              <a:t>14</a:t>
            </a:fld>
            <a:endParaRPr lang="en-US" altLang="en-US"/>
          </a:p>
        </p:txBody>
      </p:sp>
      <p:sp>
        <p:nvSpPr>
          <p:cNvPr id="5" name="Footer Placeholder 4">
            <a:extLst>
              <a:ext uri="{FF2B5EF4-FFF2-40B4-BE49-F238E27FC236}">
                <a16:creationId xmlns:a16="http://schemas.microsoft.com/office/drawing/2014/main" id="{29226A39-15A0-4A97-6911-97E684F36726}"/>
              </a:ext>
            </a:extLst>
          </p:cNvPr>
          <p:cNvSpPr>
            <a:spLocks noGrp="1"/>
          </p:cNvSpPr>
          <p:nvPr>
            <p:ph type="ftr" sz="quarter" idx="11"/>
          </p:nvPr>
        </p:nvSpPr>
        <p:spPr/>
        <p:txBody>
          <a:bodyPr/>
          <a:lstStyle/>
          <a:p>
            <a:r>
              <a:rPr lang="en-SG" altLang="en-US"/>
              <a:t>CG2271 Lab Lecture 7</a:t>
            </a:r>
            <a:endParaRPr lang="en-US" altLang="en-US" dirty="0"/>
          </a:p>
        </p:txBody>
      </p:sp>
    </p:spTree>
    <p:extLst>
      <p:ext uri="{BB962C8B-B14F-4D97-AF65-F5344CB8AC3E}">
        <p14:creationId xmlns:p14="http://schemas.microsoft.com/office/powerpoint/2010/main" val="1282890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E2D66-34C8-D78E-B867-C64DC729B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61EB7-13C1-840A-E882-3F1C4515A68B}"/>
              </a:ext>
            </a:extLst>
          </p:cNvPr>
          <p:cNvSpPr>
            <a:spLocks noGrp="1"/>
          </p:cNvSpPr>
          <p:nvPr>
            <p:ph type="title"/>
          </p:nvPr>
        </p:nvSpPr>
        <p:spPr/>
        <p:txBody>
          <a:bodyPr/>
          <a:lstStyle/>
          <a:p>
            <a:r>
              <a:rPr lang="en-GB" dirty="0"/>
              <a:t>3. Integrating Interrupts with Tasks</a:t>
            </a:r>
            <a:endParaRPr lang="en-SG" dirty="0"/>
          </a:p>
        </p:txBody>
      </p:sp>
      <p:sp>
        <p:nvSpPr>
          <p:cNvPr id="3" name="Content Placeholder 2">
            <a:extLst>
              <a:ext uri="{FF2B5EF4-FFF2-40B4-BE49-F238E27FC236}">
                <a16:creationId xmlns:a16="http://schemas.microsoft.com/office/drawing/2014/main" id="{BCC9859D-8D72-926E-4A41-22B9C9557502}"/>
              </a:ext>
            </a:extLst>
          </p:cNvPr>
          <p:cNvSpPr>
            <a:spLocks noGrp="1"/>
          </p:cNvSpPr>
          <p:nvPr>
            <p:ph idx="1"/>
          </p:nvPr>
        </p:nvSpPr>
        <p:spPr/>
        <p:txBody>
          <a:bodyPr/>
          <a:lstStyle/>
          <a:p>
            <a:r>
              <a:rPr lang="en-SG" dirty="0"/>
              <a:t>Tasks have priorities:</a:t>
            </a:r>
          </a:p>
          <a:p>
            <a:pPr lvl="1"/>
            <a:r>
              <a:rPr lang="en-SG" dirty="0"/>
              <a:t>More important tasks that should get precedence are given higher priorities.</a:t>
            </a:r>
          </a:p>
          <a:p>
            <a:pPr lvl="2"/>
            <a:r>
              <a:rPr lang="en-SG" dirty="0"/>
              <a:t>In </a:t>
            </a:r>
            <a:r>
              <a:rPr lang="en-SG" dirty="0" err="1"/>
              <a:t>FreeRTOS</a:t>
            </a:r>
            <a:r>
              <a:rPr lang="en-SG" dirty="0"/>
              <a:t>, larger priority number == higher priority.</a:t>
            </a:r>
          </a:p>
          <a:p>
            <a:pPr lvl="1"/>
            <a:r>
              <a:rPr lang="en-SG" dirty="0"/>
              <a:t>Other tasks (e.g. tasks that clear up unused data in memory) are less important and run at lower priorities.</a:t>
            </a:r>
          </a:p>
          <a:p>
            <a:r>
              <a:rPr lang="en-SG" dirty="0"/>
              <a:t>Interrupts have priorities too.</a:t>
            </a:r>
          </a:p>
          <a:p>
            <a:pPr lvl="1"/>
            <a:r>
              <a:rPr lang="en-SG" dirty="0"/>
              <a:t>Recall: </a:t>
            </a:r>
            <a:r>
              <a:rPr lang="en-SG" dirty="0" err="1"/>
              <a:t>NVIC_SetPriority</a:t>
            </a:r>
            <a:r>
              <a:rPr lang="en-SG" dirty="0"/>
              <a:t> lets us assign four possible priority levels:</a:t>
            </a:r>
          </a:p>
          <a:p>
            <a:pPr lvl="2"/>
            <a:r>
              <a:rPr lang="en-SG" dirty="0"/>
              <a:t>00 (highest), 64, 128, 192 (lowest).</a:t>
            </a:r>
          </a:p>
        </p:txBody>
      </p:sp>
      <p:sp>
        <p:nvSpPr>
          <p:cNvPr id="4" name="Slide Number Placeholder 3">
            <a:extLst>
              <a:ext uri="{FF2B5EF4-FFF2-40B4-BE49-F238E27FC236}">
                <a16:creationId xmlns:a16="http://schemas.microsoft.com/office/drawing/2014/main" id="{115F9292-FC45-6236-C320-D97B6BF43196}"/>
              </a:ext>
            </a:extLst>
          </p:cNvPr>
          <p:cNvSpPr>
            <a:spLocks noGrp="1"/>
          </p:cNvSpPr>
          <p:nvPr>
            <p:ph type="sldNum" sz="quarter" idx="10"/>
          </p:nvPr>
        </p:nvSpPr>
        <p:spPr/>
        <p:txBody>
          <a:bodyPr/>
          <a:lstStyle/>
          <a:p>
            <a:fld id="{E4B16682-6FB4-4344-B037-3C8A3CEB850D}" type="slidenum">
              <a:rPr lang="en-US" altLang="en-US" smtClean="0"/>
              <a:pPr/>
              <a:t>15</a:t>
            </a:fld>
            <a:endParaRPr lang="en-US" altLang="en-US"/>
          </a:p>
        </p:txBody>
      </p:sp>
      <p:sp>
        <p:nvSpPr>
          <p:cNvPr id="5" name="Footer Placeholder 4">
            <a:extLst>
              <a:ext uri="{FF2B5EF4-FFF2-40B4-BE49-F238E27FC236}">
                <a16:creationId xmlns:a16="http://schemas.microsoft.com/office/drawing/2014/main" id="{435684ED-BC4D-0AF8-F009-9FE555DA08AB}"/>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29939219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D047E-00D7-F136-7B70-ABF5E1793E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2181CA-4266-F85D-8811-9DEA6B835967}"/>
              </a:ext>
            </a:extLst>
          </p:cNvPr>
          <p:cNvSpPr>
            <a:spLocks noGrp="1"/>
          </p:cNvSpPr>
          <p:nvPr>
            <p:ph type="title"/>
          </p:nvPr>
        </p:nvSpPr>
        <p:spPr/>
        <p:txBody>
          <a:bodyPr/>
          <a:lstStyle/>
          <a:p>
            <a:r>
              <a:rPr lang="en-GB" dirty="0"/>
              <a:t>3. Integrating Interrupts with Tasks</a:t>
            </a:r>
            <a:endParaRPr lang="en-SG" dirty="0"/>
          </a:p>
        </p:txBody>
      </p:sp>
      <p:sp>
        <p:nvSpPr>
          <p:cNvPr id="3" name="Content Placeholder 2">
            <a:extLst>
              <a:ext uri="{FF2B5EF4-FFF2-40B4-BE49-F238E27FC236}">
                <a16:creationId xmlns:a16="http://schemas.microsoft.com/office/drawing/2014/main" id="{38DBB20A-0320-9EDE-1643-E51A11E98798}"/>
              </a:ext>
            </a:extLst>
          </p:cNvPr>
          <p:cNvSpPr>
            <a:spLocks noGrp="1"/>
          </p:cNvSpPr>
          <p:nvPr>
            <p:ph idx="1"/>
          </p:nvPr>
        </p:nvSpPr>
        <p:spPr/>
        <p:txBody>
          <a:bodyPr/>
          <a:lstStyle/>
          <a:p>
            <a:r>
              <a:rPr lang="en-SG" dirty="0"/>
              <a:t>One key issue in designing ISRs:</a:t>
            </a:r>
          </a:p>
          <a:p>
            <a:pPr lvl="1"/>
            <a:r>
              <a:rPr lang="en-SG" dirty="0"/>
              <a:t>A high priority ISR will block all other lower priority ISRs.</a:t>
            </a:r>
          </a:p>
          <a:p>
            <a:pPr lvl="1"/>
            <a:r>
              <a:rPr lang="en-SG" dirty="0"/>
              <a:t>Worse: A high priority ISR will block all other ISRs of equal priority.</a:t>
            </a:r>
          </a:p>
          <a:p>
            <a:pPr lvl="1"/>
            <a:r>
              <a:rPr lang="en-SG" dirty="0"/>
              <a:t>Worst: The lowest priority ISR will block the highest priority tasks.</a:t>
            </a:r>
          </a:p>
          <a:p>
            <a:pPr lvl="2"/>
            <a:r>
              <a:rPr lang="en-SG" dirty="0"/>
              <a:t>This is because task priorities are managed by software (i.e. the RTOS).</a:t>
            </a:r>
          </a:p>
          <a:p>
            <a:pPr lvl="2"/>
            <a:r>
              <a:rPr lang="en-SG" dirty="0"/>
              <a:t>ISRs are triggered directly by hardware and bypass the RTOS.</a:t>
            </a:r>
          </a:p>
          <a:p>
            <a:r>
              <a:rPr lang="en-SG" dirty="0"/>
              <a:t>Thus there are some important principles in designing ISRs.</a:t>
            </a:r>
          </a:p>
        </p:txBody>
      </p:sp>
      <p:sp>
        <p:nvSpPr>
          <p:cNvPr id="4" name="Slide Number Placeholder 3">
            <a:extLst>
              <a:ext uri="{FF2B5EF4-FFF2-40B4-BE49-F238E27FC236}">
                <a16:creationId xmlns:a16="http://schemas.microsoft.com/office/drawing/2014/main" id="{21746BDF-2B5B-1057-330B-BAEEBC2E1206}"/>
              </a:ext>
            </a:extLst>
          </p:cNvPr>
          <p:cNvSpPr>
            <a:spLocks noGrp="1"/>
          </p:cNvSpPr>
          <p:nvPr>
            <p:ph type="sldNum" sz="quarter" idx="10"/>
          </p:nvPr>
        </p:nvSpPr>
        <p:spPr/>
        <p:txBody>
          <a:bodyPr/>
          <a:lstStyle/>
          <a:p>
            <a:fld id="{E4B16682-6FB4-4344-B037-3C8A3CEB850D}" type="slidenum">
              <a:rPr lang="en-US" altLang="en-US" smtClean="0"/>
              <a:pPr/>
              <a:t>16</a:t>
            </a:fld>
            <a:endParaRPr lang="en-US" altLang="en-US"/>
          </a:p>
        </p:txBody>
      </p:sp>
      <p:sp>
        <p:nvSpPr>
          <p:cNvPr id="5" name="Footer Placeholder 4">
            <a:extLst>
              <a:ext uri="{FF2B5EF4-FFF2-40B4-BE49-F238E27FC236}">
                <a16:creationId xmlns:a16="http://schemas.microsoft.com/office/drawing/2014/main" id="{3DA25050-D4C5-46F9-2AFC-5436AC1CF59D}"/>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1183908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6012-6562-D40F-CF05-D3563F3DCC59}"/>
              </a:ext>
            </a:extLst>
          </p:cNvPr>
          <p:cNvSpPr>
            <a:spLocks noGrp="1"/>
          </p:cNvSpPr>
          <p:nvPr>
            <p:ph type="title"/>
          </p:nvPr>
        </p:nvSpPr>
        <p:spPr/>
        <p:txBody>
          <a:bodyPr/>
          <a:lstStyle/>
          <a:p>
            <a:r>
              <a:rPr lang="en-GB" dirty="0"/>
              <a:t>3. Integrating Interrupts with Tasks</a:t>
            </a:r>
            <a:endParaRPr lang="en-SG" dirty="0"/>
          </a:p>
        </p:txBody>
      </p:sp>
      <p:sp>
        <p:nvSpPr>
          <p:cNvPr id="3" name="Content Placeholder 2">
            <a:extLst>
              <a:ext uri="{FF2B5EF4-FFF2-40B4-BE49-F238E27FC236}">
                <a16:creationId xmlns:a16="http://schemas.microsoft.com/office/drawing/2014/main" id="{A0BE6388-C238-7503-D653-5342605F7499}"/>
              </a:ext>
            </a:extLst>
          </p:cNvPr>
          <p:cNvSpPr>
            <a:spLocks noGrp="1"/>
          </p:cNvSpPr>
          <p:nvPr>
            <p:ph idx="1"/>
          </p:nvPr>
        </p:nvSpPr>
        <p:spPr/>
        <p:txBody>
          <a:bodyPr/>
          <a:lstStyle/>
          <a:p>
            <a:r>
              <a:rPr lang="en-SG" dirty="0"/>
              <a:t>Important rules for ISRs:</a:t>
            </a:r>
          </a:p>
          <a:p>
            <a:pPr lvl="1"/>
            <a:r>
              <a:rPr lang="en-SG" dirty="0"/>
              <a:t>An ISR must do the minimal so that it completes quickly.</a:t>
            </a:r>
          </a:p>
          <a:p>
            <a:pPr lvl="2"/>
            <a:r>
              <a:rPr lang="en-SG" dirty="0"/>
              <a:t>E.g. read the data, start a task to handle the data.</a:t>
            </a:r>
          </a:p>
          <a:p>
            <a:pPr lvl="2"/>
            <a:r>
              <a:rPr lang="en-SG" dirty="0"/>
              <a:t>The ISR should not do any processing.</a:t>
            </a:r>
          </a:p>
          <a:p>
            <a:pPr lvl="1"/>
            <a:r>
              <a:rPr lang="en-SG" dirty="0"/>
              <a:t>An ISR must not make any blocking calls.</a:t>
            </a:r>
          </a:p>
          <a:p>
            <a:pPr lvl="2"/>
            <a:r>
              <a:rPr lang="en-SG" dirty="0"/>
              <a:t>E.g. wait for data.</a:t>
            </a:r>
          </a:p>
          <a:p>
            <a:pPr lvl="1"/>
            <a:r>
              <a:rPr lang="en-SG" dirty="0"/>
              <a:t>An ISR must not call functions that make blocking calls.</a:t>
            </a:r>
          </a:p>
          <a:p>
            <a:pPr lvl="2"/>
            <a:r>
              <a:rPr lang="en-SG" dirty="0"/>
              <a:t>E.g. call a function that waits for data.</a:t>
            </a:r>
          </a:p>
          <a:p>
            <a:pPr lvl="1"/>
            <a:r>
              <a:rPr lang="en-SG" dirty="0"/>
              <a:t>An ISR must not call a function that is very slow.</a:t>
            </a:r>
          </a:p>
          <a:p>
            <a:pPr lvl="2"/>
            <a:r>
              <a:rPr lang="en-SG" dirty="0"/>
              <a:t>E.g. sending data over a serial port.</a:t>
            </a:r>
          </a:p>
          <a:p>
            <a:r>
              <a:rPr lang="en-SG" dirty="0"/>
              <a:t>Following these principles reduce the risk of an ISR blocking an important task (or other important interrupts).</a:t>
            </a:r>
          </a:p>
          <a:p>
            <a:pPr marL="344487" lvl="1" indent="0">
              <a:buNone/>
            </a:pPr>
            <a:r>
              <a:rPr lang="en-SG" dirty="0"/>
              <a:t>	</a:t>
            </a:r>
          </a:p>
        </p:txBody>
      </p:sp>
      <p:sp>
        <p:nvSpPr>
          <p:cNvPr id="4" name="Slide Number Placeholder 3">
            <a:extLst>
              <a:ext uri="{FF2B5EF4-FFF2-40B4-BE49-F238E27FC236}">
                <a16:creationId xmlns:a16="http://schemas.microsoft.com/office/drawing/2014/main" id="{A93BFE5C-EA88-5459-689F-C7BC5B0B96CF}"/>
              </a:ext>
            </a:extLst>
          </p:cNvPr>
          <p:cNvSpPr>
            <a:spLocks noGrp="1"/>
          </p:cNvSpPr>
          <p:nvPr>
            <p:ph type="sldNum" sz="quarter" idx="10"/>
          </p:nvPr>
        </p:nvSpPr>
        <p:spPr/>
        <p:txBody>
          <a:bodyPr/>
          <a:lstStyle/>
          <a:p>
            <a:fld id="{E4B16682-6FB4-4344-B037-3C8A3CEB850D}" type="slidenum">
              <a:rPr lang="en-US" altLang="en-US" smtClean="0"/>
              <a:pPr/>
              <a:t>17</a:t>
            </a:fld>
            <a:endParaRPr lang="en-US" altLang="en-US"/>
          </a:p>
        </p:txBody>
      </p:sp>
      <p:sp>
        <p:nvSpPr>
          <p:cNvPr id="5" name="Footer Placeholder 4">
            <a:extLst>
              <a:ext uri="{FF2B5EF4-FFF2-40B4-BE49-F238E27FC236}">
                <a16:creationId xmlns:a16="http://schemas.microsoft.com/office/drawing/2014/main" id="{DA1A0057-719D-5D09-B665-F5934B617904}"/>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4294029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048BE-6A64-B57E-4289-03B1520CA517}"/>
              </a:ext>
            </a:extLst>
          </p:cNvPr>
          <p:cNvSpPr>
            <a:spLocks noGrp="1"/>
          </p:cNvSpPr>
          <p:nvPr>
            <p:ph type="title"/>
          </p:nvPr>
        </p:nvSpPr>
        <p:spPr/>
        <p:txBody>
          <a:bodyPr/>
          <a:lstStyle/>
          <a:p>
            <a:r>
              <a:rPr lang="en-GB" dirty="0"/>
              <a:t>3. Integrating Interrupts with Tasks</a:t>
            </a:r>
            <a:endParaRPr lang="en-SG" dirty="0"/>
          </a:p>
        </p:txBody>
      </p:sp>
      <p:sp>
        <p:nvSpPr>
          <p:cNvPr id="3" name="Content Placeholder 2">
            <a:extLst>
              <a:ext uri="{FF2B5EF4-FFF2-40B4-BE49-F238E27FC236}">
                <a16:creationId xmlns:a16="http://schemas.microsoft.com/office/drawing/2014/main" id="{99A78C27-8ACD-7FE9-EEDA-CA4B828F63F4}"/>
              </a:ext>
            </a:extLst>
          </p:cNvPr>
          <p:cNvSpPr>
            <a:spLocks noGrp="1"/>
          </p:cNvSpPr>
          <p:nvPr>
            <p:ph idx="1"/>
          </p:nvPr>
        </p:nvSpPr>
        <p:spPr>
          <a:xfrm>
            <a:off x="609600" y="990600"/>
            <a:ext cx="11277600" cy="5486400"/>
          </a:xfrm>
        </p:spPr>
        <p:txBody>
          <a:bodyPr/>
          <a:lstStyle/>
          <a:p>
            <a:r>
              <a:rPr lang="en-SG" dirty="0"/>
              <a:t>Binary Semaphores:</a:t>
            </a:r>
          </a:p>
          <a:p>
            <a:pPr lvl="1"/>
            <a:r>
              <a:rPr lang="en-SG" dirty="0"/>
              <a:t>An integer that holds either 0 or 1 (cannot hold any value &gt;1 or &lt; 0).</a:t>
            </a:r>
          </a:p>
          <a:p>
            <a:pPr lvl="1"/>
            <a:r>
              <a:rPr lang="en-SG" dirty="0"/>
              <a:t>If a task “takes” a semaphore:</a:t>
            </a:r>
          </a:p>
          <a:p>
            <a:pPr lvl="2"/>
            <a:r>
              <a:rPr lang="en-SG" dirty="0"/>
              <a:t>If the semaphore is 1, it decrements to 0 and exit.</a:t>
            </a:r>
          </a:p>
          <a:p>
            <a:pPr lvl="2"/>
            <a:r>
              <a:rPr lang="en-SG" dirty="0"/>
              <a:t>If it is 0, the task blocks and enters into a blocked task queue.</a:t>
            </a:r>
          </a:p>
          <a:p>
            <a:pPr lvl="1"/>
            <a:r>
              <a:rPr lang="en-SG" dirty="0"/>
              <a:t>If a task “gives” or “signals” a semaphore:</a:t>
            </a:r>
          </a:p>
          <a:p>
            <a:pPr lvl="2"/>
            <a:r>
              <a:rPr lang="en-SG" dirty="0"/>
              <a:t>If the semaphore is 0 and the blocked task queue is empty, increment the semaphore to 1. Exit.</a:t>
            </a:r>
          </a:p>
          <a:p>
            <a:pPr lvl="2"/>
            <a:r>
              <a:rPr lang="en-SG" dirty="0"/>
              <a:t>If the semaphore is 0 and the blocked task queue has at least one task, choose one to unblock. Exit.</a:t>
            </a:r>
          </a:p>
          <a:p>
            <a:pPr lvl="2"/>
            <a:r>
              <a:rPr lang="en-SG" dirty="0"/>
              <a:t>If the semaphore is 1, exit.</a:t>
            </a:r>
          </a:p>
          <a:p>
            <a:r>
              <a:rPr lang="en-SG" dirty="0"/>
              <a:t>Note: In </a:t>
            </a:r>
            <a:r>
              <a:rPr lang="en-SG" dirty="0" err="1"/>
              <a:t>FreeRTOS</a:t>
            </a:r>
            <a:r>
              <a:rPr lang="en-SG" dirty="0"/>
              <a:t>, binary semaphores start with an initial value of 0.</a:t>
            </a:r>
          </a:p>
        </p:txBody>
      </p:sp>
      <p:sp>
        <p:nvSpPr>
          <p:cNvPr id="4" name="Slide Number Placeholder 3">
            <a:extLst>
              <a:ext uri="{FF2B5EF4-FFF2-40B4-BE49-F238E27FC236}">
                <a16:creationId xmlns:a16="http://schemas.microsoft.com/office/drawing/2014/main" id="{C459D8B5-F47E-7227-6AE3-132E59D50E24}"/>
              </a:ext>
            </a:extLst>
          </p:cNvPr>
          <p:cNvSpPr>
            <a:spLocks noGrp="1"/>
          </p:cNvSpPr>
          <p:nvPr>
            <p:ph type="sldNum" sz="quarter" idx="10"/>
          </p:nvPr>
        </p:nvSpPr>
        <p:spPr/>
        <p:txBody>
          <a:bodyPr/>
          <a:lstStyle/>
          <a:p>
            <a:fld id="{E4B16682-6FB4-4344-B037-3C8A3CEB850D}" type="slidenum">
              <a:rPr lang="en-US" altLang="en-US" smtClean="0"/>
              <a:pPr/>
              <a:t>18</a:t>
            </a:fld>
            <a:endParaRPr lang="en-US" altLang="en-US"/>
          </a:p>
        </p:txBody>
      </p:sp>
      <p:sp>
        <p:nvSpPr>
          <p:cNvPr id="5" name="Footer Placeholder 4">
            <a:extLst>
              <a:ext uri="{FF2B5EF4-FFF2-40B4-BE49-F238E27FC236}">
                <a16:creationId xmlns:a16="http://schemas.microsoft.com/office/drawing/2014/main" id="{73FA777D-0080-3D5F-1CBD-2F3D099F20B0}"/>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2143557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AA8B4-B051-D5FC-B5DE-E425003C57C1}"/>
              </a:ext>
            </a:extLst>
          </p:cNvPr>
          <p:cNvSpPr>
            <a:spLocks noGrp="1"/>
          </p:cNvSpPr>
          <p:nvPr>
            <p:ph type="title"/>
          </p:nvPr>
        </p:nvSpPr>
        <p:spPr/>
        <p:txBody>
          <a:bodyPr/>
          <a:lstStyle/>
          <a:p>
            <a:r>
              <a:rPr lang="en-GB" dirty="0"/>
              <a:t>3. Integrating Interrupts with Tasks</a:t>
            </a:r>
            <a:endParaRPr lang="en-SG" dirty="0"/>
          </a:p>
        </p:txBody>
      </p:sp>
      <p:sp>
        <p:nvSpPr>
          <p:cNvPr id="3" name="Content Placeholder 2">
            <a:extLst>
              <a:ext uri="{FF2B5EF4-FFF2-40B4-BE49-F238E27FC236}">
                <a16:creationId xmlns:a16="http://schemas.microsoft.com/office/drawing/2014/main" id="{ED03FF2F-0638-EAC2-FF37-7B6048217B0F}"/>
              </a:ext>
            </a:extLst>
          </p:cNvPr>
          <p:cNvSpPr>
            <a:spLocks noGrp="1"/>
          </p:cNvSpPr>
          <p:nvPr>
            <p:ph idx="1"/>
          </p:nvPr>
        </p:nvSpPr>
        <p:spPr/>
        <p:txBody>
          <a:bodyPr/>
          <a:lstStyle/>
          <a:p>
            <a:r>
              <a:rPr lang="en-SG" dirty="0"/>
              <a:t>How do we use semaphores to interface between ISRs and tasks?</a:t>
            </a:r>
          </a:p>
          <a:p>
            <a:pPr lvl="1"/>
            <a:r>
              <a:rPr lang="en-SG" dirty="0"/>
              <a:t>Create a binary semaphore initialized to 0 (default in </a:t>
            </a:r>
            <a:r>
              <a:rPr lang="en-SG" dirty="0" err="1"/>
              <a:t>FreeRTOS</a:t>
            </a:r>
            <a:r>
              <a:rPr lang="en-SG" dirty="0"/>
              <a:t>).</a:t>
            </a:r>
          </a:p>
          <a:p>
            <a:pPr lvl="1"/>
            <a:r>
              <a:rPr lang="en-SG" dirty="0"/>
              <a:t>Task waits on the semaphore. </a:t>
            </a:r>
          </a:p>
          <a:p>
            <a:pPr lvl="2"/>
            <a:r>
              <a:rPr lang="en-SG" dirty="0"/>
              <a:t>If the ISR has not yet triggered, the semaphore is 0 and the task blocks.</a:t>
            </a:r>
          </a:p>
          <a:p>
            <a:pPr lvl="2"/>
            <a:r>
              <a:rPr lang="en-SG" dirty="0"/>
              <a:t>If the ISR has already been triggered, the semaphore is 1 and the task proceeds.</a:t>
            </a:r>
          </a:p>
          <a:p>
            <a:pPr lvl="1"/>
            <a:r>
              <a:rPr lang="en-SG" dirty="0"/>
              <a:t>ISR gives (signals) on the semaphore.</a:t>
            </a:r>
          </a:p>
          <a:p>
            <a:pPr lvl="2"/>
            <a:r>
              <a:rPr lang="en-SG" dirty="0"/>
              <a:t>If there is a task waiting, it is unblocked and allowed to run.</a:t>
            </a:r>
          </a:p>
          <a:p>
            <a:pPr lvl="2"/>
            <a:r>
              <a:rPr lang="en-SG" dirty="0"/>
              <a:t>If no task is waiting, the semaphore is simply incremented to 1.</a:t>
            </a:r>
            <a:br>
              <a:rPr lang="en-SG" dirty="0"/>
            </a:br>
            <a:r>
              <a:rPr lang="en-SG" dirty="0"/>
              <a:t>	</a:t>
            </a:r>
          </a:p>
        </p:txBody>
      </p:sp>
      <p:sp>
        <p:nvSpPr>
          <p:cNvPr id="4" name="Slide Number Placeholder 3">
            <a:extLst>
              <a:ext uri="{FF2B5EF4-FFF2-40B4-BE49-F238E27FC236}">
                <a16:creationId xmlns:a16="http://schemas.microsoft.com/office/drawing/2014/main" id="{34AAA62B-1C14-83E4-1FF9-9F417E7FDD81}"/>
              </a:ext>
            </a:extLst>
          </p:cNvPr>
          <p:cNvSpPr>
            <a:spLocks noGrp="1"/>
          </p:cNvSpPr>
          <p:nvPr>
            <p:ph type="sldNum" sz="quarter" idx="10"/>
          </p:nvPr>
        </p:nvSpPr>
        <p:spPr/>
        <p:txBody>
          <a:bodyPr/>
          <a:lstStyle/>
          <a:p>
            <a:fld id="{E4B16682-6FB4-4344-B037-3C8A3CEB850D}" type="slidenum">
              <a:rPr lang="en-US" altLang="en-US" smtClean="0"/>
              <a:pPr/>
              <a:t>19</a:t>
            </a:fld>
            <a:endParaRPr lang="en-US" altLang="en-US"/>
          </a:p>
        </p:txBody>
      </p:sp>
      <p:sp>
        <p:nvSpPr>
          <p:cNvPr id="5" name="Footer Placeholder 4">
            <a:extLst>
              <a:ext uri="{FF2B5EF4-FFF2-40B4-BE49-F238E27FC236}">
                <a16:creationId xmlns:a16="http://schemas.microsoft.com/office/drawing/2014/main" id="{35A36EF0-9987-11BE-7009-81CFA781426B}"/>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1235927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663A1-3690-5BB2-6755-8D6DE88AE1F4}"/>
              </a:ext>
            </a:extLst>
          </p:cNvPr>
          <p:cNvSpPr>
            <a:spLocks noGrp="1"/>
          </p:cNvSpPr>
          <p:nvPr>
            <p:ph type="title"/>
          </p:nvPr>
        </p:nvSpPr>
        <p:spPr/>
        <p:txBody>
          <a:bodyPr/>
          <a:lstStyle/>
          <a:p>
            <a:r>
              <a:rPr lang="en-GB" dirty="0"/>
              <a:t>3. Integrating Interrupts with Tasks</a:t>
            </a:r>
            <a:endParaRPr lang="en-SG" dirty="0"/>
          </a:p>
        </p:txBody>
      </p:sp>
      <p:sp>
        <p:nvSpPr>
          <p:cNvPr id="3" name="Content Placeholder 2">
            <a:extLst>
              <a:ext uri="{FF2B5EF4-FFF2-40B4-BE49-F238E27FC236}">
                <a16:creationId xmlns:a16="http://schemas.microsoft.com/office/drawing/2014/main" id="{3F0B731A-F4E2-C64F-3B94-63D0258C7B1F}"/>
              </a:ext>
            </a:extLst>
          </p:cNvPr>
          <p:cNvSpPr>
            <a:spLocks noGrp="1"/>
          </p:cNvSpPr>
          <p:nvPr>
            <p:ph idx="1"/>
          </p:nvPr>
        </p:nvSpPr>
        <p:spPr/>
        <p:txBody>
          <a:bodyPr/>
          <a:lstStyle/>
          <a:p>
            <a:r>
              <a:rPr lang="en-SG" dirty="0"/>
              <a:t>E.g. task waiting for a string coming over the UART:</a:t>
            </a:r>
          </a:p>
        </p:txBody>
      </p:sp>
      <p:sp>
        <p:nvSpPr>
          <p:cNvPr id="4" name="Slide Number Placeholder 3">
            <a:extLst>
              <a:ext uri="{FF2B5EF4-FFF2-40B4-BE49-F238E27FC236}">
                <a16:creationId xmlns:a16="http://schemas.microsoft.com/office/drawing/2014/main" id="{EB4579D9-8098-CF11-E789-6B017044CA53}"/>
              </a:ext>
            </a:extLst>
          </p:cNvPr>
          <p:cNvSpPr>
            <a:spLocks noGrp="1"/>
          </p:cNvSpPr>
          <p:nvPr>
            <p:ph type="sldNum" sz="quarter" idx="10"/>
          </p:nvPr>
        </p:nvSpPr>
        <p:spPr/>
        <p:txBody>
          <a:bodyPr/>
          <a:lstStyle/>
          <a:p>
            <a:fld id="{E4B16682-6FB4-4344-B037-3C8A3CEB850D}" type="slidenum">
              <a:rPr lang="en-US" altLang="en-US" smtClean="0"/>
              <a:pPr/>
              <a:t>20</a:t>
            </a:fld>
            <a:endParaRPr lang="en-US" altLang="en-US"/>
          </a:p>
        </p:txBody>
      </p:sp>
      <p:sp>
        <p:nvSpPr>
          <p:cNvPr id="5" name="Footer Placeholder 4">
            <a:extLst>
              <a:ext uri="{FF2B5EF4-FFF2-40B4-BE49-F238E27FC236}">
                <a16:creationId xmlns:a16="http://schemas.microsoft.com/office/drawing/2014/main" id="{3AC01B5B-4B50-9FA8-4865-8F24F045114E}"/>
              </a:ext>
            </a:extLst>
          </p:cNvPr>
          <p:cNvSpPr>
            <a:spLocks noGrp="1"/>
          </p:cNvSpPr>
          <p:nvPr>
            <p:ph type="ftr" sz="quarter" idx="11"/>
          </p:nvPr>
        </p:nvSpPr>
        <p:spPr/>
        <p:txBody>
          <a:bodyPr/>
          <a:lstStyle/>
          <a:p>
            <a:r>
              <a:rPr lang="en-SG" altLang="en-US"/>
              <a:t>CG2271 Lab Lecture 7</a:t>
            </a:r>
            <a:endParaRPr lang="en-US" altLang="en-US"/>
          </a:p>
        </p:txBody>
      </p:sp>
      <p:pic>
        <p:nvPicPr>
          <p:cNvPr id="11" name="Picture 10">
            <a:extLst>
              <a:ext uri="{FF2B5EF4-FFF2-40B4-BE49-F238E27FC236}">
                <a16:creationId xmlns:a16="http://schemas.microsoft.com/office/drawing/2014/main" id="{1E85F85B-719F-33D3-F9B3-6E7C36B62BB2}"/>
              </a:ext>
            </a:extLst>
          </p:cNvPr>
          <p:cNvPicPr>
            <a:picLocks noChangeAspect="1"/>
          </p:cNvPicPr>
          <p:nvPr/>
        </p:nvPicPr>
        <p:blipFill>
          <a:blip r:embed="rId2"/>
          <a:stretch>
            <a:fillRect/>
          </a:stretch>
        </p:blipFill>
        <p:spPr>
          <a:xfrm>
            <a:off x="449216" y="1752600"/>
            <a:ext cx="11285583" cy="4423022"/>
          </a:xfrm>
          <a:prstGeom prst="rect">
            <a:avLst/>
          </a:prstGeom>
        </p:spPr>
      </p:pic>
    </p:spTree>
    <p:extLst>
      <p:ext uri="{BB962C8B-B14F-4D97-AF65-F5344CB8AC3E}">
        <p14:creationId xmlns:p14="http://schemas.microsoft.com/office/powerpoint/2010/main" val="1456184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695B0-A006-739F-BA04-3C79BF12E3F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EB56EA1-B86D-CACA-F0CB-39B82A9E9B56}"/>
              </a:ext>
            </a:extLst>
          </p:cNvPr>
          <p:cNvSpPr>
            <a:spLocks noGrp="1"/>
          </p:cNvSpPr>
          <p:nvPr>
            <p:ph type="title"/>
          </p:nvPr>
        </p:nvSpPr>
        <p:spPr/>
        <p:txBody>
          <a:bodyPr/>
          <a:lstStyle/>
          <a:p>
            <a:r>
              <a:rPr lang="en-SG" dirty="0"/>
              <a:t>The </a:t>
            </a:r>
            <a:r>
              <a:rPr lang="en-SG" dirty="0" err="1"/>
              <a:t>freertos</a:t>
            </a:r>
            <a:r>
              <a:rPr lang="en-SG" dirty="0"/>
              <a:t> interface</a:t>
            </a:r>
          </a:p>
        </p:txBody>
      </p:sp>
      <p:sp>
        <p:nvSpPr>
          <p:cNvPr id="7" name="Text Placeholder 6">
            <a:extLst>
              <a:ext uri="{FF2B5EF4-FFF2-40B4-BE49-F238E27FC236}">
                <a16:creationId xmlns:a16="http://schemas.microsoft.com/office/drawing/2014/main" id="{FF6F0565-91F4-D855-FBA1-1A1108EA27C5}"/>
              </a:ext>
            </a:extLst>
          </p:cNvPr>
          <p:cNvSpPr>
            <a:spLocks noGrp="1"/>
          </p:cNvSpPr>
          <p:nvPr>
            <p:ph type="body" idx="1"/>
          </p:nvPr>
        </p:nvSpPr>
        <p:spPr/>
        <p:txBody>
          <a:bodyPr/>
          <a:lstStyle/>
          <a:p>
            <a:r>
              <a:rPr lang="en-SG" dirty="0"/>
              <a:t>Lab Lecture 7  –  Real Time Operating Systems</a:t>
            </a:r>
          </a:p>
        </p:txBody>
      </p:sp>
      <p:sp>
        <p:nvSpPr>
          <p:cNvPr id="4" name="Slide Number Placeholder 3">
            <a:extLst>
              <a:ext uri="{FF2B5EF4-FFF2-40B4-BE49-F238E27FC236}">
                <a16:creationId xmlns:a16="http://schemas.microsoft.com/office/drawing/2014/main" id="{A9B420E9-ECD0-E965-D995-80D0D7922986}"/>
              </a:ext>
            </a:extLst>
          </p:cNvPr>
          <p:cNvSpPr>
            <a:spLocks noGrp="1"/>
          </p:cNvSpPr>
          <p:nvPr>
            <p:ph type="sldNum" sz="quarter" idx="10"/>
          </p:nvPr>
        </p:nvSpPr>
        <p:spPr/>
        <p:txBody>
          <a:bodyPr/>
          <a:lstStyle/>
          <a:p>
            <a:fld id="{E4B16682-6FB4-4344-B037-3C8A3CEB850D}" type="slidenum">
              <a:rPr lang="en-US" altLang="en-US" smtClean="0"/>
              <a:pPr/>
              <a:t>21</a:t>
            </a:fld>
            <a:endParaRPr lang="en-US" altLang="en-US"/>
          </a:p>
        </p:txBody>
      </p:sp>
      <p:sp>
        <p:nvSpPr>
          <p:cNvPr id="5" name="Footer Placeholder 4">
            <a:extLst>
              <a:ext uri="{FF2B5EF4-FFF2-40B4-BE49-F238E27FC236}">
                <a16:creationId xmlns:a16="http://schemas.microsoft.com/office/drawing/2014/main" id="{C3067189-9F3F-DD84-BB02-B62D8266083B}"/>
              </a:ext>
            </a:extLst>
          </p:cNvPr>
          <p:cNvSpPr>
            <a:spLocks noGrp="1"/>
          </p:cNvSpPr>
          <p:nvPr>
            <p:ph type="ftr" sz="quarter" idx="11"/>
          </p:nvPr>
        </p:nvSpPr>
        <p:spPr/>
        <p:txBody>
          <a:bodyPr/>
          <a:lstStyle/>
          <a:p>
            <a:r>
              <a:rPr lang="en-SG" altLang="en-US"/>
              <a:t>CG2271 Lab Lecture 7</a:t>
            </a:r>
            <a:endParaRPr lang="en-US" altLang="en-US" dirty="0"/>
          </a:p>
        </p:txBody>
      </p:sp>
    </p:spTree>
    <p:extLst>
      <p:ext uri="{BB962C8B-B14F-4D97-AF65-F5344CB8AC3E}">
        <p14:creationId xmlns:p14="http://schemas.microsoft.com/office/powerpoint/2010/main" val="4074903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D7443-8151-814D-774F-C43CB98C67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B3B4B-453B-EA83-E146-2449C0F88337}"/>
              </a:ext>
            </a:extLst>
          </p:cNvPr>
          <p:cNvSpPr>
            <a:spLocks noGrp="1"/>
          </p:cNvSpPr>
          <p:nvPr>
            <p:ph type="title"/>
          </p:nvPr>
        </p:nvSpPr>
        <p:spPr/>
        <p:txBody>
          <a:bodyPr/>
          <a:lstStyle/>
          <a:p>
            <a:r>
              <a:rPr lang="en-GB" dirty="0"/>
              <a:t>4. The </a:t>
            </a:r>
            <a:r>
              <a:rPr lang="en-GB" dirty="0" err="1"/>
              <a:t>FreeRTOS</a:t>
            </a:r>
            <a:r>
              <a:rPr lang="en-GB" dirty="0"/>
              <a:t> Interface</a:t>
            </a:r>
            <a:endParaRPr lang="en-SG" dirty="0"/>
          </a:p>
        </p:txBody>
      </p:sp>
      <p:sp>
        <p:nvSpPr>
          <p:cNvPr id="3" name="Content Placeholder 2">
            <a:extLst>
              <a:ext uri="{FF2B5EF4-FFF2-40B4-BE49-F238E27FC236}">
                <a16:creationId xmlns:a16="http://schemas.microsoft.com/office/drawing/2014/main" id="{2A055D45-5E18-5E05-6EDD-70ED780330E0}"/>
              </a:ext>
            </a:extLst>
          </p:cNvPr>
          <p:cNvSpPr>
            <a:spLocks noGrp="1"/>
          </p:cNvSpPr>
          <p:nvPr>
            <p:ph idx="1"/>
          </p:nvPr>
        </p:nvSpPr>
        <p:spPr/>
        <p:txBody>
          <a:bodyPr/>
          <a:lstStyle/>
          <a:p>
            <a:r>
              <a:rPr lang="en-SG" dirty="0"/>
              <a:t>This section looks at some useful </a:t>
            </a:r>
            <a:r>
              <a:rPr lang="en-SG" dirty="0" err="1"/>
              <a:t>FreeRTOS</a:t>
            </a:r>
            <a:r>
              <a:rPr lang="en-SG" dirty="0"/>
              <a:t> functions.</a:t>
            </a:r>
          </a:p>
          <a:p>
            <a:pPr lvl="1"/>
            <a:r>
              <a:rPr lang="en-SG" dirty="0"/>
              <a:t>Full reference manual:</a:t>
            </a:r>
          </a:p>
          <a:p>
            <a:pPr marL="344487" lvl="1" indent="0">
              <a:buNone/>
            </a:pPr>
            <a:r>
              <a:rPr lang="en-SG" dirty="0">
                <a:hlinkClick r:id="rId2"/>
              </a:rPr>
              <a:t>https://www.freertos.org/media/2018/FreeRTOS_Reference_Manual_V10.0.0.pdf</a:t>
            </a:r>
            <a:endParaRPr lang="en-SG" dirty="0"/>
          </a:p>
          <a:p>
            <a:pPr marL="344487" lvl="1" indent="0">
              <a:buNone/>
            </a:pPr>
            <a:endParaRPr lang="en-SG" dirty="0"/>
          </a:p>
          <a:p>
            <a:r>
              <a:rPr lang="en-SG" dirty="0"/>
              <a:t>Important #includes:</a:t>
            </a:r>
          </a:p>
          <a:p>
            <a:pPr marL="0" indent="0">
              <a:buNone/>
            </a:pPr>
            <a:endParaRPr lang="en-SG" dirty="0"/>
          </a:p>
          <a:p>
            <a:pPr marL="671512" lvl="2" indent="0">
              <a:buNone/>
            </a:pPr>
            <a:r>
              <a:rPr lang="en-SG" dirty="0"/>
              <a:t>#include “</a:t>
            </a:r>
            <a:r>
              <a:rPr lang="en-SG" dirty="0" err="1"/>
              <a:t>FreeRTOS.h</a:t>
            </a:r>
            <a:r>
              <a:rPr lang="en-SG" dirty="0"/>
              <a:t>” // Basic </a:t>
            </a:r>
            <a:r>
              <a:rPr lang="en-SG" dirty="0" err="1"/>
              <a:t>FreeRTOS</a:t>
            </a:r>
            <a:r>
              <a:rPr lang="en-SG" dirty="0"/>
              <a:t> functions</a:t>
            </a:r>
          </a:p>
          <a:p>
            <a:pPr marL="671512" lvl="2" indent="0">
              <a:buNone/>
            </a:pPr>
            <a:r>
              <a:rPr lang="en-SG" dirty="0"/>
              <a:t>#include “</a:t>
            </a:r>
            <a:r>
              <a:rPr lang="en-SG" dirty="0" err="1"/>
              <a:t>task.h</a:t>
            </a:r>
            <a:r>
              <a:rPr lang="en-SG" dirty="0"/>
              <a:t>” // Task management functions like </a:t>
            </a:r>
            <a:r>
              <a:rPr lang="en-SG" dirty="0" err="1"/>
              <a:t>vTaskDelay</a:t>
            </a:r>
            <a:endParaRPr lang="en-SG" dirty="0"/>
          </a:p>
          <a:p>
            <a:pPr marL="671512" lvl="2" indent="0">
              <a:buNone/>
            </a:pPr>
            <a:r>
              <a:rPr lang="en-SG" dirty="0"/>
              <a:t>#include “</a:t>
            </a:r>
            <a:r>
              <a:rPr lang="en-SG" dirty="0" err="1"/>
              <a:t>semphr.h</a:t>
            </a:r>
            <a:r>
              <a:rPr lang="en-SG" dirty="0"/>
              <a:t>” // Semaphores</a:t>
            </a:r>
          </a:p>
          <a:p>
            <a:pPr marL="671512" lvl="2" indent="0">
              <a:buNone/>
            </a:pPr>
            <a:r>
              <a:rPr lang="en-SG" dirty="0"/>
              <a:t>#include “</a:t>
            </a:r>
            <a:r>
              <a:rPr lang="en-SG" dirty="0" err="1"/>
              <a:t>queue.h</a:t>
            </a:r>
            <a:r>
              <a:rPr lang="en-SG" dirty="0"/>
              <a:t>” // Queues (next lab lecture)1</a:t>
            </a:r>
          </a:p>
        </p:txBody>
      </p:sp>
      <p:sp>
        <p:nvSpPr>
          <p:cNvPr id="4" name="Slide Number Placeholder 3">
            <a:extLst>
              <a:ext uri="{FF2B5EF4-FFF2-40B4-BE49-F238E27FC236}">
                <a16:creationId xmlns:a16="http://schemas.microsoft.com/office/drawing/2014/main" id="{631C59F5-9619-4D8B-DFAE-7FEC93B12865}"/>
              </a:ext>
            </a:extLst>
          </p:cNvPr>
          <p:cNvSpPr>
            <a:spLocks noGrp="1"/>
          </p:cNvSpPr>
          <p:nvPr>
            <p:ph type="sldNum" sz="quarter" idx="10"/>
          </p:nvPr>
        </p:nvSpPr>
        <p:spPr/>
        <p:txBody>
          <a:bodyPr/>
          <a:lstStyle/>
          <a:p>
            <a:fld id="{E4B16682-6FB4-4344-B037-3C8A3CEB850D}" type="slidenum">
              <a:rPr lang="en-US" altLang="en-US" smtClean="0"/>
              <a:pPr/>
              <a:t>22</a:t>
            </a:fld>
            <a:endParaRPr lang="en-US" altLang="en-US"/>
          </a:p>
        </p:txBody>
      </p:sp>
      <p:sp>
        <p:nvSpPr>
          <p:cNvPr id="5" name="Footer Placeholder 4">
            <a:extLst>
              <a:ext uri="{FF2B5EF4-FFF2-40B4-BE49-F238E27FC236}">
                <a16:creationId xmlns:a16="http://schemas.microsoft.com/office/drawing/2014/main" id="{B3A59073-EA45-C59A-DF23-DAC370005C53}"/>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888408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E20B5-7CB6-A3A8-73E5-66E40C6B83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E4FE8-3369-A235-5E4C-317CC79259E9}"/>
              </a:ext>
            </a:extLst>
          </p:cNvPr>
          <p:cNvSpPr>
            <a:spLocks noGrp="1"/>
          </p:cNvSpPr>
          <p:nvPr>
            <p:ph type="title"/>
          </p:nvPr>
        </p:nvSpPr>
        <p:spPr/>
        <p:txBody>
          <a:bodyPr/>
          <a:lstStyle/>
          <a:p>
            <a:r>
              <a:rPr lang="en-GB" dirty="0"/>
              <a:t>4. The </a:t>
            </a:r>
            <a:r>
              <a:rPr lang="en-GB" dirty="0" err="1"/>
              <a:t>FreeRTOS</a:t>
            </a:r>
            <a:r>
              <a:rPr lang="en-GB" dirty="0"/>
              <a:t> Interface</a:t>
            </a:r>
            <a:endParaRPr lang="en-SG" dirty="0"/>
          </a:p>
        </p:txBody>
      </p:sp>
      <p:sp>
        <p:nvSpPr>
          <p:cNvPr id="3" name="Content Placeholder 2">
            <a:extLst>
              <a:ext uri="{FF2B5EF4-FFF2-40B4-BE49-F238E27FC236}">
                <a16:creationId xmlns:a16="http://schemas.microsoft.com/office/drawing/2014/main" id="{E5E48D93-4F50-CAB8-7513-3EA41CB5B034}"/>
              </a:ext>
            </a:extLst>
          </p:cNvPr>
          <p:cNvSpPr>
            <a:spLocks noGrp="1"/>
          </p:cNvSpPr>
          <p:nvPr>
            <p:ph idx="1"/>
          </p:nvPr>
        </p:nvSpPr>
        <p:spPr/>
        <p:txBody>
          <a:bodyPr/>
          <a:lstStyle/>
          <a:p>
            <a:r>
              <a:rPr lang="en-SG" dirty="0"/>
              <a:t>Task Creation:</a:t>
            </a:r>
          </a:p>
          <a:p>
            <a:pPr marL="671512" lvl="2" indent="0">
              <a:buNone/>
            </a:pPr>
            <a:r>
              <a:rPr lang="en-SG" dirty="0" err="1"/>
              <a:t>xTaskCreate</a:t>
            </a:r>
            <a:r>
              <a:rPr lang="en-SG" dirty="0"/>
              <a:t>(</a:t>
            </a:r>
            <a:r>
              <a:rPr lang="en-SG" dirty="0" err="1"/>
              <a:t>taskfun</a:t>
            </a:r>
            <a:r>
              <a:rPr lang="en-SG" dirty="0"/>
              <a:t>, </a:t>
            </a:r>
            <a:r>
              <a:rPr lang="en-SG" dirty="0" err="1"/>
              <a:t>taskname</a:t>
            </a:r>
            <a:r>
              <a:rPr lang="en-SG" dirty="0"/>
              <a:t>, </a:t>
            </a:r>
            <a:r>
              <a:rPr lang="en-SG" dirty="0" err="1"/>
              <a:t>stacksize</a:t>
            </a:r>
            <a:r>
              <a:rPr lang="en-SG" dirty="0"/>
              <a:t>, parameter, priority, handle);</a:t>
            </a:r>
          </a:p>
          <a:p>
            <a:pPr lvl="2"/>
            <a:r>
              <a:rPr lang="en-SG" dirty="0" err="1"/>
              <a:t>taskfun</a:t>
            </a:r>
            <a:r>
              <a:rPr lang="en-SG" dirty="0"/>
              <a:t> – Pointer to the task function.</a:t>
            </a:r>
          </a:p>
          <a:p>
            <a:pPr lvl="2"/>
            <a:r>
              <a:rPr lang="en-SG" dirty="0" err="1"/>
              <a:t>taskname</a:t>
            </a:r>
            <a:r>
              <a:rPr lang="en-SG" dirty="0"/>
              <a:t> – The name of the task as a C string. Should be unique to aid debugging.</a:t>
            </a:r>
          </a:p>
          <a:p>
            <a:pPr lvl="2"/>
            <a:r>
              <a:rPr lang="en-SG" dirty="0" err="1"/>
              <a:t>stacksize</a:t>
            </a:r>
            <a:r>
              <a:rPr lang="en-SG" dirty="0"/>
              <a:t> – Size of the task stack. RTOS uses the task stack to pass parameters, create local variables, </a:t>
            </a:r>
            <a:r>
              <a:rPr lang="en-SG" b="1" dirty="0"/>
              <a:t>and store the hardware context</a:t>
            </a:r>
            <a:r>
              <a:rPr lang="en-SG" dirty="0"/>
              <a:t>.</a:t>
            </a:r>
          </a:p>
          <a:p>
            <a:pPr lvl="3"/>
            <a:r>
              <a:rPr lang="en-SG" dirty="0"/>
              <a:t>Measured in words, not bytes.</a:t>
            </a:r>
          </a:p>
          <a:p>
            <a:pPr lvl="3"/>
            <a:r>
              <a:rPr lang="en-SG" dirty="0"/>
              <a:t>Suggested; </a:t>
            </a:r>
            <a:r>
              <a:rPr lang="en-SG" dirty="0" err="1"/>
              <a:t>configMINIMAL_STACK_SIZE</a:t>
            </a:r>
            <a:r>
              <a:rPr lang="en-SG" dirty="0"/>
              <a:t> + 100 (</a:t>
            </a:r>
            <a:r>
              <a:rPr lang="en-SG" dirty="0" err="1"/>
              <a:t>configMINIMAL_STACK_SIZE</a:t>
            </a:r>
            <a:r>
              <a:rPr lang="en-SG" dirty="0"/>
              <a:t> defaults to 90 words).</a:t>
            </a:r>
          </a:p>
          <a:p>
            <a:pPr lvl="2"/>
            <a:r>
              <a:rPr lang="en-SG" dirty="0"/>
              <a:t>parameter – Parameter to pass to the task</a:t>
            </a:r>
          </a:p>
          <a:p>
            <a:pPr lvl="2"/>
            <a:r>
              <a:rPr lang="en-SG" dirty="0"/>
              <a:t>priority – Priority number. Higher number == higher priority.</a:t>
            </a:r>
          </a:p>
          <a:p>
            <a:pPr lvl="2"/>
            <a:r>
              <a:rPr lang="en-SG" dirty="0"/>
              <a:t>handle – Pointer to a structure of type </a:t>
            </a:r>
            <a:r>
              <a:rPr lang="en-SG" dirty="0" err="1"/>
              <a:t>TaskHandle_t</a:t>
            </a:r>
            <a:r>
              <a:rPr lang="en-SG" dirty="0"/>
              <a:t> to store task information. Equivalent to </a:t>
            </a:r>
            <a:r>
              <a:rPr lang="en-SG" dirty="0" err="1"/>
              <a:t>pthread_t</a:t>
            </a:r>
            <a:r>
              <a:rPr lang="en-SG" dirty="0"/>
              <a:t> in </a:t>
            </a:r>
            <a:r>
              <a:rPr lang="en-SG" dirty="0" err="1"/>
              <a:t>pthreads</a:t>
            </a:r>
            <a:r>
              <a:rPr lang="en-SG" dirty="0"/>
              <a:t>.</a:t>
            </a:r>
          </a:p>
        </p:txBody>
      </p:sp>
      <p:sp>
        <p:nvSpPr>
          <p:cNvPr id="4" name="Slide Number Placeholder 3">
            <a:extLst>
              <a:ext uri="{FF2B5EF4-FFF2-40B4-BE49-F238E27FC236}">
                <a16:creationId xmlns:a16="http://schemas.microsoft.com/office/drawing/2014/main" id="{49FB0B2E-94A4-96D4-5BB4-CA7793B0C8C0}"/>
              </a:ext>
            </a:extLst>
          </p:cNvPr>
          <p:cNvSpPr>
            <a:spLocks noGrp="1"/>
          </p:cNvSpPr>
          <p:nvPr>
            <p:ph type="sldNum" sz="quarter" idx="10"/>
          </p:nvPr>
        </p:nvSpPr>
        <p:spPr/>
        <p:txBody>
          <a:bodyPr/>
          <a:lstStyle/>
          <a:p>
            <a:fld id="{E4B16682-6FB4-4344-B037-3C8A3CEB850D}" type="slidenum">
              <a:rPr lang="en-US" altLang="en-US" smtClean="0"/>
              <a:pPr/>
              <a:t>23</a:t>
            </a:fld>
            <a:endParaRPr lang="en-US" altLang="en-US"/>
          </a:p>
        </p:txBody>
      </p:sp>
      <p:sp>
        <p:nvSpPr>
          <p:cNvPr id="5" name="Footer Placeholder 4">
            <a:extLst>
              <a:ext uri="{FF2B5EF4-FFF2-40B4-BE49-F238E27FC236}">
                <a16:creationId xmlns:a16="http://schemas.microsoft.com/office/drawing/2014/main" id="{ED59ED4F-CF7B-868A-21F8-E4B812C55D58}"/>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12647825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16555-02DF-9F24-7FEE-50AE5ECA064A}"/>
              </a:ext>
            </a:extLst>
          </p:cNvPr>
          <p:cNvSpPr>
            <a:spLocks noGrp="1"/>
          </p:cNvSpPr>
          <p:nvPr>
            <p:ph type="title"/>
          </p:nvPr>
        </p:nvSpPr>
        <p:spPr/>
        <p:txBody>
          <a:bodyPr/>
          <a:lstStyle/>
          <a:p>
            <a:r>
              <a:rPr lang="en-GB" dirty="0"/>
              <a:t>4. The </a:t>
            </a:r>
            <a:r>
              <a:rPr lang="en-GB" dirty="0" err="1"/>
              <a:t>FreeRTOS</a:t>
            </a:r>
            <a:r>
              <a:rPr lang="en-GB" dirty="0"/>
              <a:t> Interface</a:t>
            </a:r>
            <a:endParaRPr lang="en-SG" dirty="0"/>
          </a:p>
        </p:txBody>
      </p:sp>
      <p:sp>
        <p:nvSpPr>
          <p:cNvPr id="3" name="Content Placeholder 2">
            <a:extLst>
              <a:ext uri="{FF2B5EF4-FFF2-40B4-BE49-F238E27FC236}">
                <a16:creationId xmlns:a16="http://schemas.microsoft.com/office/drawing/2014/main" id="{8866752B-9251-ACB6-5F91-CAC37ADE81A2}"/>
              </a:ext>
            </a:extLst>
          </p:cNvPr>
          <p:cNvSpPr>
            <a:spLocks noGrp="1"/>
          </p:cNvSpPr>
          <p:nvPr>
            <p:ph idx="1"/>
          </p:nvPr>
        </p:nvSpPr>
        <p:spPr/>
        <p:txBody>
          <a:bodyPr/>
          <a:lstStyle/>
          <a:p>
            <a:r>
              <a:rPr lang="en-SG" dirty="0"/>
              <a:t>Starting the RTOS:</a:t>
            </a:r>
          </a:p>
          <a:p>
            <a:pPr marL="671512" lvl="2" indent="0">
              <a:buNone/>
            </a:pPr>
            <a:r>
              <a:rPr lang="en-SG" dirty="0" err="1"/>
              <a:t>vTaskStartScheduler</a:t>
            </a:r>
            <a:r>
              <a:rPr lang="en-SG" dirty="0"/>
              <a:t>();</a:t>
            </a:r>
          </a:p>
          <a:p>
            <a:pPr lvl="2"/>
            <a:r>
              <a:rPr lang="en-SG" dirty="0"/>
              <a:t>Starts the RTOS.</a:t>
            </a:r>
          </a:p>
          <a:p>
            <a:pPr lvl="2"/>
            <a:r>
              <a:rPr lang="en-SG" dirty="0"/>
              <a:t>Must be called after creating all the required tasks.</a:t>
            </a:r>
          </a:p>
          <a:p>
            <a:r>
              <a:rPr lang="en-SG" dirty="0"/>
              <a:t>Example:</a:t>
            </a:r>
          </a:p>
          <a:p>
            <a:pPr marL="671512" lvl="2" indent="0">
              <a:buNone/>
            </a:pPr>
            <a:r>
              <a:rPr lang="en-SG" sz="2400" dirty="0">
                <a:latin typeface="Courier New" panose="02070309020205020404" pitchFamily="49" charset="0"/>
                <a:cs typeface="Courier New" panose="02070309020205020404" pitchFamily="49" charset="0"/>
              </a:rPr>
              <a:t>static void task(void *p) {</a:t>
            </a:r>
            <a:br>
              <a:rPr lang="en-SG" sz="2400" dirty="0">
                <a:latin typeface="Courier New" panose="02070309020205020404" pitchFamily="49" charset="0"/>
                <a:cs typeface="Courier New" panose="02070309020205020404" pitchFamily="49" charset="0"/>
              </a:rPr>
            </a:br>
            <a:r>
              <a:rPr lang="en-SG" sz="2400" dirty="0">
                <a:latin typeface="Courier New" panose="02070309020205020404" pitchFamily="49" charset="0"/>
                <a:cs typeface="Courier New" panose="02070309020205020404" pitchFamily="49" charset="0"/>
              </a:rPr>
              <a:t>    while(1) {</a:t>
            </a:r>
            <a:br>
              <a:rPr lang="en-SG" sz="2400" dirty="0">
                <a:latin typeface="Courier New" panose="02070309020205020404" pitchFamily="49" charset="0"/>
                <a:cs typeface="Courier New" panose="02070309020205020404" pitchFamily="49" charset="0"/>
              </a:rPr>
            </a:br>
            <a:r>
              <a:rPr lang="en-SG" sz="2400" dirty="0">
                <a:latin typeface="Courier New" panose="02070309020205020404" pitchFamily="49" charset="0"/>
                <a:cs typeface="Courier New" panose="02070309020205020404" pitchFamily="49" charset="0"/>
              </a:rPr>
              <a:t>        PRINTF(“I am task %d\r\n”, (int) p);</a:t>
            </a:r>
            <a:br>
              <a:rPr lang="en-SG" sz="2400" dirty="0">
                <a:latin typeface="Courier New" panose="02070309020205020404" pitchFamily="49" charset="0"/>
                <a:cs typeface="Courier New" panose="02070309020205020404" pitchFamily="49" charset="0"/>
              </a:rPr>
            </a:br>
            <a:r>
              <a:rPr lang="en-SG" sz="2400" dirty="0">
                <a:latin typeface="Courier New" panose="02070309020205020404" pitchFamily="49" charset="0"/>
                <a:cs typeface="Courier New" panose="02070309020205020404" pitchFamily="49" charset="0"/>
              </a:rPr>
              <a:t>        </a:t>
            </a:r>
            <a:r>
              <a:rPr lang="en-SG" sz="2400" dirty="0" err="1">
                <a:latin typeface="Courier New" panose="02070309020205020404" pitchFamily="49" charset="0"/>
                <a:cs typeface="Courier New" panose="02070309020205020404" pitchFamily="49" charset="0"/>
              </a:rPr>
              <a:t>vTaskSuspend</a:t>
            </a:r>
            <a:r>
              <a:rPr lang="en-SG" sz="2400" dirty="0">
                <a:latin typeface="Courier New" panose="02070309020205020404" pitchFamily="49" charset="0"/>
                <a:cs typeface="Courier New" panose="02070309020205020404" pitchFamily="49" charset="0"/>
              </a:rPr>
              <a:t>(NULL); // Stop the task</a:t>
            </a:r>
            <a:br>
              <a:rPr lang="en-SG" sz="2400" dirty="0">
                <a:latin typeface="Courier New" panose="02070309020205020404" pitchFamily="49" charset="0"/>
                <a:cs typeface="Courier New" panose="02070309020205020404" pitchFamily="49" charset="0"/>
              </a:rPr>
            </a:br>
            <a:r>
              <a:rPr lang="en-SG" sz="2400" dirty="0">
                <a:latin typeface="Courier New" panose="02070309020205020404" pitchFamily="49" charset="0"/>
                <a:cs typeface="Courier New" panose="02070309020205020404" pitchFamily="49" charset="0"/>
              </a:rPr>
              <a:t>    }</a:t>
            </a:r>
          </a:p>
          <a:p>
            <a:pPr marL="671512" lvl="2" indent="0">
              <a:buNone/>
            </a:pPr>
            <a:r>
              <a:rPr lang="en-SG" sz="2400" dirty="0">
                <a:latin typeface="Courier New" panose="02070309020205020404" pitchFamily="49" charset="0"/>
                <a:cs typeface="Courier New" panose="02070309020205020404" pitchFamily="49" charset="0"/>
              </a:rPr>
              <a:t>}</a:t>
            </a:r>
            <a:br>
              <a:rPr lang="en-SG" sz="2400" dirty="0">
                <a:latin typeface="Courier New" panose="02070309020205020404" pitchFamily="49" charset="0"/>
                <a:cs typeface="Courier New" panose="02070309020205020404" pitchFamily="49" charset="0"/>
              </a:rPr>
            </a:br>
            <a:endParaRPr lang="en-SG" dirty="0"/>
          </a:p>
        </p:txBody>
      </p:sp>
      <p:sp>
        <p:nvSpPr>
          <p:cNvPr id="4" name="Slide Number Placeholder 3">
            <a:extLst>
              <a:ext uri="{FF2B5EF4-FFF2-40B4-BE49-F238E27FC236}">
                <a16:creationId xmlns:a16="http://schemas.microsoft.com/office/drawing/2014/main" id="{26C450F4-B2DA-211B-BBBF-FD29B29486E5}"/>
              </a:ext>
            </a:extLst>
          </p:cNvPr>
          <p:cNvSpPr>
            <a:spLocks noGrp="1"/>
          </p:cNvSpPr>
          <p:nvPr>
            <p:ph type="sldNum" sz="quarter" idx="10"/>
          </p:nvPr>
        </p:nvSpPr>
        <p:spPr/>
        <p:txBody>
          <a:bodyPr/>
          <a:lstStyle/>
          <a:p>
            <a:fld id="{E4B16682-6FB4-4344-B037-3C8A3CEB850D}" type="slidenum">
              <a:rPr lang="en-US" altLang="en-US" smtClean="0"/>
              <a:pPr/>
              <a:t>24</a:t>
            </a:fld>
            <a:endParaRPr lang="en-US" altLang="en-US"/>
          </a:p>
        </p:txBody>
      </p:sp>
      <p:sp>
        <p:nvSpPr>
          <p:cNvPr id="5" name="Footer Placeholder 4">
            <a:extLst>
              <a:ext uri="{FF2B5EF4-FFF2-40B4-BE49-F238E27FC236}">
                <a16:creationId xmlns:a16="http://schemas.microsoft.com/office/drawing/2014/main" id="{A224FBF3-1063-6250-5247-645D91769E3F}"/>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1329972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646D-4D6C-8B62-6EF0-3D5BB9D8D46F}"/>
              </a:ext>
            </a:extLst>
          </p:cNvPr>
          <p:cNvSpPr>
            <a:spLocks noGrp="1"/>
          </p:cNvSpPr>
          <p:nvPr>
            <p:ph type="title"/>
          </p:nvPr>
        </p:nvSpPr>
        <p:spPr/>
        <p:txBody>
          <a:bodyPr/>
          <a:lstStyle/>
          <a:p>
            <a:r>
              <a:rPr lang="en-GB" dirty="0"/>
              <a:t>4. The </a:t>
            </a:r>
            <a:r>
              <a:rPr lang="en-GB" dirty="0" err="1"/>
              <a:t>FreeRTOS</a:t>
            </a:r>
            <a:r>
              <a:rPr lang="en-GB" dirty="0"/>
              <a:t> Interface</a:t>
            </a:r>
            <a:endParaRPr lang="en-SG" dirty="0"/>
          </a:p>
        </p:txBody>
      </p:sp>
      <p:sp>
        <p:nvSpPr>
          <p:cNvPr id="3" name="Content Placeholder 2">
            <a:extLst>
              <a:ext uri="{FF2B5EF4-FFF2-40B4-BE49-F238E27FC236}">
                <a16:creationId xmlns:a16="http://schemas.microsoft.com/office/drawing/2014/main" id="{4F28D7BA-74DC-EAAA-2030-DE91ABDE4E38}"/>
              </a:ext>
            </a:extLst>
          </p:cNvPr>
          <p:cNvSpPr>
            <a:spLocks noGrp="1"/>
          </p:cNvSpPr>
          <p:nvPr>
            <p:ph idx="1"/>
          </p:nvPr>
        </p:nvSpPr>
        <p:spPr/>
        <p:txBody>
          <a:bodyPr/>
          <a:lstStyle/>
          <a:p>
            <a:r>
              <a:rPr lang="en-SG" dirty="0"/>
              <a:t>Task creation example:</a:t>
            </a:r>
          </a:p>
          <a:p>
            <a:pPr marL="671512" lvl="2" indent="0">
              <a:buNone/>
            </a:pPr>
            <a:br>
              <a:rPr lang="en-SG" sz="2000" dirty="0">
                <a:latin typeface="Courier New" panose="02070309020205020404" pitchFamily="49" charset="0"/>
                <a:cs typeface="Courier New" panose="02070309020205020404" pitchFamily="49" charset="0"/>
              </a:rPr>
            </a:br>
            <a:r>
              <a:rPr lang="en-SG" sz="2000" dirty="0">
                <a:latin typeface="Courier New" panose="02070309020205020404" pitchFamily="49" charset="0"/>
                <a:cs typeface="Courier New" panose="02070309020205020404" pitchFamily="49" charset="0"/>
              </a:rPr>
              <a:t>…</a:t>
            </a:r>
          </a:p>
          <a:p>
            <a:pPr marL="671512" lvl="2" indent="0">
              <a:buNone/>
            </a:pPr>
            <a:r>
              <a:rPr lang="en-SG" sz="2000" dirty="0">
                <a:latin typeface="Courier New" panose="02070309020205020404" pitchFamily="49" charset="0"/>
                <a:cs typeface="Courier New" panose="02070309020205020404" pitchFamily="49" charset="0"/>
              </a:rPr>
              <a:t>int </a:t>
            </a:r>
            <a:r>
              <a:rPr lang="en-SG" sz="2000" dirty="0" err="1">
                <a:latin typeface="Courier New" panose="02070309020205020404" pitchFamily="49" charset="0"/>
                <a:cs typeface="Courier New" panose="02070309020205020404" pitchFamily="49" charset="0"/>
              </a:rPr>
              <a:t>tasknum</a:t>
            </a:r>
            <a:r>
              <a:rPr lang="en-SG" sz="2000" dirty="0">
                <a:latin typeface="Courier New" panose="02070309020205020404" pitchFamily="49" charset="0"/>
                <a:cs typeface="Courier New" panose="02070309020205020404" pitchFamily="49" charset="0"/>
              </a:rPr>
              <a:t>=157;</a:t>
            </a:r>
          </a:p>
          <a:p>
            <a:pPr marL="671512" lvl="2" indent="0">
              <a:buNone/>
            </a:pPr>
            <a:r>
              <a:rPr lang="en-SG" sz="2000" dirty="0">
                <a:latin typeface="Courier New" panose="02070309020205020404" pitchFamily="49" charset="0"/>
                <a:cs typeface="Courier New" panose="02070309020205020404" pitchFamily="49" charset="0"/>
              </a:rPr>
              <a:t>// Create a task with priority 2</a:t>
            </a:r>
            <a:br>
              <a:rPr lang="en-SG" sz="2000" dirty="0">
                <a:latin typeface="Courier New" panose="02070309020205020404" pitchFamily="49" charset="0"/>
                <a:cs typeface="Courier New" panose="02070309020205020404" pitchFamily="49" charset="0"/>
              </a:rPr>
            </a:br>
            <a:r>
              <a:rPr lang="en-SG" sz="2000" dirty="0" err="1">
                <a:latin typeface="Courier New" panose="02070309020205020404" pitchFamily="49" charset="0"/>
                <a:cs typeface="Courier New" panose="02070309020205020404" pitchFamily="49" charset="0"/>
              </a:rPr>
              <a:t>xTaskCreate</a:t>
            </a:r>
            <a:r>
              <a:rPr lang="en-SG" sz="2000" dirty="0">
                <a:latin typeface="Courier New" panose="02070309020205020404" pitchFamily="49" charset="0"/>
                <a:cs typeface="Courier New" panose="02070309020205020404" pitchFamily="49" charset="0"/>
              </a:rPr>
              <a:t>(task, “task_1”, configMINIMAL_STACK_SIZE+100, </a:t>
            </a:r>
          </a:p>
          <a:p>
            <a:pPr marL="671512" lvl="2" indent="0">
              <a:buNone/>
            </a:pPr>
            <a:r>
              <a:rPr lang="en-SG" sz="2000" dirty="0">
                <a:latin typeface="Courier New" panose="02070309020205020404" pitchFamily="49" charset="0"/>
                <a:cs typeface="Courier New" panose="02070309020205020404" pitchFamily="49" charset="0"/>
              </a:rPr>
              <a:t>    (void *) </a:t>
            </a:r>
            <a:r>
              <a:rPr lang="en-SG" sz="2000" dirty="0" err="1">
                <a:latin typeface="Courier New" panose="02070309020205020404" pitchFamily="49" charset="0"/>
                <a:cs typeface="Courier New" panose="02070309020205020404" pitchFamily="49" charset="0"/>
              </a:rPr>
              <a:t>taskNum</a:t>
            </a:r>
            <a:r>
              <a:rPr lang="en-SG" sz="2000" dirty="0">
                <a:latin typeface="Courier New" panose="02070309020205020404" pitchFamily="49" charset="0"/>
                <a:cs typeface="Courier New" panose="02070309020205020404" pitchFamily="49" charset="0"/>
              </a:rPr>
              <a:t>, 2, NULL);</a:t>
            </a:r>
          </a:p>
          <a:p>
            <a:pPr marL="671512" lvl="2" indent="0">
              <a:buNone/>
            </a:pPr>
            <a:endParaRPr lang="en-SG" sz="2000" dirty="0">
              <a:latin typeface="Courier New" panose="02070309020205020404" pitchFamily="49" charset="0"/>
              <a:cs typeface="Courier New" panose="02070309020205020404" pitchFamily="49" charset="0"/>
            </a:endParaRPr>
          </a:p>
          <a:p>
            <a:pPr marL="671512" lvl="2" indent="0">
              <a:buNone/>
            </a:pPr>
            <a:r>
              <a:rPr lang="en-SG" sz="2000" dirty="0">
                <a:latin typeface="Courier New" panose="02070309020205020404" pitchFamily="49" charset="0"/>
                <a:cs typeface="Courier New" panose="02070309020205020404" pitchFamily="49" charset="0"/>
              </a:rPr>
              <a:t>// Create a higher priority task with priority 4</a:t>
            </a:r>
          </a:p>
          <a:p>
            <a:pPr marL="671512" lvl="2" indent="0">
              <a:buNone/>
            </a:pPr>
            <a:r>
              <a:rPr lang="en-SG" sz="2000" dirty="0" err="1">
                <a:latin typeface="Courier New" panose="02070309020205020404" pitchFamily="49" charset="0"/>
                <a:cs typeface="Courier New" panose="02070309020205020404" pitchFamily="49" charset="0"/>
              </a:rPr>
              <a:t>xTaskCreate</a:t>
            </a:r>
            <a:r>
              <a:rPr lang="en-SG" sz="2000" dirty="0">
                <a:latin typeface="Courier New" panose="02070309020205020404" pitchFamily="49" charset="0"/>
                <a:cs typeface="Courier New" panose="02070309020205020404" pitchFamily="49" charset="0"/>
              </a:rPr>
              <a:t>(task, “task_2”, configMINIMAL_STACK_SIZE+100, </a:t>
            </a:r>
          </a:p>
          <a:p>
            <a:pPr marL="671512" lvl="2" indent="0">
              <a:buNone/>
            </a:pPr>
            <a:r>
              <a:rPr lang="en-SG" sz="2000" dirty="0">
                <a:latin typeface="Courier New" panose="02070309020205020404" pitchFamily="49" charset="0"/>
                <a:cs typeface="Courier New" panose="02070309020205020404" pitchFamily="49" charset="0"/>
              </a:rPr>
              <a:t>    (void *) (taskNum+1), 4, NULL);</a:t>
            </a:r>
          </a:p>
          <a:p>
            <a:pPr marL="671512" lvl="2" indent="0">
              <a:buNone/>
            </a:pPr>
            <a:endParaRPr lang="en-SG" sz="2000" dirty="0">
              <a:latin typeface="Courier New" panose="02070309020205020404" pitchFamily="49" charset="0"/>
              <a:cs typeface="Courier New" panose="02070309020205020404" pitchFamily="49" charset="0"/>
            </a:endParaRPr>
          </a:p>
          <a:p>
            <a:pPr marL="671512" lvl="2" indent="0">
              <a:buNone/>
            </a:pPr>
            <a:r>
              <a:rPr lang="en-SG" sz="2000" dirty="0">
                <a:latin typeface="Courier New" panose="02070309020205020404" pitchFamily="49" charset="0"/>
                <a:cs typeface="Courier New" panose="02070309020205020404" pitchFamily="49" charset="0"/>
              </a:rPr>
              <a:t>// Start the RTOS</a:t>
            </a:r>
          </a:p>
          <a:p>
            <a:pPr marL="671512" lvl="2" indent="0">
              <a:buNone/>
            </a:pPr>
            <a:r>
              <a:rPr lang="en-SG" sz="2000" dirty="0" err="1">
                <a:latin typeface="Courier New" panose="02070309020205020404" pitchFamily="49" charset="0"/>
                <a:cs typeface="Courier New" panose="02070309020205020404" pitchFamily="49" charset="0"/>
              </a:rPr>
              <a:t>vTaskStartScheduler</a:t>
            </a:r>
            <a:r>
              <a:rPr lang="en-SG" sz="2000" dirty="0">
                <a:latin typeface="Courier New" panose="02070309020205020404" pitchFamily="49" charset="0"/>
                <a:cs typeface="Courier New" panose="02070309020205020404" pitchFamily="49" charset="0"/>
              </a:rPr>
              <a:t>();</a:t>
            </a:r>
          </a:p>
          <a:p>
            <a:pPr marL="671512" lvl="2" indent="0">
              <a:buNone/>
            </a:pPr>
            <a:r>
              <a:rPr lang="en-SG" sz="2000" dirty="0">
                <a:latin typeface="Courier New" panose="02070309020205020404" pitchFamily="49" charset="0"/>
                <a:cs typeface="Courier New" panose="02070309020205020404" pitchFamily="49" charset="0"/>
              </a:rPr>
              <a:t>…</a:t>
            </a:r>
            <a:br>
              <a:rPr lang="en-SG" sz="2000" dirty="0">
                <a:latin typeface="Courier New" panose="02070309020205020404" pitchFamily="49" charset="0"/>
                <a:cs typeface="Courier New" panose="02070309020205020404" pitchFamily="49" charset="0"/>
              </a:rPr>
            </a:br>
            <a:endParaRPr lang="en-SG" sz="2000"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AAD602A9-1CB3-63B4-CF0B-1F4824C95509}"/>
              </a:ext>
            </a:extLst>
          </p:cNvPr>
          <p:cNvSpPr>
            <a:spLocks noGrp="1"/>
          </p:cNvSpPr>
          <p:nvPr>
            <p:ph type="sldNum" sz="quarter" idx="10"/>
          </p:nvPr>
        </p:nvSpPr>
        <p:spPr/>
        <p:txBody>
          <a:bodyPr/>
          <a:lstStyle/>
          <a:p>
            <a:fld id="{E4B16682-6FB4-4344-B037-3C8A3CEB850D}" type="slidenum">
              <a:rPr lang="en-US" altLang="en-US" smtClean="0"/>
              <a:pPr/>
              <a:t>25</a:t>
            </a:fld>
            <a:endParaRPr lang="en-US" altLang="en-US"/>
          </a:p>
        </p:txBody>
      </p:sp>
      <p:sp>
        <p:nvSpPr>
          <p:cNvPr id="5" name="Footer Placeholder 4">
            <a:extLst>
              <a:ext uri="{FF2B5EF4-FFF2-40B4-BE49-F238E27FC236}">
                <a16:creationId xmlns:a16="http://schemas.microsoft.com/office/drawing/2014/main" id="{4AD14627-6874-F91C-D27B-E7C49AF2DBCF}"/>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4275741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ABE60-8226-4AE7-7FC8-6A7A175F9915}"/>
              </a:ext>
            </a:extLst>
          </p:cNvPr>
          <p:cNvSpPr>
            <a:spLocks noGrp="1"/>
          </p:cNvSpPr>
          <p:nvPr>
            <p:ph type="title"/>
          </p:nvPr>
        </p:nvSpPr>
        <p:spPr/>
        <p:txBody>
          <a:bodyPr/>
          <a:lstStyle/>
          <a:p>
            <a:r>
              <a:rPr lang="en-GB" dirty="0"/>
              <a:t>4. The </a:t>
            </a:r>
            <a:r>
              <a:rPr lang="en-GB" dirty="0" err="1"/>
              <a:t>FreeRTOS</a:t>
            </a:r>
            <a:r>
              <a:rPr lang="en-GB" dirty="0"/>
              <a:t> Interface</a:t>
            </a:r>
            <a:endParaRPr lang="en-SG" dirty="0"/>
          </a:p>
        </p:txBody>
      </p:sp>
      <p:sp>
        <p:nvSpPr>
          <p:cNvPr id="3" name="Content Placeholder 2">
            <a:extLst>
              <a:ext uri="{FF2B5EF4-FFF2-40B4-BE49-F238E27FC236}">
                <a16:creationId xmlns:a16="http://schemas.microsoft.com/office/drawing/2014/main" id="{56416318-D9CF-23DE-5BF4-2A9C9D3E5070}"/>
              </a:ext>
            </a:extLst>
          </p:cNvPr>
          <p:cNvSpPr>
            <a:spLocks noGrp="1"/>
          </p:cNvSpPr>
          <p:nvPr>
            <p:ph idx="1"/>
          </p:nvPr>
        </p:nvSpPr>
        <p:spPr/>
        <p:txBody>
          <a:bodyPr/>
          <a:lstStyle/>
          <a:p>
            <a:r>
              <a:rPr lang="en-SG" dirty="0"/>
              <a:t>Pausing  a task:</a:t>
            </a:r>
          </a:p>
          <a:p>
            <a:pPr marL="671512" lvl="2" indent="0">
              <a:buNone/>
            </a:pPr>
            <a:r>
              <a:rPr lang="en-SG" dirty="0" err="1"/>
              <a:t>vTaskDelay</a:t>
            </a:r>
            <a:r>
              <a:rPr lang="en-SG" dirty="0"/>
              <a:t>(ticks); </a:t>
            </a:r>
          </a:p>
          <a:p>
            <a:pPr lvl="2"/>
            <a:r>
              <a:rPr lang="en-SG" dirty="0"/>
              <a:t>ticks: Number of clock ticks to pause.</a:t>
            </a:r>
          </a:p>
          <a:p>
            <a:pPr lvl="2"/>
            <a:r>
              <a:rPr lang="en-SG" dirty="0"/>
              <a:t>Use </a:t>
            </a:r>
            <a:r>
              <a:rPr lang="en-SG" dirty="0" err="1"/>
              <a:t>pdMS_TO_TICKS</a:t>
            </a:r>
            <a:r>
              <a:rPr lang="en-SG" dirty="0"/>
              <a:t> to convert from milliseconds to ticks.</a:t>
            </a:r>
          </a:p>
          <a:p>
            <a:pPr lvl="2"/>
            <a:r>
              <a:rPr lang="en-SG" dirty="0"/>
              <a:t>Example:</a:t>
            </a:r>
          </a:p>
          <a:p>
            <a:pPr marL="671512" lvl="2" indent="0">
              <a:buNone/>
            </a:pPr>
            <a:r>
              <a:rPr lang="en-SG" dirty="0"/>
              <a:t>	</a:t>
            </a:r>
            <a:r>
              <a:rPr lang="en-SG" sz="2000" dirty="0" err="1">
                <a:latin typeface="Courier New" panose="02070309020205020404" pitchFamily="49" charset="0"/>
                <a:cs typeface="Courier New" panose="02070309020205020404" pitchFamily="49" charset="0"/>
              </a:rPr>
              <a:t>vTaskDelay</a:t>
            </a:r>
            <a:r>
              <a:rPr lang="en-SG" sz="2000" dirty="0">
                <a:latin typeface="Courier New" panose="02070309020205020404" pitchFamily="49" charset="0"/>
                <a:cs typeface="Courier New" panose="02070309020205020404" pitchFamily="49" charset="0"/>
              </a:rPr>
              <a:t>(</a:t>
            </a:r>
            <a:r>
              <a:rPr lang="en-SG" sz="2000" dirty="0" err="1">
                <a:latin typeface="Courier New" panose="02070309020205020404" pitchFamily="49" charset="0"/>
                <a:cs typeface="Courier New" panose="02070309020205020404" pitchFamily="49" charset="0"/>
              </a:rPr>
              <a:t>pdMS_TO_TICKS</a:t>
            </a:r>
            <a:r>
              <a:rPr lang="en-SG" sz="2000" dirty="0">
                <a:latin typeface="Courier New" panose="02070309020205020404" pitchFamily="49" charset="0"/>
                <a:cs typeface="Courier New" panose="02070309020205020404" pitchFamily="49" charset="0"/>
              </a:rPr>
              <a:t>(250)); // Pause for 250 </a:t>
            </a:r>
            <a:r>
              <a:rPr lang="en-SG" sz="2000" dirty="0" err="1">
                <a:latin typeface="Courier New" panose="02070309020205020404" pitchFamily="49" charset="0"/>
                <a:cs typeface="Courier New" panose="02070309020205020404" pitchFamily="49" charset="0"/>
              </a:rPr>
              <a:t>ms</a:t>
            </a:r>
            <a:endParaRPr lang="en-SG" sz="2000" dirty="0">
              <a:latin typeface="Courier New" panose="02070309020205020404" pitchFamily="49" charset="0"/>
              <a:cs typeface="Courier New" panose="02070309020205020404" pitchFamily="49" charset="0"/>
            </a:endParaRPr>
          </a:p>
          <a:p>
            <a:pPr marL="671512" lvl="2" indent="0">
              <a:buNone/>
            </a:pPr>
            <a:endParaRPr lang="en-SG" sz="2000" dirty="0">
              <a:latin typeface="Courier New" panose="02070309020205020404" pitchFamily="49" charset="0"/>
              <a:cs typeface="Courier New" panose="02070309020205020404" pitchFamily="49" charset="0"/>
            </a:endParaRPr>
          </a:p>
          <a:p>
            <a:r>
              <a:rPr lang="en-SG" dirty="0"/>
              <a:t>Suspending a task.</a:t>
            </a:r>
          </a:p>
          <a:p>
            <a:pPr marL="671512" lvl="2" indent="0">
              <a:buNone/>
            </a:pPr>
            <a:r>
              <a:rPr lang="en-SG" dirty="0" err="1"/>
              <a:t>vTaskSuspend</a:t>
            </a:r>
            <a:r>
              <a:rPr lang="en-SG" dirty="0"/>
              <a:t>(</a:t>
            </a:r>
            <a:r>
              <a:rPr lang="en-SG" dirty="0" err="1"/>
              <a:t>taskhandle</a:t>
            </a:r>
            <a:r>
              <a:rPr lang="en-SG" dirty="0"/>
              <a:t>):</a:t>
            </a:r>
          </a:p>
          <a:p>
            <a:pPr lvl="2"/>
            <a:r>
              <a:rPr lang="en-SG" dirty="0" err="1"/>
              <a:t>taskhandle</a:t>
            </a:r>
            <a:r>
              <a:rPr lang="en-SG" dirty="0"/>
              <a:t> – Handle of task to suspend. Passing NULL will cause the caller to be suspended.</a:t>
            </a:r>
          </a:p>
          <a:p>
            <a:pPr lvl="2"/>
            <a:r>
              <a:rPr lang="en-SG" dirty="0"/>
              <a:t>Remains suspended until another task wakes it using </a:t>
            </a:r>
            <a:r>
              <a:rPr lang="en-SG" dirty="0" err="1"/>
              <a:t>vTaskResume</a:t>
            </a:r>
            <a:r>
              <a:rPr lang="en-SG" dirty="0"/>
              <a:t>.</a:t>
            </a:r>
          </a:p>
          <a:p>
            <a:pPr marL="671512" lvl="2" indent="0">
              <a:buNone/>
            </a:pPr>
            <a:endParaRPr lang="en-SG" dirty="0"/>
          </a:p>
        </p:txBody>
      </p:sp>
      <p:sp>
        <p:nvSpPr>
          <p:cNvPr id="4" name="Slide Number Placeholder 3">
            <a:extLst>
              <a:ext uri="{FF2B5EF4-FFF2-40B4-BE49-F238E27FC236}">
                <a16:creationId xmlns:a16="http://schemas.microsoft.com/office/drawing/2014/main" id="{A37F64AB-6C0D-730B-66A2-372C009BE022}"/>
              </a:ext>
            </a:extLst>
          </p:cNvPr>
          <p:cNvSpPr>
            <a:spLocks noGrp="1"/>
          </p:cNvSpPr>
          <p:nvPr>
            <p:ph type="sldNum" sz="quarter" idx="10"/>
          </p:nvPr>
        </p:nvSpPr>
        <p:spPr/>
        <p:txBody>
          <a:bodyPr/>
          <a:lstStyle/>
          <a:p>
            <a:fld id="{E4B16682-6FB4-4344-B037-3C8A3CEB850D}" type="slidenum">
              <a:rPr lang="en-US" altLang="en-US" smtClean="0"/>
              <a:pPr/>
              <a:t>26</a:t>
            </a:fld>
            <a:endParaRPr lang="en-US" altLang="en-US"/>
          </a:p>
        </p:txBody>
      </p:sp>
      <p:sp>
        <p:nvSpPr>
          <p:cNvPr id="5" name="Footer Placeholder 4">
            <a:extLst>
              <a:ext uri="{FF2B5EF4-FFF2-40B4-BE49-F238E27FC236}">
                <a16:creationId xmlns:a16="http://schemas.microsoft.com/office/drawing/2014/main" id="{4DD74FF2-09BB-4444-CA5C-7770592B622E}"/>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13589660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529D9-F2AF-1900-72E2-95DD6281F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94FA4E-4AD9-065B-F402-7B39BD00D9DB}"/>
              </a:ext>
            </a:extLst>
          </p:cNvPr>
          <p:cNvSpPr>
            <a:spLocks noGrp="1"/>
          </p:cNvSpPr>
          <p:nvPr>
            <p:ph type="title"/>
          </p:nvPr>
        </p:nvSpPr>
        <p:spPr/>
        <p:txBody>
          <a:bodyPr/>
          <a:lstStyle/>
          <a:p>
            <a:r>
              <a:rPr lang="en-GB" dirty="0"/>
              <a:t>4. The </a:t>
            </a:r>
            <a:r>
              <a:rPr lang="en-GB" dirty="0" err="1"/>
              <a:t>FreeRTOS</a:t>
            </a:r>
            <a:r>
              <a:rPr lang="en-GB" dirty="0"/>
              <a:t> Interface</a:t>
            </a:r>
            <a:endParaRPr lang="en-SG" dirty="0"/>
          </a:p>
        </p:txBody>
      </p:sp>
      <p:sp>
        <p:nvSpPr>
          <p:cNvPr id="3" name="Content Placeholder 2">
            <a:extLst>
              <a:ext uri="{FF2B5EF4-FFF2-40B4-BE49-F238E27FC236}">
                <a16:creationId xmlns:a16="http://schemas.microsoft.com/office/drawing/2014/main" id="{C64E5933-C99E-B4DB-43AA-AA8735A0825D}"/>
              </a:ext>
            </a:extLst>
          </p:cNvPr>
          <p:cNvSpPr>
            <a:spLocks noGrp="1"/>
          </p:cNvSpPr>
          <p:nvPr>
            <p:ph idx="1"/>
          </p:nvPr>
        </p:nvSpPr>
        <p:spPr/>
        <p:txBody>
          <a:bodyPr/>
          <a:lstStyle/>
          <a:p>
            <a:r>
              <a:rPr lang="en-SG" dirty="0"/>
              <a:t>Resuming a Task</a:t>
            </a:r>
          </a:p>
          <a:p>
            <a:pPr marL="671512" lvl="2" indent="0">
              <a:buNone/>
            </a:pPr>
            <a:r>
              <a:rPr lang="en-SG" dirty="0" err="1"/>
              <a:t>vTaskResume</a:t>
            </a:r>
            <a:r>
              <a:rPr lang="en-SG" dirty="0"/>
              <a:t>(handle)</a:t>
            </a:r>
          </a:p>
          <a:p>
            <a:pPr lvl="2"/>
            <a:r>
              <a:rPr lang="en-SG" sz="2000" dirty="0">
                <a:latin typeface="Aptos" panose="020B0004020202020204" pitchFamily="34" charset="0"/>
                <a:cs typeface="Courier New" panose="02070309020205020404" pitchFamily="49" charset="0"/>
              </a:rPr>
              <a:t>handle : Handle of task to resume, of type </a:t>
            </a:r>
            <a:r>
              <a:rPr lang="en-SG" sz="2000" dirty="0" err="1">
                <a:latin typeface="Aptos" panose="020B0004020202020204" pitchFamily="34" charset="0"/>
                <a:cs typeface="Courier New" panose="02070309020205020404" pitchFamily="49" charset="0"/>
              </a:rPr>
              <a:t>TaskHandle_t</a:t>
            </a:r>
            <a:r>
              <a:rPr lang="en-SG" sz="2000" dirty="0">
                <a:latin typeface="Aptos" panose="020B0004020202020204" pitchFamily="34" charset="0"/>
                <a:cs typeface="Courier New" panose="02070309020205020404" pitchFamily="49" charset="0"/>
              </a:rPr>
              <a:t> (see </a:t>
            </a:r>
            <a:r>
              <a:rPr lang="en-SG" sz="2000" dirty="0" err="1">
                <a:latin typeface="Aptos" panose="020B0004020202020204" pitchFamily="34" charset="0"/>
                <a:cs typeface="Courier New" panose="02070309020205020404" pitchFamily="49" charset="0"/>
              </a:rPr>
              <a:t>xTaskCreate</a:t>
            </a:r>
            <a:r>
              <a:rPr lang="en-SG" sz="2000" dirty="0">
                <a:latin typeface="Aptos" panose="020B0004020202020204" pitchFamily="34" charset="0"/>
                <a:cs typeface="Courier New" panose="02070309020205020404" pitchFamily="49" charset="0"/>
              </a:rPr>
              <a:t>).</a:t>
            </a:r>
          </a:p>
          <a:p>
            <a:pPr lvl="2"/>
            <a:r>
              <a:rPr lang="en-SG" sz="2000" dirty="0">
                <a:latin typeface="Aptos" panose="020B0004020202020204" pitchFamily="34" charset="0"/>
                <a:cs typeface="Courier New" panose="02070309020205020404" pitchFamily="49" charset="0"/>
              </a:rPr>
              <a:t>Cannot be NULL.</a:t>
            </a:r>
          </a:p>
          <a:p>
            <a:pPr marL="671512" lvl="2" indent="0">
              <a:buNone/>
            </a:pPr>
            <a:endParaRPr lang="en-SG" sz="2000" dirty="0">
              <a:latin typeface="Courier New" panose="02070309020205020404" pitchFamily="49" charset="0"/>
              <a:cs typeface="Courier New" panose="02070309020205020404" pitchFamily="49" charset="0"/>
            </a:endParaRPr>
          </a:p>
          <a:p>
            <a:r>
              <a:rPr lang="en-SG" dirty="0"/>
              <a:t>Creating a Binary Semaphore</a:t>
            </a:r>
          </a:p>
          <a:p>
            <a:pPr marL="671512" lvl="2" indent="0">
              <a:buNone/>
            </a:pPr>
            <a:r>
              <a:rPr lang="en-SG" dirty="0" err="1"/>
              <a:t>xSemaphoreCreateBinary</a:t>
            </a:r>
            <a:r>
              <a:rPr lang="en-SG" dirty="0"/>
              <a:t>()</a:t>
            </a:r>
          </a:p>
          <a:p>
            <a:pPr lvl="2"/>
            <a:r>
              <a:rPr lang="en-SG" dirty="0"/>
              <a:t>Creates a new binary semaphore with starting value of 0.</a:t>
            </a:r>
          </a:p>
          <a:p>
            <a:pPr lvl="2"/>
            <a:r>
              <a:rPr lang="en-SG" dirty="0"/>
              <a:t>Example:</a:t>
            </a:r>
          </a:p>
          <a:p>
            <a:pPr marL="671512" lvl="2" indent="0">
              <a:buNone/>
            </a:pPr>
            <a:endParaRPr lang="en-SG" dirty="0"/>
          </a:p>
          <a:p>
            <a:pPr marL="671512" lvl="2" indent="0">
              <a:buNone/>
            </a:pPr>
            <a:r>
              <a:rPr lang="en-SG" sz="2000" dirty="0" err="1">
                <a:latin typeface="Courier New" panose="02070309020205020404" pitchFamily="49" charset="0"/>
                <a:cs typeface="Courier New" panose="02070309020205020404" pitchFamily="49" charset="0"/>
              </a:rPr>
              <a:t>SemahporeHandle_t</a:t>
            </a:r>
            <a:r>
              <a:rPr lang="en-SG" sz="2000" dirty="0">
                <a:latin typeface="Courier New" panose="02070309020205020404" pitchFamily="49" charset="0"/>
                <a:cs typeface="Courier New" panose="02070309020205020404" pitchFamily="49" charset="0"/>
              </a:rPr>
              <a:t> </a:t>
            </a:r>
            <a:r>
              <a:rPr lang="en-SG" sz="2000" dirty="0" err="1">
                <a:latin typeface="Courier New" panose="02070309020205020404" pitchFamily="49" charset="0"/>
                <a:cs typeface="Courier New" panose="02070309020205020404" pitchFamily="49" charset="0"/>
              </a:rPr>
              <a:t>sema</a:t>
            </a:r>
            <a:r>
              <a:rPr lang="en-SG" sz="2000" dirty="0">
                <a:latin typeface="Courier New" panose="02070309020205020404" pitchFamily="49" charset="0"/>
                <a:cs typeface="Courier New" panose="02070309020205020404" pitchFamily="49" charset="0"/>
              </a:rPr>
              <a:t>;</a:t>
            </a:r>
          </a:p>
          <a:p>
            <a:pPr marL="671512" lvl="2" indent="0">
              <a:buNone/>
            </a:pPr>
            <a:r>
              <a:rPr lang="en-SG" sz="2000" dirty="0" err="1">
                <a:latin typeface="Courier New" panose="02070309020205020404" pitchFamily="49" charset="0"/>
                <a:cs typeface="Courier New" panose="02070309020205020404" pitchFamily="49" charset="0"/>
              </a:rPr>
              <a:t>sema</a:t>
            </a:r>
            <a:r>
              <a:rPr lang="en-SG" sz="2000" dirty="0">
                <a:latin typeface="Courier New" panose="02070309020205020404" pitchFamily="49" charset="0"/>
                <a:cs typeface="Courier New" panose="02070309020205020404" pitchFamily="49" charset="0"/>
              </a:rPr>
              <a:t> = </a:t>
            </a:r>
            <a:r>
              <a:rPr lang="en-SG" sz="2000" dirty="0" err="1">
                <a:latin typeface="Courier New" panose="02070309020205020404" pitchFamily="49" charset="0"/>
                <a:cs typeface="Courier New" panose="02070309020205020404" pitchFamily="49" charset="0"/>
              </a:rPr>
              <a:t>xSemaphoreCreateBinary</a:t>
            </a:r>
            <a:r>
              <a:rPr lang="en-SG" sz="2000" dirty="0">
                <a:latin typeface="Courier New" panose="02070309020205020404" pitchFamily="49" charset="0"/>
                <a:cs typeface="Courier New" panose="02070309020205020404" pitchFamily="49" charset="0"/>
              </a:rPr>
              <a:t>();</a:t>
            </a:r>
          </a:p>
          <a:p>
            <a:pPr marL="671512" lvl="2" indent="0">
              <a:buNone/>
            </a:pPr>
            <a:endParaRPr lang="en-SG" dirty="0"/>
          </a:p>
        </p:txBody>
      </p:sp>
      <p:sp>
        <p:nvSpPr>
          <p:cNvPr id="4" name="Slide Number Placeholder 3">
            <a:extLst>
              <a:ext uri="{FF2B5EF4-FFF2-40B4-BE49-F238E27FC236}">
                <a16:creationId xmlns:a16="http://schemas.microsoft.com/office/drawing/2014/main" id="{5EFD8893-9057-5F65-7FCC-6C35B6E72EF2}"/>
              </a:ext>
            </a:extLst>
          </p:cNvPr>
          <p:cNvSpPr>
            <a:spLocks noGrp="1"/>
          </p:cNvSpPr>
          <p:nvPr>
            <p:ph type="sldNum" sz="quarter" idx="10"/>
          </p:nvPr>
        </p:nvSpPr>
        <p:spPr/>
        <p:txBody>
          <a:bodyPr/>
          <a:lstStyle/>
          <a:p>
            <a:fld id="{E4B16682-6FB4-4344-B037-3C8A3CEB850D}" type="slidenum">
              <a:rPr lang="en-US" altLang="en-US" smtClean="0"/>
              <a:pPr/>
              <a:t>27</a:t>
            </a:fld>
            <a:endParaRPr lang="en-US" altLang="en-US"/>
          </a:p>
        </p:txBody>
      </p:sp>
      <p:sp>
        <p:nvSpPr>
          <p:cNvPr id="5" name="Footer Placeholder 4">
            <a:extLst>
              <a:ext uri="{FF2B5EF4-FFF2-40B4-BE49-F238E27FC236}">
                <a16:creationId xmlns:a16="http://schemas.microsoft.com/office/drawing/2014/main" id="{62FE7D1A-AC24-7A19-BECE-FE11FA179424}"/>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26611273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D5133-2330-9B63-12FA-1085197A6B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02949B-96B0-63E2-AF00-EC3CDCCB2D49}"/>
              </a:ext>
            </a:extLst>
          </p:cNvPr>
          <p:cNvSpPr>
            <a:spLocks noGrp="1"/>
          </p:cNvSpPr>
          <p:nvPr>
            <p:ph type="title"/>
          </p:nvPr>
        </p:nvSpPr>
        <p:spPr/>
        <p:txBody>
          <a:bodyPr/>
          <a:lstStyle/>
          <a:p>
            <a:r>
              <a:rPr lang="en-GB" dirty="0"/>
              <a:t>4. The </a:t>
            </a:r>
            <a:r>
              <a:rPr lang="en-GB" dirty="0" err="1"/>
              <a:t>FreeRTOS</a:t>
            </a:r>
            <a:r>
              <a:rPr lang="en-GB" dirty="0"/>
              <a:t> Interface</a:t>
            </a:r>
            <a:endParaRPr lang="en-SG" dirty="0"/>
          </a:p>
        </p:txBody>
      </p:sp>
      <p:sp>
        <p:nvSpPr>
          <p:cNvPr id="3" name="Content Placeholder 2">
            <a:extLst>
              <a:ext uri="{FF2B5EF4-FFF2-40B4-BE49-F238E27FC236}">
                <a16:creationId xmlns:a16="http://schemas.microsoft.com/office/drawing/2014/main" id="{9A7A6164-EC21-51AE-4471-95FDB6084679}"/>
              </a:ext>
            </a:extLst>
          </p:cNvPr>
          <p:cNvSpPr>
            <a:spLocks noGrp="1"/>
          </p:cNvSpPr>
          <p:nvPr>
            <p:ph idx="1"/>
          </p:nvPr>
        </p:nvSpPr>
        <p:spPr/>
        <p:txBody>
          <a:bodyPr/>
          <a:lstStyle/>
          <a:p>
            <a:r>
              <a:rPr lang="en-SG" dirty="0"/>
              <a:t>Creating a Mutex</a:t>
            </a:r>
          </a:p>
          <a:p>
            <a:pPr marL="671512" lvl="2" indent="0">
              <a:buNone/>
            </a:pPr>
            <a:r>
              <a:rPr lang="en-SG" dirty="0" err="1"/>
              <a:t>xSemaphoreCreateMutex</a:t>
            </a:r>
            <a:r>
              <a:rPr lang="en-SG" dirty="0"/>
              <a:t>()</a:t>
            </a:r>
          </a:p>
          <a:p>
            <a:pPr lvl="2"/>
            <a:r>
              <a:rPr lang="en-SG" dirty="0"/>
              <a:t>Creates a new binary semaphore with starting value of 1 instead of 0.</a:t>
            </a:r>
          </a:p>
          <a:p>
            <a:pPr lvl="2"/>
            <a:r>
              <a:rPr lang="en-SG" dirty="0"/>
              <a:t>Used for mutual exclusions. See Lab 6 for example.</a:t>
            </a:r>
          </a:p>
          <a:p>
            <a:r>
              <a:rPr lang="en-SG" dirty="0"/>
              <a:t>Creating a Counting Semaphore</a:t>
            </a:r>
          </a:p>
          <a:p>
            <a:pPr marL="671512" lvl="2" indent="0">
              <a:buNone/>
            </a:pPr>
            <a:r>
              <a:rPr lang="en-SG" dirty="0" err="1"/>
              <a:t>xSemaphoreCreateCounting</a:t>
            </a:r>
            <a:r>
              <a:rPr lang="en-SG" dirty="0"/>
              <a:t>(max, </a:t>
            </a:r>
            <a:r>
              <a:rPr lang="en-SG" dirty="0" err="1"/>
              <a:t>init</a:t>
            </a:r>
            <a:r>
              <a:rPr lang="en-SG" dirty="0"/>
              <a:t>)</a:t>
            </a:r>
          </a:p>
          <a:p>
            <a:pPr lvl="2"/>
            <a:r>
              <a:rPr lang="en-SG" dirty="0"/>
              <a:t>A counting semaphore can hold any non-negative value, not just 0 and 1.</a:t>
            </a:r>
          </a:p>
          <a:p>
            <a:pPr lvl="2"/>
            <a:r>
              <a:rPr lang="en-SG" dirty="0"/>
              <a:t>max: Maximum value the semaphore can hold.</a:t>
            </a:r>
          </a:p>
          <a:p>
            <a:pPr lvl="2"/>
            <a:r>
              <a:rPr lang="en-SG" dirty="0" err="1"/>
              <a:t>init</a:t>
            </a:r>
            <a:r>
              <a:rPr lang="en-SG" dirty="0"/>
              <a:t>: Starting value.</a:t>
            </a:r>
          </a:p>
          <a:p>
            <a:pPr marL="671512" lvl="2" indent="0">
              <a:buNone/>
            </a:pPr>
            <a:endParaRPr lang="en-SG" dirty="0"/>
          </a:p>
          <a:p>
            <a:pPr marL="671512" lvl="2" indent="0">
              <a:buNone/>
            </a:pPr>
            <a:r>
              <a:rPr lang="en-SG" sz="2000" dirty="0">
                <a:latin typeface="Courier New" panose="02070309020205020404" pitchFamily="49" charset="0"/>
                <a:cs typeface="Courier New" panose="02070309020205020404" pitchFamily="49" charset="0"/>
              </a:rPr>
              <a:t>// Maximum value of 100, initial value of 0.</a:t>
            </a:r>
          </a:p>
          <a:p>
            <a:pPr marL="671512" lvl="2" indent="0">
              <a:buNone/>
            </a:pPr>
            <a:r>
              <a:rPr lang="en-SG" sz="2000" dirty="0" err="1">
                <a:latin typeface="Courier New" panose="02070309020205020404" pitchFamily="49" charset="0"/>
                <a:cs typeface="Courier New" panose="02070309020205020404" pitchFamily="49" charset="0"/>
              </a:rPr>
              <a:t>sema</a:t>
            </a:r>
            <a:r>
              <a:rPr lang="en-SG" sz="2000" dirty="0">
                <a:latin typeface="Courier New" panose="02070309020205020404" pitchFamily="49" charset="0"/>
                <a:cs typeface="Courier New" panose="02070309020205020404" pitchFamily="49" charset="0"/>
              </a:rPr>
              <a:t> = </a:t>
            </a:r>
            <a:r>
              <a:rPr lang="en-SG" sz="2000" dirty="0" err="1">
                <a:latin typeface="Courier New" panose="02070309020205020404" pitchFamily="49" charset="0"/>
                <a:cs typeface="Courier New" panose="02070309020205020404" pitchFamily="49" charset="0"/>
              </a:rPr>
              <a:t>xSemaphoreCreateCounting</a:t>
            </a:r>
            <a:r>
              <a:rPr lang="en-SG" sz="2000" dirty="0">
                <a:latin typeface="Courier New" panose="02070309020205020404" pitchFamily="49" charset="0"/>
                <a:cs typeface="Courier New" panose="02070309020205020404" pitchFamily="49" charset="0"/>
              </a:rPr>
              <a:t>(100, 0); </a:t>
            </a:r>
          </a:p>
          <a:p>
            <a:pPr marL="671512" lvl="2" indent="0">
              <a:buNone/>
            </a:pPr>
            <a:endParaRPr lang="en-SG" dirty="0"/>
          </a:p>
          <a:p>
            <a:pPr marL="671512" lvl="2" indent="0">
              <a:buNone/>
            </a:pPr>
            <a:endParaRPr lang="en-SG" sz="2000" dirty="0">
              <a:latin typeface="Courier New" panose="02070309020205020404" pitchFamily="49" charset="0"/>
              <a:cs typeface="Courier New" panose="02070309020205020404" pitchFamily="49" charset="0"/>
            </a:endParaRPr>
          </a:p>
          <a:p>
            <a:pPr marL="671512" lvl="2" indent="0">
              <a:buNone/>
            </a:pPr>
            <a:endParaRPr lang="en-SG" dirty="0"/>
          </a:p>
        </p:txBody>
      </p:sp>
      <p:sp>
        <p:nvSpPr>
          <p:cNvPr id="4" name="Slide Number Placeholder 3">
            <a:extLst>
              <a:ext uri="{FF2B5EF4-FFF2-40B4-BE49-F238E27FC236}">
                <a16:creationId xmlns:a16="http://schemas.microsoft.com/office/drawing/2014/main" id="{FC998DFF-A614-F616-F843-212B57C37BBD}"/>
              </a:ext>
            </a:extLst>
          </p:cNvPr>
          <p:cNvSpPr>
            <a:spLocks noGrp="1"/>
          </p:cNvSpPr>
          <p:nvPr>
            <p:ph type="sldNum" sz="quarter" idx="10"/>
          </p:nvPr>
        </p:nvSpPr>
        <p:spPr/>
        <p:txBody>
          <a:bodyPr/>
          <a:lstStyle/>
          <a:p>
            <a:fld id="{E4B16682-6FB4-4344-B037-3C8A3CEB850D}" type="slidenum">
              <a:rPr lang="en-US" altLang="en-US" smtClean="0"/>
              <a:pPr/>
              <a:t>28</a:t>
            </a:fld>
            <a:endParaRPr lang="en-US" altLang="en-US"/>
          </a:p>
        </p:txBody>
      </p:sp>
      <p:sp>
        <p:nvSpPr>
          <p:cNvPr id="5" name="Footer Placeholder 4">
            <a:extLst>
              <a:ext uri="{FF2B5EF4-FFF2-40B4-BE49-F238E27FC236}">
                <a16:creationId xmlns:a16="http://schemas.microsoft.com/office/drawing/2014/main" id="{8F58DAAB-A5FB-49F1-1D71-B9BF86C5409D}"/>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5710487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858B9-1C62-917D-0962-F62CE287B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52918-9BAA-BDED-8D61-F8611B2C32D1}"/>
              </a:ext>
            </a:extLst>
          </p:cNvPr>
          <p:cNvSpPr>
            <a:spLocks noGrp="1"/>
          </p:cNvSpPr>
          <p:nvPr>
            <p:ph type="title"/>
          </p:nvPr>
        </p:nvSpPr>
        <p:spPr/>
        <p:txBody>
          <a:bodyPr/>
          <a:lstStyle/>
          <a:p>
            <a:r>
              <a:rPr lang="en-GB" dirty="0"/>
              <a:t>4. The </a:t>
            </a:r>
            <a:r>
              <a:rPr lang="en-GB" dirty="0" err="1"/>
              <a:t>FreeRTOS</a:t>
            </a:r>
            <a:r>
              <a:rPr lang="en-GB" dirty="0"/>
              <a:t> Interface</a:t>
            </a:r>
            <a:endParaRPr lang="en-SG"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C382748-3B6F-0F2F-E80E-C641B07B0C9D}"/>
                  </a:ext>
                </a:extLst>
              </p:cNvPr>
              <p:cNvSpPr>
                <a:spLocks noGrp="1"/>
              </p:cNvSpPr>
              <p:nvPr>
                <p:ph idx="1"/>
              </p:nvPr>
            </p:nvSpPr>
            <p:spPr/>
            <p:txBody>
              <a:bodyPr/>
              <a:lstStyle/>
              <a:p>
                <a:r>
                  <a:rPr lang="en-SG" dirty="0"/>
                  <a:t>Taking a Semaphore</a:t>
                </a:r>
              </a:p>
              <a:p>
                <a:pPr marL="671512" lvl="2" indent="0">
                  <a:buNone/>
                </a:pPr>
                <a:r>
                  <a:rPr lang="en-SG" dirty="0" err="1"/>
                  <a:t>xSemaphoreTake</a:t>
                </a:r>
                <a:r>
                  <a:rPr lang="en-SG" dirty="0"/>
                  <a:t>(</a:t>
                </a:r>
                <a:r>
                  <a:rPr lang="en-SG" dirty="0" err="1"/>
                  <a:t>sema</a:t>
                </a:r>
                <a:r>
                  <a:rPr lang="en-SG" dirty="0"/>
                  <a:t>, timeout)</a:t>
                </a:r>
              </a:p>
              <a:p>
                <a:pPr lvl="2"/>
                <a:r>
                  <a:rPr lang="en-SG" sz="2000" dirty="0" err="1">
                    <a:latin typeface="Aptos" panose="020B0004020202020204" pitchFamily="34" charset="0"/>
                    <a:cs typeface="Courier New" panose="02070309020205020404" pitchFamily="49" charset="0"/>
                  </a:rPr>
                  <a:t>sema</a:t>
                </a:r>
                <a:r>
                  <a:rPr lang="en-SG" sz="2000" dirty="0">
                    <a:latin typeface="Aptos" panose="020B0004020202020204" pitchFamily="34" charset="0"/>
                    <a:cs typeface="Courier New" panose="02070309020205020404" pitchFamily="49" charset="0"/>
                  </a:rPr>
                  <a:t>: </a:t>
                </a:r>
                <a:r>
                  <a:rPr lang="en-SG" sz="2000" dirty="0" err="1">
                    <a:latin typeface="Aptos" panose="020B0004020202020204" pitchFamily="34" charset="0"/>
                    <a:cs typeface="Courier New" panose="02070309020205020404" pitchFamily="49" charset="0"/>
                  </a:rPr>
                  <a:t>Semahpore</a:t>
                </a:r>
                <a:r>
                  <a:rPr lang="en-SG" sz="2000" dirty="0">
                    <a:latin typeface="Aptos" panose="020B0004020202020204" pitchFamily="34" charset="0"/>
                    <a:cs typeface="Courier New" panose="02070309020205020404" pitchFamily="49" charset="0"/>
                  </a:rPr>
                  <a:t> to take. Blocks if </a:t>
                </a:r>
                <a:r>
                  <a:rPr lang="en-SG" sz="2000" dirty="0" err="1">
                    <a:latin typeface="Aptos" panose="020B0004020202020204" pitchFamily="34" charset="0"/>
                    <a:cs typeface="Courier New" panose="02070309020205020404" pitchFamily="49" charset="0"/>
                  </a:rPr>
                  <a:t>sema</a:t>
                </a:r>
                <a:r>
                  <a:rPr lang="en-SG" sz="2000" dirty="0">
                    <a:latin typeface="Aptos" panose="020B0004020202020204" pitchFamily="34" charset="0"/>
                    <a:cs typeface="Courier New" panose="02070309020205020404" pitchFamily="49" charset="0"/>
                  </a:rPr>
                  <a:t> is 0.</a:t>
                </a:r>
              </a:p>
              <a:p>
                <a:pPr lvl="2"/>
                <a:r>
                  <a:rPr lang="en-SG" sz="2000" dirty="0">
                    <a:latin typeface="Aptos" panose="020B0004020202020204" pitchFamily="34" charset="0"/>
                    <a:cs typeface="Courier New" panose="02070309020205020404" pitchFamily="49" charset="0"/>
                  </a:rPr>
                  <a:t>timeout: Block for up to “timeout” ticks before exiting. </a:t>
                </a:r>
              </a:p>
              <a:p>
                <a:pPr lvl="3"/>
                <a:r>
                  <a:rPr lang="en-SG" sz="1800" dirty="0">
                    <a:latin typeface="Aptos" panose="020B0004020202020204" pitchFamily="34" charset="0"/>
                    <a:cs typeface="Courier New" panose="02070309020205020404" pitchFamily="49" charset="0"/>
                  </a:rPr>
                  <a:t>Specify </a:t>
                </a:r>
                <a:r>
                  <a:rPr lang="en-SG" sz="1800" dirty="0" err="1">
                    <a:latin typeface="Aptos" panose="020B0004020202020204" pitchFamily="34" charset="0"/>
                    <a:cs typeface="Courier New" panose="02070309020205020404" pitchFamily="49" charset="0"/>
                  </a:rPr>
                  <a:t>portMAX_DELAY</a:t>
                </a:r>
                <a:r>
                  <a:rPr lang="en-SG" sz="1800" dirty="0">
                    <a:latin typeface="Aptos" panose="020B0004020202020204" pitchFamily="34" charset="0"/>
                    <a:cs typeface="Courier New" panose="02070309020205020404" pitchFamily="49" charset="0"/>
                  </a:rPr>
                  <a:t> for maximum timeout (</a:t>
                </a:r>
                <a14:m>
                  <m:oMath xmlns:m="http://schemas.openxmlformats.org/officeDocument/2006/math">
                    <m:sSup>
                      <m:sSupPr>
                        <m:ctrlPr>
                          <a:rPr lang="en-SG" sz="1800" b="0" i="1" smtClean="0">
                            <a:latin typeface="Cambria Math" panose="02040503050406030204" pitchFamily="18" charset="0"/>
                            <a:cs typeface="Courier New" panose="02070309020205020404" pitchFamily="49" charset="0"/>
                          </a:rPr>
                        </m:ctrlPr>
                      </m:sSupPr>
                      <m:e>
                        <m:r>
                          <a:rPr lang="en-SG" sz="1800" b="0" i="1" smtClean="0">
                            <a:latin typeface="Cambria Math" panose="02040503050406030204" pitchFamily="18" charset="0"/>
                            <a:cs typeface="Courier New" panose="02070309020205020404" pitchFamily="49" charset="0"/>
                          </a:rPr>
                          <m:t>2</m:t>
                        </m:r>
                      </m:e>
                      <m:sup>
                        <m:r>
                          <a:rPr lang="en-SG" sz="1800" b="0" i="1" smtClean="0">
                            <a:latin typeface="Cambria Math" panose="02040503050406030204" pitchFamily="18" charset="0"/>
                            <a:cs typeface="Courier New" panose="02070309020205020404" pitchFamily="49" charset="0"/>
                          </a:rPr>
                          <m:t>32</m:t>
                        </m:r>
                      </m:sup>
                    </m:sSup>
                    <m:r>
                      <a:rPr lang="en-SG" sz="1800" b="0" i="1" smtClean="0">
                        <a:latin typeface="Cambria Math" panose="02040503050406030204" pitchFamily="18" charset="0"/>
                        <a:cs typeface="Courier New" panose="02070309020205020404" pitchFamily="49" charset="0"/>
                      </a:rPr>
                      <m:t>−1</m:t>
                    </m:r>
                  </m:oMath>
                </a14:m>
                <a:r>
                  <a:rPr lang="en-SG" sz="1800" dirty="0">
                    <a:latin typeface="Aptos" panose="020B0004020202020204" pitchFamily="34" charset="0"/>
                    <a:cs typeface="Courier New" panose="02070309020205020404" pitchFamily="49" charset="0"/>
                  </a:rPr>
                  <a:t> on the MCXC444).</a:t>
                </a:r>
              </a:p>
              <a:p>
                <a:pPr lvl="2"/>
                <a:r>
                  <a:rPr lang="en-SG" sz="2000" dirty="0">
                    <a:latin typeface="Aptos" panose="020B0004020202020204" pitchFamily="34" charset="0"/>
                    <a:cs typeface="Courier New" panose="02070309020205020404" pitchFamily="49" charset="0"/>
                  </a:rPr>
                  <a:t>Returns </a:t>
                </a:r>
                <a:r>
                  <a:rPr lang="en-SG" sz="2000" dirty="0" err="1">
                    <a:latin typeface="Aptos" panose="020B0004020202020204" pitchFamily="34" charset="0"/>
                    <a:cs typeface="Courier New" panose="02070309020205020404" pitchFamily="49" charset="0"/>
                  </a:rPr>
                  <a:t>pdFALSE</a:t>
                </a:r>
                <a:r>
                  <a:rPr lang="en-SG" sz="2000" dirty="0">
                    <a:latin typeface="Aptos" panose="020B0004020202020204" pitchFamily="34" charset="0"/>
                    <a:cs typeface="Courier New" panose="02070309020205020404" pitchFamily="49" charset="0"/>
                  </a:rPr>
                  <a:t> if the call timed out, or </a:t>
                </a:r>
                <a:r>
                  <a:rPr lang="en-SG" sz="2000" dirty="0" err="1">
                    <a:latin typeface="Aptos" panose="020B0004020202020204" pitchFamily="34" charset="0"/>
                    <a:cs typeface="Courier New" panose="02070309020205020404" pitchFamily="49" charset="0"/>
                  </a:rPr>
                  <a:t>pdTRUE</a:t>
                </a:r>
                <a:r>
                  <a:rPr lang="en-SG" sz="2000" dirty="0">
                    <a:latin typeface="Aptos" panose="020B0004020202020204" pitchFamily="34" charset="0"/>
                    <a:cs typeface="Courier New" panose="02070309020205020404" pitchFamily="49" charset="0"/>
                  </a:rPr>
                  <a:t> if another task called </a:t>
                </a:r>
                <a:r>
                  <a:rPr lang="en-SG" sz="2000" dirty="0" err="1">
                    <a:latin typeface="Aptos" panose="020B0004020202020204" pitchFamily="34" charset="0"/>
                    <a:cs typeface="Courier New" panose="02070309020205020404" pitchFamily="49" charset="0"/>
                  </a:rPr>
                  <a:t>xSemaphoreGive</a:t>
                </a:r>
                <a:r>
                  <a:rPr lang="en-SG" sz="2000" dirty="0">
                    <a:latin typeface="Aptos" panose="020B0004020202020204" pitchFamily="34" charset="0"/>
                    <a:cs typeface="Courier New" panose="02070309020205020404" pitchFamily="49" charset="0"/>
                  </a:rPr>
                  <a:t> to unblock this task.</a:t>
                </a:r>
              </a:p>
              <a:p>
                <a:pPr marL="671512" lvl="2" indent="0">
                  <a:buNone/>
                </a:pPr>
                <a:endParaRPr lang="en-SG" sz="2000" dirty="0">
                  <a:latin typeface="Courier New" panose="02070309020205020404" pitchFamily="49" charset="0"/>
                  <a:cs typeface="Courier New" panose="02070309020205020404" pitchFamily="49" charset="0"/>
                </a:endParaRPr>
              </a:p>
              <a:p>
                <a:pPr marL="671512" lvl="2" indent="0">
                  <a:buNone/>
                </a:pPr>
                <a:r>
                  <a:rPr lang="en-SG" sz="2000" dirty="0" err="1">
                    <a:latin typeface="Courier New" panose="02070309020205020404" pitchFamily="49" charset="0"/>
                    <a:cs typeface="Courier New" panose="02070309020205020404" pitchFamily="49" charset="0"/>
                  </a:rPr>
                  <a:t>SemaphoreHandle_t</a:t>
                </a:r>
                <a:r>
                  <a:rPr lang="en-SG" sz="2000" dirty="0">
                    <a:latin typeface="Courier New" panose="02070309020205020404" pitchFamily="49" charset="0"/>
                    <a:cs typeface="Courier New" panose="02070309020205020404" pitchFamily="49" charset="0"/>
                  </a:rPr>
                  <a:t> </a:t>
                </a:r>
                <a:r>
                  <a:rPr lang="en-SG" sz="2000" dirty="0" err="1">
                    <a:latin typeface="Courier New" panose="02070309020205020404" pitchFamily="49" charset="0"/>
                    <a:cs typeface="Courier New" panose="02070309020205020404" pitchFamily="49" charset="0"/>
                  </a:rPr>
                  <a:t>sema</a:t>
                </a:r>
                <a:r>
                  <a:rPr lang="en-SG" sz="2000" dirty="0">
                    <a:latin typeface="Courier New" panose="02070309020205020404" pitchFamily="49" charset="0"/>
                    <a:cs typeface="Courier New" panose="02070309020205020404" pitchFamily="49" charset="0"/>
                  </a:rPr>
                  <a:t>;</a:t>
                </a:r>
              </a:p>
              <a:p>
                <a:pPr marL="671512" lvl="2" indent="0">
                  <a:buNone/>
                </a:pPr>
                <a:r>
                  <a:rPr lang="en-SG" sz="2000" dirty="0">
                    <a:latin typeface="Courier New" panose="02070309020205020404" pitchFamily="49" charset="0"/>
                    <a:cs typeface="Courier New" panose="02070309020205020404" pitchFamily="49" charset="0"/>
                  </a:rPr>
                  <a:t>…</a:t>
                </a:r>
              </a:p>
              <a:p>
                <a:pPr marL="671512" lvl="2" indent="0">
                  <a:buNone/>
                </a:pPr>
                <a:r>
                  <a:rPr lang="en-SG" sz="2000" dirty="0">
                    <a:latin typeface="Courier New" panose="02070309020205020404" pitchFamily="49" charset="0"/>
                    <a:cs typeface="Courier New" panose="02070309020205020404" pitchFamily="49" charset="0"/>
                  </a:rPr>
                  <a:t>if(</a:t>
                </a:r>
                <a:r>
                  <a:rPr lang="en-SG" sz="2000" dirty="0" err="1">
                    <a:latin typeface="Courier New" panose="02070309020205020404" pitchFamily="49" charset="0"/>
                    <a:cs typeface="Courier New" panose="02070309020205020404" pitchFamily="49" charset="0"/>
                  </a:rPr>
                  <a:t>xSemaphoreTake</a:t>
                </a:r>
                <a:r>
                  <a:rPr lang="en-SG" sz="2000" dirty="0">
                    <a:latin typeface="Courier New" panose="02070309020205020404" pitchFamily="49" charset="0"/>
                    <a:cs typeface="Courier New" panose="02070309020205020404" pitchFamily="49" charset="0"/>
                  </a:rPr>
                  <a:t>(</a:t>
                </a:r>
                <a:r>
                  <a:rPr lang="en-SG" sz="2000" dirty="0" err="1">
                    <a:latin typeface="Courier New" panose="02070309020205020404" pitchFamily="49" charset="0"/>
                    <a:cs typeface="Courier New" panose="02070309020205020404" pitchFamily="49" charset="0"/>
                  </a:rPr>
                  <a:t>sema</a:t>
                </a:r>
                <a:r>
                  <a:rPr lang="en-SG" sz="2000" dirty="0">
                    <a:latin typeface="Courier New" panose="02070309020205020404" pitchFamily="49" charset="0"/>
                    <a:cs typeface="Courier New" panose="02070309020205020404" pitchFamily="49" charset="0"/>
                  </a:rPr>
                  <a:t>, </a:t>
                </a:r>
                <a:r>
                  <a:rPr lang="en-SG" sz="2000" dirty="0" err="1">
                    <a:latin typeface="Courier New" panose="02070309020205020404" pitchFamily="49" charset="0"/>
                    <a:cs typeface="Courier New" panose="02070309020205020404" pitchFamily="49" charset="0"/>
                  </a:rPr>
                  <a:t>portMAX_DELAY</a:t>
                </a:r>
                <a:r>
                  <a:rPr lang="en-SG" sz="2000" dirty="0">
                    <a:latin typeface="Courier New" panose="02070309020205020404" pitchFamily="49" charset="0"/>
                    <a:cs typeface="Courier New" panose="02070309020205020404" pitchFamily="49" charset="0"/>
                  </a:rPr>
                  <a:t>) == </a:t>
                </a:r>
                <a:r>
                  <a:rPr lang="en-SG" sz="2000" dirty="0" err="1">
                    <a:latin typeface="Courier New" panose="02070309020205020404" pitchFamily="49" charset="0"/>
                    <a:cs typeface="Courier New" panose="02070309020205020404" pitchFamily="49" charset="0"/>
                  </a:rPr>
                  <a:t>pdTRUE</a:t>
                </a:r>
                <a:r>
                  <a:rPr lang="en-SG" sz="2000" dirty="0">
                    <a:latin typeface="Courier New" panose="02070309020205020404" pitchFamily="49" charset="0"/>
                    <a:cs typeface="Courier New" panose="02070309020205020404" pitchFamily="49" charset="0"/>
                  </a:rPr>
                  <a:t>) {</a:t>
                </a:r>
              </a:p>
              <a:p>
                <a:pPr marL="671512" lvl="2" indent="0">
                  <a:buNone/>
                </a:pPr>
                <a:r>
                  <a:rPr lang="en-SG" sz="2000" dirty="0">
                    <a:latin typeface="Courier New" panose="02070309020205020404" pitchFamily="49" charset="0"/>
                    <a:cs typeface="Courier New" panose="02070309020205020404" pitchFamily="49" charset="0"/>
                  </a:rPr>
                  <a:t>		// Perform action.</a:t>
                </a:r>
              </a:p>
              <a:p>
                <a:pPr marL="671512" lvl="2" indent="0">
                  <a:buNone/>
                </a:pPr>
                <a:r>
                  <a:rPr lang="en-SG" sz="2000" dirty="0">
                    <a:latin typeface="Courier New" panose="02070309020205020404" pitchFamily="49" charset="0"/>
                    <a:cs typeface="Courier New" panose="02070309020205020404" pitchFamily="49" charset="0"/>
                  </a:rPr>
                  <a:t>}</a:t>
                </a:r>
              </a:p>
            </p:txBody>
          </p:sp>
        </mc:Choice>
        <mc:Fallback>
          <p:sp>
            <p:nvSpPr>
              <p:cNvPr id="3" name="Content Placeholder 2">
                <a:extLst>
                  <a:ext uri="{FF2B5EF4-FFF2-40B4-BE49-F238E27FC236}">
                    <a16:creationId xmlns:a16="http://schemas.microsoft.com/office/drawing/2014/main" id="{7C382748-3B6F-0F2F-E80E-C641B07B0C9D}"/>
                  </a:ext>
                </a:extLst>
              </p:cNvPr>
              <p:cNvSpPr>
                <a:spLocks noGrp="1" noRot="1" noChangeAspect="1" noMove="1" noResize="1" noEditPoints="1" noAdjustHandles="1" noChangeArrowheads="1" noChangeShapeType="1" noTextEdit="1"/>
              </p:cNvSpPr>
              <p:nvPr>
                <p:ph idx="1"/>
              </p:nvPr>
            </p:nvSpPr>
            <p:spPr>
              <a:blipFill>
                <a:blip r:embed="rId2"/>
                <a:stretch>
                  <a:fillRect l="-444" t="-1444"/>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63328131-BA6F-D42D-8E98-7FBFDCC0DEC4}"/>
              </a:ext>
            </a:extLst>
          </p:cNvPr>
          <p:cNvSpPr>
            <a:spLocks noGrp="1"/>
          </p:cNvSpPr>
          <p:nvPr>
            <p:ph type="sldNum" sz="quarter" idx="10"/>
          </p:nvPr>
        </p:nvSpPr>
        <p:spPr/>
        <p:txBody>
          <a:bodyPr/>
          <a:lstStyle/>
          <a:p>
            <a:fld id="{E4B16682-6FB4-4344-B037-3C8A3CEB850D}" type="slidenum">
              <a:rPr lang="en-US" altLang="en-US" smtClean="0"/>
              <a:pPr/>
              <a:t>29</a:t>
            </a:fld>
            <a:endParaRPr lang="en-US" altLang="en-US"/>
          </a:p>
        </p:txBody>
      </p:sp>
      <p:sp>
        <p:nvSpPr>
          <p:cNvPr id="5" name="Footer Placeholder 4">
            <a:extLst>
              <a:ext uri="{FF2B5EF4-FFF2-40B4-BE49-F238E27FC236}">
                <a16:creationId xmlns:a16="http://schemas.microsoft.com/office/drawing/2014/main" id="{7B6D1703-835F-F3E5-95B7-FAF8BEB6F71C}"/>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962078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0AC69-EA0B-54F8-5882-03C0F95E398D}"/>
              </a:ext>
            </a:extLst>
          </p:cNvPr>
          <p:cNvSpPr>
            <a:spLocks noGrp="1"/>
          </p:cNvSpPr>
          <p:nvPr>
            <p:ph type="title"/>
          </p:nvPr>
        </p:nvSpPr>
        <p:spPr/>
        <p:txBody>
          <a:bodyPr/>
          <a:lstStyle/>
          <a:p>
            <a:r>
              <a:rPr lang="en-GB" dirty="0"/>
              <a:t>4. The </a:t>
            </a:r>
            <a:r>
              <a:rPr lang="en-GB" dirty="0" err="1"/>
              <a:t>FreeRTOS</a:t>
            </a:r>
            <a:r>
              <a:rPr lang="en-GB" dirty="0"/>
              <a:t> Interface</a:t>
            </a:r>
            <a:endParaRPr lang="en-SG" dirty="0"/>
          </a:p>
        </p:txBody>
      </p:sp>
      <p:sp>
        <p:nvSpPr>
          <p:cNvPr id="3" name="Content Placeholder 2">
            <a:extLst>
              <a:ext uri="{FF2B5EF4-FFF2-40B4-BE49-F238E27FC236}">
                <a16:creationId xmlns:a16="http://schemas.microsoft.com/office/drawing/2014/main" id="{501D72EA-403F-6CFD-6BD5-409494FE1C81}"/>
              </a:ext>
            </a:extLst>
          </p:cNvPr>
          <p:cNvSpPr>
            <a:spLocks noGrp="1"/>
          </p:cNvSpPr>
          <p:nvPr>
            <p:ph idx="1"/>
          </p:nvPr>
        </p:nvSpPr>
        <p:spPr/>
        <p:txBody>
          <a:bodyPr/>
          <a:lstStyle/>
          <a:p>
            <a:r>
              <a:rPr lang="en-SG" dirty="0"/>
              <a:t>Giving a Semaphore:</a:t>
            </a:r>
          </a:p>
          <a:p>
            <a:pPr marL="671512" lvl="2" indent="0">
              <a:buNone/>
            </a:pPr>
            <a:r>
              <a:rPr lang="en-SG" dirty="0" err="1"/>
              <a:t>xSemaphoreGive</a:t>
            </a:r>
            <a:r>
              <a:rPr lang="en-SG" dirty="0"/>
              <a:t>(</a:t>
            </a:r>
            <a:r>
              <a:rPr lang="en-SG" dirty="0" err="1"/>
              <a:t>sema</a:t>
            </a:r>
            <a:r>
              <a:rPr lang="en-SG" dirty="0"/>
              <a:t>)</a:t>
            </a:r>
          </a:p>
          <a:p>
            <a:pPr lvl="2"/>
            <a:r>
              <a:rPr lang="en-SG" dirty="0"/>
              <a:t>Unblocks a task that is blocked on </a:t>
            </a:r>
            <a:r>
              <a:rPr lang="en-SG" dirty="0" err="1"/>
              <a:t>sema</a:t>
            </a:r>
            <a:r>
              <a:rPr lang="en-SG" dirty="0"/>
              <a:t> if any. Otherwise increments </a:t>
            </a:r>
            <a:r>
              <a:rPr lang="en-SG" dirty="0" err="1"/>
              <a:t>sema</a:t>
            </a:r>
            <a:r>
              <a:rPr lang="en-SG" dirty="0"/>
              <a:t>.</a:t>
            </a:r>
          </a:p>
          <a:p>
            <a:pPr lvl="2"/>
            <a:r>
              <a:rPr lang="en-SG" dirty="0" err="1"/>
              <a:t>sema</a:t>
            </a:r>
            <a:r>
              <a:rPr lang="en-SG" dirty="0"/>
              <a:t>: Semaphore to give.</a:t>
            </a:r>
          </a:p>
          <a:p>
            <a:r>
              <a:rPr lang="en-SG" dirty="0"/>
              <a:t>Giving a Semaphore Within an ISR:</a:t>
            </a:r>
          </a:p>
          <a:p>
            <a:pPr marL="671512" lvl="2" indent="0">
              <a:buNone/>
            </a:pPr>
            <a:r>
              <a:rPr lang="en-SG" dirty="0" err="1"/>
              <a:t>xSemaphoreGiveFromISR</a:t>
            </a:r>
            <a:r>
              <a:rPr lang="en-SG" dirty="0"/>
              <a:t>(</a:t>
            </a:r>
            <a:r>
              <a:rPr lang="en-SG" dirty="0" err="1"/>
              <a:t>sema</a:t>
            </a:r>
            <a:r>
              <a:rPr lang="en-SG" dirty="0"/>
              <a:t>, &amp;</a:t>
            </a:r>
            <a:r>
              <a:rPr lang="en-SG" dirty="0" err="1"/>
              <a:t>hpw</a:t>
            </a:r>
            <a:r>
              <a:rPr lang="en-SG" dirty="0"/>
              <a:t>)</a:t>
            </a:r>
          </a:p>
          <a:p>
            <a:pPr lvl="2"/>
            <a:r>
              <a:rPr lang="en-SG" dirty="0"/>
              <a:t>Used within ISRs to ensure context switch if a higher priority task is woken.</a:t>
            </a:r>
          </a:p>
          <a:p>
            <a:pPr lvl="2"/>
            <a:r>
              <a:rPr lang="en-SG" dirty="0" err="1"/>
              <a:t>sema</a:t>
            </a:r>
            <a:r>
              <a:rPr lang="en-SG" dirty="0"/>
              <a:t>: Semaphore to give.</a:t>
            </a:r>
          </a:p>
          <a:p>
            <a:pPr lvl="2"/>
            <a:r>
              <a:rPr lang="en-SG" dirty="0" err="1"/>
              <a:t>hpw</a:t>
            </a:r>
            <a:r>
              <a:rPr lang="en-SG" dirty="0"/>
              <a:t>: A variable of type </a:t>
            </a:r>
            <a:r>
              <a:rPr lang="en-SG" dirty="0" err="1"/>
              <a:t>BaseType_t</a:t>
            </a:r>
            <a:r>
              <a:rPr lang="en-SG" dirty="0"/>
              <a:t>:</a:t>
            </a:r>
          </a:p>
          <a:p>
            <a:pPr lvl="3"/>
            <a:r>
              <a:rPr lang="en-SG" dirty="0"/>
              <a:t>Set to </a:t>
            </a:r>
            <a:r>
              <a:rPr lang="en-SG" dirty="0" err="1"/>
              <a:t>pdTRUE</a:t>
            </a:r>
            <a:r>
              <a:rPr lang="en-SG" dirty="0"/>
              <a:t> if the give unblocked a higher priority task than the one which was just interrupted by this ISR.</a:t>
            </a:r>
          </a:p>
        </p:txBody>
      </p:sp>
      <p:sp>
        <p:nvSpPr>
          <p:cNvPr id="4" name="Slide Number Placeholder 3">
            <a:extLst>
              <a:ext uri="{FF2B5EF4-FFF2-40B4-BE49-F238E27FC236}">
                <a16:creationId xmlns:a16="http://schemas.microsoft.com/office/drawing/2014/main" id="{7C69720E-D5AE-5013-6B81-30553A6FFD12}"/>
              </a:ext>
            </a:extLst>
          </p:cNvPr>
          <p:cNvSpPr>
            <a:spLocks noGrp="1"/>
          </p:cNvSpPr>
          <p:nvPr>
            <p:ph type="sldNum" sz="quarter" idx="10"/>
          </p:nvPr>
        </p:nvSpPr>
        <p:spPr/>
        <p:txBody>
          <a:bodyPr/>
          <a:lstStyle/>
          <a:p>
            <a:fld id="{E4B16682-6FB4-4344-B037-3C8A3CEB850D}" type="slidenum">
              <a:rPr lang="en-US" altLang="en-US" smtClean="0"/>
              <a:pPr/>
              <a:t>30</a:t>
            </a:fld>
            <a:endParaRPr lang="en-US" altLang="en-US"/>
          </a:p>
        </p:txBody>
      </p:sp>
      <p:sp>
        <p:nvSpPr>
          <p:cNvPr id="5" name="Footer Placeholder 4">
            <a:extLst>
              <a:ext uri="{FF2B5EF4-FFF2-40B4-BE49-F238E27FC236}">
                <a16:creationId xmlns:a16="http://schemas.microsoft.com/office/drawing/2014/main" id="{7BA68DCB-AD8B-51C9-2D48-2BD5E48121C2}"/>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60524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A685-D768-55F7-602A-ECAEEE8677F2}"/>
              </a:ext>
            </a:extLst>
          </p:cNvPr>
          <p:cNvSpPr>
            <a:spLocks noGrp="1"/>
          </p:cNvSpPr>
          <p:nvPr>
            <p:ph type="title"/>
          </p:nvPr>
        </p:nvSpPr>
        <p:spPr/>
        <p:txBody>
          <a:bodyPr/>
          <a:lstStyle/>
          <a:p>
            <a:r>
              <a:rPr lang="en-GB" dirty="0"/>
              <a:t>4. The </a:t>
            </a:r>
            <a:r>
              <a:rPr lang="en-GB" dirty="0" err="1"/>
              <a:t>FreeRTOS</a:t>
            </a:r>
            <a:r>
              <a:rPr lang="en-GB" dirty="0"/>
              <a:t> Interface</a:t>
            </a:r>
            <a:endParaRPr lang="en-SG" dirty="0"/>
          </a:p>
        </p:txBody>
      </p:sp>
      <p:sp>
        <p:nvSpPr>
          <p:cNvPr id="3" name="Content Placeholder 2">
            <a:extLst>
              <a:ext uri="{FF2B5EF4-FFF2-40B4-BE49-F238E27FC236}">
                <a16:creationId xmlns:a16="http://schemas.microsoft.com/office/drawing/2014/main" id="{DA96E4EB-C201-07A3-52F5-F560AC87CBCD}"/>
              </a:ext>
            </a:extLst>
          </p:cNvPr>
          <p:cNvSpPr>
            <a:spLocks noGrp="1"/>
          </p:cNvSpPr>
          <p:nvPr>
            <p:ph idx="1"/>
          </p:nvPr>
        </p:nvSpPr>
        <p:spPr/>
        <p:txBody>
          <a:bodyPr/>
          <a:lstStyle/>
          <a:p>
            <a:r>
              <a:rPr lang="en-SG" dirty="0"/>
              <a:t>Yielding within an ISR</a:t>
            </a:r>
          </a:p>
          <a:p>
            <a:pPr marL="671512" lvl="2" indent="0">
              <a:buNone/>
            </a:pPr>
            <a:r>
              <a:rPr lang="en-SG" dirty="0" err="1"/>
              <a:t>portYIELD_FROM_ISR</a:t>
            </a:r>
            <a:r>
              <a:rPr lang="en-SG" dirty="0"/>
              <a:t>(</a:t>
            </a:r>
            <a:r>
              <a:rPr lang="en-SG" dirty="0" err="1"/>
              <a:t>hpw</a:t>
            </a:r>
            <a:r>
              <a:rPr lang="en-SG" dirty="0"/>
              <a:t>);</a:t>
            </a:r>
          </a:p>
          <a:p>
            <a:pPr lvl="2"/>
            <a:r>
              <a:rPr lang="en-SG" dirty="0"/>
              <a:t>If </a:t>
            </a:r>
            <a:r>
              <a:rPr lang="en-SG" dirty="0" err="1"/>
              <a:t>hpw</a:t>
            </a:r>
            <a:r>
              <a:rPr lang="en-SG" dirty="0"/>
              <a:t> is </a:t>
            </a:r>
            <a:r>
              <a:rPr lang="en-SG" dirty="0" err="1"/>
              <a:t>pdTRUE</a:t>
            </a:r>
            <a:r>
              <a:rPr lang="en-SG" dirty="0"/>
              <a:t>, informs scheduler to switch to higher priority task when the ISR exits.</a:t>
            </a:r>
          </a:p>
          <a:p>
            <a:r>
              <a:rPr lang="en-SG" dirty="0"/>
              <a:t>ISR Example:</a:t>
            </a:r>
          </a:p>
          <a:p>
            <a:pPr marL="671512" lvl="2" indent="0">
              <a:buNone/>
            </a:pPr>
            <a:r>
              <a:rPr lang="en-SG" sz="1800" dirty="0" err="1">
                <a:latin typeface="Courier New" panose="02070309020205020404" pitchFamily="49" charset="0"/>
                <a:cs typeface="Courier New" panose="02070309020205020404" pitchFamily="49" charset="0"/>
              </a:rPr>
              <a:t>SemaphoreHandle_t</a:t>
            </a:r>
            <a:r>
              <a:rPr lang="en-SG" sz="1800" dirty="0">
                <a:latin typeface="Courier New" panose="02070309020205020404" pitchFamily="49" charset="0"/>
                <a:cs typeface="Courier New" panose="02070309020205020404" pitchFamily="49" charset="0"/>
              </a:rPr>
              <a:t> </a:t>
            </a:r>
            <a:r>
              <a:rPr lang="en-SG" sz="1800" dirty="0" err="1">
                <a:latin typeface="Courier New" panose="02070309020205020404" pitchFamily="49" charset="0"/>
                <a:cs typeface="Courier New" panose="02070309020205020404" pitchFamily="49" charset="0"/>
              </a:rPr>
              <a:t>sema</a:t>
            </a:r>
            <a:r>
              <a:rPr lang="en-SG" sz="1800" dirty="0">
                <a:latin typeface="Courier New" panose="02070309020205020404" pitchFamily="49" charset="0"/>
                <a:cs typeface="Courier New" panose="02070309020205020404" pitchFamily="49" charset="0"/>
              </a:rPr>
              <a:t>;</a:t>
            </a:r>
          </a:p>
          <a:p>
            <a:pPr marL="671512" lvl="2" indent="0">
              <a:buNone/>
            </a:pPr>
            <a:r>
              <a:rPr lang="en-SG" sz="1800" dirty="0">
                <a:latin typeface="Courier New" panose="02070309020205020404" pitchFamily="49" charset="0"/>
                <a:cs typeface="Courier New" panose="02070309020205020404" pitchFamily="49" charset="0"/>
              </a:rPr>
              <a:t>void </a:t>
            </a:r>
            <a:r>
              <a:rPr lang="en-SG" sz="1800" dirty="0" err="1">
                <a:latin typeface="Courier New" panose="02070309020205020404" pitchFamily="49" charset="0"/>
                <a:cs typeface="Courier New" panose="02070309020205020404" pitchFamily="49" charset="0"/>
              </a:rPr>
              <a:t>portA_IRQHandler</a:t>
            </a:r>
            <a:r>
              <a:rPr lang="en-SG" sz="1800" dirty="0">
                <a:latin typeface="Courier New" panose="02070309020205020404" pitchFamily="49" charset="0"/>
                <a:cs typeface="Courier New" panose="02070309020205020404" pitchFamily="49" charset="0"/>
              </a:rPr>
              <a:t>() {</a:t>
            </a:r>
            <a:br>
              <a:rPr lang="en-SG" sz="1800" dirty="0">
                <a:latin typeface="Courier New" panose="02070309020205020404" pitchFamily="49" charset="0"/>
                <a:cs typeface="Courier New" panose="02070309020205020404" pitchFamily="49" charset="0"/>
              </a:rPr>
            </a:br>
            <a:r>
              <a:rPr lang="en-SG" sz="1800" dirty="0">
                <a:latin typeface="Courier New" panose="02070309020205020404" pitchFamily="49" charset="0"/>
                <a:cs typeface="Courier New" panose="02070309020205020404" pitchFamily="49" charset="0"/>
              </a:rPr>
              <a:t>    </a:t>
            </a:r>
            <a:r>
              <a:rPr lang="en-SG" sz="1800" dirty="0" err="1">
                <a:latin typeface="Courier New" panose="02070309020205020404" pitchFamily="49" charset="0"/>
                <a:cs typeface="Courier New" panose="02070309020205020404" pitchFamily="49" charset="0"/>
              </a:rPr>
              <a:t>NVIC_ClearPendingIRQ</a:t>
            </a:r>
            <a:r>
              <a:rPr lang="en-SG" sz="1800" dirty="0">
                <a:latin typeface="Courier New" panose="02070309020205020404" pitchFamily="49" charset="0"/>
                <a:cs typeface="Courier New" panose="02070309020205020404" pitchFamily="49" charset="0"/>
              </a:rPr>
              <a:t>(</a:t>
            </a:r>
            <a:r>
              <a:rPr lang="en-SG" sz="1800" dirty="0" err="1">
                <a:latin typeface="Courier New" panose="02070309020205020404" pitchFamily="49" charset="0"/>
                <a:cs typeface="Courier New" panose="02070309020205020404" pitchFamily="49" charset="0"/>
              </a:rPr>
              <a:t>PORTA_IRQn</a:t>
            </a:r>
            <a:r>
              <a:rPr lang="en-SG" sz="1800" dirty="0">
                <a:latin typeface="Courier New" panose="02070309020205020404" pitchFamily="49" charset="0"/>
                <a:cs typeface="Courier New" panose="02070309020205020404" pitchFamily="49" charset="0"/>
              </a:rPr>
              <a:t>);</a:t>
            </a:r>
            <a:br>
              <a:rPr lang="en-SG" sz="1800" dirty="0">
                <a:latin typeface="Courier New" panose="02070309020205020404" pitchFamily="49" charset="0"/>
                <a:cs typeface="Courier New" panose="02070309020205020404" pitchFamily="49" charset="0"/>
              </a:rPr>
            </a:br>
            <a:r>
              <a:rPr lang="en-SG" sz="1800" dirty="0">
                <a:latin typeface="Courier New" panose="02070309020205020404" pitchFamily="49" charset="0"/>
                <a:cs typeface="Courier New" panose="02070309020205020404" pitchFamily="49" charset="0"/>
              </a:rPr>
              <a:t>    if(PORTA-&gt;ISFR &amp; (1 &lt;&lt; SW_PIN)) {</a:t>
            </a:r>
            <a:br>
              <a:rPr lang="en-SG" sz="1800" dirty="0">
                <a:latin typeface="Courier New" panose="02070309020205020404" pitchFamily="49" charset="0"/>
                <a:cs typeface="Courier New" panose="02070309020205020404" pitchFamily="49" charset="0"/>
              </a:rPr>
            </a:br>
            <a:r>
              <a:rPr lang="en-SG" sz="1800" dirty="0">
                <a:latin typeface="Courier New" panose="02070309020205020404" pitchFamily="49" charset="0"/>
                <a:cs typeface="Courier New" panose="02070309020205020404" pitchFamily="49" charset="0"/>
              </a:rPr>
              <a:t>        </a:t>
            </a:r>
            <a:r>
              <a:rPr lang="en-SG" sz="1800" dirty="0" err="1">
                <a:latin typeface="Courier New" panose="02070309020205020404" pitchFamily="49" charset="0"/>
                <a:cs typeface="Courier New" panose="02070309020205020404" pitchFamily="49" charset="0"/>
              </a:rPr>
              <a:t>BaseType_t</a:t>
            </a:r>
            <a:r>
              <a:rPr lang="en-SG" sz="1800" dirty="0">
                <a:latin typeface="Courier New" panose="02070309020205020404" pitchFamily="49" charset="0"/>
                <a:cs typeface="Courier New" panose="02070309020205020404" pitchFamily="49" charset="0"/>
              </a:rPr>
              <a:t> </a:t>
            </a:r>
            <a:r>
              <a:rPr lang="en-SG" sz="1800" dirty="0" err="1">
                <a:latin typeface="Courier New" panose="02070309020205020404" pitchFamily="49" charset="0"/>
                <a:cs typeface="Courier New" panose="02070309020205020404" pitchFamily="49" charset="0"/>
              </a:rPr>
              <a:t>hpw</a:t>
            </a:r>
            <a:r>
              <a:rPr lang="en-SG" sz="1800" dirty="0">
                <a:latin typeface="Courier New" panose="02070309020205020404" pitchFamily="49" charset="0"/>
                <a:cs typeface="Courier New" panose="02070309020205020404" pitchFamily="49" charset="0"/>
              </a:rPr>
              <a:t> = </a:t>
            </a:r>
            <a:r>
              <a:rPr lang="en-SG" sz="1800" dirty="0" err="1">
                <a:latin typeface="Courier New" panose="02070309020205020404" pitchFamily="49" charset="0"/>
                <a:cs typeface="Courier New" panose="02070309020205020404" pitchFamily="49" charset="0"/>
              </a:rPr>
              <a:t>pdFALSE</a:t>
            </a:r>
            <a:r>
              <a:rPr lang="en-SG" sz="1800" dirty="0">
                <a:latin typeface="Courier New" panose="02070309020205020404" pitchFamily="49" charset="0"/>
                <a:cs typeface="Courier New" panose="02070309020205020404" pitchFamily="49" charset="0"/>
              </a:rPr>
              <a:t>;</a:t>
            </a:r>
            <a:br>
              <a:rPr lang="en-SG" sz="1800" dirty="0">
                <a:latin typeface="Courier New" panose="02070309020205020404" pitchFamily="49" charset="0"/>
                <a:cs typeface="Courier New" panose="02070309020205020404" pitchFamily="49" charset="0"/>
              </a:rPr>
            </a:br>
            <a:r>
              <a:rPr lang="en-SG" sz="1800" dirty="0">
                <a:latin typeface="Courier New" panose="02070309020205020404" pitchFamily="49" charset="0"/>
                <a:cs typeface="Courier New" panose="02070309020205020404" pitchFamily="49" charset="0"/>
              </a:rPr>
              <a:t>        </a:t>
            </a:r>
            <a:r>
              <a:rPr lang="en-SG" sz="1800" dirty="0" err="1">
                <a:latin typeface="Courier New" panose="02070309020205020404" pitchFamily="49" charset="0"/>
                <a:cs typeface="Courier New" panose="02070309020205020404" pitchFamily="49" charset="0"/>
              </a:rPr>
              <a:t>xSemaphoreGiveFromISR</a:t>
            </a:r>
            <a:r>
              <a:rPr lang="en-SG" sz="1800" dirty="0">
                <a:latin typeface="Courier New" panose="02070309020205020404" pitchFamily="49" charset="0"/>
                <a:cs typeface="Courier New" panose="02070309020205020404" pitchFamily="49" charset="0"/>
              </a:rPr>
              <a:t>(</a:t>
            </a:r>
            <a:r>
              <a:rPr lang="en-SG" sz="1800" dirty="0" err="1">
                <a:latin typeface="Courier New" panose="02070309020205020404" pitchFamily="49" charset="0"/>
                <a:cs typeface="Courier New" panose="02070309020205020404" pitchFamily="49" charset="0"/>
              </a:rPr>
              <a:t>sema</a:t>
            </a:r>
            <a:r>
              <a:rPr lang="en-SG" sz="1800" dirty="0">
                <a:latin typeface="Courier New" panose="02070309020205020404" pitchFamily="49" charset="0"/>
                <a:cs typeface="Courier New" panose="02070309020205020404" pitchFamily="49" charset="0"/>
              </a:rPr>
              <a:t>, &amp;</a:t>
            </a:r>
            <a:r>
              <a:rPr lang="en-SG" sz="1800" dirty="0" err="1">
                <a:latin typeface="Courier New" panose="02070309020205020404" pitchFamily="49" charset="0"/>
                <a:cs typeface="Courier New" panose="02070309020205020404" pitchFamily="49" charset="0"/>
              </a:rPr>
              <a:t>hpw</a:t>
            </a:r>
            <a:r>
              <a:rPr lang="en-SG" sz="1800" dirty="0">
                <a:latin typeface="Courier New" panose="02070309020205020404" pitchFamily="49" charset="0"/>
                <a:cs typeface="Courier New" panose="02070309020205020404" pitchFamily="49" charset="0"/>
              </a:rPr>
              <a:t>);</a:t>
            </a:r>
          </a:p>
          <a:p>
            <a:pPr marL="671512" lvl="2" indent="0">
              <a:buNone/>
            </a:pPr>
            <a:r>
              <a:rPr lang="en-SG" sz="1800" dirty="0">
                <a:latin typeface="Courier New" panose="02070309020205020404" pitchFamily="49" charset="0"/>
                <a:cs typeface="Courier New" panose="02070309020205020404" pitchFamily="49" charset="0"/>
              </a:rPr>
              <a:t>        </a:t>
            </a:r>
            <a:r>
              <a:rPr lang="en-SG" sz="1800" dirty="0" err="1">
                <a:latin typeface="Courier New" panose="02070309020205020404" pitchFamily="49" charset="0"/>
                <a:cs typeface="Courier New" panose="02070309020205020404" pitchFamily="49" charset="0"/>
              </a:rPr>
              <a:t>portYIELD_FROM_ISR</a:t>
            </a:r>
            <a:r>
              <a:rPr lang="en-SG" sz="1800" dirty="0">
                <a:latin typeface="Courier New" panose="02070309020205020404" pitchFamily="49" charset="0"/>
                <a:cs typeface="Courier New" panose="02070309020205020404" pitchFamily="49" charset="0"/>
              </a:rPr>
              <a:t>(</a:t>
            </a:r>
            <a:r>
              <a:rPr lang="en-SG" sz="1800" dirty="0" err="1">
                <a:latin typeface="Courier New" panose="02070309020205020404" pitchFamily="49" charset="0"/>
                <a:cs typeface="Courier New" panose="02070309020205020404" pitchFamily="49" charset="0"/>
              </a:rPr>
              <a:t>hpw</a:t>
            </a:r>
            <a:r>
              <a:rPr lang="en-SG" sz="1800" dirty="0">
                <a:latin typeface="Courier New" panose="02070309020205020404" pitchFamily="49" charset="0"/>
                <a:cs typeface="Courier New" panose="02070309020205020404" pitchFamily="49" charset="0"/>
              </a:rPr>
              <a:t>);</a:t>
            </a:r>
            <a:br>
              <a:rPr lang="en-SG" sz="1800" dirty="0">
                <a:latin typeface="Courier New" panose="02070309020205020404" pitchFamily="49" charset="0"/>
                <a:cs typeface="Courier New" panose="02070309020205020404" pitchFamily="49" charset="0"/>
              </a:rPr>
            </a:br>
            <a:r>
              <a:rPr lang="en-SG" sz="1800" dirty="0">
                <a:latin typeface="Courier New" panose="02070309020205020404" pitchFamily="49" charset="0"/>
                <a:cs typeface="Courier New" panose="02070309020205020404" pitchFamily="49" charset="0"/>
              </a:rPr>
              <a:t>    }</a:t>
            </a:r>
          </a:p>
          <a:p>
            <a:pPr marL="671512" lvl="2" indent="0">
              <a:buNone/>
            </a:pPr>
            <a:r>
              <a:rPr lang="en-SG" sz="1800" dirty="0">
                <a:latin typeface="Courier New" panose="02070309020205020404" pitchFamily="49" charset="0"/>
                <a:cs typeface="Courier New" panose="02070309020205020404" pitchFamily="49" charset="0"/>
              </a:rPr>
              <a:t>	// Clear ISFR</a:t>
            </a:r>
          </a:p>
          <a:p>
            <a:pPr marL="671512" lvl="2" indent="0">
              <a:buNone/>
            </a:pPr>
            <a:r>
              <a:rPr lang="en-SG" sz="1800" dirty="0">
                <a:latin typeface="Courier New" panose="02070309020205020404" pitchFamily="49" charset="0"/>
                <a:cs typeface="Courier New" panose="02070309020205020404" pitchFamily="49" charset="0"/>
              </a:rPr>
              <a:t>	PORTA-&gt;ISFR |= (1 &lt;&lt; SW_PIN);</a:t>
            </a:r>
          </a:p>
          <a:p>
            <a:pPr marL="671512" lvl="2" indent="0">
              <a:buNone/>
            </a:pPr>
            <a:r>
              <a:rPr lang="en-SG" sz="1800" dirty="0">
                <a:latin typeface="Courier New" panose="02070309020205020404" pitchFamily="49" charset="0"/>
                <a:cs typeface="Courier New" panose="02070309020205020404" pitchFamily="49" charset="0"/>
              </a:rPr>
              <a:t>}</a:t>
            </a:r>
          </a:p>
          <a:p>
            <a:pPr marL="671512" lvl="2" indent="0">
              <a:buNone/>
            </a:pPr>
            <a:endParaRPr lang="en-SG" dirty="0"/>
          </a:p>
        </p:txBody>
      </p:sp>
      <p:sp>
        <p:nvSpPr>
          <p:cNvPr id="4" name="Slide Number Placeholder 3">
            <a:extLst>
              <a:ext uri="{FF2B5EF4-FFF2-40B4-BE49-F238E27FC236}">
                <a16:creationId xmlns:a16="http://schemas.microsoft.com/office/drawing/2014/main" id="{471C698C-D893-5A07-3424-4D3AD0044057}"/>
              </a:ext>
            </a:extLst>
          </p:cNvPr>
          <p:cNvSpPr>
            <a:spLocks noGrp="1"/>
          </p:cNvSpPr>
          <p:nvPr>
            <p:ph type="sldNum" sz="quarter" idx="10"/>
          </p:nvPr>
        </p:nvSpPr>
        <p:spPr/>
        <p:txBody>
          <a:bodyPr/>
          <a:lstStyle/>
          <a:p>
            <a:fld id="{E4B16682-6FB4-4344-B037-3C8A3CEB850D}" type="slidenum">
              <a:rPr lang="en-US" altLang="en-US" smtClean="0"/>
              <a:pPr/>
              <a:t>31</a:t>
            </a:fld>
            <a:endParaRPr lang="en-US" altLang="en-US"/>
          </a:p>
        </p:txBody>
      </p:sp>
      <p:sp>
        <p:nvSpPr>
          <p:cNvPr id="5" name="Footer Placeholder 4">
            <a:extLst>
              <a:ext uri="{FF2B5EF4-FFF2-40B4-BE49-F238E27FC236}">
                <a16:creationId xmlns:a16="http://schemas.microsoft.com/office/drawing/2014/main" id="{B7C90756-C9BA-F933-662A-B9A12E0E77DF}"/>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21249401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97CE7-BFE3-69F4-1104-68DB3FF86329}"/>
              </a:ext>
            </a:extLst>
          </p:cNvPr>
          <p:cNvSpPr>
            <a:spLocks noGrp="1"/>
          </p:cNvSpPr>
          <p:nvPr>
            <p:ph type="title"/>
          </p:nvPr>
        </p:nvSpPr>
        <p:spPr/>
        <p:txBody>
          <a:bodyPr/>
          <a:lstStyle/>
          <a:p>
            <a:r>
              <a:rPr lang="en-SG" dirty="0"/>
              <a:t>5. Conclusion</a:t>
            </a:r>
          </a:p>
        </p:txBody>
      </p:sp>
      <p:sp>
        <p:nvSpPr>
          <p:cNvPr id="3" name="Content Placeholder 2">
            <a:extLst>
              <a:ext uri="{FF2B5EF4-FFF2-40B4-BE49-F238E27FC236}">
                <a16:creationId xmlns:a16="http://schemas.microsoft.com/office/drawing/2014/main" id="{ED42CB3D-7598-4A2E-045E-4D00D8FCCBBA}"/>
              </a:ext>
            </a:extLst>
          </p:cNvPr>
          <p:cNvSpPr>
            <a:spLocks noGrp="1"/>
          </p:cNvSpPr>
          <p:nvPr>
            <p:ph idx="1"/>
          </p:nvPr>
        </p:nvSpPr>
        <p:spPr/>
        <p:txBody>
          <a:bodyPr/>
          <a:lstStyle/>
          <a:p>
            <a:r>
              <a:rPr lang="en-SG" dirty="0"/>
              <a:t>In this lab lecture we looked at how to design software to use an RTOS, and looked some </a:t>
            </a:r>
            <a:r>
              <a:rPr lang="en-SG" dirty="0" err="1"/>
              <a:t>FreeRTOS</a:t>
            </a:r>
            <a:r>
              <a:rPr lang="en-SG" dirty="0"/>
              <a:t> functions.</a:t>
            </a:r>
          </a:p>
          <a:p>
            <a:r>
              <a:rPr lang="en-SG" dirty="0"/>
              <a:t>Although the contents of this lecture are not examinable, you should know it well.</a:t>
            </a:r>
          </a:p>
          <a:p>
            <a:pPr lvl="1"/>
            <a:r>
              <a:rPr lang="en-SG" dirty="0"/>
              <a:t>Very important for being a good computer engineer. </a:t>
            </a:r>
          </a:p>
        </p:txBody>
      </p:sp>
      <p:sp>
        <p:nvSpPr>
          <p:cNvPr id="4" name="Slide Number Placeholder 3">
            <a:extLst>
              <a:ext uri="{FF2B5EF4-FFF2-40B4-BE49-F238E27FC236}">
                <a16:creationId xmlns:a16="http://schemas.microsoft.com/office/drawing/2014/main" id="{1B3F2014-2C65-80EB-A84C-49394F8F7719}"/>
              </a:ext>
            </a:extLst>
          </p:cNvPr>
          <p:cNvSpPr>
            <a:spLocks noGrp="1"/>
          </p:cNvSpPr>
          <p:nvPr>
            <p:ph type="sldNum" sz="quarter" idx="10"/>
          </p:nvPr>
        </p:nvSpPr>
        <p:spPr/>
        <p:txBody>
          <a:bodyPr/>
          <a:lstStyle/>
          <a:p>
            <a:fld id="{E4B16682-6FB4-4344-B037-3C8A3CEB850D}" type="slidenum">
              <a:rPr lang="en-US" altLang="en-US" smtClean="0"/>
              <a:pPr/>
              <a:t>32</a:t>
            </a:fld>
            <a:endParaRPr lang="en-US" altLang="en-US"/>
          </a:p>
        </p:txBody>
      </p:sp>
      <p:sp>
        <p:nvSpPr>
          <p:cNvPr id="5" name="Footer Placeholder 4">
            <a:extLst>
              <a:ext uri="{FF2B5EF4-FFF2-40B4-BE49-F238E27FC236}">
                <a16:creationId xmlns:a16="http://schemas.microsoft.com/office/drawing/2014/main" id="{CE6794E1-6206-3E61-5F40-3512D43A7A74}"/>
              </a:ext>
            </a:extLst>
          </p:cNvPr>
          <p:cNvSpPr>
            <a:spLocks noGrp="1"/>
          </p:cNvSpPr>
          <p:nvPr>
            <p:ph type="ftr" sz="quarter" idx="11"/>
          </p:nvPr>
        </p:nvSpPr>
        <p:spPr/>
        <p:txBody>
          <a:bodyPr/>
          <a:lstStyle/>
          <a:p>
            <a:r>
              <a:rPr lang="en-SG" altLang="en-US"/>
              <a:t>CG2271 Lab Lecture 7</a:t>
            </a:r>
            <a:endParaRPr lang="en-US" altLang="en-US"/>
          </a:p>
        </p:txBody>
      </p:sp>
    </p:spTree>
    <p:extLst>
      <p:ext uri="{BB962C8B-B14F-4D97-AF65-F5344CB8AC3E}">
        <p14:creationId xmlns:p14="http://schemas.microsoft.com/office/powerpoint/2010/main" val="3354712833"/>
      </p:ext>
    </p:extLst>
  </p:cSld>
  <p:clrMapOvr>
    <a:masterClrMapping/>
  </p:clrMapOvr>
</p:sld>
</file>

<file path=ppt/theme/theme1.xml><?xml version="1.0" encoding="utf-8"?>
<a:theme xmlns:a="http://schemas.openxmlformats.org/drawingml/2006/main" name="L1 - Basic of C++">
  <a:themeElements>
    <a:clrScheme name="L1 - Basic of C++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L1 - Basic of C++">
      <a:majorFont>
        <a:latin typeface="Garamon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1 - Basic of C++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L1 - Basic of C++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L1 - Basic of C++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L1 - Basic of C++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L1 - Basic of C++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L1 - Basic of C++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L1 - Basic of C++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L1 - Basic of C++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L1 - Basic of C++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Edg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C00000"/>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25400">
          <a:solidFill>
            <a:srgbClr val="C0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15917</TotalTime>
  <Words>2589</Words>
  <Application>Microsoft Office PowerPoint</Application>
  <PresentationFormat>Widescreen</PresentationFormat>
  <Paragraphs>322</Paragraphs>
  <Slides>32</Slides>
  <Notes>0</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32</vt:i4>
      </vt:variant>
    </vt:vector>
  </HeadingPairs>
  <TitlesOfParts>
    <vt:vector size="45" baseType="lpstr">
      <vt:lpstr>Aptos</vt:lpstr>
      <vt:lpstr>Arial</vt:lpstr>
      <vt:lpstr>Arial Black</vt:lpstr>
      <vt:lpstr>Calibri</vt:lpstr>
      <vt:lpstr>Calibri Light</vt:lpstr>
      <vt:lpstr>Cambria Math</vt:lpstr>
      <vt:lpstr>Courier New</vt:lpstr>
      <vt:lpstr>Garamond</vt:lpstr>
      <vt:lpstr>Wingdings</vt:lpstr>
      <vt:lpstr>Wingdings 2</vt:lpstr>
      <vt:lpstr>L1 - Basic of C++</vt:lpstr>
      <vt:lpstr>Edge</vt:lpstr>
      <vt:lpstr>HDOfficeLightV0</vt:lpstr>
      <vt:lpstr>CG2271 Real Time Operating Systems</vt:lpstr>
      <vt:lpstr>Introduction</vt:lpstr>
      <vt:lpstr>1. Real-Time Operating Systems</vt:lpstr>
      <vt:lpstr>1. Real-Time Operating Systems</vt:lpstr>
      <vt:lpstr>1. Real-Time Operating Systems</vt:lpstr>
      <vt:lpstr>1. Real-Time Operating Systems</vt:lpstr>
      <vt:lpstr>RTOS tasks</vt:lpstr>
      <vt:lpstr>2. RTOS Tasks</vt:lpstr>
      <vt:lpstr>2. RTOS Tasks</vt:lpstr>
      <vt:lpstr>2. RTOS Tasks</vt:lpstr>
      <vt:lpstr>2. RTOS Tasks</vt:lpstr>
      <vt:lpstr>2. RTOS Tasks</vt:lpstr>
      <vt:lpstr>2. RTOS Tasks</vt:lpstr>
      <vt:lpstr>integrating interrupts with tasks </vt:lpstr>
      <vt:lpstr>3. Integrating Interrupts with Tasks</vt:lpstr>
      <vt:lpstr>3. Integrating Interrupts with Tasks</vt:lpstr>
      <vt:lpstr>3. Integrating Interrupts with Tasks</vt:lpstr>
      <vt:lpstr>3. Integrating Interrupts with Tasks</vt:lpstr>
      <vt:lpstr>3. Integrating Interrupts with Tasks</vt:lpstr>
      <vt:lpstr>3. Integrating Interrupts with Tasks</vt:lpstr>
      <vt:lpstr>The freertos interface</vt:lpstr>
      <vt:lpstr>4. The FreeRTOS Interface</vt:lpstr>
      <vt:lpstr>4. The FreeRTOS Interface</vt:lpstr>
      <vt:lpstr>4. The FreeRTOS Interface</vt:lpstr>
      <vt:lpstr>4. The FreeRTOS Interface</vt:lpstr>
      <vt:lpstr>4. The FreeRTOS Interface</vt:lpstr>
      <vt:lpstr>4. The FreeRTOS Interface</vt:lpstr>
      <vt:lpstr>4. The FreeRTOS Interface</vt:lpstr>
      <vt:lpstr>4. The FreeRTOS Interface</vt:lpstr>
      <vt:lpstr>4. The FreeRTOS Interface</vt:lpstr>
      <vt:lpstr>4. The FreeRTOS Interface</vt:lpstr>
      <vt:lpstr>5. Conclusion</vt:lpstr>
    </vt:vector>
  </TitlesOfParts>
  <Company>NUS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Soo Yuen Jien</dc:creator>
  <cp:lastModifiedBy>Tan Keng Yan, Colin</cp:lastModifiedBy>
  <cp:revision>367</cp:revision>
  <dcterms:created xsi:type="dcterms:W3CDTF">2009-01-07T10:53:41Z</dcterms:created>
  <dcterms:modified xsi:type="dcterms:W3CDTF">2025-10-12T22:47:58Z</dcterms:modified>
</cp:coreProperties>
</file>