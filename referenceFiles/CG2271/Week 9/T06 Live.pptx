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89" r:id="rId3"/>
    <p:sldId id="299" r:id="rId4"/>
    <p:sldId id="296" r:id="rId5"/>
    <p:sldId id="295" r:id="rId6"/>
    <p:sldId id="297" r:id="rId7"/>
    <p:sldId id="298" r:id="rId8"/>
    <p:sldId id="303" r:id="rId9"/>
    <p:sldId id="300" r:id="rId10"/>
    <p:sldId id="290" r:id="rId11"/>
    <p:sldId id="301" r:id="rId12"/>
    <p:sldId id="302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0"/>
    <p:restoredTop sz="95574"/>
  </p:normalViewPr>
  <p:slideViewPr>
    <p:cSldViewPr snapToGrid="0" snapToObjects="1">
      <p:cViewPr varScale="1">
        <p:scale>
          <a:sx n="69" d="100"/>
          <a:sy n="69" d="100"/>
        </p:scale>
        <p:origin x="1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7EBC1-2A0D-404C-9EC7-44A61FC811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A0426-497D-6642-BE72-FB87ED743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7228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3395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13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16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Behavior = anonymous fifo file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Semantic = synchronous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Variants = multiple reader/ write, duplex etc</a:t>
            </a:r>
            <a:endParaRPr/>
          </a:p>
        </p:txBody>
      </p:sp>
      <p:sp>
        <p:nvSpPr>
          <p:cNvPr id="199" name="Google Shape;19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17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Behavior = anonymous fifo file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Semantic = synchronous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Variants = multiple reader/ write, duplex etc</a:t>
            </a:r>
            <a:endParaRPr/>
          </a:p>
        </p:txBody>
      </p:sp>
      <p:sp>
        <p:nvSpPr>
          <p:cNvPr id="223" name="Google Shape;22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18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5857-FB24-8A40-A566-8184282D0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5A5AC-73E3-1E40-A0E6-015BD160D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6F0AA-556E-4F41-8347-6CBE444B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7CA3A-5E50-8B4D-A1E6-85BF742A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D6B16-F964-594B-B7AB-8C8B9193A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2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1E4F-7546-6F47-B863-777224DA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6FD63-F5F3-BA46-B0AF-A876782CE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BFBB8-3287-CC4F-8F57-B251E66E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9F224-59A0-7C4A-9294-C6F68C3D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1C08D-115A-F846-BE7D-74B467B5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7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871C9-AF87-C742-86FE-78E06E5F8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7E078-DEA7-8B40-973F-F4C312EFF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B8A98-EA1A-B24C-A75E-6A4BC212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9C74C-048E-8746-8DBD-7F3D95F5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AC87-F5B5-E04C-B127-585DA385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6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8EEA-BC64-EC42-A9BD-349E5A235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184AC-FEC9-404B-90ED-6493B1ECC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440D1-0DA7-C34F-A66A-189993944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BEA2D-C468-A14A-AFAF-049A90D4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CFC77-ECD5-D64E-B6BD-15874403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B3417-E5B6-CC43-9AF7-F798703A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4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F621E-B8BB-B243-8BB8-5A6A27A3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0BB6C-D84A-6843-B83E-6475F428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121D0-394E-7046-AC98-D50327F74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A7691-30C5-0A47-A5AE-5136D2ECF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F464A-9515-EB48-A984-911872235D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00FAC-37E8-8642-B294-F2C21E3E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02254-BACF-4E41-AD6C-6459C029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4EADF7-C591-2448-83D1-C849F016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4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098B2-3954-164B-9EC0-5AC7102F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08BB5-9DA8-9142-A822-BFFC59DC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34C7C-2E84-9046-B5D1-63A9D68A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7A33B-3D28-BC4C-9C51-F4130E56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1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FBC1B-0A5C-5540-8123-22C5A0CF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A1B34-FE41-3D43-8389-37A6E757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CAC4-E6F8-1C48-8679-D8F7CF6E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9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72B85-4EDD-824D-9B1A-05439439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AEE8C-52CD-A043-9953-5E42A6B0B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C09D0-49FE-C745-889D-963D6690B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D77D1-97AC-CF4B-B2D3-C013CB1E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8A9EA-FC1B-A741-9708-E79B2140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3930-8FD3-F94A-9DE1-1AD069ED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9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B97B-CD0E-AB45-9D22-657EE711E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D1AC55-D709-1746-A196-A8ED93440F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AA628-A55D-4744-BCE8-14B2B16C0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95D36-2A41-F84E-B1DF-2DB37292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900D5-E650-CD4B-BE02-0B2B93D3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3F91F-FA71-5142-AE54-1C00CD52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0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5789-B359-F742-B6A7-5E84D326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165F8-8412-9E4C-B0E0-998732D69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94195-0216-3C45-B855-C6F0964D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3506-7D0C-B942-9A87-F6C515F4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22363-A997-4140-8746-BEB03D2A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0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1E682-C53A-904A-BF33-F9611B0FB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4FDE1-5459-7D42-ABD0-E5B15B0AB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ED963-F4A1-0F46-8C20-1118B0B9E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5DAE8-6C6D-A645-BB4C-3D3AF5D11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B3361-F426-5246-AEF7-6D8A383F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3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6BC113-8F1B-004F-B466-A796D22B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CFCBD-20C9-3742-A7EC-9A7EC3C75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83140-EEB6-1446-8D65-90565379D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9AF5D-E726-674E-AF95-56233693D02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317C9-2EF6-3544-A1B5-1BA07B5A4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D30A8-6541-FB44-9D7D-5A937CB87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30E62-CE99-0A40-AC28-BE9C6FB13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4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152400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SG"/>
              <a:t>Topic Summary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2152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indent="-5080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6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31640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 operations are atomic?</a:t>
            </a:r>
            <a:endParaRPr lang="en-SG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465878"/>
              </p:ext>
            </p:extLst>
          </p:nvPr>
        </p:nvGraphicFramePr>
        <p:xfrm>
          <a:off x="2222979" y="1570958"/>
          <a:ext cx="255079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2550795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3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A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699065"/>
              </p:ext>
            </p:extLst>
          </p:nvPr>
        </p:nvGraphicFramePr>
        <p:xfrm>
          <a:off x="7060733" y="1570959"/>
          <a:ext cx="2489835" cy="1158875"/>
        </p:xfrm>
        <a:graphic>
          <a:graphicData uri="http://schemas.openxmlformats.org/drawingml/2006/table">
            <a:tbl>
              <a:tblPr firstRow="1" firstCol="1" bandRow="1"/>
              <a:tblGrid>
                <a:gridCol w="2489835">
                  <a:extLst>
                    <a:ext uri="{9D8B030D-6E8A-4147-A177-3AD203B41FA5}">
                      <a16:colId xmlns:a16="http://schemas.microsoft.com/office/drawing/2014/main" val="2915673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3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B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2*x;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167219"/>
              </p:ext>
            </p:extLst>
          </p:nvPr>
        </p:nvGraphicFramePr>
        <p:xfrm>
          <a:off x="1861029" y="4095083"/>
          <a:ext cx="255079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2550795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</a:t>
                      </a:r>
                      <a:r>
                        <a:rPr lang="en-US" sz="32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= 2*x;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842924"/>
              </p:ext>
            </p:extLst>
          </p:nvPr>
        </p:nvGraphicFramePr>
        <p:xfrm>
          <a:off x="4820603" y="4095083"/>
          <a:ext cx="255079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2550795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</a:t>
                      </a:r>
                      <a:r>
                        <a:rPr lang="en-US" sz="32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= 2*x;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14508"/>
              </p:ext>
            </p:extLst>
          </p:nvPr>
        </p:nvGraphicFramePr>
        <p:xfrm>
          <a:off x="7706678" y="4095083"/>
          <a:ext cx="255079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2550795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</a:p>
                    <a:p>
                      <a:pPr marL="457200" marR="0" lvl="0" indent="-4572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</a:t>
                      </a:r>
                      <a:r>
                        <a:rPr lang="en-US" sz="32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= 2*x;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17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the operations aren't atomic!</a:t>
            </a:r>
            <a:endParaRPr lang="en-SG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10889"/>
              </p:ext>
            </p:extLst>
          </p:nvPr>
        </p:nvGraphicFramePr>
        <p:xfrm>
          <a:off x="1827562" y="2275293"/>
          <a:ext cx="255079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2550795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3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A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956037"/>
              </p:ext>
            </p:extLst>
          </p:nvPr>
        </p:nvGraphicFramePr>
        <p:xfrm>
          <a:off x="6665316" y="2275294"/>
          <a:ext cx="2489835" cy="1158875"/>
        </p:xfrm>
        <a:graphic>
          <a:graphicData uri="http://schemas.openxmlformats.org/drawingml/2006/table">
            <a:tbl>
              <a:tblPr firstRow="1" firstCol="1" bandRow="1"/>
              <a:tblGrid>
                <a:gridCol w="2489835">
                  <a:extLst>
                    <a:ext uri="{9D8B030D-6E8A-4147-A177-3AD203B41FA5}">
                      <a16:colId xmlns:a16="http://schemas.microsoft.com/office/drawing/2014/main" val="2915673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3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B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2*x;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9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How is </a:t>
            </a:r>
            <a:r>
              <a:rPr lang="en-US" dirty="0" err="1">
                <a:latin typeface="Consolas" panose="020B0609020204030204" pitchFamily="49" charset="0"/>
              </a:rPr>
              <a:t>shm</a:t>
            </a:r>
            <a:r>
              <a:rPr lang="en-US" dirty="0">
                <a:latin typeface="Consolas" panose="020B0609020204030204" pitchFamily="49" charset="0"/>
              </a:rPr>
              <a:t>[0]++</a:t>
            </a:r>
            <a:r>
              <a:rPr lang="en-US" dirty="0"/>
              <a:t> performed?</a:t>
            </a:r>
            <a:endParaRPr lang="en-SG" dirty="0"/>
          </a:p>
        </p:txBody>
      </p:sp>
      <p:sp>
        <p:nvSpPr>
          <p:cNvPr id="9" name="Rectangle 8"/>
          <p:cNvSpPr/>
          <p:nvPr/>
        </p:nvSpPr>
        <p:spPr>
          <a:xfrm>
            <a:off x="2298810" y="2597901"/>
            <a:ext cx="2348715" cy="18606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P</a:t>
            </a:r>
            <a:r>
              <a:rPr lang="en-US" baseline="-25000" dirty="0"/>
              <a:t>0</a:t>
            </a:r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SG" dirty="0"/>
          </a:p>
        </p:txBody>
      </p:sp>
      <p:sp>
        <p:nvSpPr>
          <p:cNvPr id="4" name="Snip Single Corner Rectangle 3"/>
          <p:cNvSpPr/>
          <p:nvPr/>
        </p:nvSpPr>
        <p:spPr>
          <a:xfrm>
            <a:off x="2298810" y="4726106"/>
            <a:ext cx="2348715" cy="1933996"/>
          </a:xfrm>
          <a:prstGeom prst="snip1Rect">
            <a:avLst>
              <a:gd name="adj" fmla="val 1231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 Context P</a:t>
            </a:r>
            <a:r>
              <a:rPr lang="en-US" baseline="-25000" dirty="0"/>
              <a:t>0</a:t>
            </a:r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SG" baseline="-250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5161369" y="1548714"/>
            <a:ext cx="1869261" cy="895438"/>
            <a:chOff x="3325826" y="930877"/>
            <a:chExt cx="1869261" cy="895438"/>
          </a:xfrm>
        </p:grpSpPr>
        <p:sp>
          <p:nvSpPr>
            <p:cNvPr id="18" name="Rectangle 17"/>
            <p:cNvSpPr/>
            <p:nvPr/>
          </p:nvSpPr>
          <p:spPr>
            <a:xfrm>
              <a:off x="3325826" y="930877"/>
              <a:ext cx="1859820" cy="89543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Shared Mem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333919" y="1365069"/>
              <a:ext cx="1861168" cy="307497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 err="1">
                  <a:solidFill>
                    <a:schemeClr val="bg2">
                      <a:lumMod val="75000"/>
                    </a:schemeClr>
                  </a:solidFill>
                </a:rPr>
                <a:t>shm</a:t>
              </a:r>
              <a:r>
                <a:rPr lang="en-US" b="1" dirty="0">
                  <a:solidFill>
                    <a:schemeClr val="bg2">
                      <a:lumMod val="75000"/>
                    </a:schemeClr>
                  </a:solidFill>
                </a:rPr>
                <a:t>[0]</a:t>
              </a:r>
              <a:endParaRPr lang="en-SG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2298810" y="3115455"/>
            <a:ext cx="2350417" cy="30749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660066"/>
                </a:solidFill>
              </a:rPr>
              <a:t>load</a:t>
            </a:r>
            <a:r>
              <a:rPr lang="en-US" dirty="0"/>
              <a:t> </a:t>
            </a:r>
            <a:r>
              <a:rPr lang="en-US" dirty="0" err="1"/>
              <a:t>shm</a:t>
            </a:r>
            <a:r>
              <a:rPr lang="en-US" dirty="0"/>
              <a:t>[0] into $r1</a:t>
            </a:r>
            <a:endParaRPr lang="en-SG" dirty="0"/>
          </a:p>
        </p:txBody>
      </p:sp>
      <p:sp>
        <p:nvSpPr>
          <p:cNvPr id="21" name="Rounded Rectangle 20"/>
          <p:cNvSpPr/>
          <p:nvPr/>
        </p:nvSpPr>
        <p:spPr>
          <a:xfrm>
            <a:off x="2297108" y="3479523"/>
            <a:ext cx="2350417" cy="30749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660066"/>
                </a:solidFill>
              </a:rPr>
              <a:t>add</a:t>
            </a:r>
            <a:r>
              <a:rPr lang="en-US" dirty="0"/>
              <a:t> one to $r1</a:t>
            </a:r>
            <a:endParaRPr lang="en-SG" dirty="0"/>
          </a:p>
        </p:txBody>
      </p:sp>
      <p:sp>
        <p:nvSpPr>
          <p:cNvPr id="22" name="Rounded Rectangle 21"/>
          <p:cNvSpPr/>
          <p:nvPr/>
        </p:nvSpPr>
        <p:spPr>
          <a:xfrm>
            <a:off x="2297107" y="3843591"/>
            <a:ext cx="2350417" cy="30749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660066"/>
                </a:solidFill>
              </a:rPr>
              <a:t>store</a:t>
            </a:r>
            <a:r>
              <a:rPr lang="en-US" dirty="0"/>
              <a:t> $r1 into </a:t>
            </a:r>
            <a:r>
              <a:rPr lang="en-US" dirty="0" err="1"/>
              <a:t>shm</a:t>
            </a:r>
            <a:r>
              <a:rPr lang="en-US" dirty="0"/>
              <a:t>[0]</a:t>
            </a:r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2297107" y="5679107"/>
            <a:ext cx="2350417" cy="30749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$r1</a:t>
            </a:r>
            <a:endParaRPr lang="en-SG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08732" y="2597901"/>
            <a:ext cx="2348715" cy="18606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P</a:t>
            </a:r>
            <a:r>
              <a:rPr lang="en-US" baseline="-25000" dirty="0"/>
              <a:t>1</a:t>
            </a:r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SG" dirty="0"/>
          </a:p>
        </p:txBody>
      </p:sp>
      <p:sp>
        <p:nvSpPr>
          <p:cNvPr id="25" name="Snip Single Corner Rectangle 24"/>
          <p:cNvSpPr/>
          <p:nvPr/>
        </p:nvSpPr>
        <p:spPr>
          <a:xfrm>
            <a:off x="7508732" y="4726106"/>
            <a:ext cx="2348715" cy="1933996"/>
          </a:xfrm>
          <a:prstGeom prst="snip1Rect">
            <a:avLst>
              <a:gd name="adj" fmla="val 1231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 Context P</a:t>
            </a:r>
            <a:r>
              <a:rPr lang="en-US" baseline="-25000" dirty="0"/>
              <a:t>1</a:t>
            </a:r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US" baseline="-25000" dirty="0"/>
          </a:p>
          <a:p>
            <a:pPr algn="ctr"/>
            <a:endParaRPr lang="en-SG" baseline="-25000" dirty="0"/>
          </a:p>
        </p:txBody>
      </p:sp>
      <p:sp>
        <p:nvSpPr>
          <p:cNvPr id="26" name="Rounded Rectangle 25"/>
          <p:cNvSpPr/>
          <p:nvPr/>
        </p:nvSpPr>
        <p:spPr>
          <a:xfrm>
            <a:off x="7508732" y="3115455"/>
            <a:ext cx="2350417" cy="3074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660066"/>
                </a:solidFill>
              </a:rPr>
              <a:t>load</a:t>
            </a:r>
            <a:r>
              <a:rPr lang="en-US" dirty="0"/>
              <a:t> </a:t>
            </a:r>
            <a:r>
              <a:rPr lang="en-US" dirty="0" err="1"/>
              <a:t>shm</a:t>
            </a:r>
            <a:r>
              <a:rPr lang="en-US" dirty="0"/>
              <a:t>[0] into $r1</a:t>
            </a:r>
            <a:endParaRPr lang="en-SG" dirty="0"/>
          </a:p>
        </p:txBody>
      </p:sp>
      <p:sp>
        <p:nvSpPr>
          <p:cNvPr id="27" name="Rounded Rectangle 26"/>
          <p:cNvSpPr/>
          <p:nvPr/>
        </p:nvSpPr>
        <p:spPr>
          <a:xfrm>
            <a:off x="7507030" y="3479523"/>
            <a:ext cx="2350417" cy="3074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660066"/>
                </a:solidFill>
              </a:rPr>
              <a:t>add</a:t>
            </a:r>
            <a:r>
              <a:rPr lang="en-US" dirty="0"/>
              <a:t> one to $r1</a:t>
            </a:r>
            <a:endParaRPr lang="en-SG" dirty="0"/>
          </a:p>
        </p:txBody>
      </p:sp>
      <p:sp>
        <p:nvSpPr>
          <p:cNvPr id="28" name="Rounded Rectangle 27"/>
          <p:cNvSpPr/>
          <p:nvPr/>
        </p:nvSpPr>
        <p:spPr>
          <a:xfrm>
            <a:off x="7507029" y="3843591"/>
            <a:ext cx="2350417" cy="3074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660066"/>
                </a:solidFill>
              </a:rPr>
              <a:t>store</a:t>
            </a:r>
            <a:r>
              <a:rPr lang="en-US" dirty="0"/>
              <a:t> $r1 into </a:t>
            </a:r>
            <a:r>
              <a:rPr lang="en-US" dirty="0" err="1"/>
              <a:t>shm</a:t>
            </a:r>
            <a:r>
              <a:rPr lang="en-US" dirty="0"/>
              <a:t>[0]</a:t>
            </a:r>
            <a:endParaRPr lang="en-SG" dirty="0"/>
          </a:p>
        </p:txBody>
      </p:sp>
      <p:sp>
        <p:nvSpPr>
          <p:cNvPr id="29" name="Rounded Rectangle 28"/>
          <p:cNvSpPr/>
          <p:nvPr/>
        </p:nvSpPr>
        <p:spPr>
          <a:xfrm>
            <a:off x="7507029" y="5679107"/>
            <a:ext cx="2350417" cy="3074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$r1</a:t>
            </a:r>
            <a:endParaRPr lang="en-SG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951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So…..</a:t>
            </a: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22979" y="1237325"/>
          <a:ext cx="255079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2550795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3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A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60733" y="1237326"/>
          <a:ext cx="2489835" cy="1158875"/>
        </p:xfrm>
        <a:graphic>
          <a:graphicData uri="http://schemas.openxmlformats.org/drawingml/2006/table">
            <a:tbl>
              <a:tblPr firstRow="1" firstCol="1" bandRow="1"/>
              <a:tblGrid>
                <a:gridCol w="2489835">
                  <a:extLst>
                    <a:ext uri="{9D8B030D-6E8A-4147-A177-3AD203B41FA5}">
                      <a16:colId xmlns:a16="http://schemas.microsoft.com/office/drawing/2014/main" val="2915673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3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B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2*x;</a:t>
                      </a:r>
                      <a:endParaRPr lang="en-SG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sp>
        <p:nvSpPr>
          <p:cNvPr id="2" name="Down Arrow 1"/>
          <p:cNvSpPr/>
          <p:nvPr/>
        </p:nvSpPr>
        <p:spPr>
          <a:xfrm>
            <a:off x="3180980" y="2641551"/>
            <a:ext cx="634790" cy="7305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Down Arrow 7"/>
          <p:cNvSpPr/>
          <p:nvPr/>
        </p:nvSpPr>
        <p:spPr>
          <a:xfrm>
            <a:off x="8094306" y="2335103"/>
            <a:ext cx="634790" cy="103697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22979" y="3373071"/>
          <a:ext cx="2550795" cy="2560320"/>
        </p:xfrm>
        <a:graphic>
          <a:graphicData uri="http://schemas.openxmlformats.org/drawingml/2006/table">
            <a:tbl>
              <a:tblPr firstRow="1" firstCol="1" bandRow="1"/>
              <a:tblGrid>
                <a:gridCol w="2550795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A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load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load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60733" y="3373071"/>
          <a:ext cx="248983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2489835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B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load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22977" y="3372075"/>
          <a:ext cx="2550796" cy="2560320"/>
        </p:xfrm>
        <a:graphic>
          <a:graphicData uri="http://schemas.openxmlformats.org/drawingml/2006/table">
            <a:tbl>
              <a:tblPr firstRow="1" firstCol="1" bandRow="1"/>
              <a:tblGrid>
                <a:gridCol w="724562">
                  <a:extLst>
                    <a:ext uri="{9D8B030D-6E8A-4147-A177-3AD203B41FA5}">
                      <a16:colId xmlns:a16="http://schemas.microsoft.com/office/drawing/2014/main" val="55631004"/>
                    </a:ext>
                  </a:extLst>
                </a:gridCol>
                <a:gridCol w="1826234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A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A1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A2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A3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load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load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060733" y="3373071"/>
          <a:ext cx="248983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707246">
                  <a:extLst>
                    <a:ext uri="{9D8B030D-6E8A-4147-A177-3AD203B41FA5}">
                      <a16:colId xmlns:a16="http://schemas.microsoft.com/office/drawing/2014/main" val="55631004"/>
                    </a:ext>
                  </a:extLst>
                </a:gridCol>
                <a:gridCol w="1782589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B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B1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load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3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It's just Math…</a:t>
            </a:r>
            <a:endParaRPr lang="en-SG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83760"/>
              </p:ext>
            </p:extLst>
          </p:nvPr>
        </p:nvGraphicFramePr>
        <p:xfrm>
          <a:off x="2222977" y="2042797"/>
          <a:ext cx="2550796" cy="2560320"/>
        </p:xfrm>
        <a:graphic>
          <a:graphicData uri="http://schemas.openxmlformats.org/drawingml/2006/table">
            <a:tbl>
              <a:tblPr firstRow="1" firstCol="1" bandRow="1"/>
              <a:tblGrid>
                <a:gridCol w="724562">
                  <a:extLst>
                    <a:ext uri="{9D8B030D-6E8A-4147-A177-3AD203B41FA5}">
                      <a16:colId xmlns:a16="http://schemas.microsoft.com/office/drawing/2014/main" val="55631004"/>
                    </a:ext>
                  </a:extLst>
                </a:gridCol>
                <a:gridCol w="1826234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A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A1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A2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A3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load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load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559597"/>
              </p:ext>
            </p:extLst>
          </p:nvPr>
        </p:nvGraphicFramePr>
        <p:xfrm>
          <a:off x="7060733" y="2055511"/>
          <a:ext cx="2489835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707246">
                  <a:extLst>
                    <a:ext uri="{9D8B030D-6E8A-4147-A177-3AD203B41FA5}">
                      <a16:colId xmlns:a16="http://schemas.microsoft.com/office/drawing/2014/main" val="55631004"/>
                    </a:ext>
                  </a:extLst>
                </a:gridCol>
                <a:gridCol w="1782589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B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B1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load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134928"/>
              </p:ext>
            </p:extLst>
          </p:nvPr>
        </p:nvGraphicFramePr>
        <p:xfrm>
          <a:off x="2222977" y="2415492"/>
          <a:ext cx="724562" cy="2187626"/>
        </p:xfrm>
        <a:graphic>
          <a:graphicData uri="http://schemas.openxmlformats.org/drawingml/2006/table">
            <a:tbl>
              <a:tblPr firstRow="1" firstCol="1" bandRow="1"/>
              <a:tblGrid>
                <a:gridCol w="724562">
                  <a:extLst>
                    <a:ext uri="{9D8B030D-6E8A-4147-A177-3AD203B41FA5}">
                      <a16:colId xmlns:a16="http://schemas.microsoft.com/office/drawing/2014/main" val="55631004"/>
                    </a:ext>
                  </a:extLst>
                </a:gridCol>
              </a:tblGrid>
              <a:tr h="21876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A1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A2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678770"/>
              </p:ext>
            </p:extLst>
          </p:nvPr>
        </p:nvGraphicFramePr>
        <p:xfrm>
          <a:off x="7060732" y="2412025"/>
          <a:ext cx="707246" cy="1106526"/>
        </p:xfrm>
        <a:graphic>
          <a:graphicData uri="http://schemas.openxmlformats.org/drawingml/2006/table">
            <a:tbl>
              <a:tblPr firstRow="1" firstCol="1" bandRow="1"/>
              <a:tblGrid>
                <a:gridCol w="707246">
                  <a:extLst>
                    <a:ext uri="{9D8B030D-6E8A-4147-A177-3AD203B41FA5}">
                      <a16:colId xmlns:a16="http://schemas.microsoft.com/office/drawing/2014/main" val="55631004"/>
                    </a:ext>
                  </a:extLst>
                </a:gridCol>
              </a:tblGrid>
              <a:tr h="11065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B1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30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9B13-6E6A-CEFE-BE6F-6CA77A42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Ouch……</a:t>
            </a:r>
            <a:endParaRPr lang="en-SG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639589"/>
              </p:ext>
            </p:extLst>
          </p:nvPr>
        </p:nvGraphicFramePr>
        <p:xfrm>
          <a:off x="7078413" y="675295"/>
          <a:ext cx="1643124" cy="945515"/>
        </p:xfrm>
        <a:graphic>
          <a:graphicData uri="http://schemas.openxmlformats.org/drawingml/2006/table">
            <a:tbl>
              <a:tblPr firstRow="1" firstCol="1" bandRow="1"/>
              <a:tblGrid>
                <a:gridCol w="1643124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A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x++;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596863"/>
              </p:ext>
            </p:extLst>
          </p:nvPr>
        </p:nvGraphicFramePr>
        <p:xfrm>
          <a:off x="8944999" y="675295"/>
          <a:ext cx="1624761" cy="945515"/>
        </p:xfrm>
        <a:graphic>
          <a:graphicData uri="http://schemas.openxmlformats.org/drawingml/2006/table">
            <a:tbl>
              <a:tblPr firstRow="1" firstCol="1" bandRow="1"/>
              <a:tblGrid>
                <a:gridCol w="1624761">
                  <a:extLst>
                    <a:ext uri="{9D8B030D-6E8A-4147-A177-3AD203B41FA5}">
                      <a16:colId xmlns:a16="http://schemas.microsoft.com/office/drawing/2014/main" val="2915673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SG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Task B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4917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2*x;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249576"/>
              </p:ext>
            </p:extLst>
          </p:nvPr>
        </p:nvGraphicFramePr>
        <p:xfrm>
          <a:off x="1967346" y="1870521"/>
          <a:ext cx="841348" cy="3116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348">
                  <a:extLst>
                    <a:ext uri="{9D8B030D-6E8A-4147-A177-3AD203B41FA5}">
                      <a16:colId xmlns:a16="http://schemas.microsoft.com/office/drawing/2014/main" val="1899079155"/>
                    </a:ext>
                  </a:extLst>
                </a:gridCol>
              </a:tblGrid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9813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54212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9360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10509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A3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61862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A4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9723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646899"/>
              </p:ext>
            </p:extLst>
          </p:nvPr>
        </p:nvGraphicFramePr>
        <p:xfrm>
          <a:off x="7078413" y="1721304"/>
          <a:ext cx="1643125" cy="1280160"/>
        </p:xfrm>
        <a:graphic>
          <a:graphicData uri="http://schemas.openxmlformats.org/drawingml/2006/table">
            <a:tbl>
              <a:tblPr firstRow="1" firstCol="1" bandRow="1"/>
              <a:tblGrid>
                <a:gridCol w="466735">
                  <a:extLst>
                    <a:ext uri="{9D8B030D-6E8A-4147-A177-3AD203B41FA5}">
                      <a16:colId xmlns:a16="http://schemas.microsoft.com/office/drawing/2014/main" val="55631004"/>
                    </a:ext>
                  </a:extLst>
                </a:gridCol>
                <a:gridCol w="1176390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A1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A2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A3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load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1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load</a:t>
                      </a:r>
                      <a:r>
                        <a:rPr lang="en-US" sz="1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1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78198"/>
              </p:ext>
            </p:extLst>
          </p:nvPr>
        </p:nvGraphicFramePr>
        <p:xfrm>
          <a:off x="8944999" y="1721305"/>
          <a:ext cx="1624761" cy="671195"/>
        </p:xfrm>
        <a:graphic>
          <a:graphicData uri="http://schemas.openxmlformats.org/drawingml/2006/table">
            <a:tbl>
              <a:tblPr firstRow="1" firstCol="1" bandRow="1"/>
              <a:tblGrid>
                <a:gridCol w="483650">
                  <a:extLst>
                    <a:ext uri="{9D8B030D-6E8A-4147-A177-3AD203B41FA5}">
                      <a16:colId xmlns:a16="http://schemas.microsoft.com/office/drawing/2014/main" val="55631004"/>
                    </a:ext>
                  </a:extLst>
                </a:gridCol>
                <a:gridCol w="1141111">
                  <a:extLst>
                    <a:ext uri="{9D8B030D-6E8A-4147-A177-3AD203B41FA5}">
                      <a16:colId xmlns:a16="http://schemas.microsoft.com/office/drawing/2014/main" val="2693104489"/>
                    </a:ext>
                  </a:extLst>
                </a:gridCol>
              </a:tblGrid>
              <a:tr h="6711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B1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load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…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660066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store</a:t>
                      </a:r>
                      <a:r>
                        <a:rPr lang="en-US" sz="1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7455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407250"/>
              </p:ext>
            </p:extLst>
          </p:nvPr>
        </p:nvGraphicFramePr>
        <p:xfrm>
          <a:off x="3034222" y="1870521"/>
          <a:ext cx="841348" cy="3116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348">
                  <a:extLst>
                    <a:ext uri="{9D8B030D-6E8A-4147-A177-3AD203B41FA5}">
                      <a16:colId xmlns:a16="http://schemas.microsoft.com/office/drawing/2014/main" val="1899079155"/>
                    </a:ext>
                  </a:extLst>
                </a:gridCol>
              </a:tblGrid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9813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54212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9360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10509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A3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61862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A4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97235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106386"/>
              </p:ext>
            </p:extLst>
          </p:nvPr>
        </p:nvGraphicFramePr>
        <p:xfrm>
          <a:off x="4099031" y="1870521"/>
          <a:ext cx="841348" cy="3116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348">
                  <a:extLst>
                    <a:ext uri="{9D8B030D-6E8A-4147-A177-3AD203B41FA5}">
                      <a16:colId xmlns:a16="http://schemas.microsoft.com/office/drawing/2014/main" val="1899079155"/>
                    </a:ext>
                  </a:extLst>
                </a:gridCol>
              </a:tblGrid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9813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54212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9360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10509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A3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61862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A4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97235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771499"/>
              </p:ext>
            </p:extLst>
          </p:nvPr>
        </p:nvGraphicFramePr>
        <p:xfrm>
          <a:off x="5112182" y="1870521"/>
          <a:ext cx="841348" cy="3116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348">
                  <a:extLst>
                    <a:ext uri="{9D8B030D-6E8A-4147-A177-3AD203B41FA5}">
                      <a16:colId xmlns:a16="http://schemas.microsoft.com/office/drawing/2014/main" val="1899079155"/>
                    </a:ext>
                  </a:extLst>
                </a:gridCol>
              </a:tblGrid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9813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54212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9360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A3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10509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61862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A4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97235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514380"/>
              </p:ext>
            </p:extLst>
          </p:nvPr>
        </p:nvGraphicFramePr>
        <p:xfrm>
          <a:off x="6125334" y="1882772"/>
          <a:ext cx="841348" cy="3116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348">
                  <a:extLst>
                    <a:ext uri="{9D8B030D-6E8A-4147-A177-3AD203B41FA5}">
                      <a16:colId xmlns:a16="http://schemas.microsoft.com/office/drawing/2014/main" val="1899079155"/>
                    </a:ext>
                  </a:extLst>
                </a:gridCol>
              </a:tblGrid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9813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A1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54212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9360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A3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105099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A4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618621"/>
                  </a:ext>
                </a:extLst>
              </a:tr>
              <a:tr h="51949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B2</a:t>
                      </a:r>
                      <a:endParaRPr lang="en-SG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97235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1967346" y="5264099"/>
            <a:ext cx="841348" cy="1047750"/>
            <a:chOff x="443346" y="4667249"/>
            <a:chExt cx="841348" cy="1047750"/>
          </a:xfrm>
        </p:grpSpPr>
        <p:sp>
          <p:nvSpPr>
            <p:cNvPr id="3" name="Rounded Rectangle 2"/>
            <p:cNvSpPr/>
            <p:nvPr/>
          </p:nvSpPr>
          <p:spPr>
            <a:xfrm>
              <a:off x="443346" y="5191124"/>
              <a:ext cx="841348" cy="5238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2</a:t>
              </a:r>
              <a:endParaRPr lang="en-SG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43346" y="4667249"/>
              <a:ext cx="841348" cy="52387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660066"/>
                  </a:solidFill>
                  <a:latin typeface="Consolas" panose="020B0609020204030204" pitchFamily="49" charset="0"/>
                </a:rPr>
                <a:t>x</a:t>
              </a:r>
              <a:endParaRPr lang="en-SG" sz="3200" b="1" dirty="0">
                <a:solidFill>
                  <a:srgbClr val="660066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034222" y="5264099"/>
            <a:ext cx="841348" cy="1047750"/>
            <a:chOff x="443346" y="4667249"/>
            <a:chExt cx="841348" cy="1047750"/>
          </a:xfrm>
        </p:grpSpPr>
        <p:sp>
          <p:nvSpPr>
            <p:cNvPr id="22" name="Rounded Rectangle 21"/>
            <p:cNvSpPr/>
            <p:nvPr/>
          </p:nvSpPr>
          <p:spPr>
            <a:xfrm>
              <a:off x="443346" y="5191124"/>
              <a:ext cx="841348" cy="5238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2</a:t>
              </a:r>
              <a:endParaRPr lang="en-SG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43346" y="4667249"/>
              <a:ext cx="841348" cy="52387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660066"/>
                  </a:solidFill>
                  <a:latin typeface="Consolas" panose="020B0609020204030204" pitchFamily="49" charset="0"/>
                </a:rPr>
                <a:t>x</a:t>
              </a:r>
              <a:endParaRPr lang="en-SG" sz="3200" b="1" dirty="0">
                <a:solidFill>
                  <a:srgbClr val="660066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099031" y="5264099"/>
            <a:ext cx="841348" cy="1047750"/>
            <a:chOff x="443346" y="4667249"/>
            <a:chExt cx="841348" cy="1047750"/>
          </a:xfrm>
        </p:grpSpPr>
        <p:sp>
          <p:nvSpPr>
            <p:cNvPr id="25" name="Rounded Rectangle 24"/>
            <p:cNvSpPr/>
            <p:nvPr/>
          </p:nvSpPr>
          <p:spPr>
            <a:xfrm>
              <a:off x="443346" y="5191124"/>
              <a:ext cx="841348" cy="5238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1</a:t>
              </a:r>
              <a:endParaRPr lang="en-SG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43346" y="4667249"/>
              <a:ext cx="841348" cy="52387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660066"/>
                  </a:solidFill>
                  <a:latin typeface="Consolas" panose="020B0609020204030204" pitchFamily="49" charset="0"/>
                </a:rPr>
                <a:t>x</a:t>
              </a:r>
              <a:endParaRPr lang="en-SG" sz="3200" b="1" dirty="0">
                <a:solidFill>
                  <a:srgbClr val="660066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112182" y="5264099"/>
            <a:ext cx="841348" cy="1047750"/>
            <a:chOff x="443346" y="4667249"/>
            <a:chExt cx="841348" cy="1047750"/>
          </a:xfrm>
        </p:grpSpPr>
        <p:sp>
          <p:nvSpPr>
            <p:cNvPr id="28" name="Rounded Rectangle 27"/>
            <p:cNvSpPr/>
            <p:nvPr/>
          </p:nvSpPr>
          <p:spPr>
            <a:xfrm>
              <a:off x="443346" y="5191124"/>
              <a:ext cx="841348" cy="5238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2</a:t>
              </a:r>
              <a:endParaRPr lang="en-SG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43346" y="4667249"/>
              <a:ext cx="841348" cy="52387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660066"/>
                  </a:solidFill>
                  <a:latin typeface="Consolas" panose="020B0609020204030204" pitchFamily="49" charset="0"/>
                </a:rPr>
                <a:t>x</a:t>
              </a:r>
              <a:endParaRPr lang="en-SG" sz="3200" b="1" dirty="0">
                <a:solidFill>
                  <a:srgbClr val="660066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125334" y="5264099"/>
            <a:ext cx="841348" cy="1047750"/>
            <a:chOff x="443346" y="4667249"/>
            <a:chExt cx="841348" cy="1047750"/>
          </a:xfrm>
        </p:grpSpPr>
        <p:sp>
          <p:nvSpPr>
            <p:cNvPr id="31" name="Rounded Rectangle 30"/>
            <p:cNvSpPr/>
            <p:nvPr/>
          </p:nvSpPr>
          <p:spPr>
            <a:xfrm>
              <a:off x="443346" y="5191124"/>
              <a:ext cx="841348" cy="5238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0</a:t>
              </a:r>
              <a:endParaRPr lang="en-SG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43346" y="4667249"/>
              <a:ext cx="841348" cy="52387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660066"/>
                  </a:solidFill>
                  <a:latin typeface="Consolas" panose="020B0609020204030204" pitchFamily="49" charset="0"/>
                </a:rPr>
                <a:t>x</a:t>
              </a:r>
              <a:endParaRPr lang="en-SG" sz="3200" b="1" dirty="0">
                <a:solidFill>
                  <a:srgbClr val="660066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833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6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42365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362737"/>
            <a:ext cx="7886700" cy="5814226"/>
          </a:xfrm>
        </p:spPr>
        <p:txBody>
          <a:bodyPr/>
          <a:lstStyle/>
          <a:p>
            <a:r>
              <a:rPr lang="en-US" dirty="0"/>
              <a:t>Can disabling interrupts avoid race conditions?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yes, would disabling interrupts be a good way of avoiding race conditions? Explain.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7108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8464-0331-389A-3E46-1C592D71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F7A32-D0AE-6AA7-623B-A6400126A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79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ctrTitle"/>
          </p:nvPr>
        </p:nvSpPr>
        <p:spPr>
          <a:xfrm>
            <a:off x="2209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C00000"/>
              </a:buClr>
              <a:buSzPts val="6000"/>
            </a:pPr>
            <a:r>
              <a:rPr lang="en-SG" dirty="0">
                <a:solidFill>
                  <a:srgbClr val="C00000"/>
                </a:solidFill>
              </a:rPr>
              <a:t>Tutorial 6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2667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SG" dirty="0"/>
              <a:t>Question 3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152400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SG"/>
              <a:t>Compare &amp; Swap</a:t>
            </a:r>
            <a:endParaRPr/>
          </a:p>
        </p:txBody>
      </p:sp>
      <p:grpSp>
        <p:nvGrpSpPr>
          <p:cNvPr id="108" name="Google Shape;108;p4"/>
          <p:cNvGrpSpPr/>
          <p:nvPr/>
        </p:nvGrpSpPr>
        <p:grpSpPr>
          <a:xfrm>
            <a:off x="8305800" y="1371600"/>
            <a:ext cx="2286000" cy="4953000"/>
            <a:chOff x="6629400" y="1219200"/>
            <a:chExt cx="2286000" cy="4953000"/>
          </a:xfrm>
        </p:grpSpPr>
        <p:sp>
          <p:nvSpPr>
            <p:cNvPr id="109" name="Google Shape;109;p4"/>
            <p:cNvSpPr/>
            <p:nvPr/>
          </p:nvSpPr>
          <p:spPr>
            <a:xfrm>
              <a:off x="6629400" y="3276600"/>
              <a:ext cx="1371600" cy="457200"/>
            </a:xfrm>
            <a:prstGeom prst="rect">
              <a:avLst/>
            </a:prstGeom>
            <a:solidFill>
              <a:srgbClr val="CCFF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123</a:t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8153400" y="28194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b="1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1024</a:t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8153400" y="32766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1025</a:t>
              </a: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8153400" y="37338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1026</a:t>
              </a:r>
              <a:endParaRPr/>
            </a:p>
          </p:txBody>
        </p:sp>
        <p:grpSp>
          <p:nvGrpSpPr>
            <p:cNvPr id="113" name="Google Shape;113;p4"/>
            <p:cNvGrpSpPr/>
            <p:nvPr/>
          </p:nvGrpSpPr>
          <p:grpSpPr>
            <a:xfrm>
              <a:off x="6629400" y="1676400"/>
              <a:ext cx="1371600" cy="1143000"/>
              <a:chOff x="2448" y="1536"/>
              <a:chExt cx="864" cy="720"/>
            </a:xfrm>
          </p:grpSpPr>
          <p:sp>
            <p:nvSpPr>
              <p:cNvPr id="114" name="Google Shape;114;p4"/>
              <p:cNvSpPr/>
              <p:nvPr/>
            </p:nvSpPr>
            <p:spPr>
              <a:xfrm>
                <a:off x="2448" y="1536"/>
                <a:ext cx="864" cy="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28600" rIns="0" bIns="228600" anchor="ctr" anchorCtr="0">
                <a:noAutofit/>
              </a:bodyPr>
              <a:lstStyle/>
              <a:p>
                <a:pPr algn="ctr"/>
                <a:r>
                  <a:rPr lang="en-SG">
                    <a:solidFill>
                      <a:schemeClr val="dk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…</a:t>
                </a:r>
                <a:endParaRPr/>
              </a:p>
              <a:p>
                <a:pPr algn="ctr">
                  <a:spcBef>
                    <a:spcPts val="900"/>
                  </a:spcBef>
                </a:pPr>
                <a:r>
                  <a:rPr lang="en-SG">
                    <a:solidFill>
                      <a:schemeClr val="dk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…</a:t>
                </a:r>
                <a:endParaRPr/>
              </a:p>
            </p:txBody>
          </p:sp>
          <p:grpSp>
            <p:nvGrpSpPr>
              <p:cNvPr id="115" name="Google Shape;115;p4"/>
              <p:cNvGrpSpPr/>
              <p:nvPr/>
            </p:nvGrpSpPr>
            <p:grpSpPr>
              <a:xfrm>
                <a:off x="2448" y="1584"/>
                <a:ext cx="864" cy="672"/>
                <a:chOff x="2448" y="1392"/>
                <a:chExt cx="864" cy="912"/>
              </a:xfrm>
            </p:grpSpPr>
            <p:cxnSp>
              <p:nvCxnSpPr>
                <p:cNvPr id="116" name="Google Shape;116;p4"/>
                <p:cNvCxnSpPr/>
                <p:nvPr/>
              </p:nvCxnSpPr>
              <p:spPr>
                <a:xfrm>
                  <a:off x="2448" y="1392"/>
                  <a:ext cx="0" cy="91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4"/>
                <p:cNvCxnSpPr/>
                <p:nvPr/>
              </p:nvCxnSpPr>
              <p:spPr>
                <a:xfrm>
                  <a:off x="3312" y="1392"/>
                  <a:ext cx="0" cy="91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8" name="Google Shape;118;p4"/>
            <p:cNvGrpSpPr/>
            <p:nvPr/>
          </p:nvGrpSpPr>
          <p:grpSpPr>
            <a:xfrm>
              <a:off x="6629400" y="5029200"/>
              <a:ext cx="1371600" cy="1143000"/>
              <a:chOff x="2448" y="1536"/>
              <a:chExt cx="864" cy="72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2448" y="1536"/>
                <a:ext cx="864" cy="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28600" rIns="0" bIns="228600" anchor="ctr" anchorCtr="0">
                <a:noAutofit/>
              </a:bodyPr>
              <a:lstStyle/>
              <a:p>
                <a:pPr algn="ctr"/>
                <a:r>
                  <a:rPr lang="en-SG">
                    <a:solidFill>
                      <a:schemeClr val="dk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…</a:t>
                </a:r>
                <a:endParaRPr/>
              </a:p>
              <a:p>
                <a:pPr algn="ctr">
                  <a:spcBef>
                    <a:spcPts val="900"/>
                  </a:spcBef>
                </a:pPr>
                <a:r>
                  <a:rPr lang="en-SG">
                    <a:solidFill>
                      <a:schemeClr val="dk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…</a:t>
                </a:r>
                <a:endParaRPr/>
              </a:p>
            </p:txBody>
          </p:sp>
          <p:grpSp>
            <p:nvGrpSpPr>
              <p:cNvPr id="120" name="Google Shape;120;p4"/>
              <p:cNvGrpSpPr/>
              <p:nvPr/>
            </p:nvGrpSpPr>
            <p:grpSpPr>
              <a:xfrm>
                <a:off x="2448" y="1584"/>
                <a:ext cx="864" cy="672"/>
                <a:chOff x="2448" y="1392"/>
                <a:chExt cx="864" cy="912"/>
              </a:xfrm>
            </p:grpSpPr>
            <p:cxnSp>
              <p:nvCxnSpPr>
                <p:cNvPr id="121" name="Google Shape;121;p4"/>
                <p:cNvCxnSpPr/>
                <p:nvPr/>
              </p:nvCxnSpPr>
              <p:spPr>
                <a:xfrm>
                  <a:off x="2448" y="1392"/>
                  <a:ext cx="0" cy="91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2" name="Google Shape;122;p4"/>
                <p:cNvCxnSpPr/>
                <p:nvPr/>
              </p:nvCxnSpPr>
              <p:spPr>
                <a:xfrm>
                  <a:off x="3312" y="1392"/>
                  <a:ext cx="0" cy="91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23" name="Google Shape;123;p4"/>
            <p:cNvSpPr/>
            <p:nvPr/>
          </p:nvSpPr>
          <p:spPr>
            <a:xfrm>
              <a:off x="6629400" y="41910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8153400" y="41910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1027</a:t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629400" y="46482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8153400" y="46482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1028</a:t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8077200" y="12192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6934200" y="12192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content</a:t>
              </a:r>
              <a:endParaRPr/>
            </a:p>
          </p:txBody>
        </p:sp>
        <p:cxnSp>
          <p:nvCxnSpPr>
            <p:cNvPr id="129" name="Google Shape;129;p4"/>
            <p:cNvCxnSpPr/>
            <p:nvPr/>
          </p:nvCxnSpPr>
          <p:spPr>
            <a:xfrm>
              <a:off x="8458200" y="1524000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130" name="Google Shape;130;p4"/>
            <p:cNvCxnSpPr/>
            <p:nvPr/>
          </p:nvCxnSpPr>
          <p:spPr>
            <a:xfrm>
              <a:off x="7315200" y="1524000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sp>
          <p:nvSpPr>
            <p:cNvPr id="131" name="Google Shape;131;p4"/>
            <p:cNvSpPr/>
            <p:nvPr/>
          </p:nvSpPr>
          <p:spPr>
            <a:xfrm>
              <a:off x="6629400" y="37338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endParaRPr>
                <a:solidFill>
                  <a:srgbClr val="66006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6629400" y="32766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6629400" y="28194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4"/>
          <p:cNvSpPr/>
          <p:nvPr/>
        </p:nvSpPr>
        <p:spPr>
          <a:xfrm>
            <a:off x="8305800" y="2971800"/>
            <a:ext cx="1371600" cy="457200"/>
          </a:xfrm>
          <a:prstGeom prst="rect">
            <a:avLst/>
          </a:prstGeom>
          <a:solidFill>
            <a:srgbClr val="FCEAD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r>
              <a:rPr lang="en-SG" sz="240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1234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305800" y="2971800"/>
            <a:ext cx="1371600" cy="457200"/>
          </a:xfrm>
          <a:prstGeom prst="rect">
            <a:avLst/>
          </a:prstGeom>
          <a:solidFill>
            <a:srgbClr val="FCEAD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endParaRPr sz="2400">
              <a:solidFill>
                <a:srgbClr val="0066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136" name="Google Shape;136;p4"/>
          <p:cNvCxnSpPr>
            <a:endCxn id="135" idx="1"/>
          </p:cNvCxnSpPr>
          <p:nvPr/>
        </p:nvCxnSpPr>
        <p:spPr>
          <a:xfrm rot="10800000" flipH="1">
            <a:off x="5164200" y="3200400"/>
            <a:ext cx="3141600" cy="7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lg" len="lg"/>
          </a:ln>
        </p:spPr>
      </p:cxnSp>
      <p:grpSp>
        <p:nvGrpSpPr>
          <p:cNvPr id="137" name="Google Shape;137;p4"/>
          <p:cNvGrpSpPr/>
          <p:nvPr/>
        </p:nvGrpSpPr>
        <p:grpSpPr>
          <a:xfrm>
            <a:off x="3887638" y="3009900"/>
            <a:ext cx="1446362" cy="457200"/>
            <a:chOff x="2363638" y="3009900"/>
            <a:chExt cx="1446362" cy="457200"/>
          </a:xfrm>
        </p:grpSpPr>
        <p:sp>
          <p:nvSpPr>
            <p:cNvPr id="138" name="Google Shape;138;p4"/>
            <p:cNvSpPr/>
            <p:nvPr/>
          </p:nvSpPr>
          <p:spPr>
            <a:xfrm>
              <a:off x="2734574" y="3009900"/>
              <a:ext cx="1075426" cy="457200"/>
            </a:xfrm>
            <a:prstGeom prst="rect">
              <a:avLst/>
            </a:prstGeom>
            <a:solidFill>
              <a:srgbClr val="E6F2D9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>
                  <a:solidFill>
                    <a:srgbClr val="66006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1024</a:t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363638" y="3009900"/>
              <a:ext cx="376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800" b="1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t</a:t>
              </a:r>
              <a:endParaRPr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3881888" y="3543300"/>
            <a:ext cx="1452112" cy="457200"/>
            <a:chOff x="2357888" y="3543300"/>
            <a:chExt cx="1452112" cy="457200"/>
          </a:xfrm>
        </p:grpSpPr>
        <p:sp>
          <p:nvSpPr>
            <p:cNvPr id="141" name="Google Shape;141;p4"/>
            <p:cNvSpPr/>
            <p:nvPr/>
          </p:nvSpPr>
          <p:spPr>
            <a:xfrm>
              <a:off x="2734574" y="3543300"/>
              <a:ext cx="1075426" cy="457200"/>
            </a:xfrm>
            <a:prstGeom prst="rect">
              <a:avLst/>
            </a:prstGeom>
            <a:solidFill>
              <a:srgbClr val="E6F2D9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>
                  <a:solidFill>
                    <a:srgbClr val="C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123</a:t>
              </a:r>
              <a:endParaRPr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2357888" y="3543300"/>
              <a:ext cx="376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800" b="1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v</a:t>
              </a:r>
              <a:endParaRPr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43" name="Google Shape;143;p4"/>
          <p:cNvGrpSpPr/>
          <p:nvPr/>
        </p:nvGrpSpPr>
        <p:grpSpPr>
          <a:xfrm>
            <a:off x="3881888" y="4114800"/>
            <a:ext cx="1452112" cy="457200"/>
            <a:chOff x="2357888" y="4114800"/>
            <a:chExt cx="1452112" cy="457200"/>
          </a:xfrm>
        </p:grpSpPr>
        <p:sp>
          <p:nvSpPr>
            <p:cNvPr id="144" name="Google Shape;144;p4"/>
            <p:cNvSpPr/>
            <p:nvPr/>
          </p:nvSpPr>
          <p:spPr>
            <a:xfrm>
              <a:off x="2734574" y="4114800"/>
              <a:ext cx="1075426" cy="457200"/>
            </a:xfrm>
            <a:prstGeom prst="rect">
              <a:avLst/>
            </a:prstGeom>
            <a:solidFill>
              <a:srgbClr val="E6F2D9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>
                  <a:solidFill>
                    <a:srgbClr val="00206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456</a:t>
              </a:r>
              <a:endParaRPr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357888" y="4114800"/>
              <a:ext cx="376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800" b="1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n</a:t>
              </a:r>
              <a:endParaRPr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46" name="Google Shape;146;p4"/>
          <p:cNvSpPr txBox="1"/>
          <p:nvPr/>
        </p:nvSpPr>
        <p:spPr>
          <a:xfrm>
            <a:off x="1810470" y="1938636"/>
            <a:ext cx="59716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sbcas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(int* </a:t>
            </a:r>
            <a:r>
              <a:rPr lang="en-SG" sz="24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int </a:t>
            </a:r>
            <a:r>
              <a:rPr lang="en-SG" sz="24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int </a:t>
            </a:r>
            <a:r>
              <a:rPr lang="en-SG" sz="24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>
            <a:spLocks noGrp="1"/>
          </p:cNvSpPr>
          <p:nvPr>
            <p:ph type="title"/>
          </p:nvPr>
        </p:nvSpPr>
        <p:spPr>
          <a:xfrm>
            <a:off x="1524000" y="-22051"/>
            <a:ext cx="9144000" cy="952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SG"/>
              <a:t>Compare &amp;Swap</a:t>
            </a:r>
            <a:endParaRPr/>
          </a:p>
        </p:txBody>
      </p:sp>
      <p:grpSp>
        <p:nvGrpSpPr>
          <p:cNvPr id="152" name="Google Shape;152;p5"/>
          <p:cNvGrpSpPr/>
          <p:nvPr/>
        </p:nvGrpSpPr>
        <p:grpSpPr>
          <a:xfrm>
            <a:off x="8305800" y="0"/>
            <a:ext cx="2286000" cy="4953000"/>
            <a:chOff x="6629400" y="1219200"/>
            <a:chExt cx="2286000" cy="4953000"/>
          </a:xfrm>
        </p:grpSpPr>
        <p:sp>
          <p:nvSpPr>
            <p:cNvPr id="153" name="Google Shape;153;p5"/>
            <p:cNvSpPr/>
            <p:nvPr/>
          </p:nvSpPr>
          <p:spPr>
            <a:xfrm>
              <a:off x="6629400" y="3276600"/>
              <a:ext cx="1371600" cy="457200"/>
            </a:xfrm>
            <a:prstGeom prst="rect">
              <a:avLst/>
            </a:prstGeom>
            <a:solidFill>
              <a:srgbClr val="CCFF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123</a:t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8153400" y="28194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b="1">
                  <a:solidFill>
                    <a:srgbClr val="660066"/>
                  </a:solidFill>
                  <a:latin typeface="Calibri"/>
                  <a:ea typeface="Calibri"/>
                  <a:cs typeface="Calibri"/>
                  <a:sym typeface="Calibri"/>
                </a:rPr>
                <a:t>1024</a:t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8153400" y="32766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1025</a:t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8153400" y="37338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1026</a:t>
              </a:r>
              <a:endParaRPr/>
            </a:p>
          </p:txBody>
        </p:sp>
        <p:grpSp>
          <p:nvGrpSpPr>
            <p:cNvPr id="157" name="Google Shape;157;p5"/>
            <p:cNvGrpSpPr/>
            <p:nvPr/>
          </p:nvGrpSpPr>
          <p:grpSpPr>
            <a:xfrm>
              <a:off x="6629400" y="1676400"/>
              <a:ext cx="1371600" cy="1143000"/>
              <a:chOff x="2448" y="1536"/>
              <a:chExt cx="864" cy="720"/>
            </a:xfrm>
          </p:grpSpPr>
          <p:sp>
            <p:nvSpPr>
              <p:cNvPr id="158" name="Google Shape;158;p5"/>
              <p:cNvSpPr/>
              <p:nvPr/>
            </p:nvSpPr>
            <p:spPr>
              <a:xfrm>
                <a:off x="2448" y="1536"/>
                <a:ext cx="864" cy="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28600" rIns="0" bIns="228600" anchor="ctr" anchorCtr="0">
                <a:noAutofit/>
              </a:bodyPr>
              <a:lstStyle/>
              <a:p>
                <a:pPr algn="ctr"/>
                <a:r>
                  <a:rPr lang="en-SG">
                    <a:solidFill>
                      <a:schemeClr val="dk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…</a:t>
                </a:r>
                <a:endParaRPr/>
              </a:p>
              <a:p>
                <a:pPr algn="ctr">
                  <a:spcBef>
                    <a:spcPts val="900"/>
                  </a:spcBef>
                </a:pPr>
                <a:r>
                  <a:rPr lang="en-SG">
                    <a:solidFill>
                      <a:schemeClr val="dk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…</a:t>
                </a:r>
                <a:endParaRPr/>
              </a:p>
            </p:txBody>
          </p:sp>
          <p:grpSp>
            <p:nvGrpSpPr>
              <p:cNvPr id="159" name="Google Shape;159;p5"/>
              <p:cNvGrpSpPr/>
              <p:nvPr/>
            </p:nvGrpSpPr>
            <p:grpSpPr>
              <a:xfrm>
                <a:off x="2448" y="1584"/>
                <a:ext cx="864" cy="672"/>
                <a:chOff x="2448" y="1392"/>
                <a:chExt cx="864" cy="912"/>
              </a:xfrm>
            </p:grpSpPr>
            <p:cxnSp>
              <p:nvCxnSpPr>
                <p:cNvPr id="160" name="Google Shape;160;p5"/>
                <p:cNvCxnSpPr/>
                <p:nvPr/>
              </p:nvCxnSpPr>
              <p:spPr>
                <a:xfrm>
                  <a:off x="2448" y="1392"/>
                  <a:ext cx="0" cy="91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5"/>
                <p:cNvCxnSpPr/>
                <p:nvPr/>
              </p:nvCxnSpPr>
              <p:spPr>
                <a:xfrm>
                  <a:off x="3312" y="1392"/>
                  <a:ext cx="0" cy="91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2" name="Google Shape;162;p5"/>
            <p:cNvGrpSpPr/>
            <p:nvPr/>
          </p:nvGrpSpPr>
          <p:grpSpPr>
            <a:xfrm>
              <a:off x="6629400" y="5029200"/>
              <a:ext cx="1371600" cy="1143000"/>
              <a:chOff x="2448" y="1536"/>
              <a:chExt cx="864" cy="72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2448" y="1536"/>
                <a:ext cx="864" cy="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28600" rIns="0" bIns="228600" anchor="ctr" anchorCtr="0">
                <a:noAutofit/>
              </a:bodyPr>
              <a:lstStyle/>
              <a:p>
                <a:pPr algn="ctr"/>
                <a:r>
                  <a:rPr lang="en-SG">
                    <a:solidFill>
                      <a:schemeClr val="dk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…</a:t>
                </a:r>
                <a:endParaRPr/>
              </a:p>
              <a:p>
                <a:pPr algn="ctr">
                  <a:spcBef>
                    <a:spcPts val="900"/>
                  </a:spcBef>
                </a:pPr>
                <a:r>
                  <a:rPr lang="en-SG">
                    <a:solidFill>
                      <a:schemeClr val="dk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…</a:t>
                </a:r>
                <a:endParaRPr/>
              </a:p>
            </p:txBody>
          </p:sp>
          <p:grpSp>
            <p:nvGrpSpPr>
              <p:cNvPr id="164" name="Google Shape;164;p5"/>
              <p:cNvGrpSpPr/>
              <p:nvPr/>
            </p:nvGrpSpPr>
            <p:grpSpPr>
              <a:xfrm>
                <a:off x="2448" y="1584"/>
                <a:ext cx="864" cy="672"/>
                <a:chOff x="2448" y="1392"/>
                <a:chExt cx="864" cy="912"/>
              </a:xfrm>
            </p:grpSpPr>
            <p:cxnSp>
              <p:nvCxnSpPr>
                <p:cNvPr id="165" name="Google Shape;165;p5"/>
                <p:cNvCxnSpPr/>
                <p:nvPr/>
              </p:nvCxnSpPr>
              <p:spPr>
                <a:xfrm>
                  <a:off x="2448" y="1392"/>
                  <a:ext cx="0" cy="91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5"/>
                <p:cNvCxnSpPr/>
                <p:nvPr/>
              </p:nvCxnSpPr>
              <p:spPr>
                <a:xfrm>
                  <a:off x="3312" y="1392"/>
                  <a:ext cx="0" cy="91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67" name="Google Shape;167;p5"/>
            <p:cNvSpPr/>
            <p:nvPr/>
          </p:nvSpPr>
          <p:spPr>
            <a:xfrm>
              <a:off x="6629400" y="41910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8153400" y="41910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1027</a:t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6629400" y="46482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8153400" y="46482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1028</a:t>
              </a: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8077200" y="12192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6934200" y="1219200"/>
              <a:ext cx="7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1600" b="1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content</a:t>
              </a:r>
              <a:endParaRPr/>
            </a:p>
          </p:txBody>
        </p:sp>
        <p:cxnSp>
          <p:nvCxnSpPr>
            <p:cNvPr id="173" name="Google Shape;173;p5"/>
            <p:cNvCxnSpPr/>
            <p:nvPr/>
          </p:nvCxnSpPr>
          <p:spPr>
            <a:xfrm>
              <a:off x="8458200" y="1524000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174" name="Google Shape;174;p5"/>
            <p:cNvCxnSpPr/>
            <p:nvPr/>
          </p:nvCxnSpPr>
          <p:spPr>
            <a:xfrm>
              <a:off x="7315200" y="1524000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sp>
          <p:nvSpPr>
            <p:cNvPr id="175" name="Google Shape;175;p5"/>
            <p:cNvSpPr/>
            <p:nvPr/>
          </p:nvSpPr>
          <p:spPr>
            <a:xfrm>
              <a:off x="6629400" y="37338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endParaRPr>
                <a:solidFill>
                  <a:srgbClr val="66006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6629400" y="32766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6629400" y="2819400"/>
              <a:ext cx="1371600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5"/>
          <p:cNvSpPr/>
          <p:nvPr/>
        </p:nvSpPr>
        <p:spPr>
          <a:xfrm>
            <a:off x="8305800" y="1600200"/>
            <a:ext cx="1371600" cy="457200"/>
          </a:xfrm>
          <a:prstGeom prst="rect">
            <a:avLst/>
          </a:prstGeom>
          <a:solidFill>
            <a:srgbClr val="FCEAD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r>
              <a:rPr lang="en-SG" sz="240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1234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305800" y="1600200"/>
            <a:ext cx="1371600" cy="457200"/>
          </a:xfrm>
          <a:prstGeom prst="rect">
            <a:avLst/>
          </a:prstGeom>
          <a:solidFill>
            <a:srgbClr val="FCEAD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endParaRPr sz="2400">
              <a:solidFill>
                <a:srgbClr val="0066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182374" y="1398888"/>
            <a:ext cx="1075426" cy="457200"/>
          </a:xfrm>
          <a:prstGeom prst="rect">
            <a:avLst/>
          </a:prstGeom>
          <a:solidFill>
            <a:srgbClr val="E6F2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r>
              <a:rPr lang="en-SG">
                <a:solidFill>
                  <a:srgbClr val="660066"/>
                </a:solidFill>
                <a:latin typeface="Arial Black"/>
                <a:ea typeface="Arial Black"/>
                <a:cs typeface="Arial Black"/>
                <a:sym typeface="Arial Black"/>
              </a:rPr>
              <a:t>1024</a:t>
            </a:r>
            <a:endParaRPr/>
          </a:p>
        </p:txBody>
      </p:sp>
      <p:cxnSp>
        <p:nvCxnSpPr>
          <p:cNvPr id="181" name="Google Shape;181;p5"/>
          <p:cNvCxnSpPr/>
          <p:nvPr/>
        </p:nvCxnSpPr>
        <p:spPr>
          <a:xfrm>
            <a:off x="5088147" y="1665588"/>
            <a:ext cx="3370200" cy="152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lg" len="lg"/>
          </a:ln>
        </p:spPr>
      </p:cxnSp>
      <p:sp>
        <p:nvSpPr>
          <p:cNvPr id="182" name="Google Shape;182;p5"/>
          <p:cNvSpPr/>
          <p:nvPr/>
        </p:nvSpPr>
        <p:spPr>
          <a:xfrm>
            <a:off x="4182374" y="1932288"/>
            <a:ext cx="1075426" cy="457200"/>
          </a:xfrm>
          <a:prstGeom prst="rect">
            <a:avLst/>
          </a:prstGeom>
          <a:solidFill>
            <a:srgbClr val="E6F2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endParaRPr>
              <a:solidFill>
                <a:srgbClr val="C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811438" y="1398888"/>
            <a:ext cx="37668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r>
              <a:rPr lang="en-SG"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2800" b="1">
              <a:solidFill>
                <a:srgbClr val="6600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805688" y="1932288"/>
            <a:ext cx="37668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r>
              <a:rPr lang="en-SG"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2800" b="1">
              <a:solidFill>
                <a:srgbClr val="6600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182374" y="2503788"/>
            <a:ext cx="1075426" cy="457200"/>
          </a:xfrm>
          <a:prstGeom prst="rect">
            <a:avLst/>
          </a:prstGeom>
          <a:solidFill>
            <a:srgbClr val="E6F2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endParaRPr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805688" y="2503788"/>
            <a:ext cx="37668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228600" anchor="ctr" anchorCtr="0">
            <a:noAutofit/>
          </a:bodyPr>
          <a:lstStyle/>
          <a:p>
            <a:pPr algn="ctr"/>
            <a:r>
              <a:rPr lang="en-SG"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800" b="1">
              <a:solidFill>
                <a:srgbClr val="6600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1655194" y="774012"/>
            <a:ext cx="59716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sbcas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(int* </a:t>
            </a:r>
            <a:r>
              <a:rPr lang="en-SG" sz="24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int </a:t>
            </a:r>
            <a:r>
              <a:rPr lang="en-SG" sz="24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int </a:t>
            </a:r>
            <a:r>
              <a:rPr lang="en-SG" sz="24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1655194" y="3473493"/>
            <a:ext cx="5971635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ai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int* </a:t>
            </a:r>
            <a:r>
              <a:rPr lang="en-SG" sz="24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ctrTitle"/>
          </p:nvPr>
        </p:nvSpPr>
        <p:spPr>
          <a:xfrm>
            <a:off x="2209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C00000"/>
              </a:buClr>
              <a:buSzPts val="6000"/>
            </a:pPr>
            <a:r>
              <a:rPr lang="en-SG" dirty="0">
                <a:solidFill>
                  <a:srgbClr val="C00000"/>
                </a:solidFill>
              </a:rPr>
              <a:t>Tutorial 6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95" name="Google Shape;195;p6"/>
          <p:cNvSpPr txBox="1">
            <a:spLocks noGrp="1"/>
          </p:cNvSpPr>
          <p:nvPr>
            <p:ph type="subTitle" idx="1"/>
          </p:nvPr>
        </p:nvSpPr>
        <p:spPr>
          <a:xfrm>
            <a:off x="2667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SG" dirty="0"/>
              <a:t>Question 4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>
            <a:spLocks noGrp="1"/>
          </p:cNvSpPr>
          <p:nvPr>
            <p:ph type="title"/>
          </p:nvPr>
        </p:nvSpPr>
        <p:spPr>
          <a:xfrm>
            <a:off x="152400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800"/>
            </a:pPr>
            <a:r>
              <a:rPr lang="en-SG" sz="3800" b="1"/>
              <a:t>Unix Pipes: </a:t>
            </a:r>
            <a:r>
              <a:rPr lang="en-SG" sz="3800" b="1">
                <a:solidFill>
                  <a:srgbClr val="C00000"/>
                </a:solidFill>
              </a:rPr>
              <a:t>Quick Overview</a:t>
            </a:r>
            <a:endParaRPr sz="3800" b="1">
              <a:solidFill>
                <a:srgbClr val="C00000"/>
              </a:solidFill>
            </a:endParaRPr>
          </a:p>
        </p:txBody>
      </p:sp>
      <p:sp>
        <p:nvSpPr>
          <p:cNvPr id="202" name="Google Shape;202;p7"/>
          <p:cNvSpPr txBox="1">
            <a:spLocks noGrp="1"/>
          </p:cNvSpPr>
          <p:nvPr>
            <p:ph type="body" idx="1"/>
          </p:nvPr>
        </p:nvSpPr>
        <p:spPr>
          <a:xfrm>
            <a:off x="1866899" y="3525432"/>
            <a:ext cx="8229600" cy="27799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SG" b="1"/>
              <a:t>TL;DR:</a:t>
            </a:r>
            <a:endParaRPr/>
          </a:p>
          <a:p>
            <a:pPr lvl="1">
              <a:buClr>
                <a:schemeClr val="dk1"/>
              </a:buClr>
              <a:buSzPts val="2400"/>
            </a:pPr>
            <a:r>
              <a:rPr lang="en-SG"/>
              <a:t>Can be shared between processes</a:t>
            </a:r>
            <a:endParaRPr/>
          </a:p>
          <a:p>
            <a:pPr lvl="1">
              <a:buClr>
                <a:schemeClr val="dk1"/>
              </a:buClr>
              <a:buSzPts val="2400"/>
            </a:pPr>
            <a:r>
              <a:rPr lang="en-SG"/>
              <a:t>FIFO, bounded buffer (size not an issue for us…)</a:t>
            </a:r>
            <a:endParaRPr/>
          </a:p>
          <a:p>
            <a:pPr lvl="1">
              <a:buClr>
                <a:schemeClr val="dk1"/>
              </a:buClr>
              <a:buSzPts val="2400"/>
            </a:pPr>
            <a:r>
              <a:rPr lang="en-SG"/>
              <a:t>Read blocks if no data</a:t>
            </a:r>
            <a:endParaRPr/>
          </a:p>
          <a:p>
            <a:pPr lvl="1">
              <a:buClr>
                <a:schemeClr val="dk1"/>
              </a:buClr>
              <a:buSzPts val="2400"/>
            </a:pPr>
            <a:r>
              <a:rPr lang="en-SG"/>
              <a:t>Read consumes data when available</a:t>
            </a:r>
            <a:endParaRPr/>
          </a:p>
          <a:p>
            <a:pPr indent="-50800">
              <a:buClr>
                <a:schemeClr val="dk1"/>
              </a:buClr>
              <a:buSzPts val="2800"/>
              <a:buNone/>
            </a:pPr>
            <a:endParaRPr b="1"/>
          </a:p>
        </p:txBody>
      </p:sp>
      <p:sp>
        <p:nvSpPr>
          <p:cNvPr id="203" name="Google Shape;203;p7"/>
          <p:cNvSpPr/>
          <p:nvPr/>
        </p:nvSpPr>
        <p:spPr>
          <a:xfrm>
            <a:off x="2209800" y="1219200"/>
            <a:ext cx="1676400" cy="1600200"/>
          </a:xfrm>
          <a:prstGeom prst="rect">
            <a:avLst/>
          </a:prstGeom>
          <a:solidFill>
            <a:srgbClr val="F8D6C7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SG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</a:t>
            </a:r>
            <a:r>
              <a:rPr lang="en-SG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/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077200" y="1219200"/>
            <a:ext cx="1752600" cy="1524000"/>
          </a:xfrm>
          <a:prstGeom prst="rect">
            <a:avLst/>
          </a:prstGeom>
          <a:solidFill>
            <a:srgbClr val="C5F5E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SG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</a:t>
            </a:r>
            <a:r>
              <a:rPr lang="en-SG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endParaRPr/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825214" y="1636909"/>
            <a:ext cx="898576" cy="63549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277F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S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261380" y="1636909"/>
            <a:ext cx="905668" cy="63549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658C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S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p7"/>
          <p:cNvGrpSpPr/>
          <p:nvPr/>
        </p:nvGrpSpPr>
        <p:grpSpPr>
          <a:xfrm>
            <a:off x="4750594" y="1624560"/>
            <a:ext cx="2462213" cy="660196"/>
            <a:chOff x="3024187" y="1570039"/>
            <a:chExt cx="2462213" cy="660196"/>
          </a:xfrm>
        </p:grpSpPr>
        <p:pic>
          <p:nvPicPr>
            <p:cNvPr id="208" name="Google Shape;208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24187" y="1570039"/>
              <a:ext cx="2462213" cy="6601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9" name="Google Shape;209;p7"/>
            <p:cNvGrpSpPr/>
            <p:nvPr/>
          </p:nvGrpSpPr>
          <p:grpSpPr>
            <a:xfrm>
              <a:off x="3207544" y="1720603"/>
              <a:ext cx="1911576" cy="372699"/>
              <a:chOff x="3207544" y="1720603"/>
              <a:chExt cx="1911576" cy="372699"/>
            </a:xfrm>
          </p:grpSpPr>
          <p:grpSp>
            <p:nvGrpSpPr>
              <p:cNvPr id="210" name="Google Shape;210;p7"/>
              <p:cNvGrpSpPr/>
              <p:nvPr/>
            </p:nvGrpSpPr>
            <p:grpSpPr>
              <a:xfrm>
                <a:off x="3207544" y="1720603"/>
                <a:ext cx="1283040" cy="372699"/>
                <a:chOff x="2862825" y="2600689"/>
                <a:chExt cx="1283040" cy="372699"/>
              </a:xfrm>
            </p:grpSpPr>
            <p:sp>
              <p:nvSpPr>
                <p:cNvPr id="211" name="Google Shape;211;p7"/>
                <p:cNvSpPr txBox="1"/>
                <p:nvPr/>
              </p:nvSpPr>
              <p:spPr>
                <a:xfrm>
                  <a:off x="3178809" y="2606675"/>
                  <a:ext cx="320675" cy="366713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r>
                    <a:rPr lang="en-SG" b="1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c</a:t>
                  </a:r>
                  <a:endParaRPr/>
                </a:p>
              </p:txBody>
            </p:sp>
            <p:sp>
              <p:nvSpPr>
                <p:cNvPr id="212" name="Google Shape;212;p7"/>
                <p:cNvSpPr txBox="1"/>
                <p:nvPr/>
              </p:nvSpPr>
              <p:spPr>
                <a:xfrm>
                  <a:off x="2862825" y="2602321"/>
                  <a:ext cx="320675" cy="366713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r>
                    <a:rPr lang="en-SG" b="1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d</a:t>
                  </a:r>
                  <a:endParaRPr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13" name="Google Shape;213;p7"/>
                <p:cNvSpPr txBox="1"/>
                <p:nvPr/>
              </p:nvSpPr>
              <p:spPr>
                <a:xfrm>
                  <a:off x="3504515" y="2601278"/>
                  <a:ext cx="320675" cy="366713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r>
                    <a:rPr lang="en-SG" b="1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b</a:t>
                  </a:r>
                  <a:endParaRPr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14" name="Google Shape;214;p7"/>
                <p:cNvSpPr txBox="1"/>
                <p:nvPr/>
              </p:nvSpPr>
              <p:spPr>
                <a:xfrm>
                  <a:off x="3825190" y="2600689"/>
                  <a:ext cx="320675" cy="366713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r>
                    <a:rPr lang="en-SG" b="1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a</a:t>
                  </a:r>
                  <a:endParaRPr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215" name="Google Shape;215;p7"/>
              <p:cNvSpPr txBox="1"/>
              <p:nvPr/>
            </p:nvSpPr>
            <p:spPr>
              <a:xfrm>
                <a:off x="4487023" y="1725047"/>
                <a:ext cx="320675" cy="366713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SG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endParaRPr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16" name="Google Shape;216;p7"/>
              <p:cNvSpPr txBox="1"/>
              <p:nvPr/>
            </p:nvSpPr>
            <p:spPr>
              <a:xfrm>
                <a:off x="4798445" y="1726117"/>
                <a:ext cx="320675" cy="366713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SG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endParaRPr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217" name="Google Shape;217;p7"/>
          <p:cNvGrpSpPr/>
          <p:nvPr/>
        </p:nvGrpSpPr>
        <p:grpSpPr>
          <a:xfrm>
            <a:off x="4209440" y="1260820"/>
            <a:ext cx="3544520" cy="363980"/>
            <a:chOff x="2685440" y="1260820"/>
            <a:chExt cx="3544520" cy="363980"/>
          </a:xfrm>
        </p:grpSpPr>
        <p:sp>
          <p:nvSpPr>
            <p:cNvPr id="218" name="Google Shape;218;p7"/>
            <p:cNvSpPr txBox="1"/>
            <p:nvPr/>
          </p:nvSpPr>
          <p:spPr>
            <a:xfrm>
              <a:off x="2685440" y="1260820"/>
              <a:ext cx="852500" cy="358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800" tIns="40400" rIns="80800" bIns="40400" anchor="t" anchorCtr="0">
              <a:spAutoFit/>
            </a:bodyPr>
            <a:lstStyle/>
            <a:p>
              <a:r>
                <a:rPr lang="en-SG" b="1">
                  <a:solidFill>
                    <a:srgbClr val="0033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fd[1]</a:t>
              </a:r>
              <a:endParaRPr/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5377460" y="1266198"/>
              <a:ext cx="852500" cy="358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800" tIns="40400" rIns="80800" bIns="40400" anchor="t" anchorCtr="0">
              <a:spAutoFit/>
            </a:bodyPr>
            <a:lstStyle/>
            <a:p>
              <a:r>
                <a:rPr lang="en-SG" b="1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fd[0]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152400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800"/>
            </a:pPr>
            <a:r>
              <a:rPr lang="en-SG" sz="3800" b="1"/>
              <a:t>Unix Pipes: </a:t>
            </a:r>
            <a:r>
              <a:rPr lang="en-SG" sz="3800" b="1">
                <a:solidFill>
                  <a:srgbClr val="C00000"/>
                </a:solidFill>
              </a:rPr>
              <a:t>Implement CS?</a:t>
            </a:r>
            <a:endParaRPr sz="3800" b="1">
              <a:solidFill>
                <a:srgbClr val="C00000"/>
              </a:solidFill>
            </a:endParaRPr>
          </a:p>
        </p:txBody>
      </p:sp>
      <p:sp>
        <p:nvSpPr>
          <p:cNvPr id="226" name="Google Shape;226;p8"/>
          <p:cNvSpPr txBox="1">
            <a:spLocks noGrp="1"/>
          </p:cNvSpPr>
          <p:nvPr>
            <p:ph type="body" idx="1"/>
          </p:nvPr>
        </p:nvSpPr>
        <p:spPr>
          <a:xfrm>
            <a:off x="1866899" y="3237109"/>
            <a:ext cx="8229600" cy="30682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SG" b="1"/>
              <a:t>Acquire Lock = ???</a:t>
            </a:r>
            <a:endParaRPr/>
          </a:p>
          <a:p>
            <a:pPr indent="-50800">
              <a:buClr>
                <a:schemeClr val="dk1"/>
              </a:buClr>
              <a:buSzPts val="2800"/>
              <a:buNone/>
            </a:pPr>
            <a:endParaRPr b="1"/>
          </a:p>
          <a:p>
            <a:pPr indent="-50800">
              <a:buClr>
                <a:schemeClr val="dk1"/>
              </a:buClr>
              <a:buSzPts val="2800"/>
              <a:buNone/>
            </a:pPr>
            <a:endParaRPr b="1"/>
          </a:p>
          <a:p>
            <a:pPr>
              <a:buClr>
                <a:schemeClr val="dk1"/>
              </a:buClr>
              <a:buSzPts val="2800"/>
            </a:pPr>
            <a:r>
              <a:rPr lang="en-SG" b="1"/>
              <a:t>Release Lock = ???</a:t>
            </a:r>
            <a:endParaRPr/>
          </a:p>
          <a:p>
            <a:pPr indent="-50800">
              <a:buClr>
                <a:schemeClr val="dk1"/>
              </a:buClr>
              <a:buSzPts val="2800"/>
              <a:buNone/>
            </a:pPr>
            <a:endParaRPr b="1"/>
          </a:p>
        </p:txBody>
      </p:sp>
      <p:sp>
        <p:nvSpPr>
          <p:cNvPr id="227" name="Google Shape;227;p8"/>
          <p:cNvSpPr/>
          <p:nvPr/>
        </p:nvSpPr>
        <p:spPr>
          <a:xfrm>
            <a:off x="2209800" y="1219200"/>
            <a:ext cx="1676400" cy="1600200"/>
          </a:xfrm>
          <a:prstGeom prst="rect">
            <a:avLst/>
          </a:prstGeom>
          <a:solidFill>
            <a:srgbClr val="F8D6C7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SG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</a:t>
            </a:r>
            <a:r>
              <a:rPr lang="en-SG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/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8077200" y="1219200"/>
            <a:ext cx="1752600" cy="1524000"/>
          </a:xfrm>
          <a:prstGeom prst="rect">
            <a:avLst/>
          </a:prstGeom>
          <a:solidFill>
            <a:srgbClr val="C5F5E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SG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</a:t>
            </a:r>
            <a:r>
              <a:rPr lang="en-SG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endParaRPr/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ctr"/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29" name="Google Shape;229;p8"/>
          <p:cNvGrpSpPr/>
          <p:nvPr/>
        </p:nvGrpSpPr>
        <p:grpSpPr>
          <a:xfrm>
            <a:off x="3825214" y="1260820"/>
            <a:ext cx="4341834" cy="1023936"/>
            <a:chOff x="2301214" y="1260820"/>
            <a:chExt cx="4341834" cy="1023936"/>
          </a:xfrm>
        </p:grpSpPr>
        <p:sp>
          <p:nvSpPr>
            <p:cNvPr id="230" name="Google Shape;230;p8"/>
            <p:cNvSpPr/>
            <p:nvPr/>
          </p:nvSpPr>
          <p:spPr>
            <a:xfrm>
              <a:off x="2301214" y="1636909"/>
              <a:ext cx="898576" cy="6354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12700" cap="flat" cmpd="sng">
              <a:solidFill>
                <a:srgbClr val="277F9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Write</a:t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5737380" y="1636909"/>
              <a:ext cx="905668" cy="6354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12700" cap="flat" cmpd="sng">
              <a:solidFill>
                <a:srgbClr val="658C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Read</a:t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2" name="Google Shape;232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26593" y="1624560"/>
              <a:ext cx="2462213" cy="6601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3" name="Google Shape;233;p8"/>
            <p:cNvGrpSpPr/>
            <p:nvPr/>
          </p:nvGrpSpPr>
          <p:grpSpPr>
            <a:xfrm>
              <a:off x="2685440" y="1260820"/>
              <a:ext cx="3544520" cy="363980"/>
              <a:chOff x="2685440" y="1260820"/>
              <a:chExt cx="3544520" cy="363980"/>
            </a:xfrm>
          </p:grpSpPr>
          <p:sp>
            <p:nvSpPr>
              <p:cNvPr id="234" name="Google Shape;234;p8"/>
              <p:cNvSpPr txBox="1"/>
              <p:nvPr/>
            </p:nvSpPr>
            <p:spPr>
              <a:xfrm>
                <a:off x="2685440" y="1260820"/>
                <a:ext cx="852500" cy="358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0800" tIns="40400" rIns="80800" bIns="40400" anchor="t" anchorCtr="0">
                <a:spAutoFit/>
              </a:bodyPr>
              <a:lstStyle/>
              <a:p>
                <a:r>
                  <a:rPr lang="en-SG" b="1">
                    <a:solidFill>
                      <a:srgbClr val="0033C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fd[1]</a:t>
                </a:r>
                <a:endParaRPr/>
              </a:p>
            </p:txBody>
          </p:sp>
          <p:sp>
            <p:nvSpPr>
              <p:cNvPr id="235" name="Google Shape;235;p8"/>
              <p:cNvSpPr txBox="1"/>
              <p:nvPr/>
            </p:nvSpPr>
            <p:spPr>
              <a:xfrm>
                <a:off x="5377460" y="1266198"/>
                <a:ext cx="852500" cy="358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0800" tIns="40400" rIns="80800" bIns="40400" anchor="t" anchorCtr="0">
                <a:spAutoFit/>
              </a:bodyPr>
              <a:lstStyle/>
              <a:p>
                <a:r>
                  <a:rPr lang="en-SG" b="1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fd[0]</a:t>
                </a:r>
                <a:endParaRPr/>
              </a:p>
            </p:txBody>
          </p:sp>
        </p:grpSp>
        <p:sp>
          <p:nvSpPr>
            <p:cNvPr id="236" name="Google Shape;236;p8"/>
            <p:cNvSpPr txBox="1"/>
            <p:nvPr/>
          </p:nvSpPr>
          <p:spPr>
            <a:xfrm>
              <a:off x="3409949" y="1776756"/>
              <a:ext cx="330994" cy="369326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37" name="Google Shape;237;p8"/>
          <p:cNvSpPr txBox="1"/>
          <p:nvPr/>
        </p:nvSpPr>
        <p:spPr>
          <a:xfrm>
            <a:off x="6157399" y="3249458"/>
            <a:ext cx="39391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 b="1" i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lock_acquire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//Critical Section</a:t>
            </a:r>
            <a:endParaRPr/>
          </a:p>
          <a:p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SG" sz="2400" b="1" i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lock_release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>
            <a:spLocks noGrp="1"/>
          </p:cNvSpPr>
          <p:nvPr>
            <p:ph type="title"/>
          </p:nvPr>
        </p:nvSpPr>
        <p:spPr>
          <a:xfrm>
            <a:off x="152400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SG"/>
              <a:t>Structure &amp; Initialize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1817926" y="930878"/>
            <a:ext cx="597163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en-SG" sz="24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pipelock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int fd[2];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1817926" y="2524620"/>
            <a:ext cx="766445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(struct </a:t>
            </a:r>
            <a:r>
              <a:rPr lang="en-SG" sz="24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pipelock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627063"/>
            <a:r>
              <a:rPr lang="en-SG" sz="2400" b="1" i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pipe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lock-&gt;fd 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27063"/>
            <a:r>
              <a:rPr lang="en-SG" sz="2400" b="1" i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lock-&gt;fd[1], "a", 1 );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grpSp>
        <p:nvGrpSpPr>
          <p:cNvPr id="245" name="Google Shape;245;p9"/>
          <p:cNvGrpSpPr/>
          <p:nvPr/>
        </p:nvGrpSpPr>
        <p:grpSpPr>
          <a:xfrm>
            <a:off x="7144469" y="146222"/>
            <a:ext cx="3357523" cy="1018558"/>
            <a:chOff x="3285525" y="1266198"/>
            <a:chExt cx="3357523" cy="1018558"/>
          </a:xfrm>
        </p:grpSpPr>
        <p:sp>
          <p:nvSpPr>
            <p:cNvPr id="246" name="Google Shape;246;p9"/>
            <p:cNvSpPr/>
            <p:nvPr/>
          </p:nvSpPr>
          <p:spPr>
            <a:xfrm>
              <a:off x="3285525" y="1636909"/>
              <a:ext cx="898576" cy="6354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12700" cap="flat" cmpd="sng">
              <a:solidFill>
                <a:srgbClr val="277F9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Write</a:t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5737380" y="1636909"/>
              <a:ext cx="905668" cy="6354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12700" cap="flat" cmpd="sng">
              <a:solidFill>
                <a:srgbClr val="658C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Read</a:t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8" name="Google Shape;248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32675" y="1624560"/>
              <a:ext cx="1456131" cy="6601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9" name="Google Shape;249;p9"/>
            <p:cNvGrpSpPr/>
            <p:nvPr/>
          </p:nvGrpSpPr>
          <p:grpSpPr>
            <a:xfrm>
              <a:off x="3621693" y="1266198"/>
              <a:ext cx="2608267" cy="358602"/>
              <a:chOff x="3621693" y="1266198"/>
              <a:chExt cx="2608267" cy="358602"/>
            </a:xfrm>
          </p:grpSpPr>
          <p:sp>
            <p:nvSpPr>
              <p:cNvPr id="250" name="Google Shape;250;p9"/>
              <p:cNvSpPr txBox="1"/>
              <p:nvPr/>
            </p:nvSpPr>
            <p:spPr>
              <a:xfrm>
                <a:off x="3621693" y="1266198"/>
                <a:ext cx="852500" cy="358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0800" tIns="40400" rIns="80800" bIns="40400" anchor="t" anchorCtr="0">
                <a:spAutoFit/>
              </a:bodyPr>
              <a:lstStyle/>
              <a:p>
                <a:r>
                  <a:rPr lang="en-SG" b="1">
                    <a:solidFill>
                      <a:srgbClr val="0033C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fd[1]</a:t>
                </a:r>
                <a:endParaRPr/>
              </a:p>
            </p:txBody>
          </p:sp>
          <p:sp>
            <p:nvSpPr>
              <p:cNvPr id="251" name="Google Shape;251;p9"/>
              <p:cNvSpPr txBox="1"/>
              <p:nvPr/>
            </p:nvSpPr>
            <p:spPr>
              <a:xfrm>
                <a:off x="5377460" y="1266198"/>
                <a:ext cx="852500" cy="358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0800" tIns="40400" rIns="80800" bIns="40400" anchor="t" anchorCtr="0">
                <a:spAutoFit/>
              </a:bodyPr>
              <a:lstStyle/>
              <a:p>
                <a:r>
                  <a:rPr lang="en-SG" b="1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fd[0]</a:t>
                </a:r>
                <a:endParaRPr/>
              </a:p>
            </p:txBody>
          </p:sp>
        </p:grpSp>
      </p:grpSp>
      <p:sp>
        <p:nvSpPr>
          <p:cNvPr id="252" name="Google Shape;252;p9"/>
          <p:cNvSpPr txBox="1"/>
          <p:nvPr/>
        </p:nvSpPr>
        <p:spPr>
          <a:xfrm>
            <a:off x="8184188" y="650019"/>
            <a:ext cx="330994" cy="36932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53" name="Google Shape;253;p9"/>
          <p:cNvGrpSpPr/>
          <p:nvPr/>
        </p:nvGrpSpPr>
        <p:grpSpPr>
          <a:xfrm>
            <a:off x="7605208" y="1426605"/>
            <a:ext cx="1708781" cy="914400"/>
            <a:chOff x="6856122" y="3196388"/>
            <a:chExt cx="1708781" cy="914400"/>
          </a:xfrm>
        </p:grpSpPr>
        <p:sp>
          <p:nvSpPr>
            <p:cNvPr id="254" name="Google Shape;254;p9"/>
            <p:cNvSpPr/>
            <p:nvPr/>
          </p:nvSpPr>
          <p:spPr>
            <a:xfrm>
              <a:off x="7502471" y="3653588"/>
              <a:ext cx="1062432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7502471" y="3196388"/>
              <a:ext cx="1062432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6856122" y="3197149"/>
              <a:ext cx="376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800" b="1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fd</a:t>
              </a:r>
              <a:endParaRPr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>
            <a:spLocks noGrp="1"/>
          </p:cNvSpPr>
          <p:nvPr>
            <p:ph type="title"/>
          </p:nvPr>
        </p:nvSpPr>
        <p:spPr>
          <a:xfrm>
            <a:off x="152400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SG"/>
              <a:t>Structure &amp; Initialize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1817926" y="930878"/>
            <a:ext cx="597163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en-SG" sz="24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pipelock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int fd[2];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1817926" y="2524620"/>
            <a:ext cx="766445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lock_acquire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(struct </a:t>
            </a:r>
            <a:r>
              <a:rPr lang="en-SG" sz="24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pipelock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627063"/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</a:t>
            </a:r>
            <a:r>
              <a:rPr lang="en-SG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marL="627063"/>
            <a:r>
              <a:rPr lang="en-SG" sz="2400" b="1" i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(lock-&gt;fd[0], &amp;</a:t>
            </a:r>
            <a:r>
              <a:rPr lang="en-SG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1); 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64" name="Google Shape;264;p10"/>
          <p:cNvGrpSpPr/>
          <p:nvPr/>
        </p:nvGrpSpPr>
        <p:grpSpPr>
          <a:xfrm>
            <a:off x="7144469" y="146222"/>
            <a:ext cx="3357523" cy="1018558"/>
            <a:chOff x="3285525" y="1266198"/>
            <a:chExt cx="3357523" cy="1018558"/>
          </a:xfrm>
        </p:grpSpPr>
        <p:sp>
          <p:nvSpPr>
            <p:cNvPr id="265" name="Google Shape;265;p10"/>
            <p:cNvSpPr/>
            <p:nvPr/>
          </p:nvSpPr>
          <p:spPr>
            <a:xfrm>
              <a:off x="3285525" y="1636909"/>
              <a:ext cx="898576" cy="6354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12700" cap="flat" cmpd="sng">
              <a:solidFill>
                <a:srgbClr val="277F9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Write</a:t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5737380" y="1636909"/>
              <a:ext cx="905668" cy="6354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12700" cap="flat" cmpd="sng">
              <a:solidFill>
                <a:srgbClr val="658C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Read</a:t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7" name="Google Shape;267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32675" y="1624560"/>
              <a:ext cx="1456131" cy="6601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8" name="Google Shape;268;p10"/>
            <p:cNvGrpSpPr/>
            <p:nvPr/>
          </p:nvGrpSpPr>
          <p:grpSpPr>
            <a:xfrm>
              <a:off x="3621693" y="1266198"/>
              <a:ext cx="2608267" cy="358602"/>
              <a:chOff x="3621693" y="1266198"/>
              <a:chExt cx="2608267" cy="358602"/>
            </a:xfrm>
          </p:grpSpPr>
          <p:sp>
            <p:nvSpPr>
              <p:cNvPr id="269" name="Google Shape;269;p10"/>
              <p:cNvSpPr txBox="1"/>
              <p:nvPr/>
            </p:nvSpPr>
            <p:spPr>
              <a:xfrm>
                <a:off x="3621693" y="1266198"/>
                <a:ext cx="852500" cy="358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0800" tIns="40400" rIns="80800" bIns="40400" anchor="t" anchorCtr="0">
                <a:spAutoFit/>
              </a:bodyPr>
              <a:lstStyle/>
              <a:p>
                <a:r>
                  <a:rPr lang="en-SG" b="1">
                    <a:solidFill>
                      <a:srgbClr val="0033C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fd[1]</a:t>
                </a:r>
                <a:endParaRPr/>
              </a:p>
            </p:txBody>
          </p:sp>
          <p:sp>
            <p:nvSpPr>
              <p:cNvPr id="270" name="Google Shape;270;p10"/>
              <p:cNvSpPr txBox="1"/>
              <p:nvPr/>
            </p:nvSpPr>
            <p:spPr>
              <a:xfrm>
                <a:off x="5377460" y="1266198"/>
                <a:ext cx="852500" cy="358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0800" tIns="40400" rIns="80800" bIns="40400" anchor="t" anchorCtr="0">
                <a:spAutoFit/>
              </a:bodyPr>
              <a:lstStyle/>
              <a:p>
                <a:r>
                  <a:rPr lang="en-SG" b="1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fd[0]</a:t>
                </a:r>
                <a:endParaRPr/>
              </a:p>
            </p:txBody>
          </p:sp>
        </p:grpSp>
      </p:grpSp>
      <p:sp>
        <p:nvSpPr>
          <p:cNvPr id="271" name="Google Shape;271;p10"/>
          <p:cNvSpPr txBox="1"/>
          <p:nvPr/>
        </p:nvSpPr>
        <p:spPr>
          <a:xfrm>
            <a:off x="8184188" y="650019"/>
            <a:ext cx="330994" cy="36932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72" name="Google Shape;272;p10"/>
          <p:cNvGrpSpPr/>
          <p:nvPr/>
        </p:nvGrpSpPr>
        <p:grpSpPr>
          <a:xfrm>
            <a:off x="7605208" y="1426605"/>
            <a:ext cx="1708781" cy="914400"/>
            <a:chOff x="6856122" y="3196388"/>
            <a:chExt cx="1708781" cy="914400"/>
          </a:xfrm>
        </p:grpSpPr>
        <p:sp>
          <p:nvSpPr>
            <p:cNvPr id="273" name="Google Shape;273;p10"/>
            <p:cNvSpPr/>
            <p:nvPr/>
          </p:nvSpPr>
          <p:spPr>
            <a:xfrm>
              <a:off x="7502471" y="3653588"/>
              <a:ext cx="1062432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456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7502471" y="3196388"/>
              <a:ext cx="1062432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123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6856122" y="3197149"/>
              <a:ext cx="376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800" b="1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fd</a:t>
              </a:r>
              <a:endParaRPr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 txBox="1">
            <a:spLocks noGrp="1"/>
          </p:cNvSpPr>
          <p:nvPr>
            <p:ph type="title"/>
          </p:nvPr>
        </p:nvSpPr>
        <p:spPr>
          <a:xfrm>
            <a:off x="152400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SG"/>
              <a:t>Structure &amp; Initialize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1817926" y="930878"/>
            <a:ext cx="597163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en-SG" sz="24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pipelock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int fd[2];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282" name="Google Shape;282;p11"/>
          <p:cNvSpPr txBox="1"/>
          <p:nvPr/>
        </p:nvSpPr>
        <p:spPr>
          <a:xfrm>
            <a:off x="1817926" y="2524620"/>
            <a:ext cx="766445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lock_release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(struct </a:t>
            </a:r>
            <a:r>
              <a:rPr lang="en-SG" sz="24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pipelock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/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627063"/>
            <a:r>
              <a:rPr lang="en-SG" sz="2400" b="1" i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lock-&gt;fd[1], "a", 1 );</a:t>
            </a:r>
            <a:endParaRPr/>
          </a:p>
          <a:p>
            <a:pPr marL="627063"/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83" name="Google Shape;283;p11"/>
          <p:cNvGrpSpPr/>
          <p:nvPr/>
        </p:nvGrpSpPr>
        <p:grpSpPr>
          <a:xfrm>
            <a:off x="7144469" y="146222"/>
            <a:ext cx="3357523" cy="1018558"/>
            <a:chOff x="3285525" y="1266198"/>
            <a:chExt cx="3357523" cy="1018558"/>
          </a:xfrm>
        </p:grpSpPr>
        <p:sp>
          <p:nvSpPr>
            <p:cNvPr id="284" name="Google Shape;284;p11"/>
            <p:cNvSpPr/>
            <p:nvPr/>
          </p:nvSpPr>
          <p:spPr>
            <a:xfrm>
              <a:off x="3285525" y="1636909"/>
              <a:ext cx="898576" cy="6354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12700" cap="flat" cmpd="sng">
              <a:solidFill>
                <a:srgbClr val="277F9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Write</a:t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5737380" y="1636909"/>
              <a:ext cx="905668" cy="6354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12700" cap="flat" cmpd="sng">
              <a:solidFill>
                <a:srgbClr val="658C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S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Read</a:t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6" name="Google Shape;286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32675" y="1624560"/>
              <a:ext cx="1456131" cy="6601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7" name="Google Shape;287;p11"/>
            <p:cNvGrpSpPr/>
            <p:nvPr/>
          </p:nvGrpSpPr>
          <p:grpSpPr>
            <a:xfrm>
              <a:off x="3621693" y="1266198"/>
              <a:ext cx="2608267" cy="358602"/>
              <a:chOff x="3621693" y="1266198"/>
              <a:chExt cx="2608267" cy="358602"/>
            </a:xfrm>
          </p:grpSpPr>
          <p:sp>
            <p:nvSpPr>
              <p:cNvPr id="288" name="Google Shape;288;p11"/>
              <p:cNvSpPr txBox="1"/>
              <p:nvPr/>
            </p:nvSpPr>
            <p:spPr>
              <a:xfrm>
                <a:off x="3621693" y="1266198"/>
                <a:ext cx="852500" cy="358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0800" tIns="40400" rIns="80800" bIns="40400" anchor="t" anchorCtr="0">
                <a:spAutoFit/>
              </a:bodyPr>
              <a:lstStyle/>
              <a:p>
                <a:r>
                  <a:rPr lang="en-SG" b="1">
                    <a:solidFill>
                      <a:srgbClr val="0033C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fd[1]</a:t>
                </a:r>
                <a:endParaRPr/>
              </a:p>
            </p:txBody>
          </p:sp>
          <p:sp>
            <p:nvSpPr>
              <p:cNvPr id="289" name="Google Shape;289;p11"/>
              <p:cNvSpPr txBox="1"/>
              <p:nvPr/>
            </p:nvSpPr>
            <p:spPr>
              <a:xfrm>
                <a:off x="5377460" y="1266198"/>
                <a:ext cx="852500" cy="358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0800" tIns="40400" rIns="80800" bIns="40400" anchor="t" anchorCtr="0">
                <a:spAutoFit/>
              </a:bodyPr>
              <a:lstStyle/>
              <a:p>
                <a:r>
                  <a:rPr lang="en-SG" b="1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fd[0]</a:t>
                </a:r>
                <a:endParaRPr/>
              </a:p>
            </p:txBody>
          </p:sp>
        </p:grpSp>
      </p:grpSp>
      <p:sp>
        <p:nvSpPr>
          <p:cNvPr id="290" name="Google Shape;290;p11"/>
          <p:cNvSpPr txBox="1"/>
          <p:nvPr/>
        </p:nvSpPr>
        <p:spPr>
          <a:xfrm>
            <a:off x="8184188" y="650019"/>
            <a:ext cx="330994" cy="36932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SG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91" name="Google Shape;291;p11"/>
          <p:cNvGrpSpPr/>
          <p:nvPr/>
        </p:nvGrpSpPr>
        <p:grpSpPr>
          <a:xfrm>
            <a:off x="7605208" y="1426605"/>
            <a:ext cx="1708781" cy="914400"/>
            <a:chOff x="6856122" y="3196388"/>
            <a:chExt cx="1708781" cy="914400"/>
          </a:xfrm>
        </p:grpSpPr>
        <p:sp>
          <p:nvSpPr>
            <p:cNvPr id="292" name="Google Shape;292;p11"/>
            <p:cNvSpPr/>
            <p:nvPr/>
          </p:nvSpPr>
          <p:spPr>
            <a:xfrm>
              <a:off x="7502471" y="3653588"/>
              <a:ext cx="1062432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456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7502471" y="3196388"/>
              <a:ext cx="1062432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123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6856122" y="3197149"/>
              <a:ext cx="376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algn="ctr"/>
              <a:r>
                <a:rPr lang="en-SG" sz="2800" b="1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fd</a:t>
              </a:r>
              <a:endParaRPr sz="28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745</Words>
  <Application>Microsoft Office PowerPoint</Application>
  <PresentationFormat>Widescreen</PresentationFormat>
  <Paragraphs>344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Consolas</vt:lpstr>
      <vt:lpstr>Courier New</vt:lpstr>
      <vt:lpstr>Times New Roman</vt:lpstr>
      <vt:lpstr>Office Theme</vt:lpstr>
      <vt:lpstr>Topic Summary</vt:lpstr>
      <vt:lpstr>Tutorial 6</vt:lpstr>
      <vt:lpstr>If the operations are atomic?</vt:lpstr>
      <vt:lpstr>But, the operations aren't atomic!</vt:lpstr>
      <vt:lpstr>Recap: How is shm[0]++ performed?</vt:lpstr>
      <vt:lpstr>So…..</vt:lpstr>
      <vt:lpstr>It's just Math…</vt:lpstr>
      <vt:lpstr>PowerPoint Presentation</vt:lpstr>
      <vt:lpstr>Ouch……</vt:lpstr>
      <vt:lpstr>Tutorial 6</vt:lpstr>
      <vt:lpstr>PowerPoint Presentation</vt:lpstr>
      <vt:lpstr>PowerPoint Presentation</vt:lpstr>
      <vt:lpstr>Tutorial 6</vt:lpstr>
      <vt:lpstr>Compare &amp; Swap</vt:lpstr>
      <vt:lpstr>Compare &amp;Swap</vt:lpstr>
      <vt:lpstr>Tutorial 6</vt:lpstr>
      <vt:lpstr>Unix Pipes: Quick Overview</vt:lpstr>
      <vt:lpstr>Unix Pipes: Implement CS?</vt:lpstr>
      <vt:lpstr>Structure &amp; Initialize</vt:lpstr>
      <vt:lpstr>Structure &amp; Initialize</vt:lpstr>
      <vt:lpstr>Structure &amp; Initialize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Welcome!</dc:title>
  <dc:creator>Tan Keng Yan, Colin</dc:creator>
  <cp:lastModifiedBy>Tan Keng Yan, Colin</cp:lastModifiedBy>
  <cp:revision>6</cp:revision>
  <dcterms:created xsi:type="dcterms:W3CDTF">2022-02-22T03:40:42Z</dcterms:created>
  <dcterms:modified xsi:type="dcterms:W3CDTF">2025-10-10T15:04:21Z</dcterms:modified>
</cp:coreProperties>
</file>