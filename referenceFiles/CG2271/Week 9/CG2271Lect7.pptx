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662" r:id="rId2"/>
  </p:sldMasterIdLst>
  <p:notesMasterIdLst>
    <p:notesMasterId r:id="rId47"/>
  </p:notesMasterIdLst>
  <p:sldIdLst>
    <p:sldId id="256" r:id="rId3"/>
    <p:sldId id="257" r:id="rId4"/>
    <p:sldId id="344" r:id="rId5"/>
    <p:sldId id="346" r:id="rId6"/>
    <p:sldId id="345" r:id="rId7"/>
    <p:sldId id="347" r:id="rId8"/>
    <p:sldId id="348" r:id="rId9"/>
    <p:sldId id="349" r:id="rId10"/>
    <p:sldId id="350" r:id="rId11"/>
    <p:sldId id="386" r:id="rId12"/>
    <p:sldId id="351" r:id="rId13"/>
    <p:sldId id="353" r:id="rId14"/>
    <p:sldId id="355" r:id="rId15"/>
    <p:sldId id="357" r:id="rId16"/>
    <p:sldId id="358" r:id="rId17"/>
    <p:sldId id="359" r:id="rId18"/>
    <p:sldId id="387" r:id="rId19"/>
    <p:sldId id="361" r:id="rId20"/>
    <p:sldId id="362" r:id="rId21"/>
    <p:sldId id="354" r:id="rId22"/>
    <p:sldId id="363" r:id="rId23"/>
    <p:sldId id="364" r:id="rId24"/>
    <p:sldId id="366" r:id="rId25"/>
    <p:sldId id="367" r:id="rId26"/>
    <p:sldId id="368" r:id="rId27"/>
    <p:sldId id="365" r:id="rId28"/>
    <p:sldId id="369" r:id="rId29"/>
    <p:sldId id="389" r:id="rId30"/>
    <p:sldId id="371" r:id="rId31"/>
    <p:sldId id="373" r:id="rId32"/>
    <p:sldId id="372" r:id="rId33"/>
    <p:sldId id="374" r:id="rId34"/>
    <p:sldId id="375" r:id="rId35"/>
    <p:sldId id="380" r:id="rId36"/>
    <p:sldId id="381" r:id="rId37"/>
    <p:sldId id="382" r:id="rId38"/>
    <p:sldId id="383" r:id="rId39"/>
    <p:sldId id="390" r:id="rId40"/>
    <p:sldId id="391" r:id="rId41"/>
    <p:sldId id="396" r:id="rId42"/>
    <p:sldId id="258" r:id="rId43"/>
    <p:sldId id="388" r:id="rId44"/>
    <p:sldId id="393" r:id="rId45"/>
    <p:sldId id="392" r:id="rId46"/>
  </p:sldIdLst>
  <p:sldSz cx="9144000" cy="6858000" type="screen4x3"/>
  <p:notesSz cx="7099300" cy="10234613"/>
  <p:custShowLst>
    <p:custShow name="Live" id="0">
      <p:sldLst>
        <p:sld r:id="rId3"/>
        <p:sld r:id="rId4"/>
        <p:sld r:id="rId5"/>
        <p:sld r:id="rId6"/>
        <p:sld r:id="rId7"/>
        <p:sld r:id="rId8"/>
        <p:sld r:id="rId9"/>
        <p:sld r:id="rId10"/>
        <p:sld r:id="rId11"/>
        <p:sld r:id="rId12"/>
        <p:sld r:id="rId13"/>
        <p:sld r:id="rId14"/>
        <p:sld r:id="rId15"/>
        <p:sld r:id="rId16"/>
        <p:sld r:id="rId17"/>
        <p:sld r:id="rId18"/>
        <p:sld r:id="rId19"/>
        <p:sld r:id="rId44"/>
        <p:sld r:id="rId20"/>
        <p:sld r:id="rId21"/>
        <p:sld r:id="rId22"/>
        <p:sld r:id="rId23"/>
        <p:sld r:id="rId24"/>
        <p:sld r:id="rId25"/>
        <p:sld r:id="rId26"/>
        <p:sld r:id="rId27"/>
        <p:sld r:id="rId28"/>
        <p:sld r:id="rId29"/>
        <p:sld r:id="rId30"/>
        <p:sld r:id="rId31"/>
        <p:sld r:id="rId32"/>
        <p:sld r:id="rId33"/>
        <p:sld r:id="rId45"/>
        <p:sld r:id="rId34"/>
        <p:sld r:id="rId35"/>
        <p:sld r:id="rId36"/>
        <p:sld r:id="rId37"/>
        <p:sld r:id="rId38"/>
        <p:sld r:id="rId39"/>
        <p:sld r:id="rId40"/>
        <p:sld r:id="rId41"/>
        <p:sld r:id="rId46"/>
        <p:sld r:id="rId42"/>
        <p:sld r:id="rId43"/>
      </p:sldLst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006600"/>
    <a:srgbClr val="003300"/>
    <a:srgbClr val="000000"/>
    <a:srgbClr val="FFFFCC"/>
    <a:srgbClr val="0033CC"/>
    <a:srgbClr val="00CCFF"/>
    <a:srgbClr val="FF9900"/>
    <a:srgbClr val="0080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0" autoAdjust="0"/>
    <p:restoredTop sz="94444"/>
  </p:normalViewPr>
  <p:slideViewPr>
    <p:cSldViewPr>
      <p:cViewPr varScale="1">
        <p:scale>
          <a:sx n="77" d="100"/>
          <a:sy n="77" d="100"/>
        </p:scale>
        <p:origin x="136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C04C6F-8784-40EB-853D-8978CEBD1172}" type="doc">
      <dgm:prSet loTypeId="urn:microsoft.com/office/officeart/2005/8/layout/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SG"/>
        </a:p>
      </dgm:t>
    </dgm:pt>
    <dgm:pt modelId="{847970C8-E53C-4B4F-BDE3-D67933E28B0C}">
      <dgm:prSet phldrT="[Text]"/>
      <dgm:spPr>
        <a:xfrm>
          <a:off x="411480" y="2909"/>
          <a:ext cx="5760720" cy="649440"/>
        </a:xfrm>
        <a:prstGeom prst="roundRect">
          <a:avLst/>
        </a:prstGeom>
        <a:solidFill>
          <a:srgbClr val="956251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Memory Abstraction</a:t>
          </a:r>
          <a:endParaRPr lang="en-SG" i="0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gm:t>
    </dgm:pt>
    <dgm:pt modelId="{6B6559D2-7E23-43E6-AFF7-94FCB4894452}" type="parTrans" cxnId="{CED06A8C-8FE8-4EE1-A809-CE643E719AAB}">
      <dgm:prSet/>
      <dgm:spPr/>
      <dgm:t>
        <a:bodyPr/>
        <a:lstStyle/>
        <a:p>
          <a:endParaRPr lang="en-SG"/>
        </a:p>
      </dgm:t>
    </dgm:pt>
    <dgm:pt modelId="{7D5B8AF3-F9F2-494B-B4AA-5F89EC373C86}" type="sibTrans" cxnId="{CED06A8C-8FE8-4EE1-A809-CE643E719AAB}">
      <dgm:prSet/>
      <dgm:spPr/>
      <dgm:t>
        <a:bodyPr/>
        <a:lstStyle/>
        <a:p>
          <a:endParaRPr lang="en-SG"/>
        </a:p>
      </dgm:t>
    </dgm:pt>
    <dgm:pt modelId="{83BFCB57-C366-44E3-B365-883B15D97E80}">
      <dgm:prSet phldrT="[Text]"/>
      <dgm:spPr>
        <a:xfrm>
          <a:off x="0" y="4412865"/>
          <a:ext cx="8229600" cy="9182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20423033"/>
              <a:satOff val="-23986"/>
              <a:lumOff val="9216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Use of secondary storage as an extended memory region</a:t>
          </a:r>
        </a:p>
      </dgm:t>
    </dgm:pt>
    <dgm:pt modelId="{A9D7315B-10E0-4498-93FF-7BA17AD5EC32}">
      <dgm:prSet phldrT="[Text]"/>
      <dgm:spPr>
        <a:xfrm>
          <a:off x="411480" y="4088144"/>
          <a:ext cx="5760720" cy="649440"/>
        </a:xfrm>
        <a:prstGeom prst="roundRect">
          <a:avLst/>
        </a:prstGeom>
        <a:solidFill>
          <a:srgbClr val="956251">
            <a:hueOff val="20423033"/>
            <a:satOff val="-23986"/>
            <a:lumOff val="9216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Virtual Memory Management</a:t>
          </a:r>
        </a:p>
      </dgm:t>
    </dgm:pt>
    <dgm:pt modelId="{629E6291-5915-48D4-84DA-D2564F76CE1A}" type="sibTrans" cxnId="{57C1FBAB-1562-476A-9D0A-63DE039CDB64}">
      <dgm:prSet/>
      <dgm:spPr/>
      <dgm:t>
        <a:bodyPr/>
        <a:lstStyle/>
        <a:p>
          <a:endParaRPr lang="en-SG"/>
        </a:p>
      </dgm:t>
    </dgm:pt>
    <dgm:pt modelId="{5BD0B889-081C-4127-A4B1-0ECA06158BD4}" type="parTrans" cxnId="{57C1FBAB-1562-476A-9D0A-63DE039CDB64}">
      <dgm:prSet/>
      <dgm:spPr/>
      <dgm:t>
        <a:bodyPr/>
        <a:lstStyle/>
        <a:p>
          <a:endParaRPr lang="en-SG"/>
        </a:p>
      </dgm:t>
    </dgm:pt>
    <dgm:pt modelId="{CEABAEEF-63EA-4619-B998-D444AEBDAC97}" type="sibTrans" cxnId="{A0B4D926-D3B4-4DCD-A583-4A098BDC2C24}">
      <dgm:prSet/>
      <dgm:spPr/>
      <dgm:t>
        <a:bodyPr/>
        <a:lstStyle/>
        <a:p>
          <a:endParaRPr lang="en-SG"/>
        </a:p>
      </dgm:t>
    </dgm:pt>
    <dgm:pt modelId="{4838A1BB-7700-446B-BF50-5FA0C967DF62}" type="parTrans" cxnId="{A0B4D926-D3B4-4DCD-A583-4A098BDC2C24}">
      <dgm:prSet/>
      <dgm:spPr/>
      <dgm:t>
        <a:bodyPr/>
        <a:lstStyle/>
        <a:p>
          <a:endParaRPr lang="en-SG"/>
        </a:p>
      </dgm:t>
    </dgm:pt>
    <dgm:pt modelId="{BCF558FE-1165-405B-9AE0-862FCD667211}">
      <dgm:prSet phldrT="[Text]"/>
      <dgm:spPr>
        <a:xfrm>
          <a:off x="0" y="3051120"/>
          <a:ext cx="8229600" cy="9182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13615356"/>
              <a:satOff val="-15991"/>
              <a:lumOff val="6144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Allocating and managing memory in disjoint areas </a:t>
          </a:r>
        </a:p>
      </dgm:t>
    </dgm:pt>
    <dgm:pt modelId="{EF4B8792-D5EF-485A-8EE2-1935F7CF0D5E}">
      <dgm:prSet phldrT="[Text]"/>
      <dgm:spPr>
        <a:xfrm>
          <a:off x="411480" y="2726399"/>
          <a:ext cx="5760720" cy="649440"/>
        </a:xfrm>
        <a:prstGeom prst="roundRect">
          <a:avLst/>
        </a:prstGeom>
        <a:solidFill>
          <a:srgbClr val="956251">
            <a:hueOff val="13615356"/>
            <a:satOff val="-15991"/>
            <a:lumOff val="6144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Disjoint Memory Allocation</a:t>
          </a:r>
        </a:p>
      </dgm:t>
    </dgm:pt>
    <dgm:pt modelId="{59622511-87E2-4056-982C-B62CFAD4A894}" type="sibTrans" cxnId="{30DD8F4B-411F-406D-866E-D1DA8486C084}">
      <dgm:prSet/>
      <dgm:spPr/>
      <dgm:t>
        <a:bodyPr/>
        <a:lstStyle/>
        <a:p>
          <a:endParaRPr lang="en-SG"/>
        </a:p>
      </dgm:t>
    </dgm:pt>
    <dgm:pt modelId="{9FD80377-C7C0-42CE-87AF-C15FD32DCFD2}" type="parTrans" cxnId="{30DD8F4B-411F-406D-866E-D1DA8486C084}">
      <dgm:prSet/>
      <dgm:spPr/>
      <dgm:t>
        <a:bodyPr/>
        <a:lstStyle/>
        <a:p>
          <a:endParaRPr lang="en-SG"/>
        </a:p>
      </dgm:t>
    </dgm:pt>
    <dgm:pt modelId="{BBD5936C-A5E5-45F9-97C3-CA37C4001283}" type="sibTrans" cxnId="{385FE0C9-1B6A-4FA5-8093-F7E472471028}">
      <dgm:prSet/>
      <dgm:spPr/>
      <dgm:t>
        <a:bodyPr/>
        <a:lstStyle/>
        <a:p>
          <a:endParaRPr lang="en-SG"/>
        </a:p>
      </dgm:t>
    </dgm:pt>
    <dgm:pt modelId="{72BE566D-77D9-4021-8076-E828AD196428}" type="parTrans" cxnId="{385FE0C9-1B6A-4FA5-8093-F7E472471028}">
      <dgm:prSet/>
      <dgm:spPr/>
      <dgm:t>
        <a:bodyPr/>
        <a:lstStyle/>
        <a:p>
          <a:endParaRPr lang="en-SG"/>
        </a:p>
      </dgm:t>
    </dgm:pt>
    <dgm:pt modelId="{5043C3C8-A7DE-48BE-9BE5-92701A01077B}">
      <dgm:prSet phldrT="[Text]"/>
      <dgm:spPr>
        <a:xfrm>
          <a:off x="0" y="1689374"/>
          <a:ext cx="8229600" cy="9182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6807678"/>
              <a:satOff val="-7995"/>
              <a:lumOff val="3072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Allocating  and managing continuous chunk of memory</a:t>
          </a:r>
        </a:p>
      </dgm:t>
    </dgm:pt>
    <dgm:pt modelId="{19DC1100-A47E-4304-88BE-A5CACB459841}">
      <dgm:prSet phldrT="[Text]"/>
      <dgm:spPr>
        <a:xfrm>
          <a:off x="411480" y="1364654"/>
          <a:ext cx="5760720" cy="649440"/>
        </a:xfrm>
        <a:prstGeom prst="roundRect">
          <a:avLst/>
        </a:prstGeom>
        <a:solidFill>
          <a:srgbClr val="956251">
            <a:hueOff val="6807678"/>
            <a:satOff val="-7995"/>
            <a:lumOff val="3072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Contiguous Memory Allocation</a:t>
          </a:r>
        </a:p>
      </dgm:t>
    </dgm:pt>
    <dgm:pt modelId="{69BED227-5BE2-46D7-97FD-2FF0D1BF88D6}" type="sibTrans" cxnId="{361B4C45-83E5-4C5A-BDE6-AF43E152A3AF}">
      <dgm:prSet/>
      <dgm:spPr/>
      <dgm:t>
        <a:bodyPr/>
        <a:lstStyle/>
        <a:p>
          <a:endParaRPr lang="en-SG"/>
        </a:p>
      </dgm:t>
    </dgm:pt>
    <dgm:pt modelId="{C2B2F558-A63E-4583-97AE-84FA4686079C}" type="parTrans" cxnId="{361B4C45-83E5-4C5A-BDE6-AF43E152A3AF}">
      <dgm:prSet/>
      <dgm:spPr/>
      <dgm:t>
        <a:bodyPr/>
        <a:lstStyle/>
        <a:p>
          <a:endParaRPr lang="en-SG"/>
        </a:p>
      </dgm:t>
    </dgm:pt>
    <dgm:pt modelId="{20D5F55C-32F8-4441-8F85-FF5C36D5EBB1}" type="sibTrans" cxnId="{002961B2-014E-42CA-A491-0E47F9433B11}">
      <dgm:prSet/>
      <dgm:spPr/>
      <dgm:t>
        <a:bodyPr/>
        <a:lstStyle/>
        <a:p>
          <a:endParaRPr lang="en-SG"/>
        </a:p>
      </dgm:t>
    </dgm:pt>
    <dgm:pt modelId="{D10A9BCD-04F6-4721-9868-9DC0F827FBB6}" type="parTrans" cxnId="{002961B2-014E-42CA-A491-0E47F9433B11}">
      <dgm:prSet/>
      <dgm:spPr/>
      <dgm:t>
        <a:bodyPr/>
        <a:lstStyle/>
        <a:p>
          <a:endParaRPr lang="en-SG"/>
        </a:p>
      </dgm:t>
    </dgm:pt>
    <dgm:pt modelId="{41F1EDFC-F582-438B-B8E7-28751069B10F}">
      <dgm:prSet phldrT="[Text]"/>
      <dgm:spPr>
        <a:xfrm>
          <a:off x="0" y="327629"/>
          <a:ext cx="8229600" cy="9182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Presenting a logical interface for memory accesses</a:t>
          </a:r>
        </a:p>
      </dgm:t>
    </dgm:pt>
    <dgm:pt modelId="{A9442313-4F57-446B-A09E-B92DE2DC1B0E}" type="sibTrans" cxnId="{15237BB5-AE0B-4F2D-961A-27B760FD1F5C}">
      <dgm:prSet/>
      <dgm:spPr/>
      <dgm:t>
        <a:bodyPr/>
        <a:lstStyle/>
        <a:p>
          <a:endParaRPr lang="en-SG"/>
        </a:p>
      </dgm:t>
    </dgm:pt>
    <dgm:pt modelId="{0A5E9D19-2FF1-4B98-A206-F0D700A98242}" type="parTrans" cxnId="{15237BB5-AE0B-4F2D-961A-27B760FD1F5C}">
      <dgm:prSet/>
      <dgm:spPr/>
      <dgm:t>
        <a:bodyPr/>
        <a:lstStyle/>
        <a:p>
          <a:endParaRPr lang="en-SG"/>
        </a:p>
      </dgm:t>
    </dgm:pt>
    <dgm:pt modelId="{8762BDF2-D115-4DEA-80D9-B7EB6FE8ACA3}" type="pres">
      <dgm:prSet presAssocID="{1FC04C6F-8784-40EB-853D-8978CEBD1172}" presName="linear" presStyleCnt="0">
        <dgm:presLayoutVars>
          <dgm:dir/>
          <dgm:animLvl val="lvl"/>
          <dgm:resizeHandles val="exact"/>
        </dgm:presLayoutVars>
      </dgm:prSet>
      <dgm:spPr/>
    </dgm:pt>
    <dgm:pt modelId="{36326D2F-11A1-4EDB-BBF9-91F15A675029}" type="pres">
      <dgm:prSet presAssocID="{847970C8-E53C-4B4F-BDE3-D67933E28B0C}" presName="parentLin" presStyleCnt="0"/>
      <dgm:spPr/>
    </dgm:pt>
    <dgm:pt modelId="{F2C4E387-D0C4-4D15-A5DB-6C2950D6552B}" type="pres">
      <dgm:prSet presAssocID="{847970C8-E53C-4B4F-BDE3-D67933E28B0C}" presName="parentLeftMargin" presStyleLbl="node1" presStyleIdx="0" presStyleCnt="4"/>
      <dgm:spPr/>
    </dgm:pt>
    <dgm:pt modelId="{A0F1045D-1404-448F-A99E-5A525546E0A0}" type="pres">
      <dgm:prSet presAssocID="{847970C8-E53C-4B4F-BDE3-D67933E28B0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46106B0-1DDD-4A32-8A4A-B8BCD6C252D7}" type="pres">
      <dgm:prSet presAssocID="{847970C8-E53C-4B4F-BDE3-D67933E28B0C}" presName="negativeSpace" presStyleCnt="0"/>
      <dgm:spPr/>
    </dgm:pt>
    <dgm:pt modelId="{F8862E14-A98C-400C-98A6-DF9C25DE3A1D}" type="pres">
      <dgm:prSet presAssocID="{847970C8-E53C-4B4F-BDE3-D67933E28B0C}" presName="childText" presStyleLbl="conFgAcc1" presStyleIdx="0" presStyleCnt="4">
        <dgm:presLayoutVars>
          <dgm:bulletEnabled val="1"/>
        </dgm:presLayoutVars>
      </dgm:prSet>
      <dgm:spPr/>
    </dgm:pt>
    <dgm:pt modelId="{C1A842E3-2D5C-48B1-9B3A-0CF91061E0E8}" type="pres">
      <dgm:prSet presAssocID="{7D5B8AF3-F9F2-494B-B4AA-5F89EC373C86}" presName="spaceBetweenRectangles" presStyleCnt="0"/>
      <dgm:spPr/>
    </dgm:pt>
    <dgm:pt modelId="{5AC5264A-BD87-4ADA-805A-CAD87053C504}" type="pres">
      <dgm:prSet presAssocID="{19DC1100-A47E-4304-88BE-A5CACB459841}" presName="parentLin" presStyleCnt="0"/>
      <dgm:spPr/>
    </dgm:pt>
    <dgm:pt modelId="{365DDBCD-6A59-4480-BDDD-74ED4A644E1F}" type="pres">
      <dgm:prSet presAssocID="{19DC1100-A47E-4304-88BE-A5CACB459841}" presName="parentLeftMargin" presStyleLbl="node1" presStyleIdx="0" presStyleCnt="4"/>
      <dgm:spPr/>
    </dgm:pt>
    <dgm:pt modelId="{5F21E593-7E76-4519-9E50-0F90DEFA97F1}" type="pres">
      <dgm:prSet presAssocID="{19DC1100-A47E-4304-88BE-A5CACB45984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52FA751-86C5-407F-8C80-698997DA5D1E}" type="pres">
      <dgm:prSet presAssocID="{19DC1100-A47E-4304-88BE-A5CACB459841}" presName="negativeSpace" presStyleCnt="0"/>
      <dgm:spPr/>
    </dgm:pt>
    <dgm:pt modelId="{9452430F-0D41-48E6-9EFF-D0BD9AF10AE5}" type="pres">
      <dgm:prSet presAssocID="{19DC1100-A47E-4304-88BE-A5CACB459841}" presName="childText" presStyleLbl="conFgAcc1" presStyleIdx="1" presStyleCnt="4">
        <dgm:presLayoutVars>
          <dgm:bulletEnabled val="1"/>
        </dgm:presLayoutVars>
      </dgm:prSet>
      <dgm:spPr/>
    </dgm:pt>
    <dgm:pt modelId="{3788BD41-D0EE-4029-ADAB-6981B3F2E61A}" type="pres">
      <dgm:prSet presAssocID="{69BED227-5BE2-46D7-97FD-2FF0D1BF88D6}" presName="spaceBetweenRectangles" presStyleCnt="0"/>
      <dgm:spPr/>
    </dgm:pt>
    <dgm:pt modelId="{64A41BB2-7EFA-4810-8102-ED601E93EA83}" type="pres">
      <dgm:prSet presAssocID="{EF4B8792-D5EF-485A-8EE2-1935F7CF0D5E}" presName="parentLin" presStyleCnt="0"/>
      <dgm:spPr/>
    </dgm:pt>
    <dgm:pt modelId="{F9A3B8BB-320B-43A5-8B55-882361E8B62A}" type="pres">
      <dgm:prSet presAssocID="{EF4B8792-D5EF-485A-8EE2-1935F7CF0D5E}" presName="parentLeftMargin" presStyleLbl="node1" presStyleIdx="1" presStyleCnt="4"/>
      <dgm:spPr/>
    </dgm:pt>
    <dgm:pt modelId="{9A6DF595-0921-4B96-89D8-7C40037CDB5A}" type="pres">
      <dgm:prSet presAssocID="{EF4B8792-D5EF-485A-8EE2-1935F7CF0D5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61EB1A3-3FF9-4005-91D4-E626EBCD91B5}" type="pres">
      <dgm:prSet presAssocID="{EF4B8792-D5EF-485A-8EE2-1935F7CF0D5E}" presName="negativeSpace" presStyleCnt="0"/>
      <dgm:spPr/>
    </dgm:pt>
    <dgm:pt modelId="{76DFFF08-9C74-4D9A-B9A5-AFC5EBEC37F1}" type="pres">
      <dgm:prSet presAssocID="{EF4B8792-D5EF-485A-8EE2-1935F7CF0D5E}" presName="childText" presStyleLbl="conFgAcc1" presStyleIdx="2" presStyleCnt="4">
        <dgm:presLayoutVars>
          <dgm:bulletEnabled val="1"/>
        </dgm:presLayoutVars>
      </dgm:prSet>
      <dgm:spPr/>
    </dgm:pt>
    <dgm:pt modelId="{5081CA64-A45F-4916-B02B-9B2865237E03}" type="pres">
      <dgm:prSet presAssocID="{59622511-87E2-4056-982C-B62CFAD4A894}" presName="spaceBetweenRectangles" presStyleCnt="0"/>
      <dgm:spPr/>
    </dgm:pt>
    <dgm:pt modelId="{F20BF198-CC47-4D8A-9F63-AC800671345B}" type="pres">
      <dgm:prSet presAssocID="{A9D7315B-10E0-4498-93FF-7BA17AD5EC32}" presName="parentLin" presStyleCnt="0"/>
      <dgm:spPr/>
    </dgm:pt>
    <dgm:pt modelId="{4F067A41-7A59-45F7-B6B1-CEDCBF9A44E1}" type="pres">
      <dgm:prSet presAssocID="{A9D7315B-10E0-4498-93FF-7BA17AD5EC32}" presName="parentLeftMargin" presStyleLbl="node1" presStyleIdx="2" presStyleCnt="4"/>
      <dgm:spPr/>
    </dgm:pt>
    <dgm:pt modelId="{F6A65EFE-1807-4F2C-894E-605C3C8AC652}" type="pres">
      <dgm:prSet presAssocID="{A9D7315B-10E0-4498-93FF-7BA17AD5EC3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2A5C7C6-5E58-4264-9B43-0BAA55FB148C}" type="pres">
      <dgm:prSet presAssocID="{A9D7315B-10E0-4498-93FF-7BA17AD5EC32}" presName="negativeSpace" presStyleCnt="0"/>
      <dgm:spPr/>
    </dgm:pt>
    <dgm:pt modelId="{BA67F212-3F26-4FE0-B59D-98A3840EC922}" type="pres">
      <dgm:prSet presAssocID="{A9D7315B-10E0-4498-93FF-7BA17AD5EC3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0DB4960A-7FE3-47CA-B2D3-EEBF06CE90DD}" type="presOf" srcId="{A9D7315B-10E0-4498-93FF-7BA17AD5EC32}" destId="{F6A65EFE-1807-4F2C-894E-605C3C8AC652}" srcOrd="1" destOrd="0" presId="urn:microsoft.com/office/officeart/2005/8/layout/list1"/>
    <dgm:cxn modelId="{85811314-70F3-4812-A5D4-D600ADA38B5E}" type="presOf" srcId="{83BFCB57-C366-44E3-B365-883B15D97E80}" destId="{BA67F212-3F26-4FE0-B59D-98A3840EC922}" srcOrd="0" destOrd="0" presId="urn:microsoft.com/office/officeart/2005/8/layout/list1"/>
    <dgm:cxn modelId="{B24B4D17-EF21-47A3-AD12-2B8FE3CA11A1}" type="presOf" srcId="{5043C3C8-A7DE-48BE-9BE5-92701A01077B}" destId="{9452430F-0D41-48E6-9EFF-D0BD9AF10AE5}" srcOrd="0" destOrd="0" presId="urn:microsoft.com/office/officeart/2005/8/layout/list1"/>
    <dgm:cxn modelId="{A0B4D926-D3B4-4DCD-A583-4A098BDC2C24}" srcId="{A9D7315B-10E0-4498-93FF-7BA17AD5EC32}" destId="{83BFCB57-C366-44E3-B365-883B15D97E80}" srcOrd="0" destOrd="0" parTransId="{4838A1BB-7700-446B-BF50-5FA0C967DF62}" sibTransId="{CEABAEEF-63EA-4619-B998-D444AEBDAC97}"/>
    <dgm:cxn modelId="{F8DEBF2B-897F-4482-BB18-7B642D313666}" type="presOf" srcId="{19DC1100-A47E-4304-88BE-A5CACB459841}" destId="{365DDBCD-6A59-4480-BDDD-74ED4A644E1F}" srcOrd="0" destOrd="0" presId="urn:microsoft.com/office/officeart/2005/8/layout/list1"/>
    <dgm:cxn modelId="{DB76B72E-8CD7-48CF-8C32-D6A04B6A6955}" type="presOf" srcId="{19DC1100-A47E-4304-88BE-A5CACB459841}" destId="{5F21E593-7E76-4519-9E50-0F90DEFA97F1}" srcOrd="1" destOrd="0" presId="urn:microsoft.com/office/officeart/2005/8/layout/list1"/>
    <dgm:cxn modelId="{361B4C45-83E5-4C5A-BDE6-AF43E152A3AF}" srcId="{1FC04C6F-8784-40EB-853D-8978CEBD1172}" destId="{19DC1100-A47E-4304-88BE-A5CACB459841}" srcOrd="1" destOrd="0" parTransId="{C2B2F558-A63E-4583-97AE-84FA4686079C}" sibTransId="{69BED227-5BE2-46D7-97FD-2FF0D1BF88D6}"/>
    <dgm:cxn modelId="{297AA648-B6B9-4A23-8A82-52F31E150AC2}" type="presOf" srcId="{EF4B8792-D5EF-485A-8EE2-1935F7CF0D5E}" destId="{9A6DF595-0921-4B96-89D8-7C40037CDB5A}" srcOrd="1" destOrd="0" presId="urn:microsoft.com/office/officeart/2005/8/layout/list1"/>
    <dgm:cxn modelId="{30DD8F4B-411F-406D-866E-D1DA8486C084}" srcId="{1FC04C6F-8784-40EB-853D-8978CEBD1172}" destId="{EF4B8792-D5EF-485A-8EE2-1935F7CF0D5E}" srcOrd="2" destOrd="0" parTransId="{9FD80377-C7C0-42CE-87AF-C15FD32DCFD2}" sibTransId="{59622511-87E2-4056-982C-B62CFAD4A894}"/>
    <dgm:cxn modelId="{CCE9C263-B5D4-41B8-90F7-610DB51B2D17}" type="presOf" srcId="{1FC04C6F-8784-40EB-853D-8978CEBD1172}" destId="{8762BDF2-D115-4DEA-80D9-B7EB6FE8ACA3}" srcOrd="0" destOrd="0" presId="urn:microsoft.com/office/officeart/2005/8/layout/list1"/>
    <dgm:cxn modelId="{BC039A86-2DB0-405A-8722-FE77E664886A}" type="presOf" srcId="{847970C8-E53C-4B4F-BDE3-D67933E28B0C}" destId="{F2C4E387-D0C4-4D15-A5DB-6C2950D6552B}" srcOrd="0" destOrd="0" presId="urn:microsoft.com/office/officeart/2005/8/layout/list1"/>
    <dgm:cxn modelId="{CED06A8C-8FE8-4EE1-A809-CE643E719AAB}" srcId="{1FC04C6F-8784-40EB-853D-8978CEBD1172}" destId="{847970C8-E53C-4B4F-BDE3-D67933E28B0C}" srcOrd="0" destOrd="0" parTransId="{6B6559D2-7E23-43E6-AFF7-94FCB4894452}" sibTransId="{7D5B8AF3-F9F2-494B-B4AA-5F89EC373C86}"/>
    <dgm:cxn modelId="{9DF79892-7C05-40C0-93E2-A8CF2614C6B6}" type="presOf" srcId="{847970C8-E53C-4B4F-BDE3-D67933E28B0C}" destId="{A0F1045D-1404-448F-A99E-5A525546E0A0}" srcOrd="1" destOrd="0" presId="urn:microsoft.com/office/officeart/2005/8/layout/list1"/>
    <dgm:cxn modelId="{FBFE699B-8351-4B37-89FA-B2E69D4CBECD}" type="presOf" srcId="{41F1EDFC-F582-438B-B8E7-28751069B10F}" destId="{F8862E14-A98C-400C-98A6-DF9C25DE3A1D}" srcOrd="0" destOrd="0" presId="urn:microsoft.com/office/officeart/2005/8/layout/list1"/>
    <dgm:cxn modelId="{57C1FBAB-1562-476A-9D0A-63DE039CDB64}" srcId="{1FC04C6F-8784-40EB-853D-8978CEBD1172}" destId="{A9D7315B-10E0-4498-93FF-7BA17AD5EC32}" srcOrd="3" destOrd="0" parTransId="{5BD0B889-081C-4127-A4B1-0ECA06158BD4}" sibTransId="{629E6291-5915-48D4-84DA-D2564F76CE1A}"/>
    <dgm:cxn modelId="{002961B2-014E-42CA-A491-0E47F9433B11}" srcId="{19DC1100-A47E-4304-88BE-A5CACB459841}" destId="{5043C3C8-A7DE-48BE-9BE5-92701A01077B}" srcOrd="0" destOrd="0" parTransId="{D10A9BCD-04F6-4721-9868-9DC0F827FBB6}" sibTransId="{20D5F55C-32F8-4441-8F85-FF5C36D5EBB1}"/>
    <dgm:cxn modelId="{15237BB5-AE0B-4F2D-961A-27B760FD1F5C}" srcId="{847970C8-E53C-4B4F-BDE3-D67933E28B0C}" destId="{41F1EDFC-F582-438B-B8E7-28751069B10F}" srcOrd="0" destOrd="0" parTransId="{0A5E9D19-2FF1-4B98-A206-F0D700A98242}" sibTransId="{A9442313-4F57-446B-A09E-B92DE2DC1B0E}"/>
    <dgm:cxn modelId="{D30BBCB6-BBED-4B17-A182-54A70579F87E}" type="presOf" srcId="{BCF558FE-1165-405B-9AE0-862FCD667211}" destId="{76DFFF08-9C74-4D9A-B9A5-AFC5EBEC37F1}" srcOrd="0" destOrd="0" presId="urn:microsoft.com/office/officeart/2005/8/layout/list1"/>
    <dgm:cxn modelId="{385FE0C9-1B6A-4FA5-8093-F7E472471028}" srcId="{EF4B8792-D5EF-485A-8EE2-1935F7CF0D5E}" destId="{BCF558FE-1165-405B-9AE0-862FCD667211}" srcOrd="0" destOrd="0" parTransId="{72BE566D-77D9-4021-8076-E828AD196428}" sibTransId="{BBD5936C-A5E5-45F9-97C3-CA37C4001283}"/>
    <dgm:cxn modelId="{7F2EEED9-996E-4DB9-89F4-8E200B27F3C8}" type="presOf" srcId="{A9D7315B-10E0-4498-93FF-7BA17AD5EC32}" destId="{4F067A41-7A59-45F7-B6B1-CEDCBF9A44E1}" srcOrd="0" destOrd="0" presId="urn:microsoft.com/office/officeart/2005/8/layout/list1"/>
    <dgm:cxn modelId="{4063B7FF-FAC7-4062-90C4-CF78F38BA35A}" type="presOf" srcId="{EF4B8792-D5EF-485A-8EE2-1935F7CF0D5E}" destId="{F9A3B8BB-320B-43A5-8B55-882361E8B62A}" srcOrd="0" destOrd="0" presId="urn:microsoft.com/office/officeart/2005/8/layout/list1"/>
    <dgm:cxn modelId="{2BE4D11C-B8E2-4E5B-B361-BD9FCE6BCA6F}" type="presParOf" srcId="{8762BDF2-D115-4DEA-80D9-B7EB6FE8ACA3}" destId="{36326D2F-11A1-4EDB-BBF9-91F15A675029}" srcOrd="0" destOrd="0" presId="urn:microsoft.com/office/officeart/2005/8/layout/list1"/>
    <dgm:cxn modelId="{FE512FD0-EC18-4E1B-86DD-2A288F1CEA6F}" type="presParOf" srcId="{36326D2F-11A1-4EDB-BBF9-91F15A675029}" destId="{F2C4E387-D0C4-4D15-A5DB-6C2950D6552B}" srcOrd="0" destOrd="0" presId="urn:microsoft.com/office/officeart/2005/8/layout/list1"/>
    <dgm:cxn modelId="{1FDF9D08-FC07-4D33-8671-A5C0C80F6D31}" type="presParOf" srcId="{36326D2F-11A1-4EDB-BBF9-91F15A675029}" destId="{A0F1045D-1404-448F-A99E-5A525546E0A0}" srcOrd="1" destOrd="0" presId="urn:microsoft.com/office/officeart/2005/8/layout/list1"/>
    <dgm:cxn modelId="{53D0FB8B-F2FA-45AF-919E-BA724BBF34C4}" type="presParOf" srcId="{8762BDF2-D115-4DEA-80D9-B7EB6FE8ACA3}" destId="{A46106B0-1DDD-4A32-8A4A-B8BCD6C252D7}" srcOrd="1" destOrd="0" presId="urn:microsoft.com/office/officeart/2005/8/layout/list1"/>
    <dgm:cxn modelId="{5B78392D-E92A-4E56-B43D-26FFBFB88DD7}" type="presParOf" srcId="{8762BDF2-D115-4DEA-80D9-B7EB6FE8ACA3}" destId="{F8862E14-A98C-400C-98A6-DF9C25DE3A1D}" srcOrd="2" destOrd="0" presId="urn:microsoft.com/office/officeart/2005/8/layout/list1"/>
    <dgm:cxn modelId="{A654F0C0-ACA6-4085-AAC9-ED5334C0AD89}" type="presParOf" srcId="{8762BDF2-D115-4DEA-80D9-B7EB6FE8ACA3}" destId="{C1A842E3-2D5C-48B1-9B3A-0CF91061E0E8}" srcOrd="3" destOrd="0" presId="urn:microsoft.com/office/officeart/2005/8/layout/list1"/>
    <dgm:cxn modelId="{F9768816-F1A8-48B0-94C4-B6C91D8AFDBF}" type="presParOf" srcId="{8762BDF2-D115-4DEA-80D9-B7EB6FE8ACA3}" destId="{5AC5264A-BD87-4ADA-805A-CAD87053C504}" srcOrd="4" destOrd="0" presId="urn:microsoft.com/office/officeart/2005/8/layout/list1"/>
    <dgm:cxn modelId="{D7B7F1F5-06C7-43EC-A277-2A2A9064756E}" type="presParOf" srcId="{5AC5264A-BD87-4ADA-805A-CAD87053C504}" destId="{365DDBCD-6A59-4480-BDDD-74ED4A644E1F}" srcOrd="0" destOrd="0" presId="urn:microsoft.com/office/officeart/2005/8/layout/list1"/>
    <dgm:cxn modelId="{30C2FFFC-A780-48D7-A21D-5447DF7AA45F}" type="presParOf" srcId="{5AC5264A-BD87-4ADA-805A-CAD87053C504}" destId="{5F21E593-7E76-4519-9E50-0F90DEFA97F1}" srcOrd="1" destOrd="0" presId="urn:microsoft.com/office/officeart/2005/8/layout/list1"/>
    <dgm:cxn modelId="{9D8BE109-942F-4AAE-8BAE-175C01B8B911}" type="presParOf" srcId="{8762BDF2-D115-4DEA-80D9-B7EB6FE8ACA3}" destId="{C52FA751-86C5-407F-8C80-698997DA5D1E}" srcOrd="5" destOrd="0" presId="urn:microsoft.com/office/officeart/2005/8/layout/list1"/>
    <dgm:cxn modelId="{450533E9-B1AF-4A39-B353-10A0F329625F}" type="presParOf" srcId="{8762BDF2-D115-4DEA-80D9-B7EB6FE8ACA3}" destId="{9452430F-0D41-48E6-9EFF-D0BD9AF10AE5}" srcOrd="6" destOrd="0" presId="urn:microsoft.com/office/officeart/2005/8/layout/list1"/>
    <dgm:cxn modelId="{F4CD23A3-DBD8-4BA2-AA2A-857F10D77746}" type="presParOf" srcId="{8762BDF2-D115-4DEA-80D9-B7EB6FE8ACA3}" destId="{3788BD41-D0EE-4029-ADAB-6981B3F2E61A}" srcOrd="7" destOrd="0" presId="urn:microsoft.com/office/officeart/2005/8/layout/list1"/>
    <dgm:cxn modelId="{93DD03FD-9306-4B1E-9713-BC41AFEF46C2}" type="presParOf" srcId="{8762BDF2-D115-4DEA-80D9-B7EB6FE8ACA3}" destId="{64A41BB2-7EFA-4810-8102-ED601E93EA83}" srcOrd="8" destOrd="0" presId="urn:microsoft.com/office/officeart/2005/8/layout/list1"/>
    <dgm:cxn modelId="{FE669F3A-9781-4650-9447-E333D3BAF5F0}" type="presParOf" srcId="{64A41BB2-7EFA-4810-8102-ED601E93EA83}" destId="{F9A3B8BB-320B-43A5-8B55-882361E8B62A}" srcOrd="0" destOrd="0" presId="urn:microsoft.com/office/officeart/2005/8/layout/list1"/>
    <dgm:cxn modelId="{9D496191-4036-4F31-BCA4-54A8D8CAEEED}" type="presParOf" srcId="{64A41BB2-7EFA-4810-8102-ED601E93EA83}" destId="{9A6DF595-0921-4B96-89D8-7C40037CDB5A}" srcOrd="1" destOrd="0" presId="urn:microsoft.com/office/officeart/2005/8/layout/list1"/>
    <dgm:cxn modelId="{EA5B5213-758F-4293-BEB0-43B5A66CEA6D}" type="presParOf" srcId="{8762BDF2-D115-4DEA-80D9-B7EB6FE8ACA3}" destId="{F61EB1A3-3FF9-4005-91D4-E626EBCD91B5}" srcOrd="9" destOrd="0" presId="urn:microsoft.com/office/officeart/2005/8/layout/list1"/>
    <dgm:cxn modelId="{8816D11B-6CF0-4316-BDE4-2088D3C12C64}" type="presParOf" srcId="{8762BDF2-D115-4DEA-80D9-B7EB6FE8ACA3}" destId="{76DFFF08-9C74-4D9A-B9A5-AFC5EBEC37F1}" srcOrd="10" destOrd="0" presId="urn:microsoft.com/office/officeart/2005/8/layout/list1"/>
    <dgm:cxn modelId="{263AB4AF-BD12-4A4A-8356-6A45C311743F}" type="presParOf" srcId="{8762BDF2-D115-4DEA-80D9-B7EB6FE8ACA3}" destId="{5081CA64-A45F-4916-B02B-9B2865237E03}" srcOrd="11" destOrd="0" presId="urn:microsoft.com/office/officeart/2005/8/layout/list1"/>
    <dgm:cxn modelId="{50348DB2-B1BA-44DD-B187-01E5FAB96DDF}" type="presParOf" srcId="{8762BDF2-D115-4DEA-80D9-B7EB6FE8ACA3}" destId="{F20BF198-CC47-4D8A-9F63-AC800671345B}" srcOrd="12" destOrd="0" presId="urn:microsoft.com/office/officeart/2005/8/layout/list1"/>
    <dgm:cxn modelId="{F2914DEF-A82B-41EF-BCD6-236BA9F465FC}" type="presParOf" srcId="{F20BF198-CC47-4D8A-9F63-AC800671345B}" destId="{4F067A41-7A59-45F7-B6B1-CEDCBF9A44E1}" srcOrd="0" destOrd="0" presId="urn:microsoft.com/office/officeart/2005/8/layout/list1"/>
    <dgm:cxn modelId="{63D06EEA-EC77-43A8-8BA2-8565CAF54D50}" type="presParOf" srcId="{F20BF198-CC47-4D8A-9F63-AC800671345B}" destId="{F6A65EFE-1807-4F2C-894E-605C3C8AC652}" srcOrd="1" destOrd="0" presId="urn:microsoft.com/office/officeart/2005/8/layout/list1"/>
    <dgm:cxn modelId="{7FFA68FD-BF98-44AD-B5AA-E39CE6DEA722}" type="presParOf" srcId="{8762BDF2-D115-4DEA-80D9-B7EB6FE8ACA3}" destId="{12A5C7C6-5E58-4264-9B43-0BAA55FB148C}" srcOrd="13" destOrd="0" presId="urn:microsoft.com/office/officeart/2005/8/layout/list1"/>
    <dgm:cxn modelId="{E7DFBEFC-9333-41EB-AE22-CD1AF70FEE17}" type="presParOf" srcId="{8762BDF2-D115-4DEA-80D9-B7EB6FE8ACA3}" destId="{BA67F212-3F26-4FE0-B59D-98A3840EC92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6832041-63F8-411D-B74B-C65EAEDF1BE8}" type="doc">
      <dgm:prSet loTypeId="urn:microsoft.com/office/officeart/2005/8/layout/vList2" loCatId="list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SG"/>
        </a:p>
      </dgm:t>
    </dgm:pt>
    <dgm:pt modelId="{FB76112F-710B-4179-8C5B-6B1204BF26AA}">
      <dgm:prSet phldrT="[Text]"/>
      <dgm:spPr/>
      <dgm:t>
        <a:bodyPr/>
        <a:lstStyle/>
        <a:p>
          <a:r>
            <a:rPr lang="en-US" altLang="en-US" dirty="0"/>
            <a:t>1. Each process occupies a </a:t>
          </a:r>
          <a:r>
            <a:rPr lang="en-US" altLang="en-US" b="1" dirty="0"/>
            <a:t>contiguous</a:t>
          </a:r>
          <a:br>
            <a:rPr lang="en-US" altLang="en-US" b="1" dirty="0"/>
          </a:br>
          <a:r>
            <a:rPr lang="en-US" altLang="en-US" b="1" dirty="0"/>
            <a:t>    memory region</a:t>
          </a:r>
          <a:r>
            <a:rPr lang="en-US" altLang="en-US" dirty="0"/>
            <a:t> </a:t>
          </a:r>
          <a:endParaRPr lang="en-SG" dirty="0"/>
        </a:p>
      </dgm:t>
    </dgm:pt>
    <dgm:pt modelId="{8EC88F1E-2298-4C47-9278-E24ABD5D0EB8}" type="parTrans" cxnId="{910A4EB7-5CA5-48D8-BCB5-440E613660BE}">
      <dgm:prSet/>
      <dgm:spPr/>
      <dgm:t>
        <a:bodyPr/>
        <a:lstStyle/>
        <a:p>
          <a:endParaRPr lang="en-SG"/>
        </a:p>
      </dgm:t>
    </dgm:pt>
    <dgm:pt modelId="{018E3DE1-56F7-4485-A608-4685C007CD5F}" type="sibTrans" cxnId="{910A4EB7-5CA5-48D8-BCB5-440E613660BE}">
      <dgm:prSet/>
      <dgm:spPr/>
      <dgm:t>
        <a:bodyPr/>
        <a:lstStyle/>
        <a:p>
          <a:endParaRPr lang="en-SG"/>
        </a:p>
      </dgm:t>
    </dgm:pt>
    <dgm:pt modelId="{2D36AEB8-6422-4796-99D9-A3F39CF6CB56}">
      <dgm:prSet/>
      <dgm:spPr/>
      <dgm:t>
        <a:bodyPr/>
        <a:lstStyle/>
        <a:p>
          <a:r>
            <a:rPr lang="en-US" altLang="en-US" dirty="0"/>
            <a:t>2. The </a:t>
          </a:r>
          <a:r>
            <a:rPr lang="en-US" altLang="en-US" b="1" dirty="0"/>
            <a:t>physical memory is large</a:t>
          </a:r>
          <a:br>
            <a:rPr lang="en-US" altLang="en-US" b="1" dirty="0"/>
          </a:br>
          <a:r>
            <a:rPr lang="en-US" altLang="en-US" b="1" dirty="0"/>
            <a:t>    enough </a:t>
          </a:r>
          <a:r>
            <a:rPr lang="en-US" altLang="en-US" dirty="0"/>
            <a:t>to contain one or more </a:t>
          </a:r>
          <a:br>
            <a:rPr lang="en-US" altLang="en-US" dirty="0"/>
          </a:br>
          <a:r>
            <a:rPr lang="en-US" altLang="en-US" dirty="0"/>
            <a:t>    processes with </a:t>
          </a:r>
          <a:r>
            <a:rPr lang="en-US" altLang="en-US" b="1" dirty="0"/>
            <a:t>complete memory space</a:t>
          </a:r>
        </a:p>
      </dgm:t>
    </dgm:pt>
    <dgm:pt modelId="{4084CCDF-B6B6-4B51-A1D5-A532837BA324}" type="parTrans" cxnId="{B41F0D4A-F786-4737-8231-BC038ACCBBA4}">
      <dgm:prSet/>
      <dgm:spPr/>
      <dgm:t>
        <a:bodyPr/>
        <a:lstStyle/>
        <a:p>
          <a:endParaRPr lang="en-SG"/>
        </a:p>
      </dgm:t>
    </dgm:pt>
    <dgm:pt modelId="{D6FB8DA2-1C43-454B-ACEE-DCDE7E685B1C}" type="sibTrans" cxnId="{B41F0D4A-F786-4737-8231-BC038ACCBBA4}">
      <dgm:prSet/>
      <dgm:spPr/>
      <dgm:t>
        <a:bodyPr/>
        <a:lstStyle/>
        <a:p>
          <a:endParaRPr lang="en-SG"/>
        </a:p>
      </dgm:t>
    </dgm:pt>
    <dgm:pt modelId="{E7036081-07A5-4AC5-BF8E-3470E9387214}" type="pres">
      <dgm:prSet presAssocID="{D6832041-63F8-411D-B74B-C65EAEDF1BE8}" presName="linear" presStyleCnt="0">
        <dgm:presLayoutVars>
          <dgm:animLvl val="lvl"/>
          <dgm:resizeHandles val="exact"/>
        </dgm:presLayoutVars>
      </dgm:prSet>
      <dgm:spPr/>
    </dgm:pt>
    <dgm:pt modelId="{A7CE488B-B1D5-4E8B-91F0-6E26836D5F9E}" type="pres">
      <dgm:prSet presAssocID="{FB76112F-710B-4179-8C5B-6B1204BF26AA}" presName="parentText" presStyleLbl="node1" presStyleIdx="0" presStyleCnt="2" custLinFactNeighborY="-87804">
        <dgm:presLayoutVars>
          <dgm:chMax val="0"/>
          <dgm:bulletEnabled val="1"/>
        </dgm:presLayoutVars>
      </dgm:prSet>
      <dgm:spPr/>
    </dgm:pt>
    <dgm:pt modelId="{D6F8EED8-9D28-42D5-B8EE-E7C7FF0A057F}" type="pres">
      <dgm:prSet presAssocID="{018E3DE1-56F7-4485-A608-4685C007CD5F}" presName="spacer" presStyleCnt="0"/>
      <dgm:spPr/>
    </dgm:pt>
    <dgm:pt modelId="{EE79E5D4-272E-49D3-8468-8B2108B886F5}" type="pres">
      <dgm:prSet presAssocID="{2D36AEB8-6422-4796-99D9-A3F39CF6CB56}" presName="parentText" presStyleLbl="node1" presStyleIdx="1" presStyleCnt="2" custLinFactY="1008" custLinFactNeighborY="100000">
        <dgm:presLayoutVars>
          <dgm:chMax val="0"/>
          <dgm:bulletEnabled val="1"/>
        </dgm:presLayoutVars>
      </dgm:prSet>
      <dgm:spPr/>
    </dgm:pt>
  </dgm:ptLst>
  <dgm:cxnLst>
    <dgm:cxn modelId="{B41F0D4A-F786-4737-8231-BC038ACCBBA4}" srcId="{D6832041-63F8-411D-B74B-C65EAEDF1BE8}" destId="{2D36AEB8-6422-4796-99D9-A3F39CF6CB56}" srcOrd="1" destOrd="0" parTransId="{4084CCDF-B6B6-4B51-A1D5-A532837BA324}" sibTransId="{D6FB8DA2-1C43-454B-ACEE-DCDE7E685B1C}"/>
    <dgm:cxn modelId="{B339046D-1913-4ECC-A377-94735E44EB9C}" type="presOf" srcId="{FB76112F-710B-4179-8C5B-6B1204BF26AA}" destId="{A7CE488B-B1D5-4E8B-91F0-6E26836D5F9E}" srcOrd="0" destOrd="0" presId="urn:microsoft.com/office/officeart/2005/8/layout/vList2"/>
    <dgm:cxn modelId="{BCEC2873-CC35-4A98-8793-A6D3A350C1B1}" type="presOf" srcId="{D6832041-63F8-411D-B74B-C65EAEDF1BE8}" destId="{E7036081-07A5-4AC5-BF8E-3470E9387214}" srcOrd="0" destOrd="0" presId="urn:microsoft.com/office/officeart/2005/8/layout/vList2"/>
    <dgm:cxn modelId="{C5058DA6-6F5D-452A-B3D6-3C5D27220EF0}" type="presOf" srcId="{2D36AEB8-6422-4796-99D9-A3F39CF6CB56}" destId="{EE79E5D4-272E-49D3-8468-8B2108B886F5}" srcOrd="0" destOrd="0" presId="urn:microsoft.com/office/officeart/2005/8/layout/vList2"/>
    <dgm:cxn modelId="{910A4EB7-5CA5-48D8-BCB5-440E613660BE}" srcId="{D6832041-63F8-411D-B74B-C65EAEDF1BE8}" destId="{FB76112F-710B-4179-8C5B-6B1204BF26AA}" srcOrd="0" destOrd="0" parTransId="{8EC88F1E-2298-4C47-9278-E24ABD5D0EB8}" sibTransId="{018E3DE1-56F7-4485-A608-4685C007CD5F}"/>
    <dgm:cxn modelId="{DCE95AB8-5A55-483A-939B-4F5079FA6921}" type="presParOf" srcId="{E7036081-07A5-4AC5-BF8E-3470E9387214}" destId="{A7CE488B-B1D5-4E8B-91F0-6E26836D5F9E}" srcOrd="0" destOrd="0" presId="urn:microsoft.com/office/officeart/2005/8/layout/vList2"/>
    <dgm:cxn modelId="{45FFB288-63E2-4F72-8143-C0DD4095B491}" type="presParOf" srcId="{E7036081-07A5-4AC5-BF8E-3470E9387214}" destId="{D6F8EED8-9D28-42D5-B8EE-E7C7FF0A057F}" srcOrd="1" destOrd="0" presId="urn:microsoft.com/office/officeart/2005/8/layout/vList2"/>
    <dgm:cxn modelId="{692C2BBE-04A1-4469-BE4B-8EEDD541FF96}" type="presParOf" srcId="{E7036081-07A5-4AC5-BF8E-3470E9387214}" destId="{EE79E5D4-272E-49D3-8468-8B2108B886F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862E14-A98C-400C-98A6-DF9C25DE3A1D}">
      <dsp:nvSpPr>
        <dsp:cNvPr id="0" name=""/>
        <dsp:cNvSpPr/>
      </dsp:nvSpPr>
      <dsp:spPr>
        <a:xfrm>
          <a:off x="0" y="331496"/>
          <a:ext cx="8229600" cy="876487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37388" rIns="63870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1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Presenting a logical interface for memory accesses</a:t>
          </a:r>
        </a:p>
      </dsp:txBody>
      <dsp:txXfrm>
        <a:off x="0" y="331496"/>
        <a:ext cx="8229600" cy="876487"/>
      </dsp:txXfrm>
    </dsp:sp>
    <dsp:sp modelId="{A0F1045D-1404-448F-A99E-5A525546E0A0}">
      <dsp:nvSpPr>
        <dsp:cNvPr id="0" name=""/>
        <dsp:cNvSpPr/>
      </dsp:nvSpPr>
      <dsp:spPr>
        <a:xfrm>
          <a:off x="411480" y="21536"/>
          <a:ext cx="5760719" cy="619920"/>
        </a:xfrm>
        <a:prstGeom prst="roundRect">
          <a:avLst/>
        </a:prstGeom>
        <a:solidFill>
          <a:srgbClr val="956251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Memory Abstraction</a:t>
          </a:r>
          <a:endParaRPr lang="en-SG" sz="2100" i="0" kern="1200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sp:txBody>
      <dsp:txXfrm>
        <a:off x="441742" y="51798"/>
        <a:ext cx="5700195" cy="559396"/>
      </dsp:txXfrm>
    </dsp:sp>
    <dsp:sp modelId="{9452430F-0D41-48E6-9EFF-D0BD9AF10AE5}">
      <dsp:nvSpPr>
        <dsp:cNvPr id="0" name=""/>
        <dsp:cNvSpPr/>
      </dsp:nvSpPr>
      <dsp:spPr>
        <a:xfrm>
          <a:off x="0" y="1631343"/>
          <a:ext cx="8229600" cy="876487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6807678"/>
              <a:satOff val="-7995"/>
              <a:lumOff val="3072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37388" rIns="63870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1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Allocating  and managing continuous chunk of memory</a:t>
          </a:r>
        </a:p>
      </dsp:txBody>
      <dsp:txXfrm>
        <a:off x="0" y="1631343"/>
        <a:ext cx="8229600" cy="876487"/>
      </dsp:txXfrm>
    </dsp:sp>
    <dsp:sp modelId="{5F21E593-7E76-4519-9E50-0F90DEFA97F1}">
      <dsp:nvSpPr>
        <dsp:cNvPr id="0" name=""/>
        <dsp:cNvSpPr/>
      </dsp:nvSpPr>
      <dsp:spPr>
        <a:xfrm>
          <a:off x="411480" y="1321383"/>
          <a:ext cx="5760719" cy="619920"/>
        </a:xfrm>
        <a:prstGeom prst="roundRect">
          <a:avLst/>
        </a:prstGeom>
        <a:solidFill>
          <a:srgbClr val="956251">
            <a:hueOff val="6807678"/>
            <a:satOff val="-7995"/>
            <a:lumOff val="3072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Contiguous Memory Allocation</a:t>
          </a:r>
        </a:p>
      </dsp:txBody>
      <dsp:txXfrm>
        <a:off x="441742" y="1351645"/>
        <a:ext cx="5700195" cy="559396"/>
      </dsp:txXfrm>
    </dsp:sp>
    <dsp:sp modelId="{76DFFF08-9C74-4D9A-B9A5-AFC5EBEC37F1}">
      <dsp:nvSpPr>
        <dsp:cNvPr id="0" name=""/>
        <dsp:cNvSpPr/>
      </dsp:nvSpPr>
      <dsp:spPr>
        <a:xfrm>
          <a:off x="0" y="2931191"/>
          <a:ext cx="8229600" cy="876487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13615356"/>
              <a:satOff val="-15991"/>
              <a:lumOff val="6144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37388" rIns="63870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1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Allocating and managing memory in disjoint areas </a:t>
          </a:r>
        </a:p>
      </dsp:txBody>
      <dsp:txXfrm>
        <a:off x="0" y="2931191"/>
        <a:ext cx="8229600" cy="876487"/>
      </dsp:txXfrm>
    </dsp:sp>
    <dsp:sp modelId="{9A6DF595-0921-4B96-89D8-7C40037CDB5A}">
      <dsp:nvSpPr>
        <dsp:cNvPr id="0" name=""/>
        <dsp:cNvSpPr/>
      </dsp:nvSpPr>
      <dsp:spPr>
        <a:xfrm>
          <a:off x="411480" y="2621231"/>
          <a:ext cx="5760719" cy="619920"/>
        </a:xfrm>
        <a:prstGeom prst="roundRect">
          <a:avLst/>
        </a:prstGeom>
        <a:solidFill>
          <a:srgbClr val="956251">
            <a:hueOff val="13615356"/>
            <a:satOff val="-15991"/>
            <a:lumOff val="6144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Disjoint Memory Allocation</a:t>
          </a:r>
        </a:p>
      </dsp:txBody>
      <dsp:txXfrm>
        <a:off x="441742" y="2651493"/>
        <a:ext cx="5700195" cy="559396"/>
      </dsp:txXfrm>
    </dsp:sp>
    <dsp:sp modelId="{BA67F212-3F26-4FE0-B59D-98A3840EC922}">
      <dsp:nvSpPr>
        <dsp:cNvPr id="0" name=""/>
        <dsp:cNvSpPr/>
      </dsp:nvSpPr>
      <dsp:spPr>
        <a:xfrm>
          <a:off x="0" y="4231038"/>
          <a:ext cx="8229600" cy="11576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20423033"/>
              <a:satOff val="-23986"/>
              <a:lumOff val="9216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37388" rIns="63870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1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Use of secondary storage as an extended memory region</a:t>
          </a:r>
        </a:p>
      </dsp:txBody>
      <dsp:txXfrm>
        <a:off x="0" y="4231038"/>
        <a:ext cx="8229600" cy="1157625"/>
      </dsp:txXfrm>
    </dsp:sp>
    <dsp:sp modelId="{F6A65EFE-1807-4F2C-894E-605C3C8AC652}">
      <dsp:nvSpPr>
        <dsp:cNvPr id="0" name=""/>
        <dsp:cNvSpPr/>
      </dsp:nvSpPr>
      <dsp:spPr>
        <a:xfrm>
          <a:off x="411480" y="3921078"/>
          <a:ext cx="5760719" cy="619920"/>
        </a:xfrm>
        <a:prstGeom prst="roundRect">
          <a:avLst/>
        </a:prstGeom>
        <a:solidFill>
          <a:srgbClr val="956251">
            <a:hueOff val="20423033"/>
            <a:satOff val="-23986"/>
            <a:lumOff val="9216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Virtual Memory Management</a:t>
          </a:r>
        </a:p>
      </dsp:txBody>
      <dsp:txXfrm>
        <a:off x="441742" y="3951340"/>
        <a:ext cx="5700195" cy="5593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CE488B-B1D5-4E8B-91F0-6E26836D5F9E}">
      <dsp:nvSpPr>
        <dsp:cNvPr id="0" name=""/>
        <dsp:cNvSpPr/>
      </dsp:nvSpPr>
      <dsp:spPr>
        <a:xfrm>
          <a:off x="0" y="320274"/>
          <a:ext cx="8077200" cy="159266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3000" kern="1200" dirty="0"/>
            <a:t>1. Each process occupies a </a:t>
          </a:r>
          <a:r>
            <a:rPr lang="en-US" altLang="en-US" sz="3000" b="1" kern="1200" dirty="0"/>
            <a:t>contiguous</a:t>
          </a:r>
          <a:br>
            <a:rPr lang="en-US" altLang="en-US" sz="3000" b="1" kern="1200" dirty="0"/>
          </a:br>
          <a:r>
            <a:rPr lang="en-US" altLang="en-US" sz="3000" b="1" kern="1200" dirty="0"/>
            <a:t>    memory region</a:t>
          </a:r>
          <a:r>
            <a:rPr lang="en-US" altLang="en-US" sz="3000" kern="1200" dirty="0"/>
            <a:t> </a:t>
          </a:r>
          <a:endParaRPr lang="en-SG" sz="3000" kern="1200" dirty="0"/>
        </a:p>
      </dsp:txBody>
      <dsp:txXfrm>
        <a:off x="77747" y="398021"/>
        <a:ext cx="7921706" cy="1437168"/>
      </dsp:txXfrm>
    </dsp:sp>
    <dsp:sp modelId="{EE79E5D4-272E-49D3-8468-8B2108B886F5}">
      <dsp:nvSpPr>
        <dsp:cNvPr id="0" name=""/>
        <dsp:cNvSpPr/>
      </dsp:nvSpPr>
      <dsp:spPr>
        <a:xfrm>
          <a:off x="0" y="2177654"/>
          <a:ext cx="8077200" cy="1592662"/>
        </a:xfrm>
        <a:prstGeom prst="roundRect">
          <a:avLst/>
        </a:prstGeom>
        <a:gradFill rotWithShape="0">
          <a:gsLst>
            <a:gs pos="0">
              <a:schemeClr val="accent2">
                <a:hueOff val="-9067202"/>
                <a:satOff val="5236"/>
                <a:lumOff val="-9607"/>
                <a:alphaOff val="0"/>
                <a:shade val="51000"/>
                <a:satMod val="130000"/>
              </a:schemeClr>
            </a:gs>
            <a:gs pos="80000">
              <a:schemeClr val="accent2">
                <a:hueOff val="-9067202"/>
                <a:satOff val="5236"/>
                <a:lumOff val="-9607"/>
                <a:alphaOff val="0"/>
                <a:shade val="93000"/>
                <a:satMod val="130000"/>
              </a:schemeClr>
            </a:gs>
            <a:gs pos="100000">
              <a:schemeClr val="accent2">
                <a:hueOff val="-9067202"/>
                <a:satOff val="5236"/>
                <a:lumOff val="-960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3000" kern="1200" dirty="0"/>
            <a:t>2. The </a:t>
          </a:r>
          <a:r>
            <a:rPr lang="en-US" altLang="en-US" sz="3000" b="1" kern="1200" dirty="0"/>
            <a:t>physical memory is large</a:t>
          </a:r>
          <a:br>
            <a:rPr lang="en-US" altLang="en-US" sz="3000" b="1" kern="1200" dirty="0"/>
          </a:br>
          <a:r>
            <a:rPr lang="en-US" altLang="en-US" sz="3000" b="1" kern="1200" dirty="0"/>
            <a:t>    enough </a:t>
          </a:r>
          <a:r>
            <a:rPr lang="en-US" altLang="en-US" sz="3000" kern="1200" dirty="0"/>
            <a:t>to contain one or more </a:t>
          </a:r>
          <a:br>
            <a:rPr lang="en-US" altLang="en-US" sz="3000" kern="1200" dirty="0"/>
          </a:br>
          <a:r>
            <a:rPr lang="en-US" altLang="en-US" sz="3000" kern="1200" dirty="0"/>
            <a:t>    processes with </a:t>
          </a:r>
          <a:r>
            <a:rPr lang="en-US" altLang="en-US" sz="3000" b="1" kern="1200" dirty="0"/>
            <a:t>complete memory space</a:t>
          </a:r>
        </a:p>
      </dsp:txBody>
      <dsp:txXfrm>
        <a:off x="77747" y="2255401"/>
        <a:ext cx="7921706" cy="14371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D8C63D3E-5435-421A-B6F7-705351D560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49534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0D2EB8-47C9-4BA0-80B0-A23C3FAF4CD9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71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9687" cy="3838575"/>
          </a:xfrm>
          <a:ln/>
        </p:spPr>
      </p:sp>
      <p:sp>
        <p:nvSpPr>
          <p:cNvPr id="71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2263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Operations to 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2659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177D97-4823-4F7B-8850-314FB921F4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39365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9B78E5-7CBB-416F-85A9-6A6E33CFDE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47822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3F01D5-1E4D-4AB2-BA30-06DD7E1CE6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0051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AA9961-5DF7-4572-9C10-2FA82B8B523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3822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048CA81-7D9B-4EB8-93B9-0D05F3834E0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6889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F1C99A1-EC1E-46F1-8A80-869AC29E4FF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7815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C73B67-0DE8-4D98-BAAA-91C5FDC1FF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2584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EE1922-6EFC-498D-A404-600BF5AADB6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241057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A4C580-959A-4DCA-AC37-879387F4037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108604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D0C08E-D693-46C9-A6E9-2EECB9F459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56568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63A473AF-C3EB-4885-86D1-A60D69D2DE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44958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466604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r"/>
            <a:fld id="{CE75A583-2965-43E2-86DB-1D8309C7BE4E}" type="slidenum">
              <a:rPr lang="en-US" altLang="en-US" sz="1400" b="1">
                <a:solidFill>
                  <a:srgbClr val="000000"/>
                </a:solidFill>
                <a:latin typeface="Garamond" pitchFamily="18" charset="0"/>
              </a:rPr>
              <a:pPr algn="r"/>
              <a:t>‹#›</a:t>
            </a:fld>
            <a:endParaRPr lang="en-US" altLang="en-US" sz="1400" b="1">
              <a:solidFill>
                <a:srgbClr val="000000"/>
              </a:solidFill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501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9C6DC38-F8D0-42B3-A7D9-2FF7F49909D9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2916866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1283D09-A8B6-43E3-B7AC-BA65E03579C4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18635543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4F74FC8-E5D4-4AD3-9B13-70E4464D5156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061409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41115D2-C707-42AE-9F9D-24A450F0692E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16351132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441375B-A2FD-457C-895D-8AE392ABE545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8026322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4211A22-9F5B-442B-A6FE-4C3DCBB672B4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23507248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ECECC5-2804-4245-8453-77C7B89E2DD4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15181664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96FDF4-D0BB-4433-A833-5739306DE413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8700832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36F49E5-4AE1-49D2-AA61-543F5A746FEB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38048970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D8B9DA5-347D-40B3-A996-96CC7059341C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543589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EF45CDEF-AA4C-414C-82AE-7DD53EEEB5A8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44958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510717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4511BD33-39C3-401A-9196-1A39F03979B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098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[ CS2106 L7 - AY1819S1 ]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 b="1" i="0">
                <a:latin typeface="+mj-lt"/>
              </a:defRPr>
            </a:lvl1pPr>
          </a:lstStyle>
          <a:p>
            <a:fld id="{39AEA1C5-25BB-4C8A-8D6D-EE50B50A5ADC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44958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i="0">
                <a:latin typeface="+mj-lt"/>
              </a:defRPr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195284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b="1" dirty="0">
                <a:solidFill>
                  <a:prstClr val="black"/>
                </a:solidFill>
              </a:rPr>
              <a:t>Memory Management</a:t>
            </a:r>
            <a:br>
              <a:rPr lang="en-US" altLang="en-US" dirty="0">
                <a:solidFill>
                  <a:prstClr val="black"/>
                </a:solidFill>
              </a:rPr>
            </a:br>
            <a:r>
              <a:rPr lang="en-US" altLang="en-US" b="1" dirty="0">
                <a:solidFill>
                  <a:srgbClr val="C00000"/>
                </a:solidFill>
              </a:rPr>
              <a:t>Memory Abstraction</a:t>
            </a:r>
            <a:endParaRPr lang="en-US" altLang="en-US" sz="4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7 </a:t>
            </a:r>
            <a:r>
              <a:rPr lang="en-US" dirty="0"/>
              <a:t>(</a:t>
            </a:r>
            <a:r>
              <a:rPr lang="en-US" b="1" dirty="0">
                <a:solidFill>
                  <a:srgbClr val="660066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006600"/>
                </a:solidFill>
              </a:rPr>
              <a:t>v</a:t>
            </a:r>
            <a:r>
              <a:rPr lang="en-US" b="1" dirty="0">
                <a:solidFill>
                  <a:srgbClr val="0070C0"/>
                </a:solidFill>
              </a:rPr>
              <a:t>e</a:t>
            </a:r>
            <a:r>
              <a:rPr lang="en-US" b="1" dirty="0"/>
              <a:t> Version</a:t>
            </a:r>
            <a:r>
              <a:rPr lang="en-US" dirty="0"/>
              <a:t>)</a:t>
            </a:r>
          </a:p>
          <a:p>
            <a:endParaRPr lang="en-US" altLang="en-US" dirty="0"/>
          </a:p>
        </p:txBody>
      </p:sp>
      <p:sp>
        <p:nvSpPr>
          <p:cNvPr id="2" name="Right Arrow 1"/>
          <p:cNvSpPr/>
          <p:nvPr/>
        </p:nvSpPr>
        <p:spPr>
          <a:xfrm flipH="1">
            <a:off x="4495800" y="1481667"/>
            <a:ext cx="838200" cy="60960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31702-7D57-4614-8356-D803A2A5D272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Basic of Memory:</a:t>
            </a:r>
          </a:p>
          <a:p>
            <a:pPr lvl="1"/>
            <a:r>
              <a:rPr lang="en-US" altLang="en-US" dirty="0"/>
              <a:t>Hardware</a:t>
            </a:r>
          </a:p>
          <a:p>
            <a:pPr lvl="1"/>
            <a:r>
              <a:rPr lang="en-US" altLang="en-US" dirty="0"/>
              <a:t>Memory usage of process</a:t>
            </a:r>
          </a:p>
          <a:p>
            <a:pPr lvl="1"/>
            <a:r>
              <a:rPr lang="en-US" altLang="en-US" dirty="0"/>
              <a:t>Role of OS</a:t>
            </a:r>
          </a:p>
          <a:p>
            <a:r>
              <a:rPr lang="en-US" altLang="en-US" b="1" dirty="0">
                <a:solidFill>
                  <a:srgbClr val="006600"/>
                </a:solidFill>
              </a:rPr>
              <a:t>Memory abstractions:</a:t>
            </a:r>
          </a:p>
          <a:p>
            <a:pPr lvl="1"/>
            <a:r>
              <a:rPr lang="en-US" altLang="en-US" dirty="0"/>
              <a:t>Physical address</a:t>
            </a:r>
          </a:p>
          <a:p>
            <a:pPr lvl="1"/>
            <a:r>
              <a:rPr lang="en-US" altLang="en-US" dirty="0"/>
              <a:t>Logical address</a:t>
            </a:r>
          </a:p>
          <a:p>
            <a:r>
              <a:rPr lang="en-US" altLang="en-US" b="1" dirty="0">
                <a:solidFill>
                  <a:srgbClr val="660066"/>
                </a:solidFill>
              </a:rPr>
              <a:t>Contiguous Memory Allocation</a:t>
            </a:r>
            <a:r>
              <a:rPr lang="en-US" altLang="en-US" b="1" dirty="0">
                <a:solidFill>
                  <a:schemeClr val="accent5"/>
                </a:solidFill>
              </a:rPr>
              <a:t>:</a:t>
            </a:r>
          </a:p>
          <a:p>
            <a:pPr lvl="1"/>
            <a:r>
              <a:rPr lang="en-US" altLang="en-US" dirty="0"/>
              <a:t>Fixed Size Partition</a:t>
            </a:r>
          </a:p>
          <a:p>
            <a:pPr lvl="1"/>
            <a:r>
              <a:rPr lang="en-US" altLang="en-US" dirty="0"/>
              <a:t>Variable Size Partition</a:t>
            </a:r>
          </a:p>
          <a:p>
            <a:pPr lvl="2"/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D7FC7D-5100-4A72-BB7B-13D256171AAD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1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Memory Hardware</a:t>
            </a:r>
          </a:p>
        </p:txBody>
      </p:sp>
      <p:sp>
        <p:nvSpPr>
          <p:cNvPr id="71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5638800" cy="5486400"/>
          </a:xfrm>
        </p:spPr>
        <p:txBody>
          <a:bodyPr/>
          <a:lstStyle/>
          <a:p>
            <a:r>
              <a:rPr lang="en-US" altLang="en-US" dirty="0"/>
              <a:t>Physical memory storage:</a:t>
            </a:r>
          </a:p>
          <a:p>
            <a:pPr lvl="1"/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en-US" dirty="0">
                <a:solidFill>
                  <a:srgbClr val="660066"/>
                </a:solidFill>
              </a:rPr>
              <a:t>andom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altLang="en-US" dirty="0">
                <a:solidFill>
                  <a:srgbClr val="660066"/>
                </a:solidFill>
              </a:rPr>
              <a:t>ccess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</a:t>
            </a:r>
            <a:r>
              <a:rPr lang="en-US" altLang="en-US" dirty="0">
                <a:solidFill>
                  <a:srgbClr val="660066"/>
                </a:solidFill>
              </a:rPr>
              <a:t>emory</a:t>
            </a:r>
          </a:p>
          <a:p>
            <a:pPr lvl="1"/>
            <a:r>
              <a:rPr lang="en-US" altLang="en-US" dirty="0"/>
              <a:t>Can be treated as an array of bytes</a:t>
            </a:r>
          </a:p>
          <a:p>
            <a:pPr lvl="1"/>
            <a:r>
              <a:rPr lang="en-US" altLang="en-US" dirty="0"/>
              <a:t>Each byte has a unique index</a:t>
            </a:r>
          </a:p>
          <a:p>
            <a:pPr lvl="2"/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C00000"/>
                </a:solidFill>
              </a:rPr>
              <a:t>physical address</a:t>
            </a:r>
          </a:p>
          <a:p>
            <a:pPr marL="671512" lvl="2" indent="0">
              <a:buNone/>
            </a:pPr>
            <a:endParaRPr lang="en-US" altLang="en-US" b="1" dirty="0"/>
          </a:p>
          <a:p>
            <a:r>
              <a:rPr lang="en-US" altLang="en-US" b="1" dirty="0"/>
              <a:t>A </a:t>
            </a:r>
            <a:r>
              <a:rPr lang="en-US" altLang="en-US" b="1" dirty="0">
                <a:solidFill>
                  <a:srgbClr val="660066"/>
                </a:solidFill>
              </a:rPr>
              <a:t>contiguous</a:t>
            </a:r>
            <a:r>
              <a:rPr lang="en-US" altLang="en-US" b="1" dirty="0"/>
              <a:t> memory region:</a:t>
            </a:r>
          </a:p>
          <a:p>
            <a:pPr lvl="1"/>
            <a:r>
              <a:rPr lang="en-US" altLang="en-US" dirty="0"/>
              <a:t>An interval of consecutive addresses</a:t>
            </a:r>
          </a:p>
        </p:txBody>
      </p:sp>
      <p:sp>
        <p:nvSpPr>
          <p:cNvPr id="710669" name="Text Box 13"/>
          <p:cNvSpPr txBox="1">
            <a:spLocks noChangeArrowheads="1"/>
          </p:cNvSpPr>
          <p:nvPr/>
        </p:nvSpPr>
        <p:spPr bwMode="auto">
          <a:xfrm>
            <a:off x="7467600" y="4062413"/>
            <a:ext cx="738188" cy="407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8755" tIns="49378" rIns="98755" bIns="49378">
            <a:spAutoFit/>
          </a:bodyPr>
          <a:lstStyle>
            <a:lvl1pPr defTabSz="98742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93713" defTabSz="98742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987425" defTabSz="98742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81138" defTabSz="98742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74850" defTabSz="98742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32050" defTabSz="9874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89250" defTabSz="9874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46450" defTabSz="9874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03650" defTabSz="9874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endParaRPr lang="en-US" altLang="en-US" sz="2000" b="1" dirty="0">
              <a:latin typeface="Courier New" pitchFamily="49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7467600" y="1776413"/>
            <a:ext cx="762000" cy="3913188"/>
            <a:chOff x="7467600" y="1776413"/>
            <a:chExt cx="762000" cy="3913188"/>
          </a:xfrm>
        </p:grpSpPr>
        <p:sp>
          <p:nvSpPr>
            <p:cNvPr id="710667" name="Text Box 11"/>
            <p:cNvSpPr txBox="1">
              <a:spLocks noChangeArrowheads="1"/>
            </p:cNvSpPr>
            <p:nvPr/>
          </p:nvSpPr>
          <p:spPr bwMode="auto">
            <a:xfrm>
              <a:off x="7467600" y="5281613"/>
              <a:ext cx="738188" cy="4079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755" tIns="49378" rIns="98755" bIns="49378">
              <a:spAutoFit/>
            </a:bodyPr>
            <a:lstStyle>
              <a:lvl1pPr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93713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987425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481138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974850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4320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8892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3464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036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000" b="1" dirty="0">
                  <a:latin typeface="Courier New" pitchFamily="49" charset="0"/>
                </a:rPr>
                <a:t>n-1</a:t>
              </a:r>
            </a:p>
          </p:txBody>
        </p:sp>
        <p:sp>
          <p:nvSpPr>
            <p:cNvPr id="710670" name="Text Box 14"/>
            <p:cNvSpPr txBox="1">
              <a:spLocks noChangeArrowheads="1"/>
            </p:cNvSpPr>
            <p:nvPr/>
          </p:nvSpPr>
          <p:spPr bwMode="auto">
            <a:xfrm>
              <a:off x="7467600" y="1776413"/>
              <a:ext cx="739775" cy="4079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755" tIns="49378" rIns="98755" bIns="49378">
              <a:spAutoFit/>
            </a:bodyPr>
            <a:lstStyle>
              <a:lvl1pPr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93713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987425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481138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974850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4320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8892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3464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036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000" b="1" dirty="0">
                  <a:latin typeface="Courier New" pitchFamily="49" charset="0"/>
                </a:rPr>
                <a:t>0</a:t>
              </a:r>
            </a:p>
          </p:txBody>
        </p:sp>
        <p:sp>
          <p:nvSpPr>
            <p:cNvPr id="710671" name="Text Box 15"/>
            <p:cNvSpPr txBox="1">
              <a:spLocks noChangeArrowheads="1"/>
            </p:cNvSpPr>
            <p:nvPr/>
          </p:nvSpPr>
          <p:spPr bwMode="auto">
            <a:xfrm>
              <a:off x="7467600" y="2309813"/>
              <a:ext cx="762000" cy="4079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755" tIns="49378" rIns="98755" bIns="49378">
              <a:spAutoFit/>
            </a:bodyPr>
            <a:lstStyle>
              <a:lvl1pPr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93713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987425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481138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974850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4320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8892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3464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036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000" b="1" dirty="0">
                  <a:latin typeface="Courier New" pitchFamily="49" charset="0"/>
                </a:rPr>
                <a:t>1</a:t>
              </a:r>
            </a:p>
          </p:txBody>
        </p:sp>
        <p:sp>
          <p:nvSpPr>
            <p:cNvPr id="710672" name="Text Box 16"/>
            <p:cNvSpPr txBox="1">
              <a:spLocks noChangeArrowheads="1"/>
            </p:cNvSpPr>
            <p:nvPr/>
          </p:nvSpPr>
          <p:spPr bwMode="auto">
            <a:xfrm>
              <a:off x="7467600" y="2843213"/>
              <a:ext cx="762000" cy="403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755" tIns="49378" rIns="98755" bIns="49378">
              <a:spAutoFit/>
            </a:bodyPr>
            <a:lstStyle>
              <a:lvl1pPr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93713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987425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481138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974850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4320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8892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3464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036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000" b="1">
                  <a:latin typeface="Courier New" pitchFamily="49" charset="0"/>
                </a:rPr>
                <a:t>.</a:t>
              </a:r>
            </a:p>
          </p:txBody>
        </p:sp>
        <p:sp>
          <p:nvSpPr>
            <p:cNvPr id="710673" name="Text Box 17"/>
            <p:cNvSpPr txBox="1">
              <a:spLocks noChangeArrowheads="1"/>
            </p:cNvSpPr>
            <p:nvPr/>
          </p:nvSpPr>
          <p:spPr bwMode="auto">
            <a:xfrm>
              <a:off x="7467600" y="3452813"/>
              <a:ext cx="762000" cy="403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755" tIns="49378" rIns="98755" bIns="49378">
              <a:spAutoFit/>
            </a:bodyPr>
            <a:lstStyle>
              <a:lvl1pPr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93713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987425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481138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974850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4320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8892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3464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036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000" b="1">
                  <a:latin typeface="Courier New" pitchFamily="49" charset="0"/>
                </a:rPr>
                <a:t>.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7696200" y="1700213"/>
            <a:ext cx="1219200" cy="4038600"/>
            <a:chOff x="7696200" y="1700213"/>
            <a:chExt cx="1219200" cy="4038600"/>
          </a:xfrm>
        </p:grpSpPr>
        <p:sp>
          <p:nvSpPr>
            <p:cNvPr id="710675" name="Line 19"/>
            <p:cNvSpPr>
              <a:spLocks noChangeShapeType="1"/>
            </p:cNvSpPr>
            <p:nvPr/>
          </p:nvSpPr>
          <p:spPr bwMode="auto">
            <a:xfrm>
              <a:off x="7924800" y="1700213"/>
              <a:ext cx="685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710676" name="Line 20"/>
            <p:cNvSpPr>
              <a:spLocks noChangeShapeType="1"/>
            </p:cNvSpPr>
            <p:nvPr/>
          </p:nvSpPr>
          <p:spPr bwMode="auto">
            <a:xfrm>
              <a:off x="8001000" y="5738813"/>
              <a:ext cx="609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710677" name="Line 21"/>
            <p:cNvSpPr>
              <a:spLocks noChangeShapeType="1"/>
            </p:cNvSpPr>
            <p:nvPr/>
          </p:nvSpPr>
          <p:spPr bwMode="auto">
            <a:xfrm>
              <a:off x="8305800" y="1700213"/>
              <a:ext cx="0" cy="10826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710678" name="Line 22"/>
            <p:cNvSpPr>
              <a:spLocks noChangeShapeType="1"/>
            </p:cNvSpPr>
            <p:nvPr/>
          </p:nvSpPr>
          <p:spPr bwMode="auto">
            <a:xfrm>
              <a:off x="8305800" y="1700213"/>
              <a:ext cx="0" cy="403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710674" name="Text Box 18"/>
            <p:cNvSpPr txBox="1">
              <a:spLocks noChangeArrowheads="1"/>
            </p:cNvSpPr>
            <p:nvPr/>
          </p:nvSpPr>
          <p:spPr bwMode="auto">
            <a:xfrm>
              <a:off x="7696200" y="3322638"/>
              <a:ext cx="1219200" cy="715963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8755" tIns="49378" rIns="98755" bIns="49378">
              <a:spAutoFit/>
            </a:bodyPr>
            <a:lstStyle>
              <a:lvl1pPr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93713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987425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481138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974850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4320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8892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3464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036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solidFill>
                    <a:srgbClr val="C00000"/>
                  </a:solidFill>
                </a:rPr>
                <a:t>physical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solidFill>
                    <a:srgbClr val="C00000"/>
                  </a:solidFill>
                </a:rPr>
                <a:t>addresses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172200" y="1676400"/>
            <a:ext cx="1258888" cy="4081463"/>
            <a:chOff x="6172200" y="1676400"/>
            <a:chExt cx="1258888" cy="4081463"/>
          </a:xfrm>
        </p:grpSpPr>
        <p:grpSp>
          <p:nvGrpSpPr>
            <p:cNvPr id="710679" name="Group 23"/>
            <p:cNvGrpSpPr>
              <a:grpSpLocks/>
            </p:cNvGrpSpPr>
            <p:nvPr/>
          </p:nvGrpSpPr>
          <p:grpSpPr bwMode="auto">
            <a:xfrm>
              <a:off x="6172200" y="1676400"/>
              <a:ext cx="1258888" cy="4081463"/>
              <a:chOff x="3752" y="945"/>
              <a:chExt cx="977" cy="2571"/>
            </a:xfrm>
          </p:grpSpPr>
          <p:sp>
            <p:nvSpPr>
              <p:cNvPr id="710660" name="Rectangle 4"/>
              <p:cNvSpPr>
                <a:spLocks noChangeArrowheads="1"/>
              </p:cNvSpPr>
              <p:nvPr/>
            </p:nvSpPr>
            <p:spPr bwMode="auto">
              <a:xfrm>
                <a:off x="3752" y="945"/>
                <a:ext cx="977" cy="367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710663" name="Rectangle 7"/>
              <p:cNvSpPr>
                <a:spLocks noChangeArrowheads="1"/>
              </p:cNvSpPr>
              <p:nvPr/>
            </p:nvSpPr>
            <p:spPr bwMode="auto">
              <a:xfrm>
                <a:off x="3752" y="1651"/>
                <a:ext cx="977" cy="149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710666" name="Rectangle 10"/>
              <p:cNvSpPr>
                <a:spLocks noChangeArrowheads="1"/>
              </p:cNvSpPr>
              <p:nvPr/>
            </p:nvSpPr>
            <p:spPr bwMode="auto">
              <a:xfrm>
                <a:off x="3752" y="3149"/>
                <a:ext cx="977" cy="367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</p:grpSp>
        <p:sp>
          <p:nvSpPr>
            <p:cNvPr id="25" name="Rectangle 8"/>
            <p:cNvSpPr>
              <a:spLocks noChangeArrowheads="1"/>
            </p:cNvSpPr>
            <p:nvPr/>
          </p:nvSpPr>
          <p:spPr bwMode="auto">
            <a:xfrm>
              <a:off x="6172200" y="2233613"/>
              <a:ext cx="1258888" cy="582613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The Memory Hierarchy</a:t>
            </a:r>
          </a:p>
        </p:txBody>
      </p:sp>
      <p:sp>
        <p:nvSpPr>
          <p:cNvPr id="4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2BEDC6-D133-4D88-84D0-66F1EC94AE56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4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pic>
        <p:nvPicPr>
          <p:cNvPr id="39" name="Picture 2" descr="http://web.cs.ucla.edu/classes/winter13/cs111/scribe/15b/scribe/memor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43000"/>
            <a:ext cx="8825018" cy="5180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Recap: </a:t>
            </a:r>
            <a:r>
              <a:rPr lang="en-US" altLang="en-US" sz="3800" b="1" dirty="0">
                <a:solidFill>
                  <a:srgbClr val="C00000"/>
                </a:solidFill>
              </a:rPr>
              <a:t>Memory Usage of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CE2A4-2E0B-4772-B106-C956F841DB78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6" name="Right Bracket 5"/>
          <p:cNvSpPr/>
          <p:nvPr/>
        </p:nvSpPr>
        <p:spPr>
          <a:xfrm flipH="1">
            <a:off x="1905000" y="1557827"/>
            <a:ext cx="209550" cy="4538173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rgbClr val="00206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3604366"/>
            <a:ext cx="1295400" cy="859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The entire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memory space</a:t>
            </a:r>
            <a:endParaRPr lang="en-SG" dirty="0">
              <a:solidFill>
                <a:srgbClr val="002060"/>
              </a:solidFill>
            </a:endParaRPr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2286000" y="1557827"/>
            <a:ext cx="2667000" cy="45339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 b="1">
              <a:latin typeface="Courier New" pitchFamily="49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286000" y="2763496"/>
            <a:ext cx="5874879" cy="1000570"/>
            <a:chOff x="2286000" y="2763496"/>
            <a:chExt cx="5874879" cy="1000570"/>
          </a:xfrm>
        </p:grpSpPr>
        <p:sp>
          <p:nvSpPr>
            <p:cNvPr id="8" name="Rectangle 7"/>
            <p:cNvSpPr/>
            <p:nvPr/>
          </p:nvSpPr>
          <p:spPr>
            <a:xfrm>
              <a:off x="5417679" y="2838805"/>
              <a:ext cx="2743200" cy="8599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Data</a:t>
              </a:r>
              <a:r>
                <a:rPr lang="en-US" b="1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(for global variables)</a:t>
              </a:r>
              <a:endParaRPr lang="en-SG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2286000" y="2773466"/>
              <a:ext cx="2667000" cy="990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altLang="en-US" sz="2400" b="1" dirty="0">
                <a:latin typeface="Courier New" pitchFamily="49" charset="0"/>
              </a:endParaRPr>
            </a:p>
          </p:txBody>
        </p:sp>
        <p:sp>
          <p:nvSpPr>
            <p:cNvPr id="15" name="Right Bracket 14"/>
            <p:cNvSpPr/>
            <p:nvPr/>
          </p:nvSpPr>
          <p:spPr>
            <a:xfrm>
              <a:off x="5193708" y="2763496"/>
              <a:ext cx="228600" cy="990600"/>
            </a:xfrm>
            <a:prstGeom prst="righ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2286000" y="1557827"/>
            <a:ext cx="5887342" cy="1220624"/>
            <a:chOff x="2286000" y="1557827"/>
            <a:chExt cx="5887342" cy="1220624"/>
          </a:xfrm>
        </p:grpSpPr>
        <p:sp>
          <p:nvSpPr>
            <p:cNvPr id="9" name="Rectangle 8"/>
            <p:cNvSpPr/>
            <p:nvPr/>
          </p:nvSpPr>
          <p:spPr>
            <a:xfrm>
              <a:off x="5430142" y="1721086"/>
              <a:ext cx="2743200" cy="8599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66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Text</a:t>
              </a:r>
              <a:r>
                <a:rPr lang="en-US" b="1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(for instructions)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2286000" y="1559251"/>
              <a:ext cx="2667000" cy="1219200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en-US" altLang="en-US" sz="1200" b="1" dirty="0">
                <a:latin typeface="Courier New" pitchFamily="49" charset="0"/>
              </a:endParaRPr>
            </a:p>
          </p:txBody>
        </p:sp>
        <p:sp>
          <p:nvSpPr>
            <p:cNvPr id="16" name="Right Bracket 15"/>
            <p:cNvSpPr/>
            <p:nvPr/>
          </p:nvSpPr>
          <p:spPr>
            <a:xfrm>
              <a:off x="5189079" y="1557827"/>
              <a:ext cx="228600" cy="1186441"/>
            </a:xfrm>
            <a:prstGeom prst="righ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286000" y="5063027"/>
            <a:ext cx="5943600" cy="1028700"/>
            <a:chOff x="2286000" y="5063027"/>
            <a:chExt cx="5943600" cy="1028700"/>
          </a:xfrm>
        </p:grpSpPr>
        <p:sp>
          <p:nvSpPr>
            <p:cNvPr id="13" name="Rectangle 5"/>
            <p:cNvSpPr>
              <a:spLocks noChangeArrowheads="1"/>
            </p:cNvSpPr>
            <p:nvPr/>
          </p:nvSpPr>
          <p:spPr bwMode="auto">
            <a:xfrm>
              <a:off x="2286000" y="5101127"/>
              <a:ext cx="2667000" cy="990600"/>
            </a:xfrm>
            <a:prstGeom prst="rect">
              <a:avLst/>
            </a:prstGeom>
            <a:solidFill>
              <a:srgbClr val="FF99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altLang="en-US" sz="2400" b="1" dirty="0">
                <a:latin typeface="Courier New" pitchFamily="49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368185" y="5134951"/>
              <a:ext cx="2861415" cy="8599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Stack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(for function invocations)</a:t>
              </a:r>
              <a:endParaRPr lang="en-SG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Right Bracket 16"/>
            <p:cNvSpPr/>
            <p:nvPr/>
          </p:nvSpPr>
          <p:spPr>
            <a:xfrm>
              <a:off x="5139585" y="5063027"/>
              <a:ext cx="228600" cy="990600"/>
            </a:xfrm>
            <a:prstGeom prst="righ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286000" y="3767627"/>
            <a:ext cx="5985615" cy="931846"/>
            <a:chOff x="2286000" y="3767627"/>
            <a:chExt cx="5985615" cy="931846"/>
          </a:xfrm>
        </p:grpSpPr>
        <p:sp>
          <p:nvSpPr>
            <p:cNvPr id="18" name="Rectangle 17"/>
            <p:cNvSpPr/>
            <p:nvPr/>
          </p:nvSpPr>
          <p:spPr>
            <a:xfrm>
              <a:off x="5410200" y="3839551"/>
              <a:ext cx="2861415" cy="8599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Heap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(for dynamic allocation)</a:t>
              </a:r>
              <a:endParaRPr lang="en-SG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Right Bracket 18"/>
            <p:cNvSpPr/>
            <p:nvPr/>
          </p:nvSpPr>
          <p:spPr>
            <a:xfrm>
              <a:off x="5181600" y="3767627"/>
              <a:ext cx="228600" cy="762000"/>
            </a:xfrm>
            <a:prstGeom prst="righ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b="1" dirty="0">
                <a:solidFill>
                  <a:srgbClr val="002060"/>
                </a:solidFill>
              </a:endParaRPr>
            </a:p>
          </p:txBody>
        </p:sp>
        <p:sp>
          <p:nvSpPr>
            <p:cNvPr id="20" name="Rectangle 5"/>
            <p:cNvSpPr>
              <a:spLocks noChangeArrowheads="1"/>
            </p:cNvSpPr>
            <p:nvPr/>
          </p:nvSpPr>
          <p:spPr bwMode="auto">
            <a:xfrm>
              <a:off x="2286000" y="3767627"/>
              <a:ext cx="2667000" cy="762000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altLang="en-US" sz="2400" b="1" dirty="0">
                <a:latin typeface="Courier New" pitchFamily="49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Binding of Memory Address</a:t>
            </a:r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CB556-03EC-4135-B795-554D526CECEE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grpSp>
        <p:nvGrpSpPr>
          <p:cNvPr id="715824" name="Group 48"/>
          <p:cNvGrpSpPr>
            <a:grpSpLocks/>
          </p:cNvGrpSpPr>
          <p:nvPr/>
        </p:nvGrpSpPr>
        <p:grpSpPr bwMode="auto">
          <a:xfrm>
            <a:off x="670891" y="1503432"/>
            <a:ext cx="2306638" cy="4140200"/>
            <a:chOff x="240" y="672"/>
            <a:chExt cx="1453" cy="2608"/>
          </a:xfrm>
        </p:grpSpPr>
        <p:sp>
          <p:nvSpPr>
            <p:cNvPr id="715780" name="Text Box 4"/>
            <p:cNvSpPr txBox="1">
              <a:spLocks noChangeArrowheads="1"/>
            </p:cNvSpPr>
            <p:nvPr/>
          </p:nvSpPr>
          <p:spPr bwMode="auto">
            <a:xfrm>
              <a:off x="240" y="672"/>
              <a:ext cx="1453" cy="2327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altLang="en-US" b="1" dirty="0" err="1">
                  <a:solidFill>
                    <a:srgbClr val="006600"/>
                  </a:solidFill>
                  <a:latin typeface="Courier New" pitchFamily="49" charset="0"/>
                </a:rPr>
                <a:t>int</a:t>
              </a:r>
              <a:r>
                <a:rPr lang="en-US" altLang="en-US" b="1" dirty="0">
                  <a:latin typeface="Courier New" pitchFamily="49" charset="0"/>
                </a:rPr>
                <a:t> </a:t>
              </a:r>
              <a:r>
                <a:rPr lang="en-US" altLang="en-US" b="1" dirty="0" err="1">
                  <a:latin typeface="Courier New" pitchFamily="49" charset="0"/>
                </a:rPr>
                <a:t>i</a:t>
              </a:r>
              <a:r>
                <a:rPr lang="en-US" altLang="en-US" b="1" dirty="0">
                  <a:latin typeface="Courier New" pitchFamily="49" charset="0"/>
                </a:rPr>
                <a:t> = 0;</a:t>
              </a:r>
            </a:p>
            <a:p>
              <a:pPr eaLnBrk="0" hangingPunct="0"/>
              <a:endParaRPr lang="en-US" altLang="en-US" b="1" dirty="0">
                <a:latin typeface="Courier New" pitchFamily="49" charset="0"/>
              </a:endParaRPr>
            </a:p>
            <a:p>
              <a:pPr eaLnBrk="0" hangingPunct="0"/>
              <a:r>
                <a:rPr lang="en-US" altLang="en-US" b="1" dirty="0">
                  <a:solidFill>
                    <a:srgbClr val="006600"/>
                  </a:solidFill>
                  <a:latin typeface="Courier New" pitchFamily="49" charset="0"/>
                </a:rPr>
                <a:t>void</a:t>
              </a:r>
              <a:r>
                <a:rPr lang="en-US" altLang="en-US" b="1" dirty="0">
                  <a:latin typeface="Courier New" pitchFamily="49" charset="0"/>
                </a:rPr>
                <a:t> </a:t>
              </a:r>
              <a:r>
                <a:rPr lang="en-US" altLang="en-US" b="1" i="1" dirty="0" err="1">
                  <a:latin typeface="Courier New" pitchFamily="49" charset="0"/>
                </a:rPr>
                <a:t>inc</a:t>
              </a:r>
              <a:r>
                <a:rPr lang="en-US" altLang="en-US" b="1" dirty="0">
                  <a:latin typeface="Courier New" pitchFamily="49" charset="0"/>
                </a:rPr>
                <a:t>()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{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    </a:t>
              </a:r>
              <a:r>
                <a:rPr lang="en-US" altLang="en-US" b="1" dirty="0" err="1">
                  <a:latin typeface="Courier New" pitchFamily="49" charset="0"/>
                </a:rPr>
                <a:t>i</a:t>
              </a:r>
              <a:r>
                <a:rPr lang="en-US" altLang="en-US" b="1" dirty="0">
                  <a:latin typeface="Courier New" pitchFamily="49" charset="0"/>
                </a:rPr>
                <a:t> = </a:t>
              </a:r>
              <a:r>
                <a:rPr lang="en-US" altLang="en-US" b="1" dirty="0" err="1">
                  <a:latin typeface="Courier New" pitchFamily="49" charset="0"/>
                </a:rPr>
                <a:t>i</a:t>
              </a:r>
              <a:r>
                <a:rPr lang="en-US" altLang="en-US" b="1" dirty="0">
                  <a:latin typeface="Courier New" pitchFamily="49" charset="0"/>
                </a:rPr>
                <a:t> + 20;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}</a:t>
              </a:r>
            </a:p>
            <a:p>
              <a:pPr eaLnBrk="0" hangingPunct="0"/>
              <a:endParaRPr lang="en-US" altLang="en-US" b="1" dirty="0">
                <a:latin typeface="Courier New" pitchFamily="49" charset="0"/>
              </a:endParaRPr>
            </a:p>
            <a:p>
              <a:pPr eaLnBrk="0" hangingPunct="0"/>
              <a:r>
                <a:rPr lang="en-US" altLang="en-US" b="1" dirty="0" err="1">
                  <a:solidFill>
                    <a:srgbClr val="006600"/>
                  </a:solidFill>
                  <a:latin typeface="Courier New" pitchFamily="49" charset="0"/>
                </a:rPr>
                <a:t>int</a:t>
              </a:r>
              <a:r>
                <a:rPr lang="en-US" altLang="en-US" b="1" dirty="0">
                  <a:latin typeface="Courier New" pitchFamily="49" charset="0"/>
                </a:rPr>
                <a:t> </a:t>
              </a:r>
              <a:r>
                <a:rPr lang="en-US" altLang="en-US" b="1" i="1" dirty="0">
                  <a:latin typeface="Courier New" pitchFamily="49" charset="0"/>
                </a:rPr>
                <a:t>main</a:t>
              </a:r>
              <a:r>
                <a:rPr lang="en-US" altLang="en-US" b="1" dirty="0">
                  <a:latin typeface="Courier New" pitchFamily="49" charset="0"/>
                </a:rPr>
                <a:t>()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{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   </a:t>
              </a:r>
              <a:r>
                <a:rPr lang="en-US" altLang="en-US" b="1" i="1" dirty="0" err="1">
                  <a:latin typeface="Courier New" pitchFamily="49" charset="0"/>
                </a:rPr>
                <a:t>inc</a:t>
              </a:r>
              <a:r>
                <a:rPr lang="en-US" altLang="en-US" b="1" dirty="0">
                  <a:latin typeface="Courier New" pitchFamily="49" charset="0"/>
                </a:rPr>
                <a:t>();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   ...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   ...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}</a:t>
              </a:r>
            </a:p>
          </p:txBody>
        </p:sp>
        <p:sp>
          <p:nvSpPr>
            <p:cNvPr id="715815" name="Rectangle 39"/>
            <p:cNvSpPr>
              <a:spLocks noChangeArrowheads="1"/>
            </p:cNvSpPr>
            <p:nvPr/>
          </p:nvSpPr>
          <p:spPr bwMode="auto">
            <a:xfrm>
              <a:off x="312" y="2992"/>
              <a:ext cx="13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dirty="0"/>
                <a:t>Source Code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068957" y="1503432"/>
            <a:ext cx="3429000" cy="3886200"/>
            <a:chOff x="5105400" y="1219200"/>
            <a:chExt cx="3429000" cy="3886200"/>
          </a:xfrm>
        </p:grpSpPr>
        <p:grpSp>
          <p:nvGrpSpPr>
            <p:cNvPr id="715803" name="Group 27"/>
            <p:cNvGrpSpPr>
              <a:grpSpLocks/>
            </p:cNvGrpSpPr>
            <p:nvPr/>
          </p:nvGrpSpPr>
          <p:grpSpPr bwMode="auto">
            <a:xfrm>
              <a:off x="5105400" y="1219200"/>
              <a:ext cx="3429000" cy="3429000"/>
              <a:chOff x="1632" y="1248"/>
              <a:chExt cx="2160" cy="2160"/>
            </a:xfrm>
          </p:grpSpPr>
          <p:grpSp>
            <p:nvGrpSpPr>
              <p:cNvPr id="715785" name="Group 9"/>
              <p:cNvGrpSpPr>
                <a:grpSpLocks/>
              </p:cNvGrpSpPr>
              <p:nvPr/>
            </p:nvGrpSpPr>
            <p:grpSpPr bwMode="auto">
              <a:xfrm>
                <a:off x="1735" y="1968"/>
                <a:ext cx="2057" cy="1440"/>
                <a:chOff x="1927" y="1968"/>
                <a:chExt cx="2057" cy="1440"/>
              </a:xfrm>
            </p:grpSpPr>
            <p:sp>
              <p:nvSpPr>
                <p:cNvPr id="715781" name="Rectangle 5"/>
                <p:cNvSpPr>
                  <a:spLocks noChangeArrowheads="1"/>
                </p:cNvSpPr>
                <p:nvPr/>
              </p:nvSpPr>
              <p:spPr bwMode="auto">
                <a:xfrm>
                  <a:off x="2496" y="2688"/>
                  <a:ext cx="1488" cy="72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call inc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</p:txBody>
            </p:sp>
            <p:sp>
              <p:nvSpPr>
                <p:cNvPr id="715782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1927" y="2688"/>
                  <a:ext cx="59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 algn="r">
                    <a:spcBef>
                      <a:spcPct val="50000"/>
                    </a:spcBef>
                  </a:pPr>
                  <a:r>
                    <a:rPr lang="en-US" altLang="en-US" sz="1600" b="1" i="1" dirty="0">
                      <a:latin typeface="Courier New" pitchFamily="49" charset="0"/>
                    </a:rPr>
                    <a:t>main</a:t>
                  </a:r>
                  <a:r>
                    <a:rPr lang="en-US" altLang="en-US" sz="1600" b="1" dirty="0">
                      <a:latin typeface="Courier New" pitchFamily="49" charset="0"/>
                    </a:rPr>
                    <a:t>()</a:t>
                  </a:r>
                </a:p>
              </p:txBody>
            </p:sp>
            <p:sp>
              <p:nvSpPr>
                <p:cNvPr id="715783" name="Rectangle 7"/>
                <p:cNvSpPr>
                  <a:spLocks noChangeArrowheads="1"/>
                </p:cNvSpPr>
                <p:nvPr/>
              </p:nvSpPr>
              <p:spPr bwMode="auto">
                <a:xfrm>
                  <a:off x="2496" y="1968"/>
                  <a:ext cx="1488" cy="72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en-US" sz="1600" b="1" dirty="0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lw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  $1, [4096]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addi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$1, $1, 20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sw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  $1, [4096]</a:t>
                  </a:r>
                </a:p>
                <a:p>
                  <a:r>
                    <a:rPr lang="en-US" altLang="en-US" sz="1600" b="1" dirty="0">
                      <a:latin typeface="Courier New" pitchFamily="49" charset="0"/>
                    </a:rPr>
                    <a:t>...</a:t>
                  </a:r>
                </a:p>
              </p:txBody>
            </p:sp>
            <p:sp>
              <p:nvSpPr>
                <p:cNvPr id="715784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943" y="1968"/>
                  <a:ext cx="576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 algn="r">
                    <a:spcBef>
                      <a:spcPct val="50000"/>
                    </a:spcBef>
                  </a:pPr>
                  <a:r>
                    <a:rPr lang="en-US" altLang="en-US" sz="1600" b="1" i="1" dirty="0" err="1">
                      <a:latin typeface="Courier New" pitchFamily="49" charset="0"/>
                    </a:rPr>
                    <a:t>inc</a:t>
                  </a:r>
                  <a:r>
                    <a:rPr lang="en-US" altLang="en-US" sz="1600" b="1" dirty="0">
                      <a:latin typeface="Courier New" pitchFamily="49" charset="0"/>
                    </a:rPr>
                    <a:t>()</a:t>
                  </a:r>
                </a:p>
              </p:txBody>
            </p:sp>
          </p:grpSp>
          <p:sp>
            <p:nvSpPr>
              <p:cNvPr id="715791" name="Rectangle 15"/>
              <p:cNvSpPr>
                <a:spLocks noChangeArrowheads="1"/>
              </p:cNvSpPr>
              <p:nvPr/>
            </p:nvSpPr>
            <p:spPr bwMode="auto">
              <a:xfrm>
                <a:off x="2304" y="1248"/>
                <a:ext cx="1488" cy="7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0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</p:txBody>
          </p:sp>
          <p:sp>
            <p:nvSpPr>
              <p:cNvPr id="715802" name="Text Box 26"/>
              <p:cNvSpPr txBox="1">
                <a:spLocks noChangeArrowheads="1"/>
              </p:cNvSpPr>
              <p:nvPr/>
            </p:nvSpPr>
            <p:spPr bwMode="auto">
              <a:xfrm>
                <a:off x="1632" y="1488"/>
                <a:ext cx="67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altLang="en-US" sz="1600" b="1" dirty="0" err="1">
                    <a:latin typeface="Courier New" pitchFamily="49" charset="0"/>
                  </a:rPr>
                  <a:t>i</a:t>
                </a:r>
                <a:endParaRPr lang="en-US" altLang="en-US" sz="1600" b="1" dirty="0">
                  <a:latin typeface="Courier New" pitchFamily="49" charset="0"/>
                </a:endParaRPr>
              </a:p>
            </p:txBody>
          </p:sp>
        </p:grpSp>
        <p:sp>
          <p:nvSpPr>
            <p:cNvPr id="715822" name="Rectangle 46"/>
            <p:cNvSpPr>
              <a:spLocks noChangeArrowheads="1"/>
            </p:cNvSpPr>
            <p:nvPr/>
          </p:nvSpPr>
          <p:spPr bwMode="auto">
            <a:xfrm>
              <a:off x="6400800" y="4648200"/>
              <a:ext cx="1905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Executable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454400" y="2813740"/>
            <a:ext cx="2133600" cy="1249983"/>
            <a:chOff x="3276600" y="2590800"/>
            <a:chExt cx="2133600" cy="1249983"/>
          </a:xfrm>
        </p:grpSpPr>
        <p:grpSp>
          <p:nvGrpSpPr>
            <p:cNvPr id="715819" name="Group 43"/>
            <p:cNvGrpSpPr>
              <a:grpSpLocks/>
            </p:cNvGrpSpPr>
            <p:nvPr/>
          </p:nvGrpSpPr>
          <p:grpSpPr bwMode="auto">
            <a:xfrm>
              <a:off x="3276600" y="2590800"/>
              <a:ext cx="2133600" cy="762000"/>
              <a:chOff x="2064" y="1632"/>
              <a:chExt cx="1152" cy="480"/>
            </a:xfrm>
          </p:grpSpPr>
          <p:sp>
            <p:nvSpPr>
              <p:cNvPr id="715817" name="AutoShape 41"/>
              <p:cNvSpPr>
                <a:spLocks noChangeArrowheads="1"/>
              </p:cNvSpPr>
              <p:nvPr/>
            </p:nvSpPr>
            <p:spPr bwMode="auto">
              <a:xfrm>
                <a:off x="2064" y="1632"/>
                <a:ext cx="1152" cy="480"/>
              </a:xfrm>
              <a:prstGeom prst="rightArrow">
                <a:avLst>
                  <a:gd name="adj1" fmla="val 50000"/>
                  <a:gd name="adj2" fmla="val 60000"/>
                </a:avLst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715818" name="Rectangle 42"/>
              <p:cNvSpPr>
                <a:spLocks noChangeArrowheads="1"/>
              </p:cNvSpPr>
              <p:nvPr/>
            </p:nvSpPr>
            <p:spPr bwMode="auto">
              <a:xfrm>
                <a:off x="2160" y="1776"/>
                <a:ext cx="768" cy="196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 dirty="0"/>
                  <a:t>Compile</a:t>
                </a:r>
              </a:p>
            </p:txBody>
          </p:sp>
        </p:grpSp>
        <p:sp>
          <p:nvSpPr>
            <p:cNvPr id="715825" name="Text Box 49"/>
            <p:cNvSpPr txBox="1">
              <a:spLocks noChangeArrowheads="1"/>
            </p:cNvSpPr>
            <p:nvPr/>
          </p:nvSpPr>
          <p:spPr bwMode="auto">
            <a:xfrm>
              <a:off x="3526203" y="3199433"/>
              <a:ext cx="1295400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/>
                <a:t>by Compiler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5518150" y="1279864"/>
            <a:ext cx="2362200" cy="4816136"/>
            <a:chOff x="5518150" y="1279864"/>
            <a:chExt cx="2362200" cy="4816136"/>
          </a:xfrm>
        </p:grpSpPr>
        <p:sp>
          <p:nvSpPr>
            <p:cNvPr id="717843" name="Rectangle 19"/>
            <p:cNvSpPr>
              <a:spLocks noChangeArrowheads="1"/>
            </p:cNvSpPr>
            <p:nvPr/>
          </p:nvSpPr>
          <p:spPr bwMode="auto">
            <a:xfrm>
              <a:off x="5518150" y="5638800"/>
              <a:ext cx="1905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Main Memory</a:t>
              </a:r>
            </a:p>
          </p:txBody>
        </p:sp>
        <p:sp>
          <p:nvSpPr>
            <p:cNvPr id="44" name="Rectangle 35"/>
            <p:cNvSpPr>
              <a:spLocks noChangeArrowheads="1"/>
            </p:cNvSpPr>
            <p:nvPr/>
          </p:nvSpPr>
          <p:spPr bwMode="auto">
            <a:xfrm>
              <a:off x="5527764" y="1279864"/>
              <a:ext cx="2352586" cy="43468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 i="0">
                  <a:latin typeface="Courier New" pitchFamily="49" charset="0"/>
                </a:rPr>
                <a:t>Free Memory</a:t>
              </a: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0B558D-707D-4CA5-8959-0FA0F65720BE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2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1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Actual Execution </a:t>
            </a:r>
          </a:p>
        </p:txBody>
      </p:sp>
      <p:sp>
        <p:nvSpPr>
          <p:cNvPr id="717841" name="Rectangle 17"/>
          <p:cNvSpPr>
            <a:spLocks noChangeArrowheads="1"/>
          </p:cNvSpPr>
          <p:nvPr/>
        </p:nvSpPr>
        <p:spPr bwMode="auto">
          <a:xfrm>
            <a:off x="5518150" y="4331290"/>
            <a:ext cx="2362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600" b="1" i="1" dirty="0">
                <a:latin typeface="Courier New" pitchFamily="49" charset="0"/>
              </a:rPr>
              <a:t>...free memory...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971800" y="2819400"/>
            <a:ext cx="2133600" cy="1454944"/>
            <a:chOff x="2971800" y="2819400"/>
            <a:chExt cx="2133600" cy="1454944"/>
          </a:xfrm>
        </p:grpSpPr>
        <p:grpSp>
          <p:nvGrpSpPr>
            <p:cNvPr id="717849" name="Group 25"/>
            <p:cNvGrpSpPr>
              <a:grpSpLocks/>
            </p:cNvGrpSpPr>
            <p:nvPr/>
          </p:nvGrpSpPr>
          <p:grpSpPr bwMode="auto">
            <a:xfrm>
              <a:off x="2971800" y="2819400"/>
              <a:ext cx="2133600" cy="762000"/>
              <a:chOff x="2256" y="1920"/>
              <a:chExt cx="1248" cy="480"/>
            </a:xfrm>
          </p:grpSpPr>
          <p:sp>
            <p:nvSpPr>
              <p:cNvPr id="717847" name="AutoShape 23"/>
              <p:cNvSpPr>
                <a:spLocks noChangeArrowheads="1"/>
              </p:cNvSpPr>
              <p:nvPr/>
            </p:nvSpPr>
            <p:spPr bwMode="auto">
              <a:xfrm>
                <a:off x="2256" y="1920"/>
                <a:ext cx="1248" cy="480"/>
              </a:xfrm>
              <a:prstGeom prst="rightArrow">
                <a:avLst>
                  <a:gd name="adj1" fmla="val 50000"/>
                  <a:gd name="adj2" fmla="val 65000"/>
                </a:avLst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717848" name="Rectangle 24"/>
              <p:cNvSpPr>
                <a:spLocks noChangeArrowheads="1"/>
              </p:cNvSpPr>
              <p:nvPr/>
            </p:nvSpPr>
            <p:spPr bwMode="auto">
              <a:xfrm>
                <a:off x="2304" y="2064"/>
                <a:ext cx="960" cy="192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/>
                  <a:t>Load and Run</a:t>
                </a:r>
              </a:p>
            </p:txBody>
          </p:sp>
        </p:grpSp>
        <p:sp>
          <p:nvSpPr>
            <p:cNvPr id="717856" name="Text Box 32"/>
            <p:cNvSpPr txBox="1">
              <a:spLocks noChangeArrowheads="1"/>
            </p:cNvSpPr>
            <p:nvPr/>
          </p:nvSpPr>
          <p:spPr bwMode="auto">
            <a:xfrm>
              <a:off x="3226777" y="3358356"/>
              <a:ext cx="1295400" cy="9159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/>
                <a:t>by Operating System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-571500" y="1638300"/>
            <a:ext cx="3429000" cy="3886200"/>
            <a:chOff x="-557349" y="1371600"/>
            <a:chExt cx="3429000" cy="3886200"/>
          </a:xfrm>
        </p:grpSpPr>
        <p:grpSp>
          <p:nvGrpSpPr>
            <p:cNvPr id="28" name="Group 27"/>
            <p:cNvGrpSpPr>
              <a:grpSpLocks/>
            </p:cNvGrpSpPr>
            <p:nvPr/>
          </p:nvGrpSpPr>
          <p:grpSpPr bwMode="auto">
            <a:xfrm>
              <a:off x="-557349" y="1371600"/>
              <a:ext cx="3429000" cy="3429000"/>
              <a:chOff x="1632" y="1248"/>
              <a:chExt cx="2160" cy="2160"/>
            </a:xfrm>
          </p:grpSpPr>
          <p:grpSp>
            <p:nvGrpSpPr>
              <p:cNvPr id="29" name="Group 9"/>
              <p:cNvGrpSpPr>
                <a:grpSpLocks/>
              </p:cNvGrpSpPr>
              <p:nvPr/>
            </p:nvGrpSpPr>
            <p:grpSpPr bwMode="auto">
              <a:xfrm>
                <a:off x="2092" y="1880"/>
                <a:ext cx="1700" cy="1528"/>
                <a:chOff x="2284" y="1880"/>
                <a:chExt cx="1700" cy="1528"/>
              </a:xfrm>
            </p:grpSpPr>
            <p:sp>
              <p:nvSpPr>
                <p:cNvPr id="32" name="Rectangle 5"/>
                <p:cNvSpPr>
                  <a:spLocks noChangeArrowheads="1"/>
                </p:cNvSpPr>
                <p:nvPr/>
              </p:nvSpPr>
              <p:spPr bwMode="auto">
                <a:xfrm>
                  <a:off x="2496" y="2688"/>
                  <a:ext cx="1488" cy="72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call inc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</p:txBody>
            </p:sp>
            <p:sp>
              <p:nvSpPr>
                <p:cNvPr id="33" name="Text Box 6"/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2064" y="285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1600" b="1" dirty="0">
                      <a:latin typeface="Courier New" pitchFamily="49" charset="0"/>
                    </a:rPr>
                    <a:t>main()</a:t>
                  </a:r>
                </a:p>
              </p:txBody>
            </p:sp>
            <p:sp>
              <p:nvSpPr>
                <p:cNvPr id="34" name="Rectangle 7"/>
                <p:cNvSpPr>
                  <a:spLocks noChangeArrowheads="1"/>
                </p:cNvSpPr>
                <p:nvPr/>
              </p:nvSpPr>
              <p:spPr bwMode="auto">
                <a:xfrm>
                  <a:off x="2496" y="1968"/>
                  <a:ext cx="1488" cy="72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en-US" sz="1600" b="1" dirty="0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lw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  $1, [4096]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addi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$1, $1, 20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sw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  $1, [4096]</a:t>
                  </a:r>
                </a:p>
                <a:p>
                  <a:r>
                    <a:rPr lang="en-US" altLang="en-US" sz="1600" b="1" dirty="0">
                      <a:latin typeface="Courier New" pitchFamily="49" charset="0"/>
                    </a:rPr>
                    <a:t>...</a:t>
                  </a:r>
                </a:p>
              </p:txBody>
            </p:sp>
            <p:sp>
              <p:nvSpPr>
                <p:cNvPr id="35" name="Text Box 8"/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2054" y="211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1600" b="1">
                      <a:latin typeface="Courier New" pitchFamily="49" charset="0"/>
                    </a:rPr>
                    <a:t>inc()</a:t>
                  </a:r>
                </a:p>
              </p:txBody>
            </p:sp>
          </p:grpSp>
          <p:sp>
            <p:nvSpPr>
              <p:cNvPr id="30" name="Rectangle 15"/>
              <p:cNvSpPr>
                <a:spLocks noChangeArrowheads="1"/>
              </p:cNvSpPr>
              <p:nvPr/>
            </p:nvSpPr>
            <p:spPr bwMode="auto">
              <a:xfrm>
                <a:off x="2304" y="1248"/>
                <a:ext cx="1488" cy="7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0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</p:txBody>
          </p:sp>
          <p:sp>
            <p:nvSpPr>
              <p:cNvPr id="31" name="Text Box 26"/>
              <p:cNvSpPr txBox="1">
                <a:spLocks noChangeArrowheads="1"/>
              </p:cNvSpPr>
              <p:nvPr/>
            </p:nvSpPr>
            <p:spPr bwMode="auto">
              <a:xfrm>
                <a:off x="1632" y="1488"/>
                <a:ext cx="67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altLang="en-US" sz="1600" b="1" dirty="0" err="1">
                    <a:latin typeface="Courier New" pitchFamily="49" charset="0"/>
                  </a:rPr>
                  <a:t>i</a:t>
                </a:r>
                <a:endParaRPr lang="en-US" altLang="en-US" sz="1600" b="1" dirty="0">
                  <a:latin typeface="Courier New" pitchFamily="49" charset="0"/>
                </a:endParaRPr>
              </a:p>
            </p:txBody>
          </p:sp>
        </p:grpSp>
        <p:sp>
          <p:nvSpPr>
            <p:cNvPr id="36" name="Rectangle 46"/>
            <p:cNvSpPr>
              <a:spLocks noChangeArrowheads="1"/>
            </p:cNvSpPr>
            <p:nvPr/>
          </p:nvSpPr>
          <p:spPr bwMode="auto">
            <a:xfrm>
              <a:off x="738051" y="4800600"/>
              <a:ext cx="1905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Executable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181600" y="1140165"/>
            <a:ext cx="3895635" cy="2425700"/>
            <a:chOff x="5181600" y="1140165"/>
            <a:chExt cx="3895635" cy="2425700"/>
          </a:xfrm>
        </p:grpSpPr>
        <p:grpSp>
          <p:nvGrpSpPr>
            <p:cNvPr id="3" name="Group 2"/>
            <p:cNvGrpSpPr/>
            <p:nvPr/>
          </p:nvGrpSpPr>
          <p:grpSpPr>
            <a:xfrm>
              <a:off x="8058876" y="1279865"/>
              <a:ext cx="1018359" cy="2286000"/>
              <a:chOff x="8001000" y="3352800"/>
              <a:chExt cx="1018359" cy="2286000"/>
            </a:xfrm>
          </p:grpSpPr>
          <p:sp>
            <p:nvSpPr>
              <p:cNvPr id="717853" name="AutoShape 29"/>
              <p:cNvSpPr>
                <a:spLocks/>
              </p:cNvSpPr>
              <p:nvPr/>
            </p:nvSpPr>
            <p:spPr bwMode="auto">
              <a:xfrm>
                <a:off x="8001000" y="3352800"/>
                <a:ext cx="228600" cy="2286000"/>
              </a:xfrm>
              <a:prstGeom prst="rightBrace">
                <a:avLst>
                  <a:gd name="adj1" fmla="val 83333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717855" name="Text Box 31"/>
              <p:cNvSpPr txBox="1">
                <a:spLocks noChangeArrowheads="1"/>
              </p:cNvSpPr>
              <p:nvPr/>
            </p:nvSpPr>
            <p:spPr bwMode="auto">
              <a:xfrm>
                <a:off x="8257359" y="4279900"/>
                <a:ext cx="762000" cy="3667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b="1" dirty="0"/>
                  <a:t>code</a:t>
                </a: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5181600" y="1140165"/>
              <a:ext cx="2698750" cy="2425700"/>
              <a:chOff x="5302704" y="2826657"/>
              <a:chExt cx="2698750" cy="2425700"/>
            </a:xfrm>
          </p:grpSpPr>
          <p:sp>
            <p:nvSpPr>
              <p:cNvPr id="40" name="Rectangle 5"/>
              <p:cNvSpPr>
                <a:spLocks noChangeArrowheads="1"/>
              </p:cNvSpPr>
              <p:nvPr/>
            </p:nvSpPr>
            <p:spPr bwMode="auto">
              <a:xfrm>
                <a:off x="5639254" y="4109357"/>
                <a:ext cx="2362200" cy="11430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call inc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</p:txBody>
          </p:sp>
          <p:sp>
            <p:nvSpPr>
              <p:cNvPr id="41" name="Text Box 6"/>
              <p:cNvSpPr txBox="1">
                <a:spLocks noChangeArrowheads="1"/>
              </p:cNvSpPr>
              <p:nvPr/>
            </p:nvSpPr>
            <p:spPr bwMode="auto">
              <a:xfrm rot="16200000">
                <a:off x="4953454" y="4366532"/>
                <a:ext cx="1066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1600" b="1" dirty="0">
                    <a:latin typeface="Courier New" pitchFamily="49" charset="0"/>
                  </a:rPr>
                  <a:t>main()</a:t>
                </a:r>
              </a:p>
            </p:txBody>
          </p:sp>
          <p:sp>
            <p:nvSpPr>
              <p:cNvPr id="42" name="Rectangle 7"/>
              <p:cNvSpPr>
                <a:spLocks noChangeArrowheads="1"/>
              </p:cNvSpPr>
              <p:nvPr/>
            </p:nvSpPr>
            <p:spPr bwMode="auto">
              <a:xfrm>
                <a:off x="5639254" y="2966357"/>
                <a:ext cx="2362200" cy="11430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600" b="1" dirty="0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1600" b="1" dirty="0" err="1">
                    <a:latin typeface="Courier New" pitchFamily="49" charset="0"/>
                  </a:rPr>
                  <a:t>lw</a:t>
                </a:r>
                <a:r>
                  <a:rPr lang="en-US" altLang="en-US" sz="1600" b="1" dirty="0">
                    <a:latin typeface="Courier New" pitchFamily="49" charset="0"/>
                  </a:rPr>
                  <a:t>    $1, [4096]</a:t>
                </a:r>
              </a:p>
              <a:p>
                <a:r>
                  <a:rPr lang="en-US" altLang="en-US" sz="1600" b="1" dirty="0" err="1">
                    <a:latin typeface="Courier New" pitchFamily="49" charset="0"/>
                  </a:rPr>
                  <a:t>addi</a:t>
                </a:r>
                <a:r>
                  <a:rPr lang="en-US" altLang="en-US" sz="1600" b="1" dirty="0">
                    <a:latin typeface="Courier New" pitchFamily="49" charset="0"/>
                  </a:rPr>
                  <a:t>  $1, $1, 20</a:t>
                </a:r>
              </a:p>
              <a:p>
                <a:r>
                  <a:rPr lang="en-US" altLang="en-US" sz="1600" b="1" dirty="0" err="1">
                    <a:latin typeface="Courier New" pitchFamily="49" charset="0"/>
                  </a:rPr>
                  <a:t>sw</a:t>
                </a:r>
                <a:r>
                  <a:rPr lang="en-US" altLang="en-US" sz="1600" b="1" dirty="0">
                    <a:latin typeface="Courier New" pitchFamily="49" charset="0"/>
                  </a:rPr>
                  <a:t>    $1, [4096]</a:t>
                </a:r>
              </a:p>
              <a:p>
                <a:r>
                  <a:rPr lang="en-US" altLang="en-US" sz="1600" b="1" dirty="0">
                    <a:latin typeface="Courier New" pitchFamily="49" charset="0"/>
                  </a:rPr>
                  <a:t>...</a:t>
                </a:r>
              </a:p>
            </p:txBody>
          </p:sp>
          <p:sp>
            <p:nvSpPr>
              <p:cNvPr id="43" name="Text Box 8"/>
              <p:cNvSpPr txBox="1">
                <a:spLocks noChangeArrowheads="1"/>
              </p:cNvSpPr>
              <p:nvPr/>
            </p:nvSpPr>
            <p:spPr bwMode="auto">
              <a:xfrm rot="16200000">
                <a:off x="4937579" y="3191782"/>
                <a:ext cx="1066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Courier New" pitchFamily="49" charset="0"/>
                  </a:rPr>
                  <a:t>inc()</a:t>
                </a:r>
              </a:p>
            </p:txBody>
          </p:sp>
        </p:grpSp>
      </p:grpSp>
      <p:grpSp>
        <p:nvGrpSpPr>
          <p:cNvPr id="8" name="Group 7"/>
          <p:cNvGrpSpPr/>
          <p:nvPr/>
        </p:nvGrpSpPr>
        <p:grpSpPr>
          <a:xfrm>
            <a:off x="4445363" y="3569290"/>
            <a:ext cx="4616087" cy="838200"/>
            <a:chOff x="4445363" y="3569290"/>
            <a:chExt cx="4616087" cy="838200"/>
          </a:xfrm>
        </p:grpSpPr>
        <p:sp>
          <p:nvSpPr>
            <p:cNvPr id="717838" name="Rectangle 14"/>
            <p:cNvSpPr>
              <a:spLocks noChangeArrowheads="1"/>
            </p:cNvSpPr>
            <p:nvPr/>
          </p:nvSpPr>
          <p:spPr bwMode="auto">
            <a:xfrm>
              <a:off x="5518150" y="3569290"/>
              <a:ext cx="2362200" cy="838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0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8058876" y="3581400"/>
              <a:ext cx="1002574" cy="768350"/>
              <a:chOff x="8001000" y="2584450"/>
              <a:chExt cx="1002574" cy="768350"/>
            </a:xfrm>
          </p:grpSpPr>
          <p:sp>
            <p:nvSpPr>
              <p:cNvPr id="717852" name="AutoShape 28"/>
              <p:cNvSpPr>
                <a:spLocks/>
              </p:cNvSpPr>
              <p:nvPr/>
            </p:nvSpPr>
            <p:spPr bwMode="auto">
              <a:xfrm>
                <a:off x="8001000" y="2584450"/>
                <a:ext cx="228600" cy="768350"/>
              </a:xfrm>
              <a:prstGeom prst="rightBrace">
                <a:avLst>
                  <a:gd name="adj1" fmla="val 72222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717854" name="Text Box 30"/>
              <p:cNvSpPr txBox="1">
                <a:spLocks noChangeArrowheads="1"/>
              </p:cNvSpPr>
              <p:nvPr/>
            </p:nvSpPr>
            <p:spPr bwMode="auto">
              <a:xfrm>
                <a:off x="8241574" y="2756285"/>
                <a:ext cx="762000" cy="3667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b="1" dirty="0"/>
                  <a:t>data</a:t>
                </a:r>
              </a:p>
            </p:txBody>
          </p:sp>
        </p:grpSp>
        <p:sp>
          <p:nvSpPr>
            <p:cNvPr id="45" name="Text Box 26"/>
            <p:cNvSpPr txBox="1">
              <a:spLocks noChangeArrowheads="1"/>
            </p:cNvSpPr>
            <p:nvPr/>
          </p:nvSpPr>
          <p:spPr bwMode="auto">
            <a:xfrm>
              <a:off x="4445363" y="3820115"/>
              <a:ext cx="10668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sz="1600" b="1" dirty="0" err="1">
                  <a:latin typeface="Courier New" pitchFamily="49" charset="0"/>
                </a:rPr>
                <a:t>i</a:t>
              </a:r>
              <a:endParaRPr lang="en-US" altLang="en-US" sz="1600" b="1" dirty="0">
                <a:latin typeface="Courier New" pitchFamily="49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518150" y="4844960"/>
            <a:ext cx="3625849" cy="781730"/>
            <a:chOff x="5518150" y="4844960"/>
            <a:chExt cx="3625849" cy="781730"/>
          </a:xfrm>
        </p:grpSpPr>
        <p:sp>
          <p:nvSpPr>
            <p:cNvPr id="717839" name="Rectangle 15"/>
            <p:cNvSpPr>
              <a:spLocks noChangeArrowheads="1"/>
            </p:cNvSpPr>
            <p:nvPr/>
          </p:nvSpPr>
          <p:spPr bwMode="auto">
            <a:xfrm>
              <a:off x="5518150" y="5245690"/>
              <a:ext cx="2362200" cy="381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en-US" sz="1600" b="1" dirty="0">
                  <a:latin typeface="Courier New" pitchFamily="49" charset="0"/>
                </a:rPr>
                <a:t>main() stack frame</a:t>
              </a:r>
            </a:p>
          </p:txBody>
        </p:sp>
        <p:sp>
          <p:nvSpPr>
            <p:cNvPr id="717840" name="Rectangle 16"/>
            <p:cNvSpPr>
              <a:spLocks noChangeArrowheads="1"/>
            </p:cNvSpPr>
            <p:nvPr/>
          </p:nvSpPr>
          <p:spPr bwMode="auto">
            <a:xfrm>
              <a:off x="5518150" y="4864690"/>
              <a:ext cx="2362200" cy="381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en-US" sz="1600" b="1" dirty="0" err="1">
                  <a:latin typeface="Courier New" pitchFamily="49" charset="0"/>
                </a:rPr>
                <a:t>inc</a:t>
              </a:r>
              <a:r>
                <a:rPr lang="en-US" altLang="en-US" sz="1600" b="1" dirty="0">
                  <a:latin typeface="Courier New" pitchFamily="49" charset="0"/>
                </a:rPr>
                <a:t>() stack frame</a:t>
              </a:r>
            </a:p>
          </p:txBody>
        </p:sp>
        <p:grpSp>
          <p:nvGrpSpPr>
            <p:cNvPr id="46" name="Group 45"/>
            <p:cNvGrpSpPr/>
            <p:nvPr/>
          </p:nvGrpSpPr>
          <p:grpSpPr>
            <a:xfrm>
              <a:off x="8090989" y="4844960"/>
              <a:ext cx="1053010" cy="768350"/>
              <a:chOff x="8001000" y="2584450"/>
              <a:chExt cx="1053010" cy="768350"/>
            </a:xfrm>
          </p:grpSpPr>
          <p:sp>
            <p:nvSpPr>
              <p:cNvPr id="47" name="AutoShape 28"/>
              <p:cNvSpPr>
                <a:spLocks/>
              </p:cNvSpPr>
              <p:nvPr/>
            </p:nvSpPr>
            <p:spPr bwMode="auto">
              <a:xfrm>
                <a:off x="8001000" y="2584450"/>
                <a:ext cx="228600" cy="768350"/>
              </a:xfrm>
              <a:prstGeom prst="rightBrace">
                <a:avLst>
                  <a:gd name="adj1" fmla="val 72222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48" name="Text Box 30"/>
              <p:cNvSpPr txBox="1">
                <a:spLocks noChangeArrowheads="1"/>
              </p:cNvSpPr>
              <p:nvPr/>
            </p:nvSpPr>
            <p:spPr bwMode="auto">
              <a:xfrm>
                <a:off x="8241573" y="2756285"/>
                <a:ext cx="812437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b="1" dirty="0"/>
                  <a:t>stack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8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CA9F8F-4FEB-4F17-B7E9-294EFB3D2FD4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1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Memory Usage: </a:t>
            </a:r>
            <a:r>
              <a:rPr lang="en-US" altLang="en-US" sz="3800" b="1" dirty="0">
                <a:solidFill>
                  <a:srgbClr val="C00000"/>
                </a:solidFill>
              </a:rPr>
              <a:t>Summary</a:t>
            </a:r>
          </a:p>
        </p:txBody>
      </p:sp>
      <p:sp>
        <p:nvSpPr>
          <p:cNvPr id="71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Generally, two types of data in a process:</a:t>
            </a:r>
          </a:p>
          <a:p>
            <a:pPr lvl="1">
              <a:lnSpc>
                <a:spcPct val="90000"/>
              </a:lnSpc>
            </a:pPr>
            <a:r>
              <a:rPr lang="en-US" altLang="en-US" sz="3200" b="1" dirty="0">
                <a:solidFill>
                  <a:srgbClr val="C00000"/>
                </a:solidFill>
              </a:rPr>
              <a:t>Transient</a:t>
            </a:r>
            <a:r>
              <a:rPr lang="en-US" altLang="en-US" sz="3200" dirty="0">
                <a:solidFill>
                  <a:srgbClr val="C00000"/>
                </a:solidFill>
              </a:rPr>
              <a:t> Data</a:t>
            </a:r>
            <a:endParaRPr lang="en-US" altLang="en-US" sz="3200" b="1" dirty="0">
              <a:solidFill>
                <a:srgbClr val="C00000"/>
              </a:solidFill>
            </a:endParaRPr>
          </a:p>
          <a:p>
            <a:pPr lvl="2">
              <a:lnSpc>
                <a:spcPct val="90000"/>
              </a:lnSpc>
            </a:pPr>
            <a:endParaRPr lang="en-US" altLang="en-US" sz="3200" dirty="0"/>
          </a:p>
          <a:p>
            <a:pPr lvl="2">
              <a:lnSpc>
                <a:spcPct val="90000"/>
              </a:lnSpc>
            </a:pPr>
            <a:endParaRPr lang="en-US" altLang="en-US" sz="3200" dirty="0"/>
          </a:p>
          <a:p>
            <a:pPr lvl="1">
              <a:lnSpc>
                <a:spcPct val="90000"/>
              </a:lnSpc>
            </a:pPr>
            <a:r>
              <a:rPr lang="en-US" altLang="en-US" sz="3200" b="1" dirty="0">
                <a:solidFill>
                  <a:srgbClr val="006600"/>
                </a:solidFill>
              </a:rPr>
              <a:t>Persistent</a:t>
            </a:r>
            <a:r>
              <a:rPr lang="en-US" altLang="en-US" sz="3200" dirty="0">
                <a:solidFill>
                  <a:srgbClr val="006600"/>
                </a:solidFill>
              </a:rPr>
              <a:t> Data</a:t>
            </a:r>
            <a:endParaRPr lang="en-US" altLang="en-US" sz="3200" b="1" dirty="0">
              <a:solidFill>
                <a:srgbClr val="006600"/>
              </a:solidFill>
            </a:endParaRPr>
          </a:p>
          <a:p>
            <a:pPr marL="671512" lvl="2" indent="0">
              <a:lnSpc>
                <a:spcPct val="90000"/>
              </a:lnSpc>
              <a:buNone/>
            </a:pPr>
            <a:endParaRPr lang="en-US" altLang="en-US" dirty="0"/>
          </a:p>
          <a:p>
            <a:pPr marL="671512" lvl="2" indent="0">
              <a:lnSpc>
                <a:spcPct val="90000"/>
              </a:lnSpc>
              <a:buNone/>
            </a:pPr>
            <a:endParaRPr lang="en-US" altLang="en-US" dirty="0"/>
          </a:p>
          <a:p>
            <a:pPr marL="671512" lvl="2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Both types of data sections can</a:t>
            </a:r>
            <a:r>
              <a:rPr lang="en-US" altLang="en-US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grow </a:t>
            </a:r>
            <a:r>
              <a:rPr lang="en-US" altLang="en-US" dirty="0"/>
              <a:t>/ </a:t>
            </a:r>
            <a:r>
              <a:rPr lang="en-US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shrink </a:t>
            </a:r>
            <a:r>
              <a:rPr lang="en-US" altLang="en-US" dirty="0"/>
              <a:t>during execution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723A17-9E11-4070-80C6-CBB8D18D62A7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2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Operating System: </a:t>
            </a:r>
            <a:r>
              <a:rPr lang="en-US" altLang="en-US" sz="3800" b="1" dirty="0">
                <a:solidFill>
                  <a:srgbClr val="C00000"/>
                </a:solidFill>
              </a:rPr>
              <a:t>Managing Memory</a:t>
            </a:r>
          </a:p>
        </p:txBody>
      </p:sp>
      <p:sp>
        <p:nvSpPr>
          <p:cNvPr id="72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OS handles the following memory related tasks:</a:t>
            </a:r>
          </a:p>
          <a:p>
            <a:pPr lvl="1"/>
            <a:r>
              <a:rPr lang="en-US" altLang="en-US" b="1" dirty="0">
                <a:solidFill>
                  <a:srgbClr val="C00000"/>
                </a:solidFill>
              </a:rPr>
              <a:t>Allocate</a:t>
            </a:r>
            <a:r>
              <a:rPr lang="en-US" altLang="en-US" dirty="0"/>
              <a:t> memory space to new process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00"/>
                </a:solidFill>
              </a:rPr>
              <a:t>Manage </a:t>
            </a:r>
            <a:r>
              <a:rPr lang="en-US" altLang="en-US" dirty="0"/>
              <a:t>memory space for process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660066"/>
                </a:solidFill>
              </a:rPr>
              <a:t>Protect </a:t>
            </a:r>
            <a:r>
              <a:rPr lang="en-US" altLang="en-US" dirty="0"/>
              <a:t>memory space of process from each other</a:t>
            </a:r>
          </a:p>
          <a:p>
            <a:pPr marL="344487" lvl="1" indent="0">
              <a:buNone/>
            </a:pPr>
            <a:endParaRPr lang="en-US" altLang="en-US" dirty="0"/>
          </a:p>
          <a:p>
            <a:pPr lvl="1"/>
            <a:r>
              <a:rPr lang="en-US" altLang="en-US" dirty="0"/>
              <a:t>Provides memory related </a:t>
            </a:r>
            <a:r>
              <a:rPr lang="en-US" altLang="en-US" b="1" dirty="0">
                <a:solidFill>
                  <a:srgbClr val="C00000"/>
                </a:solidFill>
              </a:rPr>
              <a:t>system calls </a:t>
            </a:r>
            <a:r>
              <a:rPr lang="en-US" altLang="en-US" dirty="0"/>
              <a:t>to process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Manage memory space for </a:t>
            </a:r>
            <a:r>
              <a:rPr lang="en-US" altLang="en-US" b="1" dirty="0">
                <a:solidFill>
                  <a:srgbClr val="006600"/>
                </a:solidFill>
              </a:rPr>
              <a:t>internal use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Topics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4151721952"/>
              </p:ext>
            </p:extLst>
          </p:nvPr>
        </p:nvGraphicFramePr>
        <p:xfrm>
          <a:off x="381000" y="1066800"/>
          <a:ext cx="82296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3015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0F1045D-1404-448F-A99E-5A525546E0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8862E14-A98C-400C-98A6-DF9C25DE3A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F21E593-7E76-4519-9E50-0F90DEFA97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452430F-0D41-48E6-9EFF-D0BD9AF10A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A6DF595-0921-4B96-89D8-7C40037CDB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6DFFF08-9C74-4D9A-B9A5-AFC5EBEC37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6A65EFE-1807-4F2C-894E-605C3C8AC6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A67F212-3F26-4FE0-B59D-98A3840EC9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Memory Abstraction</a:t>
            </a:r>
          </a:p>
        </p:txBody>
      </p:sp>
      <p:sp>
        <p:nvSpPr>
          <p:cNvPr id="72192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You have to be logical!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4" name="Isosceles Triangle 3"/>
          <p:cNvSpPr/>
          <p:nvPr/>
        </p:nvSpPr>
        <p:spPr>
          <a:xfrm>
            <a:off x="86106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B0F15-4B4F-4B6A-A1AF-4BFB58B0C11D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2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Without Memory Abstraction</a:t>
            </a:r>
          </a:p>
        </p:txBody>
      </p:sp>
      <p:sp>
        <p:nvSpPr>
          <p:cNvPr id="72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Suppose a process </a:t>
            </a:r>
            <a:r>
              <a:rPr lang="en-US" altLang="en-US" b="1" dirty="0"/>
              <a:t>directly uses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physical address</a:t>
            </a:r>
            <a:r>
              <a:rPr lang="en-US" altLang="en-US" b="1" dirty="0"/>
              <a:t>:</a:t>
            </a:r>
          </a:p>
          <a:p>
            <a:pPr lvl="1"/>
            <a:r>
              <a:rPr lang="en-US" altLang="en-US" dirty="0"/>
              <a:t>i.e</a:t>
            </a:r>
            <a:r>
              <a:rPr lang="en-US" altLang="en-US" b="1" dirty="0"/>
              <a:t>. no memory abstraction 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dirty="0"/>
              <a:t>Check for:</a:t>
            </a:r>
          </a:p>
          <a:p>
            <a:pPr lvl="1"/>
            <a:r>
              <a:rPr lang="en-US" altLang="en-US" dirty="0"/>
              <a:t>How to</a:t>
            </a:r>
            <a:r>
              <a:rPr lang="en-US" altLang="en-US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</a:t>
            </a:r>
            <a:r>
              <a:rPr lang="en-US" altLang="en-US" dirty="0"/>
              <a:t>the memory location in a process?</a:t>
            </a:r>
          </a:p>
          <a:p>
            <a:pPr lvl="1"/>
            <a:r>
              <a:rPr lang="en-US" altLang="en-US" dirty="0"/>
              <a:t>Can multiple processes </a:t>
            </a:r>
            <a:r>
              <a:rPr lang="en-US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</a:t>
            </a:r>
            <a:r>
              <a:rPr lang="en-US" altLang="en-US" b="1" dirty="0"/>
              <a:t> </a:t>
            </a:r>
            <a:r>
              <a:rPr lang="en-US" altLang="en-US" dirty="0"/>
              <a:t>the physical memory correctly?</a:t>
            </a:r>
          </a:p>
          <a:p>
            <a:pPr lvl="1"/>
            <a:r>
              <a:rPr lang="en-US" altLang="en-US" dirty="0"/>
              <a:t>Can the address space of a process be </a:t>
            </a:r>
            <a:r>
              <a:rPr lang="en-US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protected </a:t>
            </a:r>
            <a:r>
              <a:rPr lang="en-US" altLang="en-US" dirty="0"/>
              <a:t>easily?</a:t>
            </a:r>
          </a:p>
        </p:txBody>
      </p:sp>
      <p:sp>
        <p:nvSpPr>
          <p:cNvPr id="2" name="Rectangle 1"/>
          <p:cNvSpPr/>
          <p:nvPr/>
        </p:nvSpPr>
        <p:spPr>
          <a:xfrm>
            <a:off x="1371600" y="2590800"/>
            <a:ext cx="6553200" cy="990600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66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sz="4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4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reg1</a:t>
            </a:r>
            <a:r>
              <a:rPr lang="en-US" sz="4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sz="4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1024</a:t>
            </a:r>
            <a:r>
              <a:rPr lang="en-US" sz="4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SG" sz="4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Without Memory Abstraction: </a:t>
            </a:r>
            <a:r>
              <a:rPr lang="en-US" altLang="en-US" sz="3800" b="1" dirty="0">
                <a:solidFill>
                  <a:srgbClr val="006600"/>
                </a:solidFill>
              </a:rPr>
              <a:t>Pros</a:t>
            </a:r>
          </a:p>
        </p:txBody>
      </p:sp>
      <p:sp>
        <p:nvSpPr>
          <p:cNvPr id="1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A50F6D-C4AB-4AE6-AF45-DEC808F19478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219200" y="1676400"/>
            <a:ext cx="7847213" cy="4405581"/>
            <a:chOff x="596057" y="1634871"/>
            <a:chExt cx="7847213" cy="4405581"/>
          </a:xfrm>
        </p:grpSpPr>
        <p:grpSp>
          <p:nvGrpSpPr>
            <p:cNvPr id="5" name="Group 4"/>
            <p:cNvGrpSpPr/>
            <p:nvPr/>
          </p:nvGrpSpPr>
          <p:grpSpPr>
            <a:xfrm>
              <a:off x="596057" y="1634871"/>
              <a:ext cx="7847213" cy="4405581"/>
              <a:chOff x="1103027" y="1371599"/>
              <a:chExt cx="7847213" cy="4405581"/>
            </a:xfrm>
          </p:grpSpPr>
          <p:sp>
            <p:nvSpPr>
              <p:cNvPr id="19" name="Rectangle 7"/>
              <p:cNvSpPr>
                <a:spLocks noChangeArrowheads="1"/>
              </p:cNvSpPr>
              <p:nvPr/>
            </p:nvSpPr>
            <p:spPr bwMode="auto">
              <a:xfrm>
                <a:off x="2555232" y="1371600"/>
                <a:ext cx="3693168" cy="215011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2800" b="1" dirty="0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2800" b="1" dirty="0" err="1">
                    <a:latin typeface="Courier New" pitchFamily="49" charset="0"/>
                  </a:rPr>
                  <a:t>lw</a:t>
                </a:r>
                <a:r>
                  <a:rPr lang="en-US" altLang="en-US" sz="2800" b="1" dirty="0">
                    <a:latin typeface="Courier New" pitchFamily="49" charset="0"/>
                  </a:rPr>
                  <a:t>    $1, [</a:t>
                </a:r>
                <a:r>
                  <a:rPr lang="en-US" altLang="en-US" sz="2800" b="1" dirty="0">
                    <a:solidFill>
                      <a:srgbClr val="C00000"/>
                    </a:solidFill>
                    <a:latin typeface="Courier New" pitchFamily="49" charset="0"/>
                  </a:rPr>
                  <a:t>4096</a:t>
                </a:r>
                <a:r>
                  <a:rPr lang="en-US" altLang="en-US" sz="2800" b="1" dirty="0">
                    <a:latin typeface="Courier New" pitchFamily="49" charset="0"/>
                  </a:rPr>
                  <a:t>]</a:t>
                </a:r>
              </a:p>
              <a:p>
                <a:r>
                  <a:rPr lang="en-US" altLang="en-US" sz="2800" b="1" dirty="0" err="1">
                    <a:latin typeface="Courier New" pitchFamily="49" charset="0"/>
                  </a:rPr>
                  <a:t>addi</a:t>
                </a:r>
                <a:r>
                  <a:rPr lang="en-US" altLang="en-US" sz="2800" b="1" dirty="0">
                    <a:latin typeface="Courier New" pitchFamily="49" charset="0"/>
                  </a:rPr>
                  <a:t>  $1, $1, 20</a:t>
                </a:r>
              </a:p>
              <a:p>
                <a:r>
                  <a:rPr lang="en-US" altLang="en-US" sz="2800" b="1" dirty="0" err="1">
                    <a:latin typeface="Courier New" pitchFamily="49" charset="0"/>
                  </a:rPr>
                  <a:t>sw</a:t>
                </a:r>
                <a:r>
                  <a:rPr lang="en-US" altLang="en-US" sz="2800" b="1" dirty="0">
                    <a:latin typeface="Courier New" pitchFamily="49" charset="0"/>
                  </a:rPr>
                  <a:t>    $1, [</a:t>
                </a:r>
                <a:r>
                  <a:rPr lang="en-US" altLang="en-US" sz="2800" b="1" dirty="0">
                    <a:solidFill>
                      <a:srgbClr val="C00000"/>
                    </a:solidFill>
                    <a:latin typeface="Courier New" pitchFamily="49" charset="0"/>
                  </a:rPr>
                  <a:t>4096</a:t>
                </a:r>
                <a:r>
                  <a:rPr lang="en-US" altLang="en-US" sz="2800" b="1" dirty="0">
                    <a:latin typeface="Courier New" pitchFamily="49" charset="0"/>
                  </a:rPr>
                  <a:t>]</a:t>
                </a:r>
              </a:p>
              <a:p>
                <a:r>
                  <a:rPr lang="en-US" altLang="en-US" sz="2800" b="1" dirty="0">
                    <a:latin typeface="Courier New" pitchFamily="49" charset="0"/>
                  </a:rPr>
                  <a:t>...</a:t>
                </a:r>
              </a:p>
            </p:txBody>
          </p:sp>
          <p:sp>
            <p:nvSpPr>
              <p:cNvPr id="20" name="Rectangle 14"/>
              <p:cNvSpPr>
                <a:spLocks noChangeArrowheads="1"/>
              </p:cNvSpPr>
              <p:nvPr/>
            </p:nvSpPr>
            <p:spPr bwMode="auto">
              <a:xfrm>
                <a:off x="2555232" y="3521712"/>
                <a:ext cx="3693168" cy="131131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r>
                  <a:rPr lang="en-US" altLang="en-US" sz="2800" b="1" dirty="0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2800" b="1" dirty="0">
                    <a:latin typeface="Courier New" pitchFamily="49" charset="0"/>
                  </a:rPr>
                  <a:t>0</a:t>
                </a:r>
              </a:p>
              <a:p>
                <a:r>
                  <a:rPr lang="en-US" altLang="en-US" sz="2800" b="1" dirty="0">
                    <a:latin typeface="Courier New" pitchFamily="49" charset="0"/>
                  </a:rPr>
                  <a:t>...</a:t>
                </a:r>
              </a:p>
            </p:txBody>
          </p:sp>
          <p:sp>
            <p:nvSpPr>
              <p:cNvPr id="727051" name="Rectangle 11"/>
              <p:cNvSpPr>
                <a:spLocks noChangeArrowheads="1"/>
              </p:cNvSpPr>
              <p:nvPr/>
            </p:nvSpPr>
            <p:spPr bwMode="auto">
              <a:xfrm>
                <a:off x="3475383" y="5062975"/>
                <a:ext cx="2269070" cy="6294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 b="1" dirty="0"/>
                  <a:t>Main Memory</a:t>
                </a:r>
              </a:p>
            </p:txBody>
          </p:sp>
          <p:sp>
            <p:nvSpPr>
              <p:cNvPr id="727053" name="Rectangle 13"/>
              <p:cNvSpPr>
                <a:spLocks noChangeArrowheads="1"/>
              </p:cNvSpPr>
              <p:nvPr/>
            </p:nvSpPr>
            <p:spPr bwMode="auto">
              <a:xfrm>
                <a:off x="1697735" y="3837662"/>
                <a:ext cx="816865" cy="7343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r>
                  <a:rPr lang="en-US" altLang="en-US" sz="2800" b="1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4096</a:t>
                </a:r>
              </a:p>
            </p:txBody>
          </p:sp>
          <p:sp>
            <p:nvSpPr>
              <p:cNvPr id="727054" name="Rectangle 14"/>
              <p:cNvSpPr>
                <a:spLocks noChangeArrowheads="1"/>
              </p:cNvSpPr>
              <p:nvPr/>
            </p:nvSpPr>
            <p:spPr bwMode="auto">
              <a:xfrm>
                <a:off x="1103027" y="4833031"/>
                <a:ext cx="1452205" cy="9441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2400" dirty="0"/>
                  <a:t>physical address</a:t>
                </a:r>
              </a:p>
            </p:txBody>
          </p:sp>
          <p:grpSp>
            <p:nvGrpSpPr>
              <p:cNvPr id="4" name="Group 3"/>
              <p:cNvGrpSpPr/>
              <p:nvPr/>
            </p:nvGrpSpPr>
            <p:grpSpPr>
              <a:xfrm>
                <a:off x="6476999" y="1371599"/>
                <a:ext cx="2473241" cy="3461431"/>
                <a:chOff x="5558238" y="1371599"/>
                <a:chExt cx="2473241" cy="3461431"/>
              </a:xfrm>
            </p:grpSpPr>
            <p:sp>
              <p:nvSpPr>
                <p:cNvPr id="727060" name="AutoShape 20"/>
                <p:cNvSpPr>
                  <a:spLocks/>
                </p:cNvSpPr>
                <p:nvPr/>
              </p:nvSpPr>
              <p:spPr bwMode="auto">
                <a:xfrm>
                  <a:off x="5558238" y="1371599"/>
                  <a:ext cx="355217" cy="3461431"/>
                </a:xfrm>
                <a:prstGeom prst="rightBrace">
                  <a:avLst>
                    <a:gd name="adj1" fmla="val 94444"/>
                    <a:gd name="adj2" fmla="val 50000"/>
                  </a:avLst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SG"/>
                </a:p>
              </p:txBody>
            </p:sp>
            <p:sp>
              <p:nvSpPr>
                <p:cNvPr id="727061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5943935" y="2840704"/>
                  <a:ext cx="2087544" cy="523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2800" b="1" dirty="0"/>
                    <a:t>Process </a:t>
                  </a:r>
                  <a:r>
                    <a:rPr lang="en-US" altLang="en-US" sz="2800" b="1" dirty="0">
                      <a:solidFill>
                        <a:srgbClr val="C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A</a:t>
                  </a:r>
                </a:p>
              </p:txBody>
            </p:sp>
          </p:grpSp>
        </p:grp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1231397" y="1634871"/>
              <a:ext cx="816865" cy="4987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2264"/>
            <a:ext cx="8229600" cy="712787"/>
          </a:xfrm>
        </p:spPr>
        <p:txBody>
          <a:bodyPr/>
          <a:lstStyle/>
          <a:p>
            <a:r>
              <a:rPr lang="en-US" altLang="en-US" sz="3800" dirty="0"/>
              <a:t>Without Memory Abstraction: </a:t>
            </a:r>
            <a:r>
              <a:rPr lang="en-US" altLang="en-US" sz="3800" b="1" dirty="0">
                <a:solidFill>
                  <a:schemeClr val="accent2"/>
                </a:solidFill>
              </a:rPr>
              <a:t>Cons</a:t>
            </a:r>
          </a:p>
        </p:txBody>
      </p:sp>
      <p:sp>
        <p:nvSpPr>
          <p:cNvPr id="2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84ED3-5632-4204-A0A3-6ABA9E94C9E7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2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30117" name="Rectangle 5"/>
          <p:cNvSpPr>
            <a:spLocks noChangeArrowheads="1"/>
          </p:cNvSpPr>
          <p:nvPr/>
        </p:nvSpPr>
        <p:spPr bwMode="auto">
          <a:xfrm>
            <a:off x="3962400" y="613604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 dirty="0"/>
              <a:t>Main Memory</a:t>
            </a:r>
          </a:p>
        </p:txBody>
      </p:sp>
      <p:sp>
        <p:nvSpPr>
          <p:cNvPr id="730118" name="Rectangle 6"/>
          <p:cNvSpPr>
            <a:spLocks noChangeArrowheads="1"/>
          </p:cNvSpPr>
          <p:nvPr/>
        </p:nvSpPr>
        <p:spPr bwMode="auto">
          <a:xfrm>
            <a:off x="2579204" y="932957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730120" name="Rectangle 8"/>
          <p:cNvSpPr>
            <a:spLocks noChangeArrowheads="1"/>
          </p:cNvSpPr>
          <p:nvPr/>
        </p:nvSpPr>
        <p:spPr bwMode="auto">
          <a:xfrm rot="16200000">
            <a:off x="706709" y="3195788"/>
            <a:ext cx="2320384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000" dirty="0"/>
              <a:t>physical address</a:t>
            </a: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3276600" y="932957"/>
            <a:ext cx="3276600" cy="15700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dirty="0">
                <a:latin typeface="Courier New" pitchFamily="49" charset="0"/>
              </a:rPr>
              <a:t>...</a:t>
            </a:r>
          </a:p>
          <a:p>
            <a:r>
              <a:rPr lang="en-US" altLang="en-US" sz="2400" b="1" dirty="0" err="1">
                <a:latin typeface="Courier New" pitchFamily="49" charset="0"/>
              </a:rPr>
              <a:t>lw</a:t>
            </a:r>
            <a:r>
              <a:rPr lang="en-US" altLang="en-US" sz="2400" b="1" dirty="0">
                <a:latin typeface="Courier New" pitchFamily="49" charset="0"/>
              </a:rPr>
              <a:t>    $1, [</a:t>
            </a:r>
            <a:r>
              <a:rPr lang="en-US" altLang="en-US" sz="2400" b="1" dirty="0">
                <a:solidFill>
                  <a:srgbClr val="C00000"/>
                </a:solidFill>
                <a:latin typeface="Courier New" pitchFamily="49" charset="0"/>
              </a:rPr>
              <a:t>4096</a:t>
            </a:r>
            <a:r>
              <a:rPr lang="en-US" altLang="en-US" sz="2400" b="1" dirty="0">
                <a:latin typeface="Courier New" pitchFamily="49" charset="0"/>
              </a:rPr>
              <a:t>]</a:t>
            </a:r>
          </a:p>
          <a:p>
            <a:r>
              <a:rPr lang="en-US" altLang="en-US" sz="2400" b="1" dirty="0" err="1">
                <a:latin typeface="Courier New" pitchFamily="49" charset="0"/>
              </a:rPr>
              <a:t>addi</a:t>
            </a:r>
            <a:r>
              <a:rPr lang="en-US" altLang="en-US" sz="2400" b="1" dirty="0">
                <a:latin typeface="Courier New" pitchFamily="49" charset="0"/>
              </a:rPr>
              <a:t>  $1, $1, 20</a:t>
            </a:r>
          </a:p>
          <a:p>
            <a:r>
              <a:rPr lang="en-US" altLang="en-US" sz="2400" b="1" dirty="0" err="1">
                <a:latin typeface="Courier New" pitchFamily="49" charset="0"/>
              </a:rPr>
              <a:t>sw</a:t>
            </a:r>
            <a:r>
              <a:rPr lang="en-US" altLang="en-US" sz="2400" b="1" dirty="0">
                <a:latin typeface="Courier New" pitchFamily="49" charset="0"/>
              </a:rPr>
              <a:t>    $1, [</a:t>
            </a:r>
            <a:r>
              <a:rPr lang="en-US" altLang="en-US" sz="2400" b="1" dirty="0">
                <a:solidFill>
                  <a:srgbClr val="C00000"/>
                </a:solidFill>
                <a:latin typeface="Courier New" pitchFamily="49" charset="0"/>
              </a:rPr>
              <a:t>4096</a:t>
            </a:r>
            <a:r>
              <a:rPr lang="en-US" altLang="en-US" sz="2400" b="1" dirty="0">
                <a:latin typeface="Courier New" pitchFamily="49" charset="0"/>
              </a:rPr>
              <a:t>]</a:t>
            </a:r>
          </a:p>
          <a:p>
            <a:r>
              <a:rPr lang="en-US" altLang="en-US" sz="2400" b="1" dirty="0">
                <a:latin typeface="Courier New" pitchFamily="49" charset="0"/>
              </a:rPr>
              <a:t>...</a:t>
            </a:r>
          </a:p>
        </p:txBody>
      </p:sp>
      <p:sp>
        <p:nvSpPr>
          <p:cNvPr id="30" name="Rectangle 14"/>
          <p:cNvSpPr>
            <a:spLocks noChangeArrowheads="1"/>
          </p:cNvSpPr>
          <p:nvPr/>
        </p:nvSpPr>
        <p:spPr bwMode="auto">
          <a:xfrm>
            <a:off x="3276600" y="2403704"/>
            <a:ext cx="3276600" cy="10382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en-US" sz="2400" b="1">
                <a:latin typeface="Courier New" pitchFamily="49" charset="0"/>
              </a:rPr>
              <a:t>...</a:t>
            </a:r>
          </a:p>
          <a:p>
            <a:r>
              <a:rPr lang="en-US" altLang="en-US" sz="2400" b="1">
                <a:latin typeface="Courier New" pitchFamily="49" charset="0"/>
              </a:rPr>
              <a:t>0</a:t>
            </a:r>
          </a:p>
          <a:p>
            <a:r>
              <a:rPr lang="en-US" altLang="en-US" sz="2400" b="1">
                <a:latin typeface="Courier New" pitchFamily="49" charset="0"/>
              </a:rPr>
              <a:t>...</a:t>
            </a:r>
          </a:p>
        </p:txBody>
      </p:sp>
      <p:sp>
        <p:nvSpPr>
          <p:cNvPr id="31" name="Rectangle 13"/>
          <p:cNvSpPr>
            <a:spLocks noChangeArrowheads="1"/>
          </p:cNvSpPr>
          <p:nvPr/>
        </p:nvSpPr>
        <p:spPr bwMode="auto">
          <a:xfrm>
            <a:off x="2362200" y="2556105"/>
            <a:ext cx="9525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4096</a:t>
            </a:r>
          </a:p>
        </p:txBody>
      </p:sp>
      <p:sp>
        <p:nvSpPr>
          <p:cNvPr id="35" name="AutoShape 20"/>
          <p:cNvSpPr>
            <a:spLocks/>
          </p:cNvSpPr>
          <p:nvPr/>
        </p:nvSpPr>
        <p:spPr bwMode="auto">
          <a:xfrm>
            <a:off x="6858000" y="932957"/>
            <a:ext cx="342900" cy="2285869"/>
          </a:xfrm>
          <a:prstGeom prst="rightBrace">
            <a:avLst>
              <a:gd name="adj1" fmla="val 944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 sz="2400"/>
          </a:p>
        </p:txBody>
      </p:sp>
      <p:sp>
        <p:nvSpPr>
          <p:cNvPr id="36" name="Text Box 21"/>
          <p:cNvSpPr txBox="1">
            <a:spLocks noChangeArrowheads="1"/>
          </p:cNvSpPr>
          <p:nvPr/>
        </p:nvSpPr>
        <p:spPr bwMode="auto">
          <a:xfrm>
            <a:off x="7203836" y="1849021"/>
            <a:ext cx="1752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Process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</a:p>
        </p:txBody>
      </p:sp>
      <p:sp>
        <p:nvSpPr>
          <p:cNvPr id="42" name="Rectangle 17"/>
          <p:cNvSpPr>
            <a:spLocks noChangeArrowheads="1"/>
          </p:cNvSpPr>
          <p:nvPr/>
        </p:nvSpPr>
        <p:spPr bwMode="auto">
          <a:xfrm>
            <a:off x="3276600" y="3241905"/>
            <a:ext cx="3276600" cy="2967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i="1" dirty="0">
                <a:latin typeface="Courier New" pitchFamily="49" charset="0"/>
              </a:rPr>
              <a:t>......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072250" y="3508605"/>
            <a:ext cx="6835746" cy="2701100"/>
            <a:chOff x="2072250" y="3413847"/>
            <a:chExt cx="6835746" cy="2701100"/>
          </a:xfrm>
        </p:grpSpPr>
        <p:sp>
          <p:nvSpPr>
            <p:cNvPr id="38" name="Rectangle 7"/>
            <p:cNvSpPr>
              <a:spLocks noChangeArrowheads="1"/>
            </p:cNvSpPr>
            <p:nvPr/>
          </p:nvSpPr>
          <p:spPr bwMode="auto">
            <a:xfrm>
              <a:off x="3276600" y="3547197"/>
              <a:ext cx="3276600" cy="14256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2400" b="1" dirty="0">
                  <a:latin typeface="Courier New" pitchFamily="49" charset="0"/>
                </a:rPr>
                <a:t>...</a:t>
              </a:r>
            </a:p>
            <a:p>
              <a:r>
                <a:rPr lang="en-US" altLang="en-US" sz="2400" b="1" dirty="0" err="1">
                  <a:latin typeface="Courier New" pitchFamily="49" charset="0"/>
                </a:rPr>
                <a:t>lw</a:t>
              </a:r>
              <a:r>
                <a:rPr lang="en-US" altLang="en-US" sz="2400" b="1" dirty="0">
                  <a:latin typeface="Courier New" pitchFamily="49" charset="0"/>
                </a:rPr>
                <a:t>    $1, [</a:t>
              </a:r>
              <a:r>
                <a:rPr lang="en-US" altLang="en-US" sz="2400" b="1" dirty="0">
                  <a:solidFill>
                    <a:srgbClr val="C00000"/>
                  </a:solidFill>
                  <a:latin typeface="Courier New" pitchFamily="49" charset="0"/>
                </a:rPr>
                <a:t>4096</a:t>
              </a:r>
              <a:r>
                <a:rPr lang="en-US" altLang="en-US" sz="2400" b="1" dirty="0">
                  <a:latin typeface="Courier New" pitchFamily="49" charset="0"/>
                </a:rPr>
                <a:t>]</a:t>
              </a:r>
            </a:p>
            <a:p>
              <a:r>
                <a:rPr lang="en-US" altLang="en-US" sz="2400" b="1" dirty="0" err="1">
                  <a:latin typeface="Courier New" pitchFamily="49" charset="0"/>
                </a:rPr>
                <a:t>addi</a:t>
              </a:r>
              <a:r>
                <a:rPr lang="en-US" altLang="en-US" sz="2400" b="1" dirty="0">
                  <a:latin typeface="Courier New" pitchFamily="49" charset="0"/>
                </a:rPr>
                <a:t>  $1, $1, 20</a:t>
              </a:r>
            </a:p>
            <a:p>
              <a:r>
                <a:rPr lang="en-US" altLang="en-US" sz="2400" b="1" dirty="0" err="1">
                  <a:latin typeface="Courier New" pitchFamily="49" charset="0"/>
                </a:rPr>
                <a:t>sw</a:t>
              </a:r>
              <a:r>
                <a:rPr lang="en-US" altLang="en-US" sz="2400" b="1" dirty="0">
                  <a:latin typeface="Courier New" pitchFamily="49" charset="0"/>
                </a:rPr>
                <a:t>    $1, [</a:t>
              </a:r>
              <a:r>
                <a:rPr lang="en-US" altLang="en-US" sz="2400" b="1" dirty="0">
                  <a:solidFill>
                    <a:srgbClr val="C00000"/>
                  </a:solidFill>
                  <a:latin typeface="Courier New" pitchFamily="49" charset="0"/>
                </a:rPr>
                <a:t>4096</a:t>
              </a:r>
              <a:r>
                <a:rPr lang="en-US" altLang="en-US" sz="2400" b="1" dirty="0">
                  <a:latin typeface="Courier New" pitchFamily="49" charset="0"/>
                </a:rPr>
                <a:t>]</a:t>
              </a:r>
            </a:p>
            <a:p>
              <a:r>
                <a:rPr lang="en-US" altLang="en-US" sz="2400" b="1" dirty="0">
                  <a:latin typeface="Courier New" pitchFamily="49" charset="0"/>
                </a:rPr>
                <a:t>...</a:t>
              </a:r>
            </a:p>
          </p:txBody>
        </p:sp>
        <p:sp>
          <p:nvSpPr>
            <p:cNvPr id="39" name="Rectangle 14"/>
            <p:cNvSpPr>
              <a:spLocks noChangeArrowheads="1"/>
            </p:cNvSpPr>
            <p:nvPr/>
          </p:nvSpPr>
          <p:spPr bwMode="auto">
            <a:xfrm>
              <a:off x="3276600" y="4972831"/>
              <a:ext cx="3276600" cy="114211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en-US" sz="2400" b="1">
                  <a:latin typeface="Courier New" pitchFamily="49" charset="0"/>
                </a:rPr>
                <a:t>...</a:t>
              </a:r>
            </a:p>
            <a:p>
              <a:r>
                <a:rPr lang="en-US" altLang="en-US" sz="2400" b="1">
                  <a:latin typeface="Courier New" pitchFamily="49" charset="0"/>
                </a:rPr>
                <a:t>0</a:t>
              </a:r>
            </a:p>
            <a:p>
              <a:r>
                <a:rPr lang="en-US" altLang="en-US" sz="2400" b="1">
                  <a:latin typeface="Courier New" pitchFamily="49" charset="0"/>
                </a:rPr>
                <a:t>...</a:t>
              </a:r>
            </a:p>
          </p:txBody>
        </p:sp>
        <p:sp>
          <p:nvSpPr>
            <p:cNvPr id="40" name="AutoShape 20"/>
            <p:cNvSpPr>
              <a:spLocks/>
            </p:cNvSpPr>
            <p:nvPr/>
          </p:nvSpPr>
          <p:spPr bwMode="auto">
            <a:xfrm>
              <a:off x="6858000" y="3562689"/>
              <a:ext cx="297395" cy="2552258"/>
            </a:xfrm>
            <a:prstGeom prst="rightBrace">
              <a:avLst>
                <a:gd name="adj1" fmla="val 9444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 sz="2400"/>
            </a:p>
          </p:txBody>
        </p:sp>
        <p:sp>
          <p:nvSpPr>
            <p:cNvPr id="41" name="Text Box 21"/>
            <p:cNvSpPr txBox="1">
              <a:spLocks noChangeArrowheads="1"/>
            </p:cNvSpPr>
            <p:nvPr/>
          </p:nvSpPr>
          <p:spPr bwMode="auto">
            <a:xfrm>
              <a:off x="7155396" y="4607985"/>
              <a:ext cx="17526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b="1" dirty="0"/>
                <a:t>Process </a:t>
              </a:r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</a:t>
              </a:r>
            </a:p>
          </p:txBody>
        </p:sp>
        <p:sp>
          <p:nvSpPr>
            <p:cNvPr id="43" name="Rectangle 13"/>
            <p:cNvSpPr>
              <a:spLocks noChangeArrowheads="1"/>
            </p:cNvSpPr>
            <p:nvPr/>
          </p:nvSpPr>
          <p:spPr bwMode="auto">
            <a:xfrm>
              <a:off x="2553789" y="3413847"/>
              <a:ext cx="685800" cy="533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8000</a:t>
              </a:r>
            </a:p>
          </p:txBody>
        </p:sp>
        <p:sp>
          <p:nvSpPr>
            <p:cNvPr id="44" name="Rectangle 13"/>
            <p:cNvSpPr>
              <a:spLocks noChangeArrowheads="1"/>
            </p:cNvSpPr>
            <p:nvPr/>
          </p:nvSpPr>
          <p:spPr bwMode="auto">
            <a:xfrm>
              <a:off x="2072250" y="5277189"/>
              <a:ext cx="1204350" cy="533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12096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3C09A7-9E6F-4897-A400-5AB386FC8233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3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Fix Attempt: </a:t>
            </a:r>
            <a:r>
              <a:rPr lang="en-US" altLang="en-US" sz="3800" b="1" dirty="0">
                <a:solidFill>
                  <a:srgbClr val="C00000"/>
                </a:solidFill>
              </a:rPr>
              <a:t>Address Relocation</a:t>
            </a:r>
          </a:p>
        </p:txBody>
      </p:sp>
      <p:sp>
        <p:nvSpPr>
          <p:cNvPr id="73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Recalculate the memory references during loading:</a:t>
            </a:r>
          </a:p>
          <a:p>
            <a:pPr lvl="2">
              <a:buFont typeface="Wingdings" pitchFamily="2" charset="2"/>
              <a:buNone/>
            </a:pPr>
            <a:endParaRPr lang="en-US" altLang="en-US" sz="2600" b="1" dirty="0">
              <a:latin typeface="Courier New" pitchFamily="49" charset="0"/>
            </a:endParaRPr>
          </a:p>
          <a:p>
            <a:pPr lvl="2">
              <a:buFont typeface="Wingdings" pitchFamily="2" charset="2"/>
              <a:buNone/>
            </a:pPr>
            <a:endParaRPr lang="en-US" altLang="en-US" sz="2600" b="1" dirty="0">
              <a:latin typeface="Courier New" pitchFamily="49" charset="0"/>
            </a:endParaRPr>
          </a:p>
          <a:p>
            <a:pPr lvl="2">
              <a:buFont typeface="Wingdings" pitchFamily="2" charset="2"/>
              <a:buNone/>
            </a:pPr>
            <a:endParaRPr lang="en-US" altLang="en-US" sz="2600" b="1" dirty="0">
              <a:latin typeface="Courier New" pitchFamily="49" charset="0"/>
            </a:endParaRPr>
          </a:p>
          <a:p>
            <a:pPr lvl="2">
              <a:buFont typeface="Wingdings" pitchFamily="2" charset="2"/>
              <a:buNone/>
            </a:pPr>
            <a:endParaRPr lang="en-US" altLang="en-US" sz="2600" b="1" dirty="0">
              <a:latin typeface="Courier New" pitchFamily="49" charset="0"/>
            </a:endParaRPr>
          </a:p>
          <a:p>
            <a:pPr lvl="2">
              <a:buFont typeface="Wingdings" pitchFamily="2" charset="2"/>
              <a:buNone/>
            </a:pPr>
            <a:endParaRPr lang="en-US" altLang="en-US" sz="2600" b="1" dirty="0">
              <a:latin typeface="Courier New" pitchFamily="49" charset="0"/>
            </a:endParaRPr>
          </a:p>
          <a:p>
            <a:r>
              <a:rPr lang="en-US" altLang="en-US" b="1" dirty="0">
                <a:solidFill>
                  <a:srgbClr val="C00000"/>
                </a:solidFill>
              </a:rPr>
              <a:t>Problems:</a:t>
            </a:r>
          </a:p>
          <a:p>
            <a:pPr lvl="1"/>
            <a:r>
              <a:rPr lang="en-US" altLang="en-US" dirty="0"/>
              <a:t>Slow loading time</a:t>
            </a:r>
          </a:p>
          <a:p>
            <a:pPr lvl="1"/>
            <a:r>
              <a:rPr lang="en-US" altLang="en-US" dirty="0"/>
              <a:t>Not easy to distinguish memory reference from normal integer constant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269147" y="1696200"/>
            <a:ext cx="4962798" cy="2496021"/>
            <a:chOff x="2885802" y="2115021"/>
            <a:chExt cx="4580709" cy="1981200"/>
          </a:xfrm>
        </p:grpSpPr>
        <p:sp>
          <p:nvSpPr>
            <p:cNvPr id="14" name="Rectangle 7"/>
            <p:cNvSpPr>
              <a:spLocks noChangeArrowheads="1"/>
            </p:cNvSpPr>
            <p:nvPr/>
          </p:nvSpPr>
          <p:spPr bwMode="auto">
            <a:xfrm>
              <a:off x="2885802" y="2115021"/>
              <a:ext cx="2362200" cy="1143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lw</a:t>
              </a:r>
              <a:r>
                <a:rPr lang="en-US" altLang="en-US" sz="1600" b="1" dirty="0">
                  <a:latin typeface="Courier New" pitchFamily="49" charset="0"/>
                </a:rPr>
                <a:t>    $1, [</a:t>
              </a:r>
              <a:r>
                <a:rPr lang="en-US" altLang="en-US" sz="1600" b="1" i="1" dirty="0">
                  <a:solidFill>
                    <a:srgbClr val="C00000"/>
                  </a:solidFill>
                  <a:latin typeface="Courier New" pitchFamily="49" charset="0"/>
                </a:rPr>
                <a:t>4096</a:t>
              </a:r>
              <a:r>
                <a:rPr lang="en-US" altLang="en-US" sz="1600" b="1" dirty="0">
                  <a:latin typeface="Courier New" pitchFamily="49" charset="0"/>
                </a:rPr>
                <a:t>]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addi</a:t>
              </a:r>
              <a:r>
                <a:rPr lang="en-US" altLang="en-US" sz="1600" b="1" dirty="0">
                  <a:latin typeface="Courier New" pitchFamily="49" charset="0"/>
                </a:rPr>
                <a:t>  $1, $1, 20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sw</a:t>
              </a:r>
              <a:r>
                <a:rPr lang="en-US" altLang="en-US" sz="1600" b="1" dirty="0">
                  <a:latin typeface="Courier New" pitchFamily="49" charset="0"/>
                </a:rPr>
                <a:t>    $1, [</a:t>
              </a:r>
              <a:r>
                <a:rPr lang="en-US" altLang="en-US" sz="1600" b="1" i="1" dirty="0">
                  <a:solidFill>
                    <a:srgbClr val="C00000"/>
                  </a:solidFill>
                  <a:latin typeface="Courier New" pitchFamily="49" charset="0"/>
                </a:rPr>
                <a:t>4096</a:t>
              </a:r>
              <a:r>
                <a:rPr lang="en-US" altLang="en-US" sz="1600" b="1" dirty="0">
                  <a:latin typeface="Courier New" pitchFamily="49" charset="0"/>
                </a:rPr>
                <a:t>]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2885802" y="3258021"/>
              <a:ext cx="2362200" cy="838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en-US" sz="1600" b="1">
                  <a:latin typeface="Courier New" pitchFamily="49" charset="0"/>
                </a:rPr>
                <a:t>...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0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...</a:t>
              </a:r>
            </a:p>
          </p:txBody>
        </p:sp>
        <p:sp>
          <p:nvSpPr>
            <p:cNvPr id="16" name="AutoShape 20"/>
            <p:cNvSpPr>
              <a:spLocks/>
            </p:cNvSpPr>
            <p:nvPr/>
          </p:nvSpPr>
          <p:spPr bwMode="auto">
            <a:xfrm>
              <a:off x="5415688" y="2115021"/>
              <a:ext cx="228600" cy="1981200"/>
            </a:xfrm>
            <a:prstGeom prst="rightBrace">
              <a:avLst>
                <a:gd name="adj1" fmla="val 9444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7" name="Text Box 21"/>
            <p:cNvSpPr txBox="1">
              <a:spLocks noChangeArrowheads="1"/>
            </p:cNvSpPr>
            <p:nvPr/>
          </p:nvSpPr>
          <p:spPr bwMode="auto">
            <a:xfrm>
              <a:off x="5713911" y="3181821"/>
              <a:ext cx="17526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1" dirty="0"/>
                <a:t>Process B</a:t>
              </a:r>
            </a:p>
          </p:txBody>
        </p:sp>
      </p:grp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2608747" y="1600200"/>
            <a:ext cx="685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8000</a:t>
            </a:r>
          </a:p>
        </p:txBody>
      </p:sp>
      <p:sp>
        <p:nvSpPr>
          <p:cNvPr id="20" name="Rectangle 13"/>
          <p:cNvSpPr>
            <a:spLocks noChangeArrowheads="1"/>
          </p:cNvSpPr>
          <p:nvPr/>
        </p:nvSpPr>
        <p:spPr bwMode="auto">
          <a:xfrm>
            <a:off x="2368778" y="3397516"/>
            <a:ext cx="866502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12096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72287-B34D-478D-BD5E-F1E9DB1153A8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3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Fix Attempt 2: </a:t>
            </a:r>
            <a:r>
              <a:rPr lang="en-US" altLang="en-US" sz="3800" b="1" dirty="0">
                <a:solidFill>
                  <a:srgbClr val="C00000"/>
                </a:solidFill>
              </a:rPr>
              <a:t>Base</a:t>
            </a:r>
            <a:r>
              <a:rPr lang="en-US" altLang="en-US" sz="3800" b="1" dirty="0"/>
              <a:t> + </a:t>
            </a:r>
            <a:r>
              <a:rPr lang="en-US" altLang="en-US" sz="3800" b="1" dirty="0">
                <a:solidFill>
                  <a:srgbClr val="006600"/>
                </a:solidFill>
              </a:rPr>
              <a:t>Limit</a:t>
            </a:r>
            <a:r>
              <a:rPr lang="en-US" altLang="en-US" sz="3800" b="1" dirty="0"/>
              <a:t> Registers</a:t>
            </a:r>
          </a:p>
        </p:txBody>
      </p:sp>
      <p:sp>
        <p:nvSpPr>
          <p:cNvPr id="73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en-US" sz="2600" dirty="0"/>
              <a:t>Use a special register as the base of all memory references:</a:t>
            </a:r>
          </a:p>
          <a:p>
            <a:pPr lvl="1"/>
            <a:r>
              <a:rPr lang="en-US" altLang="en-US" sz="2200" dirty="0"/>
              <a:t>Known as </a:t>
            </a:r>
            <a:r>
              <a:rPr lang="en-US" altLang="en-US" sz="2200" b="1" dirty="0">
                <a:solidFill>
                  <a:srgbClr val="C00000"/>
                </a:solidFill>
              </a:rPr>
              <a:t>Base Register</a:t>
            </a:r>
            <a:endParaRPr lang="en-US" altLang="en-US" sz="2200" dirty="0">
              <a:solidFill>
                <a:srgbClr val="C00000"/>
              </a:solidFill>
            </a:endParaRPr>
          </a:p>
          <a:p>
            <a:pPr lvl="1"/>
            <a:r>
              <a:rPr lang="en-US" altLang="en-US" sz="2200" dirty="0"/>
              <a:t>During compilation time, all memory references are compiled as an offset from this register</a:t>
            </a:r>
          </a:p>
          <a:p>
            <a:pPr lvl="1"/>
            <a:r>
              <a:rPr lang="en-US" altLang="en-US" sz="2200" dirty="0"/>
              <a:t>At loading time, the base register is initialized to the starting address of the process memory space</a:t>
            </a:r>
          </a:p>
          <a:p>
            <a:pPr marL="801687" lvl="1" indent="-457200">
              <a:buFont typeface="+mj-lt"/>
              <a:buAutoNum type="arabicPeriod"/>
            </a:pPr>
            <a:endParaRPr lang="en-US" altLang="en-US" sz="2200" dirty="0"/>
          </a:p>
          <a:p>
            <a:pPr marL="514350" indent="-514350">
              <a:buFont typeface="+mj-lt"/>
              <a:buAutoNum type="arabicPeriod"/>
            </a:pPr>
            <a:r>
              <a:rPr lang="en-US" altLang="en-US" sz="2600" dirty="0"/>
              <a:t>Add another special register to indicate the range of the memory space of current process:</a:t>
            </a:r>
          </a:p>
          <a:p>
            <a:pPr lvl="1"/>
            <a:r>
              <a:rPr lang="en-US" altLang="en-US" sz="2200" dirty="0"/>
              <a:t>Known as </a:t>
            </a:r>
            <a:r>
              <a:rPr lang="en-US" altLang="en-US" sz="2200" b="1" dirty="0">
                <a:solidFill>
                  <a:srgbClr val="006600"/>
                </a:solidFill>
              </a:rPr>
              <a:t>Limit Register</a:t>
            </a:r>
            <a:endParaRPr lang="en-US" altLang="en-US" sz="2200" dirty="0">
              <a:solidFill>
                <a:srgbClr val="006600"/>
              </a:solidFill>
            </a:endParaRPr>
          </a:p>
          <a:p>
            <a:pPr lvl="1"/>
            <a:r>
              <a:rPr lang="en-US" altLang="en-US" sz="2200" dirty="0"/>
              <a:t>All memory access is checked against the limit to protect memory space integrity </a:t>
            </a:r>
          </a:p>
          <a:p>
            <a:pPr lvl="1"/>
            <a:endParaRPr lang="en-US" alt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4103636" y="1506436"/>
            <a:ext cx="3440164" cy="5046764"/>
            <a:chOff x="4103636" y="1506436"/>
            <a:chExt cx="3440164" cy="5046764"/>
          </a:xfrm>
        </p:grpSpPr>
        <p:grpSp>
          <p:nvGrpSpPr>
            <p:cNvPr id="19" name="Group 18"/>
            <p:cNvGrpSpPr/>
            <p:nvPr/>
          </p:nvGrpSpPr>
          <p:grpSpPr>
            <a:xfrm>
              <a:off x="4103636" y="5867400"/>
              <a:ext cx="3135364" cy="685800"/>
              <a:chOff x="4103636" y="5867400"/>
              <a:chExt cx="3135364" cy="685800"/>
            </a:xfrm>
          </p:grpSpPr>
          <p:sp>
            <p:nvSpPr>
              <p:cNvPr id="7" name="Rectangle 5"/>
              <p:cNvSpPr>
                <a:spLocks noChangeArrowheads="1"/>
              </p:cNvSpPr>
              <p:nvPr/>
            </p:nvSpPr>
            <p:spPr bwMode="auto">
              <a:xfrm>
                <a:off x="5334000" y="5903900"/>
                <a:ext cx="190500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dirty="0"/>
                  <a:t>Main Memory</a:t>
                </a:r>
              </a:p>
            </p:txBody>
          </p:sp>
          <p:sp>
            <p:nvSpPr>
              <p:cNvPr id="9" name="Rectangle 8"/>
              <p:cNvSpPr>
                <a:spLocks noChangeArrowheads="1"/>
              </p:cNvSpPr>
              <p:nvPr/>
            </p:nvSpPr>
            <p:spPr bwMode="auto">
              <a:xfrm>
                <a:off x="4103636" y="5867400"/>
                <a:ext cx="1241527" cy="685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dirty="0"/>
                  <a:t>physical address</a:t>
                </a:r>
              </a:p>
            </p:txBody>
          </p:sp>
        </p:grpSp>
        <p:sp>
          <p:nvSpPr>
            <p:cNvPr id="70" name="Rectangle 17"/>
            <p:cNvSpPr>
              <a:spLocks noChangeArrowheads="1"/>
            </p:cNvSpPr>
            <p:nvPr/>
          </p:nvSpPr>
          <p:spPr bwMode="auto">
            <a:xfrm>
              <a:off x="5181600" y="1506436"/>
              <a:ext cx="2362200" cy="4341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600" b="1" i="1" dirty="0">
                  <a:latin typeface="Courier New" pitchFamily="49" charset="0"/>
                </a:rPr>
                <a:t>......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-533400" y="1127125"/>
            <a:ext cx="3429000" cy="3886200"/>
            <a:chOff x="-557349" y="1371600"/>
            <a:chExt cx="3429000" cy="3886200"/>
          </a:xfrm>
        </p:grpSpPr>
        <p:grpSp>
          <p:nvGrpSpPr>
            <p:cNvPr id="32" name="Group 31"/>
            <p:cNvGrpSpPr>
              <a:grpSpLocks/>
            </p:cNvGrpSpPr>
            <p:nvPr/>
          </p:nvGrpSpPr>
          <p:grpSpPr bwMode="auto">
            <a:xfrm>
              <a:off x="-557349" y="1371600"/>
              <a:ext cx="3429000" cy="3429000"/>
              <a:chOff x="1632" y="1248"/>
              <a:chExt cx="2160" cy="2160"/>
            </a:xfrm>
          </p:grpSpPr>
          <p:grpSp>
            <p:nvGrpSpPr>
              <p:cNvPr id="34" name="Group 9"/>
              <p:cNvGrpSpPr>
                <a:grpSpLocks/>
              </p:cNvGrpSpPr>
              <p:nvPr/>
            </p:nvGrpSpPr>
            <p:grpSpPr bwMode="auto">
              <a:xfrm>
                <a:off x="2092" y="1880"/>
                <a:ext cx="1700" cy="1528"/>
                <a:chOff x="2284" y="1880"/>
                <a:chExt cx="1700" cy="1528"/>
              </a:xfrm>
            </p:grpSpPr>
            <p:sp>
              <p:nvSpPr>
                <p:cNvPr id="37" name="Rectangle 5"/>
                <p:cNvSpPr>
                  <a:spLocks noChangeArrowheads="1"/>
                </p:cNvSpPr>
                <p:nvPr/>
              </p:nvSpPr>
              <p:spPr bwMode="auto">
                <a:xfrm>
                  <a:off x="2496" y="2688"/>
                  <a:ext cx="1488" cy="72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call inc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</p:txBody>
            </p:sp>
            <p:sp>
              <p:nvSpPr>
                <p:cNvPr id="38" name="Text Box 6"/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2064" y="285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1600" b="1" dirty="0">
                      <a:latin typeface="Courier New" pitchFamily="49" charset="0"/>
                    </a:rPr>
                    <a:t>main()</a:t>
                  </a:r>
                </a:p>
              </p:txBody>
            </p:sp>
            <p:sp>
              <p:nvSpPr>
                <p:cNvPr id="39" name="Rectangle 7"/>
                <p:cNvSpPr>
                  <a:spLocks noChangeArrowheads="1"/>
                </p:cNvSpPr>
                <p:nvPr/>
              </p:nvSpPr>
              <p:spPr bwMode="auto">
                <a:xfrm>
                  <a:off x="2496" y="1968"/>
                  <a:ext cx="1488" cy="72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en-US" sz="1600" b="1" dirty="0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lw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  $1, [</a:t>
                  </a:r>
                  <a:r>
                    <a:rPr lang="en-US" altLang="en-US" sz="1600" b="1" dirty="0">
                      <a:solidFill>
                        <a:srgbClr val="C00000"/>
                      </a:solidFill>
                      <a:latin typeface="Courier New" pitchFamily="49" charset="0"/>
                    </a:rPr>
                    <a:t>B+</a:t>
                  </a:r>
                  <a:r>
                    <a:rPr lang="en-US" altLang="en-US" sz="1600" b="1" dirty="0">
                      <a:latin typeface="Courier New" pitchFamily="49" charset="0"/>
                    </a:rPr>
                    <a:t>4096]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addi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$1, $1, 20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sw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  $1, [</a:t>
                  </a:r>
                  <a:r>
                    <a:rPr lang="en-US" altLang="en-US" sz="1600" b="1" dirty="0">
                      <a:solidFill>
                        <a:srgbClr val="C00000"/>
                      </a:solidFill>
                      <a:latin typeface="Courier New" pitchFamily="49" charset="0"/>
                    </a:rPr>
                    <a:t>B+</a:t>
                  </a:r>
                  <a:r>
                    <a:rPr lang="en-US" altLang="en-US" sz="1600" b="1" dirty="0">
                      <a:latin typeface="Courier New" pitchFamily="49" charset="0"/>
                    </a:rPr>
                    <a:t>4096]</a:t>
                  </a:r>
                </a:p>
                <a:p>
                  <a:r>
                    <a:rPr lang="en-US" altLang="en-US" sz="1600" b="1" dirty="0">
                      <a:latin typeface="Courier New" pitchFamily="49" charset="0"/>
                    </a:rPr>
                    <a:t>...</a:t>
                  </a:r>
                </a:p>
              </p:txBody>
            </p:sp>
            <p:sp>
              <p:nvSpPr>
                <p:cNvPr id="40" name="Text Box 8"/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2054" y="211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1600" b="1">
                      <a:latin typeface="Courier New" pitchFamily="49" charset="0"/>
                    </a:rPr>
                    <a:t>inc()</a:t>
                  </a:r>
                </a:p>
              </p:txBody>
            </p:sp>
          </p:grpSp>
          <p:sp>
            <p:nvSpPr>
              <p:cNvPr id="35" name="Rectangle 15"/>
              <p:cNvSpPr>
                <a:spLocks noChangeArrowheads="1"/>
              </p:cNvSpPr>
              <p:nvPr/>
            </p:nvSpPr>
            <p:spPr bwMode="auto">
              <a:xfrm>
                <a:off x="2304" y="1248"/>
                <a:ext cx="1488" cy="7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0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</p:txBody>
          </p:sp>
          <p:sp>
            <p:nvSpPr>
              <p:cNvPr id="36" name="Text Box 26"/>
              <p:cNvSpPr txBox="1">
                <a:spLocks noChangeArrowheads="1"/>
              </p:cNvSpPr>
              <p:nvPr/>
            </p:nvSpPr>
            <p:spPr bwMode="auto">
              <a:xfrm>
                <a:off x="1632" y="1488"/>
                <a:ext cx="67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altLang="en-US" sz="1600" b="1" dirty="0" err="1">
                    <a:latin typeface="Courier New" pitchFamily="49" charset="0"/>
                  </a:rPr>
                  <a:t>i</a:t>
                </a:r>
                <a:endParaRPr lang="en-US" altLang="en-US" sz="1600" b="1" dirty="0">
                  <a:latin typeface="Courier New" pitchFamily="49" charset="0"/>
                </a:endParaRPr>
              </a:p>
            </p:txBody>
          </p:sp>
        </p:grpSp>
        <p:sp>
          <p:nvSpPr>
            <p:cNvPr id="33" name="Rectangle 46"/>
            <p:cNvSpPr>
              <a:spLocks noChangeArrowheads="1"/>
            </p:cNvSpPr>
            <p:nvPr/>
          </p:nvSpPr>
          <p:spPr bwMode="auto">
            <a:xfrm>
              <a:off x="738051" y="4800600"/>
              <a:ext cx="1905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Executable</a:t>
              </a:r>
            </a:p>
          </p:txBody>
        </p:sp>
      </p:grp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1" dirty="0">
                <a:solidFill>
                  <a:srgbClr val="660066"/>
                </a:solidFill>
              </a:rPr>
              <a:t>Base</a:t>
            </a:r>
            <a:r>
              <a:rPr lang="en-US" altLang="en-US" sz="4400" dirty="0"/>
              <a:t> + </a:t>
            </a:r>
            <a:r>
              <a:rPr lang="en-US" altLang="en-US" sz="4400" b="1" dirty="0">
                <a:solidFill>
                  <a:srgbClr val="C00000"/>
                </a:solidFill>
              </a:rPr>
              <a:t>Limit</a:t>
            </a:r>
            <a:r>
              <a:rPr lang="en-US" altLang="en-US" sz="4400" dirty="0"/>
              <a:t> Register: Illustration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17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4495800" y="1480028"/>
            <a:ext cx="4648200" cy="1994997"/>
            <a:chOff x="4495800" y="1480028"/>
            <a:chExt cx="4648200" cy="1994997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4495800" y="1493430"/>
              <a:ext cx="685800" cy="2769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dirty="0"/>
                <a:t>0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5181600" y="1493825"/>
              <a:ext cx="2362200" cy="1143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lw</a:t>
              </a:r>
              <a:r>
                <a:rPr lang="en-US" altLang="en-US" sz="1600" b="1" dirty="0">
                  <a:latin typeface="Courier New" pitchFamily="49" charset="0"/>
                </a:rPr>
                <a:t>    $1, [</a:t>
              </a:r>
              <a:r>
                <a:rPr lang="en-US" altLang="en-US" sz="1600" b="1" dirty="0">
                  <a:solidFill>
                    <a:srgbClr val="C00000"/>
                  </a:solidFill>
                  <a:latin typeface="Courier New" pitchFamily="49" charset="0"/>
                </a:rPr>
                <a:t>B+</a:t>
              </a:r>
              <a:r>
                <a:rPr lang="en-US" altLang="en-US" sz="1600" b="1" dirty="0">
                  <a:latin typeface="Courier New" pitchFamily="49" charset="0"/>
                </a:rPr>
                <a:t>4096]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addi</a:t>
              </a:r>
              <a:r>
                <a:rPr lang="en-US" altLang="en-US" sz="1600" b="1" dirty="0">
                  <a:latin typeface="Courier New" pitchFamily="49" charset="0"/>
                </a:rPr>
                <a:t>  $1, $1, 20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sw</a:t>
              </a:r>
              <a:r>
                <a:rPr lang="en-US" altLang="en-US" sz="1600" b="1" dirty="0">
                  <a:latin typeface="Courier New" pitchFamily="49" charset="0"/>
                </a:rPr>
                <a:t>    $1, [</a:t>
              </a:r>
              <a:r>
                <a:rPr lang="en-US" altLang="en-US" sz="1600" b="1" dirty="0">
                  <a:solidFill>
                    <a:srgbClr val="C00000"/>
                  </a:solidFill>
                  <a:latin typeface="Courier New" pitchFamily="49" charset="0"/>
                </a:rPr>
                <a:t>B+</a:t>
              </a:r>
              <a:r>
                <a:rPr lang="en-US" altLang="en-US" sz="1600" b="1" dirty="0">
                  <a:latin typeface="Courier New" pitchFamily="49" charset="0"/>
                </a:rPr>
                <a:t>4096]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</p:txBody>
        </p:sp>
        <p:sp>
          <p:nvSpPr>
            <p:cNvPr id="12" name="Rectangle 14"/>
            <p:cNvSpPr>
              <a:spLocks noChangeArrowheads="1"/>
            </p:cNvSpPr>
            <p:nvPr/>
          </p:nvSpPr>
          <p:spPr bwMode="auto">
            <a:xfrm>
              <a:off x="5181600" y="2636825"/>
              <a:ext cx="2362200" cy="838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en-US" sz="1600" b="1">
                  <a:latin typeface="Courier New" pitchFamily="49" charset="0"/>
                </a:rPr>
                <a:t>...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0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...</a:t>
              </a: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4533900" y="2789225"/>
              <a:ext cx="685800" cy="533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4096</a:t>
              </a:r>
            </a:p>
          </p:txBody>
        </p:sp>
        <p:sp>
          <p:nvSpPr>
            <p:cNvPr id="17" name="AutoShape 20"/>
            <p:cNvSpPr>
              <a:spLocks/>
            </p:cNvSpPr>
            <p:nvPr/>
          </p:nvSpPr>
          <p:spPr bwMode="auto">
            <a:xfrm>
              <a:off x="7702777" y="1493825"/>
              <a:ext cx="228600" cy="1981200"/>
            </a:xfrm>
            <a:prstGeom prst="rightBrace">
              <a:avLst>
                <a:gd name="adj1" fmla="val 9444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8" name="Text Box 21"/>
            <p:cNvSpPr txBox="1">
              <a:spLocks noChangeArrowheads="1"/>
            </p:cNvSpPr>
            <p:nvPr/>
          </p:nvSpPr>
          <p:spPr bwMode="auto">
            <a:xfrm>
              <a:off x="8001000" y="1480028"/>
              <a:ext cx="1143000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 dirty="0"/>
                <a:t>Process </a:t>
              </a:r>
              <a:r>
                <a:rPr lang="en-US" alt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458788" y="3800244"/>
            <a:ext cx="4676503" cy="2056031"/>
            <a:chOff x="4458788" y="3800244"/>
            <a:chExt cx="4676503" cy="2056031"/>
          </a:xfrm>
        </p:grpSpPr>
        <p:sp>
          <p:nvSpPr>
            <p:cNvPr id="20" name="Rectangle 7"/>
            <p:cNvSpPr>
              <a:spLocks noChangeArrowheads="1"/>
            </p:cNvSpPr>
            <p:nvPr/>
          </p:nvSpPr>
          <p:spPr bwMode="auto">
            <a:xfrm>
              <a:off x="5181600" y="3875075"/>
              <a:ext cx="2362200" cy="1143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lw</a:t>
              </a:r>
              <a:r>
                <a:rPr lang="en-US" altLang="en-US" sz="1600" b="1" dirty="0">
                  <a:latin typeface="Courier New" pitchFamily="49" charset="0"/>
                </a:rPr>
                <a:t>    $1, [</a:t>
              </a:r>
              <a:r>
                <a:rPr lang="en-US" altLang="en-US" sz="1600" b="1" dirty="0">
                  <a:solidFill>
                    <a:srgbClr val="C00000"/>
                  </a:solidFill>
                  <a:latin typeface="Courier New" pitchFamily="49" charset="0"/>
                </a:rPr>
                <a:t>B+</a:t>
              </a:r>
              <a:r>
                <a:rPr lang="en-US" altLang="en-US" sz="1600" b="1" dirty="0">
                  <a:latin typeface="Courier New" pitchFamily="49" charset="0"/>
                </a:rPr>
                <a:t>4096]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addi</a:t>
              </a:r>
              <a:r>
                <a:rPr lang="en-US" altLang="en-US" sz="1600" b="1" dirty="0">
                  <a:latin typeface="Courier New" pitchFamily="49" charset="0"/>
                </a:rPr>
                <a:t>  $1, $1, 20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sw</a:t>
              </a:r>
              <a:r>
                <a:rPr lang="en-US" altLang="en-US" sz="1600" b="1" dirty="0">
                  <a:latin typeface="Courier New" pitchFamily="49" charset="0"/>
                </a:rPr>
                <a:t>    $1, [</a:t>
              </a:r>
              <a:r>
                <a:rPr lang="en-US" altLang="en-US" sz="1600" b="1" dirty="0">
                  <a:solidFill>
                    <a:srgbClr val="C00000"/>
                  </a:solidFill>
                  <a:latin typeface="Courier New" pitchFamily="49" charset="0"/>
                </a:rPr>
                <a:t>B+</a:t>
              </a:r>
              <a:r>
                <a:rPr lang="en-US" altLang="en-US" sz="1600" b="1" dirty="0">
                  <a:latin typeface="Courier New" pitchFamily="49" charset="0"/>
                </a:rPr>
                <a:t>4096]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</p:txBody>
        </p:sp>
        <p:sp>
          <p:nvSpPr>
            <p:cNvPr id="21" name="Rectangle 14"/>
            <p:cNvSpPr>
              <a:spLocks noChangeArrowheads="1"/>
            </p:cNvSpPr>
            <p:nvPr/>
          </p:nvSpPr>
          <p:spPr bwMode="auto">
            <a:xfrm>
              <a:off x="5181600" y="5018075"/>
              <a:ext cx="2362200" cy="838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en-US" sz="1600" b="1">
                  <a:latin typeface="Courier New" pitchFamily="49" charset="0"/>
                </a:rPr>
                <a:t>...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0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...</a:t>
              </a:r>
            </a:p>
          </p:txBody>
        </p:sp>
        <p:sp>
          <p:nvSpPr>
            <p:cNvPr id="22" name="AutoShape 20"/>
            <p:cNvSpPr>
              <a:spLocks/>
            </p:cNvSpPr>
            <p:nvPr/>
          </p:nvSpPr>
          <p:spPr bwMode="auto">
            <a:xfrm>
              <a:off x="7711486" y="3875075"/>
              <a:ext cx="228600" cy="1981200"/>
            </a:xfrm>
            <a:prstGeom prst="rightBrace">
              <a:avLst>
                <a:gd name="adj1" fmla="val 9444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23" name="Text Box 21"/>
            <p:cNvSpPr txBox="1">
              <a:spLocks noChangeArrowheads="1"/>
            </p:cNvSpPr>
            <p:nvPr/>
          </p:nvSpPr>
          <p:spPr bwMode="auto">
            <a:xfrm>
              <a:off x="8001000" y="3800244"/>
              <a:ext cx="1134291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 dirty="0"/>
                <a:t>Process </a:t>
              </a:r>
              <a:r>
                <a:rPr lang="en-US" alt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</a:t>
              </a:r>
            </a:p>
          </p:txBody>
        </p:sp>
        <p:sp>
          <p:nvSpPr>
            <p:cNvPr id="25" name="Rectangle 13"/>
            <p:cNvSpPr>
              <a:spLocks noChangeArrowheads="1"/>
            </p:cNvSpPr>
            <p:nvPr/>
          </p:nvSpPr>
          <p:spPr bwMode="auto">
            <a:xfrm>
              <a:off x="4458788" y="3899474"/>
              <a:ext cx="722811" cy="2864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8000</a:t>
              </a:r>
            </a:p>
          </p:txBody>
        </p:sp>
        <p:sp>
          <p:nvSpPr>
            <p:cNvPr id="26" name="Rectangle 13"/>
            <p:cNvSpPr>
              <a:spLocks noChangeArrowheads="1"/>
            </p:cNvSpPr>
            <p:nvPr/>
          </p:nvSpPr>
          <p:spPr bwMode="auto">
            <a:xfrm>
              <a:off x="4533900" y="5180272"/>
              <a:ext cx="685800" cy="533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12096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2362200" y="4419600"/>
            <a:ext cx="2133600" cy="1143000"/>
            <a:chOff x="2362200" y="4419600"/>
            <a:chExt cx="2133600" cy="1143000"/>
          </a:xfrm>
        </p:grpSpPr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2362200" y="4419600"/>
              <a:ext cx="381000" cy="914400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grpSp>
          <p:nvGrpSpPr>
            <p:cNvPr id="41" name="Group 42"/>
            <p:cNvGrpSpPr>
              <a:grpSpLocks/>
            </p:cNvGrpSpPr>
            <p:nvPr/>
          </p:nvGrpSpPr>
          <p:grpSpPr bwMode="auto">
            <a:xfrm>
              <a:off x="2362200" y="4800600"/>
              <a:ext cx="2133600" cy="762000"/>
              <a:chOff x="2256" y="1920"/>
              <a:chExt cx="1248" cy="480"/>
            </a:xfrm>
          </p:grpSpPr>
          <p:sp>
            <p:nvSpPr>
              <p:cNvPr id="42" name="AutoShape 43"/>
              <p:cNvSpPr>
                <a:spLocks noChangeArrowheads="1"/>
              </p:cNvSpPr>
              <p:nvPr/>
            </p:nvSpPr>
            <p:spPr bwMode="auto">
              <a:xfrm>
                <a:off x="2256" y="1920"/>
                <a:ext cx="1248" cy="480"/>
              </a:xfrm>
              <a:prstGeom prst="rightArrow">
                <a:avLst>
                  <a:gd name="adj1" fmla="val 50000"/>
                  <a:gd name="adj2" fmla="val 65000"/>
                </a:avLst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43" name="Rectangle 44"/>
              <p:cNvSpPr>
                <a:spLocks noChangeArrowheads="1"/>
              </p:cNvSpPr>
              <p:nvPr/>
            </p:nvSpPr>
            <p:spPr bwMode="auto">
              <a:xfrm>
                <a:off x="2304" y="2064"/>
                <a:ext cx="960" cy="192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/>
                  <a:t>Load and Run</a:t>
                </a:r>
              </a:p>
            </p:txBody>
          </p:sp>
        </p:grpSp>
      </p:grpSp>
      <p:grpSp>
        <p:nvGrpSpPr>
          <p:cNvPr id="14" name="Group 13"/>
          <p:cNvGrpSpPr/>
          <p:nvPr/>
        </p:nvGrpSpPr>
        <p:grpSpPr>
          <a:xfrm>
            <a:off x="7931377" y="2065325"/>
            <a:ext cx="1066800" cy="609600"/>
            <a:chOff x="7931377" y="2065325"/>
            <a:chExt cx="1066800" cy="609600"/>
          </a:xfrm>
        </p:grpSpPr>
        <p:sp>
          <p:nvSpPr>
            <p:cNvPr id="46" name="Rectangle 38"/>
            <p:cNvSpPr>
              <a:spLocks noChangeArrowheads="1"/>
            </p:cNvSpPr>
            <p:nvPr/>
          </p:nvSpPr>
          <p:spPr bwMode="auto">
            <a:xfrm>
              <a:off x="8083777" y="2370125"/>
              <a:ext cx="914400" cy="3048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>
                  <a:solidFill>
                    <a:srgbClr val="C00000"/>
                  </a:solidFill>
                </a:rPr>
                <a:t>0</a:t>
              </a:r>
            </a:p>
          </p:txBody>
        </p:sp>
        <p:sp>
          <p:nvSpPr>
            <p:cNvPr id="47" name="Text Box 39"/>
            <p:cNvSpPr txBox="1">
              <a:spLocks noChangeArrowheads="1"/>
            </p:cNvSpPr>
            <p:nvPr/>
          </p:nvSpPr>
          <p:spPr bwMode="auto">
            <a:xfrm>
              <a:off x="7931377" y="2065325"/>
              <a:ext cx="9144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latin typeface="Courier New" pitchFamily="49" charset="0"/>
                </a:rPr>
                <a:t>Base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8007577" y="2827325"/>
            <a:ext cx="990600" cy="609600"/>
            <a:chOff x="8007577" y="2827325"/>
            <a:chExt cx="990600" cy="609600"/>
          </a:xfrm>
        </p:grpSpPr>
        <p:sp>
          <p:nvSpPr>
            <p:cNvPr id="48" name="Rectangle 40"/>
            <p:cNvSpPr>
              <a:spLocks noChangeArrowheads="1"/>
            </p:cNvSpPr>
            <p:nvPr/>
          </p:nvSpPr>
          <p:spPr bwMode="auto">
            <a:xfrm>
              <a:off x="8083777" y="3132125"/>
              <a:ext cx="914400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5000</a:t>
              </a:r>
            </a:p>
          </p:txBody>
        </p:sp>
        <p:sp>
          <p:nvSpPr>
            <p:cNvPr id="49" name="Text Box 41"/>
            <p:cNvSpPr txBox="1">
              <a:spLocks noChangeArrowheads="1"/>
            </p:cNvSpPr>
            <p:nvPr/>
          </p:nvSpPr>
          <p:spPr bwMode="auto">
            <a:xfrm>
              <a:off x="8007577" y="2827325"/>
              <a:ext cx="9144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latin typeface="Courier New" pitchFamily="49" charset="0"/>
                </a:rPr>
                <a:t>Limit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931377" y="4510834"/>
            <a:ext cx="1066800" cy="609600"/>
            <a:chOff x="7931377" y="4510834"/>
            <a:chExt cx="1066800" cy="609600"/>
          </a:xfrm>
        </p:grpSpPr>
        <p:sp>
          <p:nvSpPr>
            <p:cNvPr id="51" name="Rectangle 38"/>
            <p:cNvSpPr>
              <a:spLocks noChangeArrowheads="1"/>
            </p:cNvSpPr>
            <p:nvPr/>
          </p:nvSpPr>
          <p:spPr bwMode="auto">
            <a:xfrm>
              <a:off x="8083777" y="4815634"/>
              <a:ext cx="914400" cy="3048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>
                  <a:solidFill>
                    <a:srgbClr val="C00000"/>
                  </a:solidFill>
                </a:rPr>
                <a:t>8000</a:t>
              </a:r>
            </a:p>
          </p:txBody>
        </p:sp>
        <p:sp>
          <p:nvSpPr>
            <p:cNvPr id="52" name="Text Box 39"/>
            <p:cNvSpPr txBox="1">
              <a:spLocks noChangeArrowheads="1"/>
            </p:cNvSpPr>
            <p:nvPr/>
          </p:nvSpPr>
          <p:spPr bwMode="auto">
            <a:xfrm>
              <a:off x="7931377" y="4510834"/>
              <a:ext cx="9144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latin typeface="Courier New" pitchFamily="49" charset="0"/>
                </a:rPr>
                <a:t>Base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8007577" y="5272834"/>
            <a:ext cx="990600" cy="609600"/>
            <a:chOff x="8007577" y="5272834"/>
            <a:chExt cx="990600" cy="609600"/>
          </a:xfrm>
        </p:grpSpPr>
        <p:sp>
          <p:nvSpPr>
            <p:cNvPr id="53" name="Rectangle 40"/>
            <p:cNvSpPr>
              <a:spLocks noChangeArrowheads="1"/>
            </p:cNvSpPr>
            <p:nvPr/>
          </p:nvSpPr>
          <p:spPr bwMode="auto">
            <a:xfrm>
              <a:off x="8083777" y="5577634"/>
              <a:ext cx="914400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13000</a:t>
              </a:r>
            </a:p>
          </p:txBody>
        </p:sp>
        <p:sp>
          <p:nvSpPr>
            <p:cNvPr id="54" name="Text Box 41"/>
            <p:cNvSpPr txBox="1">
              <a:spLocks noChangeArrowheads="1"/>
            </p:cNvSpPr>
            <p:nvPr/>
          </p:nvSpPr>
          <p:spPr bwMode="auto">
            <a:xfrm>
              <a:off x="8007577" y="5272834"/>
              <a:ext cx="9144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latin typeface="Courier New" pitchFamily="49" charset="0"/>
                </a:rPr>
                <a:t>Limit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-533400" y="1125436"/>
            <a:ext cx="3429000" cy="3886200"/>
            <a:chOff x="-557349" y="1371600"/>
            <a:chExt cx="3429000" cy="3886200"/>
          </a:xfrm>
        </p:grpSpPr>
        <p:grpSp>
          <p:nvGrpSpPr>
            <p:cNvPr id="56" name="Group 55"/>
            <p:cNvGrpSpPr>
              <a:grpSpLocks/>
            </p:cNvGrpSpPr>
            <p:nvPr/>
          </p:nvGrpSpPr>
          <p:grpSpPr bwMode="auto">
            <a:xfrm>
              <a:off x="-557349" y="1371600"/>
              <a:ext cx="3429000" cy="3429000"/>
              <a:chOff x="1632" y="1248"/>
              <a:chExt cx="2160" cy="2160"/>
            </a:xfrm>
          </p:grpSpPr>
          <p:grpSp>
            <p:nvGrpSpPr>
              <p:cNvPr id="58" name="Group 9"/>
              <p:cNvGrpSpPr>
                <a:grpSpLocks/>
              </p:cNvGrpSpPr>
              <p:nvPr/>
            </p:nvGrpSpPr>
            <p:grpSpPr bwMode="auto">
              <a:xfrm>
                <a:off x="2092" y="1880"/>
                <a:ext cx="1700" cy="1528"/>
                <a:chOff x="2284" y="1880"/>
                <a:chExt cx="1700" cy="1528"/>
              </a:xfrm>
            </p:grpSpPr>
            <p:sp>
              <p:nvSpPr>
                <p:cNvPr id="61" name="Rectangle 5"/>
                <p:cNvSpPr>
                  <a:spLocks noChangeArrowheads="1"/>
                </p:cNvSpPr>
                <p:nvPr/>
              </p:nvSpPr>
              <p:spPr bwMode="auto">
                <a:xfrm>
                  <a:off x="2496" y="2688"/>
                  <a:ext cx="1488" cy="72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call inc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</p:txBody>
            </p:sp>
            <p:sp>
              <p:nvSpPr>
                <p:cNvPr id="62" name="Text Box 6"/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2064" y="285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1600" b="1" dirty="0">
                      <a:latin typeface="Courier New" pitchFamily="49" charset="0"/>
                    </a:rPr>
                    <a:t>main()</a:t>
                  </a:r>
                </a:p>
              </p:txBody>
            </p:sp>
            <p:sp>
              <p:nvSpPr>
                <p:cNvPr id="63" name="Rectangle 7"/>
                <p:cNvSpPr>
                  <a:spLocks noChangeArrowheads="1"/>
                </p:cNvSpPr>
                <p:nvPr/>
              </p:nvSpPr>
              <p:spPr bwMode="auto">
                <a:xfrm>
                  <a:off x="2496" y="1968"/>
                  <a:ext cx="1488" cy="72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en-US" sz="1600" b="1" dirty="0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lw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  $1, [4096]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addi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$1, $1, 20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sw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  $1, [4096]</a:t>
                  </a:r>
                </a:p>
                <a:p>
                  <a:r>
                    <a:rPr lang="en-US" altLang="en-US" sz="1600" b="1" dirty="0">
                      <a:latin typeface="Courier New" pitchFamily="49" charset="0"/>
                    </a:rPr>
                    <a:t>...</a:t>
                  </a:r>
                </a:p>
              </p:txBody>
            </p:sp>
            <p:sp>
              <p:nvSpPr>
                <p:cNvPr id="64" name="Text Box 8"/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2054" y="211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1600" b="1">
                      <a:latin typeface="Courier New" pitchFamily="49" charset="0"/>
                    </a:rPr>
                    <a:t>inc()</a:t>
                  </a:r>
                </a:p>
              </p:txBody>
            </p:sp>
          </p:grpSp>
          <p:sp>
            <p:nvSpPr>
              <p:cNvPr id="59" name="Rectangle 15"/>
              <p:cNvSpPr>
                <a:spLocks noChangeArrowheads="1"/>
              </p:cNvSpPr>
              <p:nvPr/>
            </p:nvSpPr>
            <p:spPr bwMode="auto">
              <a:xfrm>
                <a:off x="2304" y="1248"/>
                <a:ext cx="1488" cy="7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0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</p:txBody>
          </p:sp>
          <p:sp>
            <p:nvSpPr>
              <p:cNvPr id="60" name="Text Box 26"/>
              <p:cNvSpPr txBox="1">
                <a:spLocks noChangeArrowheads="1"/>
              </p:cNvSpPr>
              <p:nvPr/>
            </p:nvSpPr>
            <p:spPr bwMode="auto">
              <a:xfrm>
                <a:off x="1632" y="1488"/>
                <a:ext cx="67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altLang="en-US" sz="1600" b="1" dirty="0" err="1">
                    <a:latin typeface="Courier New" pitchFamily="49" charset="0"/>
                  </a:rPr>
                  <a:t>i</a:t>
                </a:r>
                <a:endParaRPr lang="en-US" altLang="en-US" sz="1600" b="1" dirty="0">
                  <a:latin typeface="Courier New" pitchFamily="49" charset="0"/>
                </a:endParaRPr>
              </a:p>
            </p:txBody>
          </p:sp>
        </p:grpSp>
        <p:sp>
          <p:nvSpPr>
            <p:cNvPr id="57" name="Rectangle 46"/>
            <p:cNvSpPr>
              <a:spLocks noChangeArrowheads="1"/>
            </p:cNvSpPr>
            <p:nvPr/>
          </p:nvSpPr>
          <p:spPr bwMode="auto">
            <a:xfrm>
              <a:off x="738051" y="4800600"/>
              <a:ext cx="1905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Executable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068710" y="1208254"/>
            <a:ext cx="1510686" cy="980742"/>
            <a:chOff x="3495012" y="1404548"/>
            <a:chExt cx="1510686" cy="980742"/>
          </a:xfrm>
        </p:grpSpPr>
        <p:sp>
          <p:nvSpPr>
            <p:cNvPr id="65" name="Rectangle 38"/>
            <p:cNvSpPr>
              <a:spLocks noChangeArrowheads="1"/>
            </p:cNvSpPr>
            <p:nvPr/>
          </p:nvSpPr>
          <p:spPr bwMode="auto">
            <a:xfrm>
              <a:off x="3731239" y="1972738"/>
              <a:ext cx="1038232" cy="412552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altLang="en-US" b="1" dirty="0"/>
                <a:t>XXX</a:t>
              </a:r>
            </a:p>
          </p:txBody>
        </p:sp>
        <p:sp>
          <p:nvSpPr>
            <p:cNvPr id="66" name="Text Box 39"/>
            <p:cNvSpPr txBox="1">
              <a:spLocks noChangeArrowheads="1"/>
            </p:cNvSpPr>
            <p:nvPr/>
          </p:nvSpPr>
          <p:spPr bwMode="auto">
            <a:xfrm>
              <a:off x="3495012" y="1404548"/>
              <a:ext cx="1510686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latin typeface="Courier New" pitchFamily="49" charset="0"/>
                </a:rPr>
                <a:t>Base Register</a:t>
              </a: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3061314" y="2295858"/>
            <a:ext cx="1510686" cy="980742"/>
            <a:chOff x="3495012" y="1404548"/>
            <a:chExt cx="1510686" cy="980742"/>
          </a:xfrm>
        </p:grpSpPr>
        <p:sp>
          <p:nvSpPr>
            <p:cNvPr id="68" name="Rectangle 38"/>
            <p:cNvSpPr>
              <a:spLocks noChangeArrowheads="1"/>
            </p:cNvSpPr>
            <p:nvPr/>
          </p:nvSpPr>
          <p:spPr bwMode="auto">
            <a:xfrm>
              <a:off x="3731239" y="1972738"/>
              <a:ext cx="1038232" cy="412552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altLang="en-US" b="1" dirty="0"/>
                <a:t>XXX</a:t>
              </a:r>
            </a:p>
          </p:txBody>
        </p:sp>
        <p:sp>
          <p:nvSpPr>
            <p:cNvPr id="69" name="Text Box 39"/>
            <p:cNvSpPr txBox="1">
              <a:spLocks noChangeArrowheads="1"/>
            </p:cNvSpPr>
            <p:nvPr/>
          </p:nvSpPr>
          <p:spPr bwMode="auto">
            <a:xfrm>
              <a:off x="3495012" y="1404548"/>
              <a:ext cx="1510686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latin typeface="Courier New" pitchFamily="49" charset="0"/>
                </a:rPr>
                <a:t>Limit Register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9717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C8F0E4-9A21-47CF-A150-A75ADE9211DC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3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Base + Limit: </a:t>
            </a:r>
            <a:r>
              <a:rPr lang="en-US" altLang="en-US" sz="3800" b="1" dirty="0"/>
              <a:t>Summary</a:t>
            </a:r>
          </a:p>
        </p:txBody>
      </p:sp>
      <p:sp>
        <p:nvSpPr>
          <p:cNvPr id="73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Problems:</a:t>
            </a:r>
          </a:p>
          <a:p>
            <a:pPr lvl="1"/>
            <a:r>
              <a:rPr lang="en-US" altLang="en-US" dirty="0"/>
              <a:t>To access address </a:t>
            </a:r>
            <a:r>
              <a:rPr lang="en-US" altLang="en-US" b="1" dirty="0" err="1">
                <a:solidFill>
                  <a:srgbClr val="66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Adr</a:t>
            </a:r>
            <a:r>
              <a:rPr lang="en-US" altLang="en-US" dirty="0"/>
              <a:t>:</a:t>
            </a:r>
          </a:p>
          <a:p>
            <a:pPr marL="1128712" lvl="2" indent="-457200">
              <a:buFont typeface="+mj-lt"/>
              <a:buAutoNum type="arabicPeriod"/>
            </a:pP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Actual</a:t>
            </a:r>
            <a:r>
              <a:rPr lang="en-US" altLang="en-US" b="1" dirty="0">
                <a:latin typeface="Courier New" pitchFamily="49" charset="0"/>
              </a:rPr>
              <a:t> = </a:t>
            </a:r>
            <a:r>
              <a:rPr lang="en-US" altLang="en-US" b="1" dirty="0">
                <a:solidFill>
                  <a:srgbClr val="006600"/>
                </a:solidFill>
                <a:latin typeface="Courier New" pitchFamily="49" charset="0"/>
              </a:rPr>
              <a:t>Base</a:t>
            </a:r>
            <a:r>
              <a:rPr lang="en-US" altLang="en-US" b="1" dirty="0">
                <a:latin typeface="Courier New" pitchFamily="49" charset="0"/>
              </a:rPr>
              <a:t> + </a:t>
            </a:r>
            <a:r>
              <a:rPr lang="en-US" altLang="en-US" b="1" dirty="0" err="1">
                <a:solidFill>
                  <a:srgbClr val="660066"/>
                </a:solidFill>
                <a:latin typeface="Courier New" pitchFamily="49" charset="0"/>
              </a:rPr>
              <a:t>Adr</a:t>
            </a:r>
            <a:endParaRPr lang="en-US" altLang="en-US" b="1" dirty="0">
              <a:solidFill>
                <a:srgbClr val="660066"/>
              </a:solidFill>
              <a:latin typeface="Courier New" pitchFamily="49" charset="0"/>
            </a:endParaRPr>
          </a:p>
          <a:p>
            <a:pPr marL="1128712" lvl="2" indent="-457200">
              <a:buFont typeface="+mj-lt"/>
              <a:buAutoNum type="arabicPeriod"/>
            </a:pPr>
            <a:r>
              <a:rPr lang="en-US" altLang="en-US" dirty="0"/>
              <a:t>Check 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Actual</a:t>
            </a:r>
            <a:r>
              <a:rPr lang="en-US" altLang="en-US" b="1" dirty="0">
                <a:latin typeface="Courier New" pitchFamily="49" charset="0"/>
              </a:rPr>
              <a:t> &lt;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Limit</a:t>
            </a:r>
            <a:r>
              <a:rPr lang="en-US" altLang="en-US" b="1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for validity </a:t>
            </a:r>
          </a:p>
          <a:p>
            <a:pPr marL="344487" lvl="1" indent="0">
              <a:buNone/>
            </a:pPr>
            <a:r>
              <a:rPr lang="en-US" altLang="en-US" dirty="0">
                <a:sym typeface="Wingdings" panose="05000000000000000000" pitchFamily="2" charset="2"/>
              </a:rPr>
              <a:t> </a:t>
            </a:r>
            <a:r>
              <a:rPr lang="en-US" altLang="en-US" dirty="0"/>
              <a:t>every memory access incurs an addition and a </a:t>
            </a:r>
            <a:br>
              <a:rPr lang="en-US" altLang="en-US" dirty="0"/>
            </a:br>
            <a:r>
              <a:rPr lang="en-US" altLang="en-US" dirty="0"/>
              <a:t>     comparison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dirty="0"/>
              <a:t>The idea is very useful:</a:t>
            </a:r>
          </a:p>
          <a:p>
            <a:pPr lvl="1"/>
            <a:r>
              <a:rPr lang="en-US" altLang="en-US" dirty="0"/>
              <a:t>Later generalized to </a:t>
            </a:r>
            <a:r>
              <a:rPr lang="en-US" altLang="en-US" b="1" dirty="0">
                <a:solidFill>
                  <a:srgbClr val="C00000"/>
                </a:solidFill>
              </a:rPr>
              <a:t>segmentation mechanism</a:t>
            </a:r>
          </a:p>
          <a:p>
            <a:pPr lvl="1"/>
            <a:r>
              <a:rPr lang="en-US" altLang="en-US" dirty="0"/>
              <a:t>Provides a </a:t>
            </a:r>
            <a:r>
              <a:rPr lang="en-US" altLang="en-US" b="1" dirty="0">
                <a:solidFill>
                  <a:srgbClr val="660066"/>
                </a:solidFill>
              </a:rPr>
              <a:t>crude memory abstraction</a:t>
            </a:r>
            <a:r>
              <a:rPr lang="en-US" altLang="en-US" dirty="0"/>
              <a:t>:</a:t>
            </a:r>
          </a:p>
          <a:p>
            <a:pPr lvl="2"/>
            <a:r>
              <a:rPr lang="en-US" altLang="en-US" dirty="0"/>
              <a:t>Address </a:t>
            </a:r>
            <a:r>
              <a:rPr lang="en-US" altLang="en-US" b="1" dirty="0">
                <a:latin typeface="Courier New" pitchFamily="49" charset="0"/>
              </a:rPr>
              <a:t>4096</a:t>
            </a:r>
            <a:r>
              <a:rPr lang="en-US" altLang="en-US" dirty="0"/>
              <a:t> in Process </a:t>
            </a:r>
            <a:r>
              <a:rPr lang="en-US" altLang="en-US" b="1" dirty="0">
                <a:latin typeface="Courier New" pitchFamily="49" charset="0"/>
              </a:rPr>
              <a:t>A</a:t>
            </a:r>
            <a:r>
              <a:rPr lang="en-US" altLang="en-US" dirty="0"/>
              <a:t> and </a:t>
            </a:r>
            <a:r>
              <a:rPr lang="en-US" altLang="en-US" b="1" dirty="0">
                <a:latin typeface="Courier New" pitchFamily="49" charset="0"/>
              </a:rPr>
              <a:t>B</a:t>
            </a:r>
            <a:r>
              <a:rPr lang="en-US" altLang="en-US" dirty="0"/>
              <a:t> are no longer the same physical location!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98860-F810-4679-AF3D-B0203565FF49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3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Memory Abstraction: </a:t>
            </a:r>
            <a:r>
              <a:rPr lang="en-US" altLang="en-US" sz="3800" b="1" dirty="0">
                <a:solidFill>
                  <a:srgbClr val="006600"/>
                </a:solidFill>
              </a:rPr>
              <a:t>Logical Address</a:t>
            </a:r>
          </a:p>
        </p:txBody>
      </p:sp>
      <p:sp>
        <p:nvSpPr>
          <p:cNvPr id="73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Embedding actual physical address in program is a </a:t>
            </a:r>
            <a:r>
              <a:rPr lang="en-US" altLang="en-US" b="1" dirty="0">
                <a:solidFill>
                  <a:srgbClr val="C00000"/>
                </a:solidFill>
              </a:rPr>
              <a:t>bad idea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>
                <a:sym typeface="Wingdings" panose="05000000000000000000" pitchFamily="2" charset="2"/>
              </a:rPr>
              <a:t>Give birth to the idea of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C00000"/>
                </a:solidFill>
              </a:rPr>
              <a:t>logical address</a:t>
            </a:r>
            <a:r>
              <a:rPr lang="en-US" altLang="en-US" b="1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Logical address == how the process view its memory space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Logical address != Physical address in general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Instead a mapping between logical address and physical address is needed</a:t>
            </a:r>
          </a:p>
          <a:p>
            <a:pPr marL="671512" lvl="2" indent="0">
              <a:lnSpc>
                <a:spcPct val="90000"/>
              </a:lnSpc>
              <a:buNone/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Each process has a self-contained, independent logical memory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7692" y="2057400"/>
            <a:ext cx="6553200" cy="1295400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66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sz="4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4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reg1</a:t>
            </a:r>
            <a:r>
              <a:rPr lang="en-US" sz="4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sz="4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1024</a:t>
            </a:r>
            <a:r>
              <a:rPr lang="en-US" sz="4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SG" sz="4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Isosceles Triangle 6"/>
          <p:cNvSpPr/>
          <p:nvPr/>
        </p:nvSpPr>
        <p:spPr>
          <a:xfrm>
            <a:off x="86106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Contiguous Memory </a:t>
            </a:r>
            <a:r>
              <a:rPr lang="en-US" altLang="en-US" dirty="0"/>
              <a:t>Management</a:t>
            </a:r>
          </a:p>
        </p:txBody>
      </p:sp>
      <p:sp>
        <p:nvSpPr>
          <p:cNvPr id="72602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Chunk of continuous addresses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D6D7B-56E0-48DE-8615-F854836813E9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3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Contiguous Memory Management</a:t>
            </a:r>
          </a:p>
        </p:txBody>
      </p:sp>
      <p:sp>
        <p:nvSpPr>
          <p:cNvPr id="73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13716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Process must be in memory during execution</a:t>
            </a:r>
          </a:p>
          <a:p>
            <a:pPr lvl="1">
              <a:lnSpc>
                <a:spcPct val="90000"/>
              </a:lnSpc>
            </a:pPr>
            <a:r>
              <a:rPr lang="en-US" altLang="en-US" b="1" i="1" dirty="0">
                <a:solidFill>
                  <a:srgbClr val="003300"/>
                </a:solidFill>
              </a:rPr>
              <a:t>Store Memory </a:t>
            </a:r>
            <a:r>
              <a:rPr lang="en-US" altLang="en-US" dirty="0"/>
              <a:t>concept</a:t>
            </a:r>
          </a:p>
          <a:p>
            <a:pPr lvl="1">
              <a:lnSpc>
                <a:spcPct val="90000"/>
              </a:lnSpc>
            </a:pPr>
            <a:r>
              <a:rPr lang="en-US" altLang="en-US" b="1" i="1" dirty="0">
                <a:solidFill>
                  <a:srgbClr val="660066"/>
                </a:solidFill>
              </a:rPr>
              <a:t>Load-Store Memory</a:t>
            </a:r>
            <a:r>
              <a:rPr lang="en-US" altLang="en-US" dirty="0"/>
              <a:t> execution model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dirty="0"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872491087"/>
              </p:ext>
            </p:extLst>
          </p:nvPr>
        </p:nvGraphicFramePr>
        <p:xfrm>
          <a:off x="533400" y="2209800"/>
          <a:ext cx="80772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E79E5D4-272E-49D3-8468-8B2108B88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graphicEl>
                                              <a:dgm id="{EE79E5D4-272E-49D3-8468-8B2108B88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graphicEl>
                                              <a:dgm id="{EE79E5D4-272E-49D3-8468-8B2108B88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 uiExpand="1">
        <p:bldSub>
          <a:bldDgm bld="one"/>
        </p:bldSub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B7D5C-54CE-477F-8412-1BC9D5415FC2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383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800" dirty="0"/>
              <a:t>Multitasking, Context Switching &amp; Swapping</a:t>
            </a:r>
          </a:p>
        </p:txBody>
      </p:sp>
      <p:sp>
        <p:nvSpPr>
          <p:cNvPr id="73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To support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b="1" dirty="0">
                <a:solidFill>
                  <a:srgbClr val="003300"/>
                </a:solidFill>
              </a:rPr>
              <a:t>multitasking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Allow multiple processes in the physical memory at the same time</a:t>
            </a:r>
          </a:p>
          <a:p>
            <a:pPr lvl="2"/>
            <a:r>
              <a:rPr lang="en-US" altLang="en-US" dirty="0"/>
              <a:t>So that we can switch from one process to another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dirty="0"/>
              <a:t>When the physical memory is </a:t>
            </a:r>
            <a:r>
              <a:rPr lang="en-US" altLang="en-US" b="1" dirty="0">
                <a:solidFill>
                  <a:srgbClr val="C00000"/>
                </a:solidFill>
              </a:rPr>
              <a:t>full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Free up memory by:</a:t>
            </a:r>
          </a:p>
          <a:p>
            <a:pPr lvl="2"/>
            <a:r>
              <a:rPr lang="en-US" altLang="en-US" dirty="0"/>
              <a:t>Removing terminated process</a:t>
            </a:r>
          </a:p>
          <a:p>
            <a:pPr lvl="2"/>
            <a:r>
              <a:rPr lang="en-US" altLang="en-US" dirty="0"/>
              <a:t>Swapping blocked process to secondary storage</a:t>
            </a:r>
          </a:p>
          <a:p>
            <a:pPr>
              <a:buFont typeface="Wingdings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2E396-016B-4983-BF4E-3F8A24E25F38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4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Memory Partitioning</a:t>
            </a:r>
          </a:p>
        </p:txBody>
      </p:sp>
      <p:sp>
        <p:nvSpPr>
          <p:cNvPr id="74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r>
              <a:rPr lang="en-US" altLang="en-US" b="1" dirty="0">
                <a:solidFill>
                  <a:srgbClr val="660066"/>
                </a:solidFill>
              </a:rPr>
              <a:t>Memory Partition</a:t>
            </a:r>
            <a:r>
              <a:rPr lang="en-US" altLang="en-US" b="1" dirty="0"/>
              <a:t>:</a:t>
            </a:r>
          </a:p>
          <a:p>
            <a:pPr lvl="1"/>
            <a:r>
              <a:rPr lang="en-US" altLang="en-US" dirty="0"/>
              <a:t>The contiguous memory region allocated to a single process</a:t>
            </a:r>
            <a:endParaRPr lang="en-US" altLang="en-US" b="1" dirty="0"/>
          </a:p>
          <a:p>
            <a:pPr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dirty="0"/>
              <a:t>Two allocation schemes: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altLang="en-US" b="1" dirty="0">
                <a:solidFill>
                  <a:srgbClr val="C00000"/>
                </a:solidFill>
              </a:rPr>
              <a:t>Fixed-Size Partition</a:t>
            </a:r>
          </a:p>
          <a:p>
            <a:pPr lvl="2"/>
            <a:r>
              <a:rPr lang="en-US" altLang="en-US" dirty="0"/>
              <a:t>Physical memory is split into fixed number of partitions</a:t>
            </a:r>
          </a:p>
          <a:p>
            <a:pPr lvl="2"/>
            <a:r>
              <a:rPr lang="en-US" altLang="en-US" dirty="0"/>
              <a:t>A process will occupy one of the partitions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altLang="en-US" b="1" dirty="0">
                <a:solidFill>
                  <a:srgbClr val="006600"/>
                </a:solidFill>
              </a:rPr>
              <a:t>Variable-Size Partition</a:t>
            </a:r>
          </a:p>
          <a:p>
            <a:pPr lvl="2"/>
            <a:r>
              <a:rPr lang="en-US" altLang="en-US" dirty="0"/>
              <a:t>Partition is created base on the actual size of process</a:t>
            </a:r>
          </a:p>
          <a:p>
            <a:pPr lvl="2"/>
            <a:r>
              <a:rPr lang="en-US" altLang="en-US" dirty="0"/>
              <a:t>OS keep track of the occupied and free memory regions </a:t>
            </a:r>
          </a:p>
          <a:p>
            <a:pPr lvl="3"/>
            <a:r>
              <a:rPr lang="en-US" altLang="en-US" dirty="0"/>
              <a:t>Perform splitting and merging when necessary</a:t>
            </a:r>
          </a:p>
          <a:p>
            <a:pPr lvl="2"/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8D1729-CC47-4D48-8E96-33A567939645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4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Fixed Partitioning</a:t>
            </a:r>
            <a:r>
              <a:rPr lang="en-US" altLang="en-US" sz="3800" dirty="0"/>
              <a:t>: Illustration</a:t>
            </a:r>
          </a:p>
        </p:txBody>
      </p:sp>
      <p:sp>
        <p:nvSpPr>
          <p:cNvPr id="36" name="Rectangle 59"/>
          <p:cNvSpPr>
            <a:spLocks noChangeArrowheads="1"/>
          </p:cNvSpPr>
          <p:nvPr/>
        </p:nvSpPr>
        <p:spPr bwMode="auto">
          <a:xfrm>
            <a:off x="3124200" y="990600"/>
            <a:ext cx="2286000" cy="4876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b="1" i="0">
                <a:solidFill>
                  <a:schemeClr val="tx2"/>
                </a:solidFill>
                <a:latin typeface="Courier New" pitchFamily="49" charset="0"/>
              </a:rPr>
              <a:t> Free Memory</a:t>
            </a:r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auto">
          <a:xfrm>
            <a:off x="3124200" y="5867400"/>
            <a:ext cx="2286000" cy="5334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000" b="1" i="0">
                <a:latin typeface="Courier New" pitchFamily="49" charset="0"/>
              </a:rPr>
              <a:t>OS</a:t>
            </a:r>
          </a:p>
        </p:txBody>
      </p:sp>
      <p:grpSp>
        <p:nvGrpSpPr>
          <p:cNvPr id="38" name="Group 58"/>
          <p:cNvGrpSpPr>
            <a:grpSpLocks/>
          </p:cNvGrpSpPr>
          <p:nvPr/>
        </p:nvGrpSpPr>
        <p:grpSpPr bwMode="auto">
          <a:xfrm>
            <a:off x="3124200" y="990600"/>
            <a:ext cx="2286000" cy="4876800"/>
            <a:chOff x="288" y="672"/>
            <a:chExt cx="912" cy="3072"/>
          </a:xfrm>
        </p:grpSpPr>
        <p:sp>
          <p:nvSpPr>
            <p:cNvPr id="39" name="Rectangle 4"/>
            <p:cNvSpPr>
              <a:spLocks noChangeArrowheads="1"/>
            </p:cNvSpPr>
            <p:nvPr/>
          </p:nvSpPr>
          <p:spPr bwMode="auto">
            <a:xfrm>
              <a:off x="288" y="672"/>
              <a:ext cx="912" cy="7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2000" b="1" i="0">
                  <a:latin typeface="Courier New" pitchFamily="49" charset="0"/>
                </a:rPr>
                <a:t> Partition 4</a:t>
              </a:r>
            </a:p>
          </p:txBody>
        </p:sp>
        <p:sp>
          <p:nvSpPr>
            <p:cNvPr id="40" name="Rectangle 30"/>
            <p:cNvSpPr>
              <a:spLocks noChangeArrowheads="1"/>
            </p:cNvSpPr>
            <p:nvPr/>
          </p:nvSpPr>
          <p:spPr bwMode="auto">
            <a:xfrm>
              <a:off x="288" y="1440"/>
              <a:ext cx="912" cy="7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2000" b="1" i="0">
                  <a:latin typeface="Courier New" pitchFamily="49" charset="0"/>
                </a:rPr>
                <a:t> Partition 3</a:t>
              </a:r>
            </a:p>
          </p:txBody>
        </p:sp>
        <p:sp>
          <p:nvSpPr>
            <p:cNvPr id="41" name="Rectangle 31"/>
            <p:cNvSpPr>
              <a:spLocks noChangeArrowheads="1"/>
            </p:cNvSpPr>
            <p:nvPr/>
          </p:nvSpPr>
          <p:spPr bwMode="auto">
            <a:xfrm>
              <a:off x="288" y="2208"/>
              <a:ext cx="912" cy="7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2000" b="1" i="0">
                  <a:latin typeface="Courier New" pitchFamily="49" charset="0"/>
                </a:rPr>
                <a:t> Partition 2</a:t>
              </a:r>
            </a:p>
          </p:txBody>
        </p:sp>
        <p:sp>
          <p:nvSpPr>
            <p:cNvPr id="42" name="Rectangle 32"/>
            <p:cNvSpPr>
              <a:spLocks noChangeArrowheads="1"/>
            </p:cNvSpPr>
            <p:nvPr/>
          </p:nvSpPr>
          <p:spPr bwMode="auto">
            <a:xfrm>
              <a:off x="288" y="2976"/>
              <a:ext cx="912" cy="7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2000" b="1" i="0">
                  <a:latin typeface="Courier New" pitchFamily="49" charset="0"/>
                </a:rPr>
                <a:t> Partition 1</a:t>
              </a:r>
            </a:p>
          </p:txBody>
        </p:sp>
      </p:grpSp>
      <p:sp>
        <p:nvSpPr>
          <p:cNvPr id="43" name="Rectangle 37" descr="Wide downward diagonal"/>
          <p:cNvSpPr>
            <a:spLocks noChangeArrowheads="1"/>
          </p:cNvSpPr>
          <p:nvPr/>
        </p:nvSpPr>
        <p:spPr bwMode="auto">
          <a:xfrm>
            <a:off x="3124200" y="4648200"/>
            <a:ext cx="2286000" cy="1219200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 Partition 1</a:t>
            </a:r>
          </a:p>
        </p:txBody>
      </p:sp>
      <p:sp>
        <p:nvSpPr>
          <p:cNvPr id="44" name="Rectangle 3"/>
          <p:cNvSpPr>
            <a:spLocks noChangeArrowheads="1"/>
          </p:cNvSpPr>
          <p:nvPr/>
        </p:nvSpPr>
        <p:spPr bwMode="auto">
          <a:xfrm>
            <a:off x="3124200" y="4876800"/>
            <a:ext cx="2286000" cy="9906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Process A</a:t>
            </a:r>
          </a:p>
        </p:txBody>
      </p:sp>
      <p:sp>
        <p:nvSpPr>
          <p:cNvPr id="45" name="Rectangle 41" descr="Wide downward diagonal"/>
          <p:cNvSpPr>
            <a:spLocks noChangeArrowheads="1"/>
          </p:cNvSpPr>
          <p:nvPr/>
        </p:nvSpPr>
        <p:spPr bwMode="auto">
          <a:xfrm>
            <a:off x="3124200" y="3429000"/>
            <a:ext cx="2286000" cy="1219200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 </a:t>
            </a:r>
          </a:p>
        </p:txBody>
      </p:sp>
      <p:sp>
        <p:nvSpPr>
          <p:cNvPr id="46" name="Rectangle 44"/>
          <p:cNvSpPr>
            <a:spLocks noChangeArrowheads="1"/>
          </p:cNvSpPr>
          <p:nvPr/>
        </p:nvSpPr>
        <p:spPr bwMode="auto">
          <a:xfrm>
            <a:off x="3124200" y="3962400"/>
            <a:ext cx="2286000" cy="6858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Process 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3" grpId="1" animBg="1"/>
      <p:bldP spid="44" grpId="0" animBg="1"/>
      <p:bldP spid="44" grpId="1" animBg="1"/>
      <p:bldP spid="45" grpId="0" animBg="1"/>
      <p:bldP spid="4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98D143-F5EC-407E-A4F0-DA9DB6B6B10C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4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Fixed Partitioning</a:t>
            </a:r>
            <a:r>
              <a:rPr lang="en-US" altLang="en-US" sz="3800" dirty="0">
                <a:solidFill>
                  <a:schemeClr val="tx1"/>
                </a:solidFill>
              </a:rPr>
              <a:t>:</a:t>
            </a:r>
            <a:r>
              <a:rPr lang="en-US" altLang="en-US" sz="3800" dirty="0">
                <a:solidFill>
                  <a:srgbClr val="FF0000"/>
                </a:solidFill>
              </a:rPr>
              <a:t> </a:t>
            </a:r>
            <a:r>
              <a:rPr lang="en-US" altLang="en-US" sz="3800" b="1" dirty="0">
                <a:solidFill>
                  <a:srgbClr val="C00000"/>
                </a:solidFill>
              </a:rPr>
              <a:t>Summary</a:t>
            </a:r>
          </a:p>
        </p:txBody>
      </p:sp>
      <p:sp>
        <p:nvSpPr>
          <p:cNvPr id="74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If a process does not occupy the whole partition: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Any left over space is wasted!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660066"/>
                </a:solidFill>
              </a:rPr>
              <a:t>internal fragmentation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Easy to manage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 to allocate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Every free partition is the same </a:t>
            </a:r>
            <a:r>
              <a:rPr lang="en-US" altLang="en-US" dirty="0">
                <a:sym typeface="Wingdings" pitchFamily="2" charset="2"/>
              </a:rPr>
              <a:t> </a:t>
            </a:r>
            <a:r>
              <a:rPr lang="en-US" altLang="en-US" dirty="0"/>
              <a:t>No need to choose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Partition size need be large enough to contain the largest of the processes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Smaller process will waste memory space </a:t>
            </a:r>
            <a:r>
              <a:rPr lang="en-US" altLang="en-US" dirty="0">
                <a:sym typeface="Wingdings" pitchFamily="2" charset="2"/>
              </a:rPr>
              <a:t> internal fragmentation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EBE5F-A4D2-46A4-BB5F-460B39CDA333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3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3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Dynamic Partitioning</a:t>
            </a:r>
            <a:r>
              <a:rPr lang="en-US" altLang="en-US" sz="3800" dirty="0"/>
              <a:t>: Illustration</a:t>
            </a:r>
          </a:p>
        </p:txBody>
      </p:sp>
      <p:sp>
        <p:nvSpPr>
          <p:cNvPr id="32" name="Rectangle 39"/>
          <p:cNvSpPr>
            <a:spLocks noChangeArrowheads="1"/>
          </p:cNvSpPr>
          <p:nvPr/>
        </p:nvSpPr>
        <p:spPr bwMode="auto">
          <a:xfrm>
            <a:off x="3124200" y="1219200"/>
            <a:ext cx="2209800" cy="411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Free Memory</a:t>
            </a:r>
          </a:p>
        </p:txBody>
      </p:sp>
      <p:sp>
        <p:nvSpPr>
          <p:cNvPr id="33" name="Rectangle 4"/>
          <p:cNvSpPr>
            <a:spLocks noChangeArrowheads="1"/>
          </p:cNvSpPr>
          <p:nvPr/>
        </p:nvSpPr>
        <p:spPr bwMode="auto">
          <a:xfrm>
            <a:off x="3124200" y="4114800"/>
            <a:ext cx="2209800" cy="12192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b="1">
                <a:latin typeface="Courier New" pitchFamily="49" charset="0"/>
              </a:rPr>
              <a:t>Process A</a:t>
            </a:r>
          </a:p>
        </p:txBody>
      </p:sp>
      <p:sp>
        <p:nvSpPr>
          <p:cNvPr id="34" name="Rectangle 5"/>
          <p:cNvSpPr>
            <a:spLocks noChangeArrowheads="1"/>
          </p:cNvSpPr>
          <p:nvPr/>
        </p:nvSpPr>
        <p:spPr bwMode="auto">
          <a:xfrm>
            <a:off x="3124200" y="1219200"/>
            <a:ext cx="2209800" cy="2895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Free Memory</a:t>
            </a:r>
          </a:p>
        </p:txBody>
      </p:sp>
      <p:sp>
        <p:nvSpPr>
          <p:cNvPr id="35" name="Rectangle 6"/>
          <p:cNvSpPr>
            <a:spLocks noChangeArrowheads="1"/>
          </p:cNvSpPr>
          <p:nvPr/>
        </p:nvSpPr>
        <p:spPr bwMode="auto">
          <a:xfrm>
            <a:off x="3124200" y="5334000"/>
            <a:ext cx="2209800" cy="5334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OS</a:t>
            </a:r>
          </a:p>
        </p:txBody>
      </p:sp>
      <p:sp>
        <p:nvSpPr>
          <p:cNvPr id="36" name="Rectangle 10"/>
          <p:cNvSpPr>
            <a:spLocks noChangeArrowheads="1"/>
          </p:cNvSpPr>
          <p:nvPr/>
        </p:nvSpPr>
        <p:spPr bwMode="auto">
          <a:xfrm>
            <a:off x="3124200" y="3429000"/>
            <a:ext cx="2209800" cy="6858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Process B</a:t>
            </a:r>
          </a:p>
        </p:txBody>
      </p:sp>
      <p:sp>
        <p:nvSpPr>
          <p:cNvPr id="37" name="Rectangle 15"/>
          <p:cNvSpPr>
            <a:spLocks noChangeArrowheads="1"/>
          </p:cNvSpPr>
          <p:nvPr/>
        </p:nvSpPr>
        <p:spPr bwMode="auto">
          <a:xfrm>
            <a:off x="3124200" y="1828800"/>
            <a:ext cx="2209800" cy="16002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Process C</a:t>
            </a:r>
          </a:p>
        </p:txBody>
      </p:sp>
      <p:sp>
        <p:nvSpPr>
          <p:cNvPr id="38" name="Rectangle 21"/>
          <p:cNvSpPr>
            <a:spLocks noChangeArrowheads="1"/>
          </p:cNvSpPr>
          <p:nvPr/>
        </p:nvSpPr>
        <p:spPr bwMode="auto">
          <a:xfrm>
            <a:off x="3124200" y="4114800"/>
            <a:ext cx="22098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b="1" i="0" dirty="0">
                <a:latin typeface="Courier New" pitchFamily="49" charset="0"/>
              </a:rPr>
              <a:t>Free Memory</a:t>
            </a:r>
          </a:p>
        </p:txBody>
      </p:sp>
      <p:grpSp>
        <p:nvGrpSpPr>
          <p:cNvPr id="39" name="Group 40"/>
          <p:cNvGrpSpPr>
            <a:grpSpLocks/>
          </p:cNvGrpSpPr>
          <p:nvPr/>
        </p:nvGrpSpPr>
        <p:grpSpPr bwMode="auto">
          <a:xfrm>
            <a:off x="3124200" y="4114800"/>
            <a:ext cx="2209800" cy="1219200"/>
            <a:chOff x="4656" y="2640"/>
            <a:chExt cx="720" cy="768"/>
          </a:xfrm>
        </p:grpSpPr>
        <p:sp>
          <p:nvSpPr>
            <p:cNvPr id="40" name="Rectangle 26"/>
            <p:cNvSpPr>
              <a:spLocks noChangeArrowheads="1"/>
            </p:cNvSpPr>
            <p:nvPr/>
          </p:nvSpPr>
          <p:spPr bwMode="auto">
            <a:xfrm>
              <a:off x="4656" y="2640"/>
              <a:ext cx="72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2000" b="1" i="0">
                  <a:latin typeface="Courier New" pitchFamily="49" charset="0"/>
                </a:rPr>
                <a:t>Free Memory</a:t>
              </a:r>
            </a:p>
          </p:txBody>
        </p:sp>
        <p:sp>
          <p:nvSpPr>
            <p:cNvPr id="41" name="Rectangle 32"/>
            <p:cNvSpPr>
              <a:spLocks noChangeArrowheads="1"/>
            </p:cNvSpPr>
            <p:nvPr/>
          </p:nvSpPr>
          <p:spPr bwMode="auto">
            <a:xfrm>
              <a:off x="4656" y="2928"/>
              <a:ext cx="720" cy="480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5000"/>
                    <a:lumOff val="95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2000" b="1" i="0" dirty="0">
                  <a:latin typeface="Courier New" pitchFamily="49" charset="0"/>
                </a:rPr>
                <a:t>Process D</a:t>
              </a:r>
            </a:p>
          </p:txBody>
        </p:sp>
      </p:grpSp>
      <p:sp>
        <p:nvSpPr>
          <p:cNvPr id="15" name="Rectangle 26"/>
          <p:cNvSpPr>
            <a:spLocks noChangeArrowheads="1"/>
          </p:cNvSpPr>
          <p:nvPr/>
        </p:nvSpPr>
        <p:spPr bwMode="auto">
          <a:xfrm>
            <a:off x="3124200" y="1219200"/>
            <a:ext cx="22098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Free Memory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34" grpId="0" animBg="1"/>
      <p:bldP spid="36" grpId="0" animBg="1"/>
      <p:bldP spid="37" grpId="0" animBg="1"/>
      <p:bldP spid="38" grpId="0" animBg="1"/>
      <p:bldP spid="1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30FDF1-C70D-4FB2-BD65-06B3E900D018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4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Dynamic Partitioning: </a:t>
            </a:r>
            <a:r>
              <a:rPr lang="en-US" altLang="en-US" sz="3800" b="1" dirty="0">
                <a:solidFill>
                  <a:srgbClr val="C00000"/>
                </a:solidFill>
              </a:rPr>
              <a:t>Summary</a:t>
            </a:r>
          </a:p>
        </p:txBody>
      </p:sp>
      <p:sp>
        <p:nvSpPr>
          <p:cNvPr id="74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With process creation/termination/swapping: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dirty="0">
                <a:sym typeface="Wingdings" pitchFamily="2" charset="2"/>
              </a:rPr>
              <a:t>	 tend </a:t>
            </a:r>
            <a:r>
              <a:rPr lang="en-US" altLang="en-US" dirty="0"/>
              <a:t>to have a large number of holes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660066"/>
                </a:solidFill>
              </a:rPr>
              <a:t>external fragmentation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Merging the holes is possible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Flexible and remove internal fragmentation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Need to maintain more information in OS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Takes more time to locate appropriate region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DFECEF-D394-4575-BA6E-1528E18CECD0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4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400" dirty="0"/>
              <a:t>Dynamic Partitioning: </a:t>
            </a:r>
            <a:r>
              <a:rPr lang="en-US" altLang="en-US" sz="3400" b="1" dirty="0">
                <a:solidFill>
                  <a:srgbClr val="C00000"/>
                </a:solidFill>
              </a:rPr>
              <a:t>Allocation Algorithms</a:t>
            </a:r>
          </a:p>
        </p:txBody>
      </p:sp>
      <p:sp>
        <p:nvSpPr>
          <p:cNvPr id="74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Assuming the OS maintain a list of partitions and holes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Algorithm to locate partition of size </a:t>
            </a:r>
            <a:r>
              <a:rPr lang="en-US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N</a:t>
            </a:r>
            <a:r>
              <a:rPr lang="en-US" altLang="en-US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Search for hole with size </a:t>
            </a:r>
            <a:r>
              <a:rPr lang="en-US" alt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anose="02070309020205020404" pitchFamily="49" charset="0"/>
              </a:rPr>
              <a:t>M</a:t>
            </a:r>
            <a:r>
              <a:rPr lang="en-US" altLang="en-US" sz="30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anose="02070309020205020404" pitchFamily="49" charset="0"/>
              </a:rPr>
              <a:t>&gt;</a:t>
            </a: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0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anose="02070309020205020404" pitchFamily="49" charset="0"/>
              </a:rPr>
              <a:t>N</a:t>
            </a:r>
            <a:r>
              <a:rPr lang="en-US" altLang="en-US" dirty="0"/>
              <a:t>. Several variants:</a:t>
            </a:r>
          </a:p>
          <a:p>
            <a:pPr marL="1128712" lvl="2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b="1" dirty="0">
                <a:solidFill>
                  <a:srgbClr val="660066"/>
                </a:solidFill>
              </a:rPr>
              <a:t>First-Fit: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Take the first hole that is large enough</a:t>
            </a:r>
          </a:p>
          <a:p>
            <a:pPr marL="1128712" lvl="2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b="1" dirty="0">
                <a:solidFill>
                  <a:srgbClr val="006600"/>
                </a:solidFill>
              </a:rPr>
              <a:t>Best-Fit: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Find the smallest hole that is large enough</a:t>
            </a:r>
          </a:p>
          <a:p>
            <a:pPr marL="1128712" lvl="2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b="1" dirty="0">
                <a:solidFill>
                  <a:srgbClr val="C00000"/>
                </a:solidFill>
              </a:rPr>
              <a:t>Worst-Fit: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Find the largest hole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Split the hole into</a:t>
            </a:r>
            <a:r>
              <a:rPr lang="en-US" altLang="en-US" sz="3000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  <a:r>
              <a:rPr lang="en-US" altLang="en-US" sz="2800" b="1" dirty="0">
                <a:solidFill>
                  <a:srgbClr val="0033CC"/>
                </a:solidFill>
                <a:latin typeface="Courier New" pitchFamily="49" charset="0"/>
              </a:rPr>
              <a:t>N</a:t>
            </a:r>
            <a:r>
              <a:rPr lang="en-US" altLang="en-US" dirty="0"/>
              <a:t> and </a:t>
            </a:r>
            <a:r>
              <a:rPr lang="en-US" altLang="en-US" sz="2800" b="1" dirty="0">
                <a:solidFill>
                  <a:srgbClr val="0033CC"/>
                </a:solidFill>
                <a:latin typeface="Courier New" pitchFamily="49" charset="0"/>
              </a:rPr>
              <a:t>M-N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N</a:t>
            </a:r>
            <a:r>
              <a:rPr lang="en-US" altLang="en-US" dirty="0"/>
              <a:t> will be the new partition</a:t>
            </a:r>
          </a:p>
          <a:p>
            <a:pPr lvl="2">
              <a:lnSpc>
                <a:spcPct val="90000"/>
              </a:lnSpc>
            </a:pPr>
            <a:r>
              <a:rPr lang="en-US" altLang="en-US" sz="2000" b="1" dirty="0">
                <a:solidFill>
                  <a:srgbClr val="0033CC"/>
                </a:solidFill>
                <a:latin typeface="Courier New" pitchFamily="49" charset="0"/>
              </a:rPr>
              <a:t>M-N</a:t>
            </a:r>
            <a:r>
              <a:rPr lang="en-US" altLang="en-US" dirty="0"/>
              <a:t> will be the left over space </a:t>
            </a:r>
            <a:r>
              <a:rPr lang="en-US" altLang="en-US" dirty="0">
                <a:sym typeface="Wingdings" pitchFamily="2" charset="2"/>
              </a:rPr>
              <a:t> a </a:t>
            </a:r>
            <a:r>
              <a:rPr lang="en-US" altLang="en-US" b="1" u="sng" dirty="0">
                <a:sym typeface="Wingdings" pitchFamily="2" charset="2"/>
              </a:rPr>
              <a:t>new hole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714500" y="3200400"/>
            <a:ext cx="5181600" cy="941386"/>
            <a:chOff x="1714500" y="2804615"/>
            <a:chExt cx="5181600" cy="941386"/>
          </a:xfrm>
        </p:grpSpPr>
        <p:grpSp>
          <p:nvGrpSpPr>
            <p:cNvPr id="8" name="Group 7"/>
            <p:cNvGrpSpPr/>
            <p:nvPr/>
          </p:nvGrpSpPr>
          <p:grpSpPr>
            <a:xfrm>
              <a:off x="2247900" y="3276600"/>
              <a:ext cx="4648200" cy="469401"/>
              <a:chOff x="1752600" y="2902993"/>
              <a:chExt cx="4648200" cy="469401"/>
            </a:xfrm>
          </p:grpSpPr>
          <p:sp>
            <p:nvSpPr>
              <p:cNvPr id="14" name="Rectangle 71"/>
              <p:cNvSpPr>
                <a:spLocks noChangeArrowheads="1"/>
              </p:cNvSpPr>
              <p:nvPr/>
            </p:nvSpPr>
            <p:spPr bwMode="auto">
              <a:xfrm>
                <a:off x="1752600" y="2902993"/>
                <a:ext cx="762000" cy="4572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3200" b="1" i="0" dirty="0"/>
                  <a:t>3</a:t>
                </a:r>
              </a:p>
            </p:txBody>
          </p:sp>
          <p:sp>
            <p:nvSpPr>
              <p:cNvPr id="15" name="Rectangle 71"/>
              <p:cNvSpPr>
                <a:spLocks noChangeArrowheads="1"/>
              </p:cNvSpPr>
              <p:nvPr/>
            </p:nvSpPr>
            <p:spPr bwMode="auto">
              <a:xfrm>
                <a:off x="3048000" y="2902993"/>
                <a:ext cx="762000" cy="4572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3200" b="1" i="0" dirty="0"/>
                  <a:t>8</a:t>
                </a:r>
              </a:p>
            </p:txBody>
          </p:sp>
          <p:sp>
            <p:nvSpPr>
              <p:cNvPr id="16" name="Line 32"/>
              <p:cNvSpPr>
                <a:spLocks noChangeShapeType="1"/>
              </p:cNvSpPr>
              <p:nvPr/>
            </p:nvSpPr>
            <p:spPr bwMode="auto">
              <a:xfrm>
                <a:off x="2514600" y="3124200"/>
                <a:ext cx="5334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SG" sz="3200"/>
              </a:p>
            </p:txBody>
          </p:sp>
          <p:sp>
            <p:nvSpPr>
              <p:cNvPr id="17" name="Rectangle 71"/>
              <p:cNvSpPr>
                <a:spLocks noChangeArrowheads="1"/>
              </p:cNvSpPr>
              <p:nvPr/>
            </p:nvSpPr>
            <p:spPr bwMode="auto">
              <a:xfrm>
                <a:off x="4343400" y="2902993"/>
                <a:ext cx="762000" cy="4572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3200" b="1" i="0" dirty="0"/>
                  <a:t>7</a:t>
                </a:r>
              </a:p>
            </p:txBody>
          </p:sp>
          <p:sp>
            <p:nvSpPr>
              <p:cNvPr id="18" name="Line 32"/>
              <p:cNvSpPr>
                <a:spLocks noChangeShapeType="1"/>
              </p:cNvSpPr>
              <p:nvPr/>
            </p:nvSpPr>
            <p:spPr bwMode="auto">
              <a:xfrm>
                <a:off x="3810000" y="3150325"/>
                <a:ext cx="5334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SG" sz="3200"/>
              </a:p>
            </p:txBody>
          </p:sp>
          <p:sp>
            <p:nvSpPr>
              <p:cNvPr id="19" name="Rectangle 71"/>
              <p:cNvSpPr>
                <a:spLocks noChangeArrowheads="1"/>
              </p:cNvSpPr>
              <p:nvPr/>
            </p:nvSpPr>
            <p:spPr bwMode="auto">
              <a:xfrm>
                <a:off x="5638800" y="2915194"/>
                <a:ext cx="762000" cy="4572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3200" b="1" i="0" dirty="0"/>
                  <a:t>11</a:t>
                </a:r>
              </a:p>
            </p:txBody>
          </p:sp>
          <p:sp>
            <p:nvSpPr>
              <p:cNvPr id="20" name="Line 32"/>
              <p:cNvSpPr>
                <a:spLocks noChangeShapeType="1"/>
              </p:cNvSpPr>
              <p:nvPr/>
            </p:nvSpPr>
            <p:spPr bwMode="auto">
              <a:xfrm>
                <a:off x="5105400" y="3143794"/>
                <a:ext cx="5334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SG" sz="3200"/>
              </a:p>
            </p:txBody>
          </p:sp>
        </p:grpSp>
        <p:sp>
          <p:nvSpPr>
            <p:cNvPr id="9" name="Line 32"/>
            <p:cNvSpPr>
              <a:spLocks noChangeShapeType="1"/>
            </p:cNvSpPr>
            <p:nvPr/>
          </p:nvSpPr>
          <p:spPr bwMode="auto">
            <a:xfrm>
              <a:off x="1714500" y="3523932"/>
              <a:ext cx="5334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 sz="3200"/>
            </a:p>
          </p:txBody>
        </p:sp>
        <p:sp>
          <p:nvSpPr>
            <p:cNvPr id="10" name="Rectangle 71"/>
            <p:cNvSpPr>
              <a:spLocks noChangeArrowheads="1"/>
            </p:cNvSpPr>
            <p:nvPr/>
          </p:nvSpPr>
          <p:spPr bwMode="auto">
            <a:xfrm>
              <a:off x="2247900" y="2804615"/>
              <a:ext cx="762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3200" b="1" i="0" dirty="0"/>
                <a:t>A</a:t>
              </a:r>
            </a:p>
          </p:txBody>
        </p:sp>
        <p:sp>
          <p:nvSpPr>
            <p:cNvPr id="11" name="Rectangle 71"/>
            <p:cNvSpPr>
              <a:spLocks noChangeArrowheads="1"/>
            </p:cNvSpPr>
            <p:nvPr/>
          </p:nvSpPr>
          <p:spPr bwMode="auto">
            <a:xfrm>
              <a:off x="3543300" y="2804615"/>
              <a:ext cx="762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3200" b="1" i="0" dirty="0"/>
                <a:t>B</a:t>
              </a:r>
            </a:p>
          </p:txBody>
        </p:sp>
        <p:sp>
          <p:nvSpPr>
            <p:cNvPr id="12" name="Rectangle 71"/>
            <p:cNvSpPr>
              <a:spLocks noChangeArrowheads="1"/>
            </p:cNvSpPr>
            <p:nvPr/>
          </p:nvSpPr>
          <p:spPr bwMode="auto">
            <a:xfrm>
              <a:off x="4838700" y="2804615"/>
              <a:ext cx="762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3200" b="1" i="0" dirty="0"/>
                <a:t>C</a:t>
              </a:r>
            </a:p>
          </p:txBody>
        </p:sp>
        <p:sp>
          <p:nvSpPr>
            <p:cNvPr id="13" name="Rectangle 71"/>
            <p:cNvSpPr>
              <a:spLocks noChangeArrowheads="1"/>
            </p:cNvSpPr>
            <p:nvPr/>
          </p:nvSpPr>
          <p:spPr bwMode="auto">
            <a:xfrm>
              <a:off x="6134100" y="2816816"/>
              <a:ext cx="762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3200" b="1" i="0" dirty="0"/>
                <a:t>D</a:t>
              </a:r>
            </a:p>
          </p:txBody>
        </p:sp>
      </p:grpSp>
      <p:sp>
        <p:nvSpPr>
          <p:cNvPr id="21" name="Isosceles Triangle 20"/>
          <p:cNvSpPr/>
          <p:nvPr/>
        </p:nvSpPr>
        <p:spPr>
          <a:xfrm>
            <a:off x="86106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39234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0B6316-43F6-41A5-B273-A2A83504CCD1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4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Dynamic Partitioning: </a:t>
            </a:r>
            <a:r>
              <a:rPr lang="en-US" altLang="en-US" sz="3200" b="1" dirty="0">
                <a:solidFill>
                  <a:srgbClr val="660066"/>
                </a:solidFill>
              </a:rPr>
              <a:t>Merging</a:t>
            </a:r>
            <a:r>
              <a:rPr lang="en-US" altLang="en-US" sz="3200" dirty="0"/>
              <a:t> and </a:t>
            </a:r>
            <a:r>
              <a:rPr lang="en-US" altLang="en-US" sz="3200" b="1" dirty="0">
                <a:solidFill>
                  <a:srgbClr val="C00000"/>
                </a:solidFill>
              </a:rPr>
              <a:t>Compaction</a:t>
            </a:r>
          </a:p>
        </p:txBody>
      </p:sp>
      <p:sp>
        <p:nvSpPr>
          <p:cNvPr id="74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When an occupied partition is freed:</a:t>
            </a:r>
          </a:p>
          <a:p>
            <a:pPr lvl="1"/>
            <a:r>
              <a:rPr lang="en-US" altLang="en-US" b="1" dirty="0">
                <a:solidFill>
                  <a:srgbClr val="660066"/>
                </a:solidFill>
              </a:rPr>
              <a:t>Merge</a:t>
            </a:r>
            <a:r>
              <a:rPr lang="en-US" altLang="en-US" dirty="0"/>
              <a:t> with adjacent hole if possible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rgbClr val="C00000"/>
                </a:solidFill>
              </a:rPr>
              <a:t>Compaction</a:t>
            </a:r>
            <a:r>
              <a:rPr lang="en-US" altLang="en-US" dirty="0"/>
              <a:t> can also be used:</a:t>
            </a:r>
          </a:p>
          <a:p>
            <a:pPr lvl="1"/>
            <a:r>
              <a:rPr lang="en-US" altLang="en-US" dirty="0"/>
              <a:t>Move the occupied partition around to create consolidate holes</a:t>
            </a:r>
          </a:p>
          <a:p>
            <a:pPr marL="344487" lvl="1" indent="0">
              <a:buNone/>
            </a:pPr>
            <a:endParaRPr lang="en-US" altLang="en-US" dirty="0"/>
          </a:p>
          <a:p>
            <a:pPr lvl="1"/>
            <a:r>
              <a:rPr lang="en-US" altLang="en-US" dirty="0"/>
              <a:t>Cannot be invoked too frequently as it is very time consuming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4AA621-B735-45D8-B781-46551B5BC7C4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4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4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Dynamic Partitioning in Action: </a:t>
            </a:r>
            <a:r>
              <a:rPr lang="en-US" altLang="en-US" sz="3800" b="1" dirty="0"/>
              <a:t>Example</a:t>
            </a:r>
          </a:p>
        </p:txBody>
      </p:sp>
      <p:sp>
        <p:nvSpPr>
          <p:cNvPr id="74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914400"/>
          </a:xfrm>
        </p:spPr>
        <p:txBody>
          <a:bodyPr/>
          <a:lstStyle/>
          <a:p>
            <a:r>
              <a:rPr lang="en-US" altLang="en-US" sz="2600" dirty="0"/>
              <a:t>OS maintains a linked list for partition info</a:t>
            </a:r>
          </a:p>
          <a:p>
            <a:pPr lvl="1"/>
            <a:r>
              <a:rPr lang="en-US" altLang="en-US" sz="2200" b="1" dirty="0"/>
              <a:t>First-Fit </a:t>
            </a:r>
            <a:r>
              <a:rPr lang="en-US" altLang="en-US" sz="2200" dirty="0"/>
              <a:t>algorithm is used</a:t>
            </a:r>
          </a:p>
        </p:txBody>
      </p:sp>
      <p:grpSp>
        <p:nvGrpSpPr>
          <p:cNvPr id="41" name="Group 4"/>
          <p:cNvGrpSpPr>
            <a:grpSpLocks/>
          </p:cNvGrpSpPr>
          <p:nvPr/>
        </p:nvGrpSpPr>
        <p:grpSpPr bwMode="auto">
          <a:xfrm>
            <a:off x="838200" y="4495800"/>
            <a:ext cx="2514600" cy="457200"/>
            <a:chOff x="1536" y="1824"/>
            <a:chExt cx="1584" cy="288"/>
          </a:xfrm>
        </p:grpSpPr>
        <p:sp>
          <p:nvSpPr>
            <p:cNvPr id="42" name="Rectangle 5"/>
            <p:cNvSpPr>
              <a:spLocks noChangeArrowheads="1"/>
            </p:cNvSpPr>
            <p:nvPr/>
          </p:nvSpPr>
          <p:spPr bwMode="auto">
            <a:xfrm>
              <a:off x="1536" y="1824"/>
              <a:ext cx="33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b="1" i="0" dirty="0"/>
                <a:t>F</a:t>
              </a:r>
            </a:p>
          </p:txBody>
        </p:sp>
        <p:sp>
          <p:nvSpPr>
            <p:cNvPr id="43" name="Rectangle 6"/>
            <p:cNvSpPr>
              <a:spLocks noChangeArrowheads="1"/>
            </p:cNvSpPr>
            <p:nvPr/>
          </p:nvSpPr>
          <p:spPr bwMode="auto">
            <a:xfrm>
              <a:off x="1872" y="1824"/>
              <a:ext cx="480" cy="2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/>
                <a:t>256</a:t>
              </a:r>
            </a:p>
          </p:txBody>
        </p:sp>
        <p:sp>
          <p:nvSpPr>
            <p:cNvPr id="44" name="Rectangle 7"/>
            <p:cNvSpPr>
              <a:spLocks noChangeArrowheads="1"/>
            </p:cNvSpPr>
            <p:nvPr/>
          </p:nvSpPr>
          <p:spPr bwMode="auto">
            <a:xfrm>
              <a:off x="2352" y="1824"/>
              <a:ext cx="480" cy="28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/>
                <a:t>3840</a:t>
              </a:r>
            </a:p>
          </p:txBody>
        </p:sp>
        <p:sp>
          <p:nvSpPr>
            <p:cNvPr id="45" name="Rectangle 8" descr="Wide downward diagonal"/>
            <p:cNvSpPr>
              <a:spLocks noChangeArrowheads="1"/>
            </p:cNvSpPr>
            <p:nvPr/>
          </p:nvSpPr>
          <p:spPr bwMode="auto">
            <a:xfrm>
              <a:off x="2832" y="1824"/>
              <a:ext cx="288" cy="288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46" name="Oval 15"/>
          <p:cNvSpPr>
            <a:spLocks noChangeArrowheads="1"/>
          </p:cNvSpPr>
          <p:nvPr/>
        </p:nvSpPr>
        <p:spPr bwMode="auto">
          <a:xfrm>
            <a:off x="304800" y="2438400"/>
            <a:ext cx="533400" cy="381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i="0" dirty="0"/>
              <a:t>T0</a:t>
            </a:r>
          </a:p>
        </p:txBody>
      </p:sp>
      <p:grpSp>
        <p:nvGrpSpPr>
          <p:cNvPr id="47" name="Group 41"/>
          <p:cNvGrpSpPr>
            <a:grpSpLocks/>
          </p:cNvGrpSpPr>
          <p:nvPr/>
        </p:nvGrpSpPr>
        <p:grpSpPr bwMode="auto">
          <a:xfrm>
            <a:off x="6472646" y="1526019"/>
            <a:ext cx="1828800" cy="4648200"/>
            <a:chOff x="3264" y="1104"/>
            <a:chExt cx="1152" cy="2928"/>
          </a:xfrm>
        </p:grpSpPr>
        <p:sp>
          <p:nvSpPr>
            <p:cNvPr id="48" name="Rectangle 16"/>
            <p:cNvSpPr>
              <a:spLocks noChangeArrowheads="1"/>
            </p:cNvSpPr>
            <p:nvPr/>
          </p:nvSpPr>
          <p:spPr bwMode="auto">
            <a:xfrm>
              <a:off x="3696" y="1104"/>
              <a:ext cx="720" cy="25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 i="0">
                  <a:latin typeface="Courier New" pitchFamily="49" charset="0"/>
                </a:rPr>
                <a:t>Free Memory</a:t>
              </a:r>
            </a:p>
          </p:txBody>
        </p:sp>
        <p:sp>
          <p:nvSpPr>
            <p:cNvPr id="49" name="Rectangle 17"/>
            <p:cNvSpPr>
              <a:spLocks noChangeArrowheads="1"/>
            </p:cNvSpPr>
            <p:nvPr/>
          </p:nvSpPr>
          <p:spPr bwMode="auto">
            <a:xfrm>
              <a:off x="3696" y="3696"/>
              <a:ext cx="720" cy="33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 i="0">
                  <a:latin typeface="Courier New" pitchFamily="49" charset="0"/>
                </a:rPr>
                <a:t>OS</a:t>
              </a:r>
            </a:p>
          </p:txBody>
        </p:sp>
        <p:sp>
          <p:nvSpPr>
            <p:cNvPr id="50" name="Rectangle 18"/>
            <p:cNvSpPr>
              <a:spLocks noChangeArrowheads="1"/>
            </p:cNvSpPr>
            <p:nvPr/>
          </p:nvSpPr>
          <p:spPr bwMode="auto">
            <a:xfrm>
              <a:off x="3264" y="3504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1800" i="0"/>
                <a:t>256</a:t>
              </a:r>
            </a:p>
          </p:txBody>
        </p:sp>
        <p:sp>
          <p:nvSpPr>
            <p:cNvPr id="51" name="Rectangle 19"/>
            <p:cNvSpPr>
              <a:spLocks noChangeArrowheads="1"/>
            </p:cNvSpPr>
            <p:nvPr/>
          </p:nvSpPr>
          <p:spPr bwMode="auto">
            <a:xfrm>
              <a:off x="3264" y="1104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1800" i="0"/>
                <a:t>4095</a:t>
              </a:r>
            </a:p>
          </p:txBody>
        </p:sp>
      </p:grpSp>
      <p:sp>
        <p:nvSpPr>
          <p:cNvPr id="52" name="Text Box 25"/>
          <p:cNvSpPr txBox="1">
            <a:spLocks noChangeArrowheads="1"/>
          </p:cNvSpPr>
          <p:nvPr/>
        </p:nvSpPr>
        <p:spPr bwMode="auto">
          <a:xfrm>
            <a:off x="914400" y="2956718"/>
            <a:ext cx="3962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en-US" sz="1800" b="1" i="0" dirty="0">
                <a:solidFill>
                  <a:srgbClr val="C00000"/>
                </a:solidFill>
              </a:rPr>
              <a:t>Request: </a:t>
            </a:r>
            <a:r>
              <a:rPr lang="en-US" altLang="en-US" sz="1800" b="1" i="0" dirty="0"/>
              <a:t>Process A</a:t>
            </a:r>
            <a:r>
              <a:rPr lang="en-US" altLang="en-US" sz="1800" b="1" i="0" dirty="0">
                <a:solidFill>
                  <a:srgbClr val="C00000"/>
                </a:solidFill>
              </a:rPr>
              <a:t> (size </a:t>
            </a:r>
            <a:r>
              <a:rPr lang="en-US" altLang="en-US" sz="1800" b="1" i="0" dirty="0">
                <a:solidFill>
                  <a:srgbClr val="660066"/>
                </a:solidFill>
              </a:rPr>
              <a:t>512</a:t>
            </a:r>
            <a:r>
              <a:rPr lang="en-US" altLang="en-US" sz="1800" b="1" i="0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53" name="Oval 26"/>
          <p:cNvSpPr>
            <a:spLocks noChangeArrowheads="1"/>
          </p:cNvSpPr>
          <p:nvPr/>
        </p:nvSpPr>
        <p:spPr bwMode="auto">
          <a:xfrm>
            <a:off x="342900" y="2956718"/>
            <a:ext cx="533400" cy="381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i="0"/>
              <a:t>T1</a:t>
            </a:r>
          </a:p>
        </p:txBody>
      </p:sp>
      <p:grpSp>
        <p:nvGrpSpPr>
          <p:cNvPr id="54" name="Group 27"/>
          <p:cNvGrpSpPr>
            <a:grpSpLocks/>
          </p:cNvGrpSpPr>
          <p:nvPr/>
        </p:nvGrpSpPr>
        <p:grpSpPr bwMode="auto">
          <a:xfrm>
            <a:off x="2590800" y="5181600"/>
            <a:ext cx="2514600" cy="457200"/>
            <a:chOff x="1536" y="1824"/>
            <a:chExt cx="1584" cy="288"/>
          </a:xfrm>
        </p:grpSpPr>
        <p:sp>
          <p:nvSpPr>
            <p:cNvPr id="55" name="Rectangle 28"/>
            <p:cNvSpPr>
              <a:spLocks noChangeArrowheads="1"/>
            </p:cNvSpPr>
            <p:nvPr/>
          </p:nvSpPr>
          <p:spPr bwMode="auto">
            <a:xfrm>
              <a:off x="1536" y="1824"/>
              <a:ext cx="33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b="1" i="0" dirty="0"/>
                <a:t>F</a:t>
              </a:r>
            </a:p>
          </p:txBody>
        </p:sp>
        <p:sp>
          <p:nvSpPr>
            <p:cNvPr id="56" name="Rectangle 29"/>
            <p:cNvSpPr>
              <a:spLocks noChangeArrowheads="1"/>
            </p:cNvSpPr>
            <p:nvPr/>
          </p:nvSpPr>
          <p:spPr bwMode="auto">
            <a:xfrm>
              <a:off x="1872" y="1824"/>
              <a:ext cx="480" cy="2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 dirty="0"/>
                <a:t>768</a:t>
              </a:r>
            </a:p>
          </p:txBody>
        </p:sp>
        <p:sp>
          <p:nvSpPr>
            <p:cNvPr id="57" name="Rectangle 30"/>
            <p:cNvSpPr>
              <a:spLocks noChangeArrowheads="1"/>
            </p:cNvSpPr>
            <p:nvPr/>
          </p:nvSpPr>
          <p:spPr bwMode="auto">
            <a:xfrm>
              <a:off x="2352" y="1824"/>
              <a:ext cx="480" cy="28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 dirty="0"/>
                <a:t>3328</a:t>
              </a:r>
            </a:p>
          </p:txBody>
        </p:sp>
        <p:sp>
          <p:nvSpPr>
            <p:cNvPr id="58" name="Rectangle 31" descr="Wide downward diagonal"/>
            <p:cNvSpPr>
              <a:spLocks noChangeArrowheads="1"/>
            </p:cNvSpPr>
            <p:nvPr/>
          </p:nvSpPr>
          <p:spPr bwMode="auto">
            <a:xfrm>
              <a:off x="2832" y="1824"/>
              <a:ext cx="288" cy="288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grpSp>
        <p:nvGrpSpPr>
          <p:cNvPr id="59" name="Group 42"/>
          <p:cNvGrpSpPr>
            <a:grpSpLocks/>
          </p:cNvGrpSpPr>
          <p:nvPr/>
        </p:nvGrpSpPr>
        <p:grpSpPr bwMode="auto">
          <a:xfrm>
            <a:off x="838200" y="4495800"/>
            <a:ext cx="2514600" cy="685800"/>
            <a:chOff x="528" y="2832"/>
            <a:chExt cx="1584" cy="432"/>
          </a:xfrm>
        </p:grpSpPr>
        <p:grpSp>
          <p:nvGrpSpPr>
            <p:cNvPr id="60" name="Group 20"/>
            <p:cNvGrpSpPr>
              <a:grpSpLocks/>
            </p:cNvGrpSpPr>
            <p:nvPr/>
          </p:nvGrpSpPr>
          <p:grpSpPr bwMode="auto">
            <a:xfrm>
              <a:off x="528" y="2832"/>
              <a:ext cx="1584" cy="288"/>
              <a:chOff x="1536" y="1824"/>
              <a:chExt cx="1584" cy="288"/>
            </a:xfrm>
          </p:grpSpPr>
          <p:sp>
            <p:nvSpPr>
              <p:cNvPr id="62" name="Rectangle 21"/>
              <p:cNvSpPr>
                <a:spLocks noChangeArrowheads="1"/>
              </p:cNvSpPr>
              <p:nvPr/>
            </p:nvSpPr>
            <p:spPr bwMode="auto">
              <a:xfrm>
                <a:off x="1536" y="1824"/>
                <a:ext cx="336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b="1" i="0" dirty="0">
                    <a:solidFill>
                      <a:srgbClr val="C00000"/>
                    </a:solidFill>
                  </a:rPr>
                  <a:t>T</a:t>
                </a:r>
              </a:p>
            </p:txBody>
          </p:sp>
          <p:sp>
            <p:nvSpPr>
              <p:cNvPr id="63" name="Rectangle 22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80" cy="28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 dirty="0"/>
                  <a:t>256</a:t>
                </a:r>
              </a:p>
            </p:txBody>
          </p:sp>
          <p:sp>
            <p:nvSpPr>
              <p:cNvPr id="64" name="Rectangle 23"/>
              <p:cNvSpPr>
                <a:spLocks noChangeArrowheads="1"/>
              </p:cNvSpPr>
              <p:nvPr/>
            </p:nvSpPr>
            <p:spPr bwMode="auto">
              <a:xfrm>
                <a:off x="2352" y="1824"/>
                <a:ext cx="480" cy="28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 dirty="0"/>
                  <a:t>512</a:t>
                </a:r>
              </a:p>
            </p:txBody>
          </p:sp>
          <p:sp>
            <p:nvSpPr>
              <p:cNvPr id="65" name="Rectangle 24"/>
              <p:cNvSpPr>
                <a:spLocks noChangeArrowheads="1"/>
              </p:cNvSpPr>
              <p:nvPr/>
            </p:nvSpPr>
            <p:spPr bwMode="auto">
              <a:xfrm>
                <a:off x="2832" y="1824"/>
                <a:ext cx="28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</p:grpSp>
        <p:sp>
          <p:nvSpPr>
            <p:cNvPr id="61" name="Line 32"/>
            <p:cNvSpPr>
              <a:spLocks noChangeShapeType="1"/>
            </p:cNvSpPr>
            <p:nvPr/>
          </p:nvSpPr>
          <p:spPr bwMode="auto">
            <a:xfrm flipH="1">
              <a:off x="1776" y="3072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66" name="Group 43"/>
          <p:cNvGrpSpPr>
            <a:grpSpLocks/>
          </p:cNvGrpSpPr>
          <p:nvPr/>
        </p:nvGrpSpPr>
        <p:grpSpPr bwMode="auto">
          <a:xfrm>
            <a:off x="6477000" y="1524000"/>
            <a:ext cx="1828800" cy="4648200"/>
            <a:chOff x="4416" y="1104"/>
            <a:chExt cx="1152" cy="2928"/>
          </a:xfrm>
        </p:grpSpPr>
        <p:sp>
          <p:nvSpPr>
            <p:cNvPr id="67" name="Rectangle 35"/>
            <p:cNvSpPr>
              <a:spLocks noChangeArrowheads="1"/>
            </p:cNvSpPr>
            <p:nvPr/>
          </p:nvSpPr>
          <p:spPr bwMode="auto">
            <a:xfrm>
              <a:off x="4848" y="1104"/>
              <a:ext cx="720" cy="18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 i="0">
                  <a:latin typeface="Courier New" pitchFamily="49" charset="0"/>
                </a:rPr>
                <a:t>Free Memory</a:t>
              </a:r>
            </a:p>
          </p:txBody>
        </p:sp>
        <p:sp>
          <p:nvSpPr>
            <p:cNvPr id="68" name="Rectangle 36"/>
            <p:cNvSpPr>
              <a:spLocks noChangeArrowheads="1"/>
            </p:cNvSpPr>
            <p:nvPr/>
          </p:nvSpPr>
          <p:spPr bwMode="auto">
            <a:xfrm>
              <a:off x="4848" y="3696"/>
              <a:ext cx="720" cy="33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 i="0">
                  <a:latin typeface="Courier New" pitchFamily="49" charset="0"/>
                </a:rPr>
                <a:t>OS</a:t>
              </a:r>
            </a:p>
          </p:txBody>
        </p:sp>
        <p:sp>
          <p:nvSpPr>
            <p:cNvPr id="69" name="Rectangle 37"/>
            <p:cNvSpPr>
              <a:spLocks noChangeArrowheads="1"/>
            </p:cNvSpPr>
            <p:nvPr/>
          </p:nvSpPr>
          <p:spPr bwMode="auto">
            <a:xfrm>
              <a:off x="4416" y="3504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1800" i="0"/>
                <a:t>256</a:t>
              </a:r>
            </a:p>
          </p:txBody>
        </p:sp>
        <p:sp>
          <p:nvSpPr>
            <p:cNvPr id="70" name="Rectangle 38"/>
            <p:cNvSpPr>
              <a:spLocks noChangeArrowheads="1"/>
            </p:cNvSpPr>
            <p:nvPr/>
          </p:nvSpPr>
          <p:spPr bwMode="auto">
            <a:xfrm>
              <a:off x="4416" y="1104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1800" i="0"/>
                <a:t>4095</a:t>
              </a:r>
            </a:p>
          </p:txBody>
        </p:sp>
        <p:sp>
          <p:nvSpPr>
            <p:cNvPr id="71" name="Rectangle 39"/>
            <p:cNvSpPr>
              <a:spLocks noChangeArrowheads="1"/>
            </p:cNvSpPr>
            <p:nvPr/>
          </p:nvSpPr>
          <p:spPr bwMode="auto">
            <a:xfrm>
              <a:off x="4848" y="2928"/>
              <a:ext cx="720" cy="768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35000">
                  <a:schemeClr val="accent2">
                    <a:lumMod val="0"/>
                    <a:lumOff val="100000"/>
                  </a:schemeClr>
                </a:gs>
                <a:gs pos="100000">
                  <a:schemeClr val="accent2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i="0" dirty="0">
                  <a:latin typeface="Courier New" pitchFamily="49" charset="0"/>
                </a:rPr>
                <a:t>Process A</a:t>
              </a:r>
            </a:p>
          </p:txBody>
        </p:sp>
        <p:sp>
          <p:nvSpPr>
            <p:cNvPr id="72" name="Rectangle 40"/>
            <p:cNvSpPr>
              <a:spLocks noChangeArrowheads="1"/>
            </p:cNvSpPr>
            <p:nvPr/>
          </p:nvSpPr>
          <p:spPr bwMode="auto">
            <a:xfrm>
              <a:off x="4416" y="2736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1800" i="0"/>
                <a:t>768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2" grpId="0"/>
      <p:bldP spid="5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1A078A-87C5-4C46-8B80-F2216900D373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6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4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Dynamic Partitioning in Action: Example</a:t>
            </a:r>
          </a:p>
        </p:txBody>
      </p:sp>
      <p:grpSp>
        <p:nvGrpSpPr>
          <p:cNvPr id="62" name="Group 21"/>
          <p:cNvGrpSpPr>
            <a:grpSpLocks/>
          </p:cNvGrpSpPr>
          <p:nvPr/>
        </p:nvGrpSpPr>
        <p:grpSpPr bwMode="auto">
          <a:xfrm>
            <a:off x="685800" y="3574271"/>
            <a:ext cx="2514600" cy="457200"/>
            <a:chOff x="1536" y="1824"/>
            <a:chExt cx="1584" cy="288"/>
          </a:xfrm>
        </p:grpSpPr>
        <p:sp>
          <p:nvSpPr>
            <p:cNvPr id="63" name="Rectangle 22"/>
            <p:cNvSpPr>
              <a:spLocks noChangeArrowheads="1"/>
            </p:cNvSpPr>
            <p:nvPr/>
          </p:nvSpPr>
          <p:spPr bwMode="auto">
            <a:xfrm>
              <a:off x="1536" y="1824"/>
              <a:ext cx="33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b="1" i="0" dirty="0">
                  <a:solidFill>
                    <a:srgbClr val="C00000"/>
                  </a:solidFill>
                </a:rPr>
                <a:t>T</a:t>
              </a:r>
            </a:p>
          </p:txBody>
        </p:sp>
        <p:sp>
          <p:nvSpPr>
            <p:cNvPr id="64" name="Rectangle 23"/>
            <p:cNvSpPr>
              <a:spLocks noChangeArrowheads="1"/>
            </p:cNvSpPr>
            <p:nvPr/>
          </p:nvSpPr>
          <p:spPr bwMode="auto">
            <a:xfrm>
              <a:off x="1872" y="1824"/>
              <a:ext cx="480" cy="2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/>
                <a:t>256</a:t>
              </a:r>
            </a:p>
          </p:txBody>
        </p:sp>
        <p:sp>
          <p:nvSpPr>
            <p:cNvPr id="65" name="Rectangle 24"/>
            <p:cNvSpPr>
              <a:spLocks noChangeArrowheads="1"/>
            </p:cNvSpPr>
            <p:nvPr/>
          </p:nvSpPr>
          <p:spPr bwMode="auto">
            <a:xfrm>
              <a:off x="2352" y="1824"/>
              <a:ext cx="480" cy="28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/>
                <a:t>512</a:t>
              </a:r>
            </a:p>
          </p:txBody>
        </p:sp>
        <p:sp>
          <p:nvSpPr>
            <p:cNvPr id="66" name="Rectangle 25"/>
            <p:cNvSpPr>
              <a:spLocks noChangeArrowheads="1"/>
            </p:cNvSpPr>
            <p:nvPr/>
          </p:nvSpPr>
          <p:spPr bwMode="auto">
            <a:xfrm>
              <a:off x="2832" y="1824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grpSp>
        <p:nvGrpSpPr>
          <p:cNvPr id="67" name="Group 109"/>
          <p:cNvGrpSpPr>
            <a:grpSpLocks/>
          </p:cNvGrpSpPr>
          <p:nvPr/>
        </p:nvGrpSpPr>
        <p:grpSpPr bwMode="auto">
          <a:xfrm>
            <a:off x="304800" y="1057275"/>
            <a:ext cx="4495800" cy="390525"/>
            <a:chOff x="192" y="666"/>
            <a:chExt cx="2832" cy="246"/>
          </a:xfrm>
        </p:grpSpPr>
        <p:sp>
          <p:nvSpPr>
            <p:cNvPr id="68" name="Text Box 26"/>
            <p:cNvSpPr txBox="1">
              <a:spLocks noChangeArrowheads="1"/>
            </p:cNvSpPr>
            <p:nvPr/>
          </p:nvSpPr>
          <p:spPr bwMode="auto">
            <a:xfrm>
              <a:off x="528" y="666"/>
              <a:ext cx="24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en-US" sz="1800" b="1" i="0" dirty="0">
                  <a:solidFill>
                    <a:srgbClr val="C00000"/>
                  </a:solidFill>
                </a:rPr>
                <a:t>Request: </a:t>
              </a:r>
              <a:r>
                <a:rPr lang="en-US" altLang="en-US" sz="1800" b="1" i="0" dirty="0"/>
                <a:t>Process B</a:t>
              </a:r>
              <a:r>
                <a:rPr lang="en-US" altLang="en-US" sz="1800" b="1" i="0" dirty="0">
                  <a:solidFill>
                    <a:srgbClr val="C00000"/>
                  </a:solidFill>
                </a:rPr>
                <a:t> (size </a:t>
              </a:r>
              <a:r>
                <a:rPr lang="en-US" altLang="en-US" sz="1800" b="1" i="0" dirty="0">
                  <a:solidFill>
                    <a:srgbClr val="660066"/>
                  </a:solidFill>
                </a:rPr>
                <a:t>1024</a:t>
              </a:r>
              <a:r>
                <a:rPr lang="en-US" altLang="en-US" sz="1800" b="1" i="0" dirty="0">
                  <a:solidFill>
                    <a:srgbClr val="C00000"/>
                  </a:solidFill>
                </a:rPr>
                <a:t>)</a:t>
              </a:r>
            </a:p>
          </p:txBody>
        </p:sp>
        <p:sp>
          <p:nvSpPr>
            <p:cNvPr id="69" name="Oval 27"/>
            <p:cNvSpPr>
              <a:spLocks noChangeArrowheads="1"/>
            </p:cNvSpPr>
            <p:nvPr/>
          </p:nvSpPr>
          <p:spPr bwMode="auto">
            <a:xfrm>
              <a:off x="192" y="672"/>
              <a:ext cx="336" cy="24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i="0"/>
                <a:t>T2</a:t>
              </a:r>
            </a:p>
          </p:txBody>
        </p:sp>
      </p:grpSp>
      <p:grpSp>
        <p:nvGrpSpPr>
          <p:cNvPr id="70" name="Group 125"/>
          <p:cNvGrpSpPr>
            <a:grpSpLocks/>
          </p:cNvGrpSpPr>
          <p:nvPr/>
        </p:nvGrpSpPr>
        <p:grpSpPr bwMode="auto">
          <a:xfrm>
            <a:off x="306025" y="1528045"/>
            <a:ext cx="4538663" cy="381000"/>
            <a:chOff x="192" y="1824"/>
            <a:chExt cx="2859" cy="240"/>
          </a:xfrm>
        </p:grpSpPr>
        <p:sp>
          <p:nvSpPr>
            <p:cNvPr id="71" name="Text Box 36"/>
            <p:cNvSpPr txBox="1">
              <a:spLocks noChangeArrowheads="1"/>
            </p:cNvSpPr>
            <p:nvPr/>
          </p:nvSpPr>
          <p:spPr bwMode="auto">
            <a:xfrm>
              <a:off x="555" y="1824"/>
              <a:ext cx="24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en-US" sz="1800" b="1" i="0" dirty="0">
                  <a:solidFill>
                    <a:srgbClr val="006600"/>
                  </a:solidFill>
                </a:rPr>
                <a:t>Free: </a:t>
              </a:r>
              <a:r>
                <a:rPr lang="en-US" altLang="en-US" sz="1800" b="1" i="0" dirty="0"/>
                <a:t>Process A</a:t>
              </a:r>
            </a:p>
          </p:txBody>
        </p:sp>
        <p:sp>
          <p:nvSpPr>
            <p:cNvPr id="72" name="Oval 37"/>
            <p:cNvSpPr>
              <a:spLocks noChangeArrowheads="1"/>
            </p:cNvSpPr>
            <p:nvPr/>
          </p:nvSpPr>
          <p:spPr bwMode="auto">
            <a:xfrm>
              <a:off x="192" y="1824"/>
              <a:ext cx="336" cy="24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b="1" i="0"/>
                <a:t>T3</a:t>
              </a:r>
            </a:p>
          </p:txBody>
        </p:sp>
      </p:grpSp>
      <p:grpSp>
        <p:nvGrpSpPr>
          <p:cNvPr id="73" name="Group 123"/>
          <p:cNvGrpSpPr>
            <a:grpSpLocks/>
          </p:cNvGrpSpPr>
          <p:nvPr/>
        </p:nvGrpSpPr>
        <p:grpSpPr bwMode="auto">
          <a:xfrm>
            <a:off x="2981190" y="3577075"/>
            <a:ext cx="2971800" cy="457200"/>
            <a:chOff x="1968" y="960"/>
            <a:chExt cx="1872" cy="288"/>
          </a:xfrm>
        </p:grpSpPr>
        <p:sp>
          <p:nvSpPr>
            <p:cNvPr id="75" name="Line 33"/>
            <p:cNvSpPr>
              <a:spLocks noChangeShapeType="1"/>
            </p:cNvSpPr>
            <p:nvPr/>
          </p:nvSpPr>
          <p:spPr bwMode="auto">
            <a:xfrm>
              <a:off x="1968" y="110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grpSp>
          <p:nvGrpSpPr>
            <p:cNvPr id="76" name="Group 44"/>
            <p:cNvGrpSpPr>
              <a:grpSpLocks/>
            </p:cNvGrpSpPr>
            <p:nvPr/>
          </p:nvGrpSpPr>
          <p:grpSpPr bwMode="auto">
            <a:xfrm>
              <a:off x="2256" y="960"/>
              <a:ext cx="1584" cy="288"/>
              <a:chOff x="1536" y="1824"/>
              <a:chExt cx="1584" cy="288"/>
            </a:xfrm>
          </p:grpSpPr>
          <p:sp>
            <p:nvSpPr>
              <p:cNvPr id="78" name="Rectangle 45"/>
              <p:cNvSpPr>
                <a:spLocks noChangeArrowheads="1"/>
              </p:cNvSpPr>
              <p:nvPr/>
            </p:nvSpPr>
            <p:spPr bwMode="auto">
              <a:xfrm>
                <a:off x="1536" y="1824"/>
                <a:ext cx="336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b="1" i="0" dirty="0">
                    <a:solidFill>
                      <a:srgbClr val="C00000"/>
                    </a:solidFill>
                  </a:rPr>
                  <a:t>T</a:t>
                </a:r>
              </a:p>
            </p:txBody>
          </p:sp>
          <p:sp>
            <p:nvSpPr>
              <p:cNvPr id="79" name="Rectangle 46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80" cy="28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/>
                  <a:t>768</a:t>
                </a:r>
              </a:p>
            </p:txBody>
          </p:sp>
          <p:sp>
            <p:nvSpPr>
              <p:cNvPr id="80" name="Rectangle 47"/>
              <p:cNvSpPr>
                <a:spLocks noChangeArrowheads="1"/>
              </p:cNvSpPr>
              <p:nvPr/>
            </p:nvSpPr>
            <p:spPr bwMode="auto">
              <a:xfrm>
                <a:off x="2352" y="1824"/>
                <a:ext cx="480" cy="28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/>
                  <a:t>1024</a:t>
                </a:r>
              </a:p>
            </p:txBody>
          </p:sp>
          <p:sp>
            <p:nvSpPr>
              <p:cNvPr id="81" name="Rectangle 48"/>
              <p:cNvSpPr>
                <a:spLocks noChangeArrowheads="1"/>
              </p:cNvSpPr>
              <p:nvPr/>
            </p:nvSpPr>
            <p:spPr bwMode="auto">
              <a:xfrm>
                <a:off x="2832" y="1824"/>
                <a:ext cx="28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</p:grpSp>
      </p:grpSp>
      <p:grpSp>
        <p:nvGrpSpPr>
          <p:cNvPr id="86" name="Group 126"/>
          <p:cNvGrpSpPr>
            <a:grpSpLocks/>
          </p:cNvGrpSpPr>
          <p:nvPr/>
        </p:nvGrpSpPr>
        <p:grpSpPr bwMode="auto">
          <a:xfrm>
            <a:off x="304800" y="1990506"/>
            <a:ext cx="4491038" cy="388938"/>
            <a:chOff x="192" y="2443"/>
            <a:chExt cx="2829" cy="245"/>
          </a:xfrm>
        </p:grpSpPr>
        <p:sp>
          <p:nvSpPr>
            <p:cNvPr id="87" name="Text Box 50"/>
            <p:cNvSpPr txBox="1">
              <a:spLocks noChangeArrowheads="1"/>
            </p:cNvSpPr>
            <p:nvPr/>
          </p:nvSpPr>
          <p:spPr bwMode="auto">
            <a:xfrm>
              <a:off x="525" y="2443"/>
              <a:ext cx="24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en-US" sz="1800" b="1" i="0" dirty="0">
                  <a:solidFill>
                    <a:srgbClr val="C00000"/>
                  </a:solidFill>
                </a:rPr>
                <a:t>Request: </a:t>
              </a:r>
              <a:r>
                <a:rPr lang="en-US" altLang="en-US" sz="1800" b="1" i="0" dirty="0"/>
                <a:t>Process C</a:t>
              </a:r>
              <a:r>
                <a:rPr lang="en-US" altLang="en-US" sz="1800" b="1" i="0" dirty="0">
                  <a:solidFill>
                    <a:srgbClr val="C00000"/>
                  </a:solidFill>
                </a:rPr>
                <a:t> (size </a:t>
              </a:r>
              <a:r>
                <a:rPr lang="en-US" altLang="en-US" sz="1800" b="1" i="0" dirty="0">
                  <a:solidFill>
                    <a:srgbClr val="660066"/>
                  </a:solidFill>
                </a:rPr>
                <a:t>640</a:t>
              </a:r>
              <a:r>
                <a:rPr lang="en-US" altLang="en-US" sz="1800" b="1" i="0" dirty="0">
                  <a:solidFill>
                    <a:srgbClr val="C00000"/>
                  </a:solidFill>
                </a:rPr>
                <a:t>)</a:t>
              </a:r>
            </a:p>
          </p:txBody>
        </p:sp>
        <p:sp>
          <p:nvSpPr>
            <p:cNvPr id="88" name="Oval 51"/>
            <p:cNvSpPr>
              <a:spLocks noChangeArrowheads="1"/>
            </p:cNvSpPr>
            <p:nvPr/>
          </p:nvSpPr>
          <p:spPr bwMode="auto">
            <a:xfrm>
              <a:off x="192" y="2448"/>
              <a:ext cx="336" cy="24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b="1" i="0"/>
                <a:t>T4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969622" y="3574271"/>
            <a:ext cx="2973978" cy="457200"/>
            <a:chOff x="2955471" y="3048000"/>
            <a:chExt cx="2973978" cy="457200"/>
          </a:xfrm>
        </p:grpSpPr>
        <p:grpSp>
          <p:nvGrpSpPr>
            <p:cNvPr id="127" name="Group 110"/>
            <p:cNvGrpSpPr>
              <a:grpSpLocks/>
            </p:cNvGrpSpPr>
            <p:nvPr/>
          </p:nvGrpSpPr>
          <p:grpSpPr bwMode="auto">
            <a:xfrm>
              <a:off x="3414849" y="3048000"/>
              <a:ext cx="2514600" cy="457200"/>
              <a:chOff x="1536" y="1824"/>
              <a:chExt cx="1584" cy="288"/>
            </a:xfrm>
          </p:grpSpPr>
          <p:sp>
            <p:nvSpPr>
              <p:cNvPr id="135" name="Rectangle 111"/>
              <p:cNvSpPr>
                <a:spLocks noChangeArrowheads="1"/>
              </p:cNvSpPr>
              <p:nvPr/>
            </p:nvSpPr>
            <p:spPr bwMode="auto">
              <a:xfrm>
                <a:off x="1536" y="1824"/>
                <a:ext cx="336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b="1" i="0" dirty="0"/>
                  <a:t>F</a:t>
                </a:r>
              </a:p>
            </p:txBody>
          </p:sp>
          <p:sp>
            <p:nvSpPr>
              <p:cNvPr id="136" name="Rectangle 112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80" cy="28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 dirty="0"/>
                  <a:t>768</a:t>
                </a:r>
              </a:p>
            </p:txBody>
          </p:sp>
          <p:sp>
            <p:nvSpPr>
              <p:cNvPr id="137" name="Rectangle 113"/>
              <p:cNvSpPr>
                <a:spLocks noChangeArrowheads="1"/>
              </p:cNvSpPr>
              <p:nvPr/>
            </p:nvSpPr>
            <p:spPr bwMode="auto">
              <a:xfrm>
                <a:off x="2352" y="1824"/>
                <a:ext cx="480" cy="28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/>
                  <a:t>3328</a:t>
                </a:r>
              </a:p>
            </p:txBody>
          </p:sp>
          <p:sp>
            <p:nvSpPr>
              <p:cNvPr id="138" name="Rectangle 114" descr="Wide downward diagonal"/>
              <p:cNvSpPr>
                <a:spLocks noChangeArrowheads="1"/>
              </p:cNvSpPr>
              <p:nvPr/>
            </p:nvSpPr>
            <p:spPr bwMode="auto">
              <a:xfrm>
                <a:off x="2832" y="1824"/>
                <a:ext cx="288" cy="288"/>
              </a:xfrm>
              <a:prstGeom prst="rect">
                <a:avLst/>
              </a:prstGeom>
              <a:pattFill prst="wdDnDiag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</p:grpSp>
        <p:sp>
          <p:nvSpPr>
            <p:cNvPr id="140" name="Line 33"/>
            <p:cNvSpPr>
              <a:spLocks noChangeShapeType="1"/>
            </p:cNvSpPr>
            <p:nvPr/>
          </p:nvSpPr>
          <p:spPr bwMode="auto">
            <a:xfrm>
              <a:off x="2955471" y="327660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41" name="Group 43"/>
          <p:cNvGrpSpPr>
            <a:grpSpLocks/>
          </p:cNvGrpSpPr>
          <p:nvPr/>
        </p:nvGrpSpPr>
        <p:grpSpPr bwMode="auto">
          <a:xfrm>
            <a:off x="6477000" y="1447800"/>
            <a:ext cx="1828800" cy="4648200"/>
            <a:chOff x="4416" y="1104"/>
            <a:chExt cx="1152" cy="2928"/>
          </a:xfrm>
        </p:grpSpPr>
        <p:sp>
          <p:nvSpPr>
            <p:cNvPr id="142" name="Rectangle 35"/>
            <p:cNvSpPr>
              <a:spLocks noChangeArrowheads="1"/>
            </p:cNvSpPr>
            <p:nvPr/>
          </p:nvSpPr>
          <p:spPr bwMode="auto">
            <a:xfrm>
              <a:off x="4848" y="1104"/>
              <a:ext cx="720" cy="18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 i="0">
                  <a:latin typeface="Courier New" pitchFamily="49" charset="0"/>
                </a:rPr>
                <a:t>Free Memory</a:t>
              </a:r>
            </a:p>
          </p:txBody>
        </p:sp>
        <p:sp>
          <p:nvSpPr>
            <p:cNvPr id="143" name="Rectangle 36"/>
            <p:cNvSpPr>
              <a:spLocks noChangeArrowheads="1"/>
            </p:cNvSpPr>
            <p:nvPr/>
          </p:nvSpPr>
          <p:spPr bwMode="auto">
            <a:xfrm>
              <a:off x="4848" y="3696"/>
              <a:ext cx="720" cy="33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 i="0">
                  <a:latin typeface="Courier New" pitchFamily="49" charset="0"/>
                </a:rPr>
                <a:t>OS</a:t>
              </a:r>
            </a:p>
          </p:txBody>
        </p:sp>
        <p:sp>
          <p:nvSpPr>
            <p:cNvPr id="144" name="Rectangle 37"/>
            <p:cNvSpPr>
              <a:spLocks noChangeArrowheads="1"/>
            </p:cNvSpPr>
            <p:nvPr/>
          </p:nvSpPr>
          <p:spPr bwMode="auto">
            <a:xfrm>
              <a:off x="4416" y="3504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1800" i="0"/>
                <a:t>256</a:t>
              </a:r>
            </a:p>
          </p:txBody>
        </p:sp>
        <p:sp>
          <p:nvSpPr>
            <p:cNvPr id="145" name="Rectangle 38"/>
            <p:cNvSpPr>
              <a:spLocks noChangeArrowheads="1"/>
            </p:cNvSpPr>
            <p:nvPr/>
          </p:nvSpPr>
          <p:spPr bwMode="auto">
            <a:xfrm>
              <a:off x="4416" y="1104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1800" i="0"/>
                <a:t>4095</a:t>
              </a:r>
            </a:p>
          </p:txBody>
        </p:sp>
        <p:sp>
          <p:nvSpPr>
            <p:cNvPr id="146" name="Rectangle 39"/>
            <p:cNvSpPr>
              <a:spLocks noChangeArrowheads="1"/>
            </p:cNvSpPr>
            <p:nvPr/>
          </p:nvSpPr>
          <p:spPr bwMode="auto">
            <a:xfrm>
              <a:off x="4848" y="2928"/>
              <a:ext cx="720" cy="768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35000">
                  <a:schemeClr val="accent2">
                    <a:lumMod val="0"/>
                    <a:lumOff val="100000"/>
                  </a:schemeClr>
                </a:gs>
                <a:gs pos="100000">
                  <a:schemeClr val="accent2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i="0" dirty="0">
                  <a:latin typeface="Courier New" pitchFamily="49" charset="0"/>
                </a:rPr>
                <a:t>Process A</a:t>
              </a:r>
            </a:p>
          </p:txBody>
        </p:sp>
        <p:sp>
          <p:nvSpPr>
            <p:cNvPr id="147" name="Rectangle 40"/>
            <p:cNvSpPr>
              <a:spLocks noChangeArrowheads="1"/>
            </p:cNvSpPr>
            <p:nvPr/>
          </p:nvSpPr>
          <p:spPr bwMode="auto">
            <a:xfrm>
              <a:off x="4416" y="2736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1800" i="0"/>
                <a:t>768</a:t>
              </a:r>
            </a:p>
          </p:txBody>
        </p:sp>
      </p:grpSp>
      <p:sp>
        <p:nvSpPr>
          <p:cNvPr id="148" name="Rectangle 104"/>
          <p:cNvSpPr>
            <a:spLocks noChangeArrowheads="1"/>
          </p:cNvSpPr>
          <p:nvPr/>
        </p:nvSpPr>
        <p:spPr bwMode="auto">
          <a:xfrm>
            <a:off x="7162800" y="2819400"/>
            <a:ext cx="1143000" cy="1524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i="0" dirty="0">
                <a:latin typeface="Courier New" pitchFamily="49" charset="0"/>
              </a:rPr>
              <a:t>Process B</a:t>
            </a:r>
          </a:p>
        </p:txBody>
      </p:sp>
      <p:sp>
        <p:nvSpPr>
          <p:cNvPr id="149" name="Rectangle 102"/>
          <p:cNvSpPr>
            <a:spLocks noChangeArrowheads="1"/>
          </p:cNvSpPr>
          <p:nvPr/>
        </p:nvSpPr>
        <p:spPr bwMode="auto">
          <a:xfrm>
            <a:off x="7162800" y="4355374"/>
            <a:ext cx="1143000" cy="120722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1600" b="1" i="0">
                <a:latin typeface="Courier New" pitchFamily="49" charset="0"/>
              </a:rPr>
              <a:t>Free Memory</a:t>
            </a:r>
          </a:p>
        </p:txBody>
      </p:sp>
      <p:sp>
        <p:nvSpPr>
          <p:cNvPr id="152" name="Rectangle 102"/>
          <p:cNvSpPr>
            <a:spLocks noChangeArrowheads="1"/>
          </p:cNvSpPr>
          <p:nvPr/>
        </p:nvSpPr>
        <p:spPr bwMode="auto">
          <a:xfrm>
            <a:off x="7162800" y="1453787"/>
            <a:ext cx="1143000" cy="135363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1600" b="1" i="0">
                <a:latin typeface="Courier New" pitchFamily="49" charset="0"/>
              </a:rPr>
              <a:t>Free Memory</a:t>
            </a:r>
          </a:p>
        </p:txBody>
      </p:sp>
      <p:sp>
        <p:nvSpPr>
          <p:cNvPr id="150" name="Rectangle 98"/>
          <p:cNvSpPr>
            <a:spLocks noChangeArrowheads="1"/>
          </p:cNvSpPr>
          <p:nvPr/>
        </p:nvSpPr>
        <p:spPr bwMode="auto">
          <a:xfrm>
            <a:off x="7162800" y="1447800"/>
            <a:ext cx="11430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1600" b="1" i="0" dirty="0">
                <a:latin typeface="Courier New" pitchFamily="49" charset="0"/>
              </a:rPr>
              <a:t>Free Memory</a:t>
            </a:r>
          </a:p>
        </p:txBody>
      </p:sp>
      <p:sp>
        <p:nvSpPr>
          <p:cNvPr id="151" name="Rectangle 105"/>
          <p:cNvSpPr>
            <a:spLocks noChangeArrowheads="1"/>
          </p:cNvSpPr>
          <p:nvPr/>
        </p:nvSpPr>
        <p:spPr bwMode="auto">
          <a:xfrm>
            <a:off x="7162800" y="1992084"/>
            <a:ext cx="1143000" cy="82622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35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i="0" dirty="0">
                <a:latin typeface="Courier New" pitchFamily="49" charset="0"/>
              </a:rPr>
              <a:t>Process C</a:t>
            </a:r>
          </a:p>
        </p:txBody>
      </p:sp>
      <p:grpSp>
        <p:nvGrpSpPr>
          <p:cNvPr id="153" name="Group 21"/>
          <p:cNvGrpSpPr>
            <a:grpSpLocks/>
          </p:cNvGrpSpPr>
          <p:nvPr/>
        </p:nvGrpSpPr>
        <p:grpSpPr bwMode="auto">
          <a:xfrm>
            <a:off x="685803" y="3577042"/>
            <a:ext cx="2514600" cy="457200"/>
            <a:chOff x="1536" y="1824"/>
            <a:chExt cx="1584" cy="288"/>
          </a:xfrm>
        </p:grpSpPr>
        <p:sp>
          <p:nvSpPr>
            <p:cNvPr id="154" name="Rectangle 22"/>
            <p:cNvSpPr>
              <a:spLocks noChangeArrowheads="1"/>
            </p:cNvSpPr>
            <p:nvPr/>
          </p:nvSpPr>
          <p:spPr bwMode="auto">
            <a:xfrm>
              <a:off x="1536" y="1824"/>
              <a:ext cx="336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b="1" i="0" dirty="0"/>
                <a:t>F</a:t>
              </a:r>
            </a:p>
          </p:txBody>
        </p:sp>
        <p:sp>
          <p:nvSpPr>
            <p:cNvPr id="155" name="Rectangle 23"/>
            <p:cNvSpPr>
              <a:spLocks noChangeArrowheads="1"/>
            </p:cNvSpPr>
            <p:nvPr/>
          </p:nvSpPr>
          <p:spPr bwMode="auto">
            <a:xfrm>
              <a:off x="1872" y="1824"/>
              <a:ext cx="480" cy="2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/>
                <a:t>256</a:t>
              </a:r>
            </a:p>
          </p:txBody>
        </p:sp>
        <p:sp>
          <p:nvSpPr>
            <p:cNvPr id="156" name="Rectangle 24"/>
            <p:cNvSpPr>
              <a:spLocks noChangeArrowheads="1"/>
            </p:cNvSpPr>
            <p:nvPr/>
          </p:nvSpPr>
          <p:spPr bwMode="auto">
            <a:xfrm>
              <a:off x="2352" y="1824"/>
              <a:ext cx="480" cy="28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/>
                <a:t>512</a:t>
              </a:r>
            </a:p>
          </p:txBody>
        </p:sp>
        <p:sp>
          <p:nvSpPr>
            <p:cNvPr id="157" name="Rectangle 25"/>
            <p:cNvSpPr>
              <a:spLocks noChangeArrowheads="1"/>
            </p:cNvSpPr>
            <p:nvPr/>
          </p:nvSpPr>
          <p:spPr bwMode="auto">
            <a:xfrm>
              <a:off x="2832" y="1824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grpSp>
        <p:nvGrpSpPr>
          <p:cNvPr id="101" name="Group 128"/>
          <p:cNvGrpSpPr>
            <a:grpSpLocks/>
          </p:cNvGrpSpPr>
          <p:nvPr/>
        </p:nvGrpSpPr>
        <p:grpSpPr bwMode="auto">
          <a:xfrm>
            <a:off x="741453" y="3886200"/>
            <a:ext cx="5181600" cy="990600"/>
            <a:chOff x="576" y="2976"/>
            <a:chExt cx="3264" cy="624"/>
          </a:xfrm>
        </p:grpSpPr>
        <p:grpSp>
          <p:nvGrpSpPr>
            <p:cNvPr id="102" name="Group 74"/>
            <p:cNvGrpSpPr>
              <a:grpSpLocks/>
            </p:cNvGrpSpPr>
            <p:nvPr/>
          </p:nvGrpSpPr>
          <p:grpSpPr bwMode="auto">
            <a:xfrm>
              <a:off x="2256" y="3312"/>
              <a:ext cx="1584" cy="288"/>
              <a:chOff x="1536" y="1824"/>
              <a:chExt cx="1584" cy="288"/>
            </a:xfrm>
          </p:grpSpPr>
          <p:sp>
            <p:nvSpPr>
              <p:cNvPr id="110" name="Rectangle 75"/>
              <p:cNvSpPr>
                <a:spLocks noChangeArrowheads="1"/>
              </p:cNvSpPr>
              <p:nvPr/>
            </p:nvSpPr>
            <p:spPr bwMode="auto">
              <a:xfrm>
                <a:off x="1536" y="1824"/>
                <a:ext cx="336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b="1" i="0"/>
                  <a:t>F</a:t>
                </a:r>
              </a:p>
            </p:txBody>
          </p:sp>
          <p:sp>
            <p:nvSpPr>
              <p:cNvPr id="111" name="Rectangle 76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80" cy="28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/>
                  <a:t>2432</a:t>
                </a:r>
              </a:p>
            </p:txBody>
          </p:sp>
          <p:sp>
            <p:nvSpPr>
              <p:cNvPr id="112" name="Rectangle 77"/>
              <p:cNvSpPr>
                <a:spLocks noChangeArrowheads="1"/>
              </p:cNvSpPr>
              <p:nvPr/>
            </p:nvSpPr>
            <p:spPr bwMode="auto">
              <a:xfrm>
                <a:off x="2352" y="1824"/>
                <a:ext cx="480" cy="28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/>
                  <a:t>1664</a:t>
                </a:r>
              </a:p>
            </p:txBody>
          </p:sp>
          <p:sp>
            <p:nvSpPr>
              <p:cNvPr id="113" name="Rectangle 78" descr="Wide downward diagonal"/>
              <p:cNvSpPr>
                <a:spLocks noChangeArrowheads="1"/>
              </p:cNvSpPr>
              <p:nvPr/>
            </p:nvSpPr>
            <p:spPr bwMode="auto">
              <a:xfrm>
                <a:off x="2832" y="1824"/>
                <a:ext cx="288" cy="288"/>
              </a:xfrm>
              <a:prstGeom prst="rect">
                <a:avLst/>
              </a:prstGeom>
              <a:pattFill prst="wdDnDiag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</p:grpSp>
        <p:sp>
          <p:nvSpPr>
            <p:cNvPr id="103" name="Line 85"/>
            <p:cNvSpPr>
              <a:spLocks noChangeShapeType="1"/>
            </p:cNvSpPr>
            <p:nvPr/>
          </p:nvSpPr>
          <p:spPr bwMode="auto">
            <a:xfrm flipH="1">
              <a:off x="768" y="2976"/>
              <a:ext cx="292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grpSp>
          <p:nvGrpSpPr>
            <p:cNvPr id="104" name="Group 86"/>
            <p:cNvGrpSpPr>
              <a:grpSpLocks/>
            </p:cNvGrpSpPr>
            <p:nvPr/>
          </p:nvGrpSpPr>
          <p:grpSpPr bwMode="auto">
            <a:xfrm>
              <a:off x="576" y="3312"/>
              <a:ext cx="1584" cy="288"/>
              <a:chOff x="1536" y="1824"/>
              <a:chExt cx="1584" cy="288"/>
            </a:xfrm>
          </p:grpSpPr>
          <p:sp>
            <p:nvSpPr>
              <p:cNvPr id="106" name="Rectangle 87"/>
              <p:cNvSpPr>
                <a:spLocks noChangeArrowheads="1"/>
              </p:cNvSpPr>
              <p:nvPr/>
            </p:nvSpPr>
            <p:spPr bwMode="auto">
              <a:xfrm>
                <a:off x="1536" y="1824"/>
                <a:ext cx="336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b="1" i="0" dirty="0">
                    <a:solidFill>
                      <a:srgbClr val="C00000"/>
                    </a:solidFill>
                  </a:rPr>
                  <a:t>T</a:t>
                </a:r>
              </a:p>
            </p:txBody>
          </p:sp>
          <p:sp>
            <p:nvSpPr>
              <p:cNvPr id="107" name="Rectangle 88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80" cy="28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/>
                  <a:t>1792</a:t>
                </a:r>
              </a:p>
            </p:txBody>
          </p:sp>
          <p:sp>
            <p:nvSpPr>
              <p:cNvPr id="108" name="Rectangle 89"/>
              <p:cNvSpPr>
                <a:spLocks noChangeArrowheads="1"/>
              </p:cNvSpPr>
              <p:nvPr/>
            </p:nvSpPr>
            <p:spPr bwMode="auto">
              <a:xfrm>
                <a:off x="2352" y="1824"/>
                <a:ext cx="480" cy="28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/>
                  <a:t>640</a:t>
                </a:r>
              </a:p>
            </p:txBody>
          </p:sp>
          <p:sp>
            <p:nvSpPr>
              <p:cNvPr id="109" name="Rectangle 90"/>
              <p:cNvSpPr>
                <a:spLocks noChangeArrowheads="1"/>
              </p:cNvSpPr>
              <p:nvPr/>
            </p:nvSpPr>
            <p:spPr bwMode="auto">
              <a:xfrm>
                <a:off x="2832" y="1824"/>
                <a:ext cx="28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</p:grpSp>
        <p:sp>
          <p:nvSpPr>
            <p:cNvPr id="105" name="Line 91"/>
            <p:cNvSpPr>
              <a:spLocks noChangeShapeType="1"/>
            </p:cNvSpPr>
            <p:nvPr/>
          </p:nvSpPr>
          <p:spPr bwMode="auto">
            <a:xfrm>
              <a:off x="2016" y="345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362190" y="3958075"/>
            <a:ext cx="2514600" cy="685800"/>
            <a:chOff x="1028496" y="3648858"/>
            <a:chExt cx="2514600" cy="685800"/>
          </a:xfrm>
        </p:grpSpPr>
        <p:sp>
          <p:nvSpPr>
            <p:cNvPr id="158" name="Rectangle 29"/>
            <p:cNvSpPr>
              <a:spLocks noChangeArrowheads="1"/>
            </p:cNvSpPr>
            <p:nvPr/>
          </p:nvSpPr>
          <p:spPr bwMode="auto">
            <a:xfrm>
              <a:off x="1028496" y="3877458"/>
              <a:ext cx="5334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b="1" i="0"/>
                <a:t>F</a:t>
              </a:r>
            </a:p>
          </p:txBody>
        </p:sp>
        <p:sp>
          <p:nvSpPr>
            <p:cNvPr id="159" name="Rectangle 30"/>
            <p:cNvSpPr>
              <a:spLocks noChangeArrowheads="1"/>
            </p:cNvSpPr>
            <p:nvPr/>
          </p:nvSpPr>
          <p:spPr bwMode="auto">
            <a:xfrm>
              <a:off x="1561896" y="3877458"/>
              <a:ext cx="762000" cy="457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/>
                <a:t>1792</a:t>
              </a:r>
            </a:p>
          </p:txBody>
        </p:sp>
        <p:sp>
          <p:nvSpPr>
            <p:cNvPr id="160" name="Rectangle 31"/>
            <p:cNvSpPr>
              <a:spLocks noChangeArrowheads="1"/>
            </p:cNvSpPr>
            <p:nvPr/>
          </p:nvSpPr>
          <p:spPr bwMode="auto">
            <a:xfrm>
              <a:off x="2323896" y="3877458"/>
              <a:ext cx="762000" cy="4572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/>
                <a:t>2304</a:t>
              </a:r>
            </a:p>
          </p:txBody>
        </p:sp>
        <p:sp>
          <p:nvSpPr>
            <p:cNvPr id="161" name="Rectangle 32" descr="Wide downward diagonal"/>
            <p:cNvSpPr>
              <a:spLocks noChangeArrowheads="1"/>
            </p:cNvSpPr>
            <p:nvPr/>
          </p:nvSpPr>
          <p:spPr bwMode="auto">
            <a:xfrm>
              <a:off x="3085896" y="3877458"/>
              <a:ext cx="457200" cy="4572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62" name="Line 49"/>
            <p:cNvSpPr>
              <a:spLocks noChangeShapeType="1"/>
            </p:cNvSpPr>
            <p:nvPr/>
          </p:nvSpPr>
          <p:spPr bwMode="auto">
            <a:xfrm flipH="1">
              <a:off x="1409496" y="3648858"/>
              <a:ext cx="19050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74" name="Rectangle 105"/>
          <p:cNvSpPr>
            <a:spLocks noChangeArrowheads="1"/>
          </p:cNvSpPr>
          <p:nvPr/>
        </p:nvSpPr>
        <p:spPr bwMode="auto">
          <a:xfrm>
            <a:off x="7162800" y="1993174"/>
            <a:ext cx="1143000" cy="82622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en-US" sz="1600" b="1" dirty="0">
                <a:latin typeface="Courier New" pitchFamily="49" charset="0"/>
              </a:rPr>
              <a:t>Free Memory</a:t>
            </a:r>
            <a:endParaRPr lang="en-US" altLang="en-US" sz="1600" b="1" i="0" dirty="0">
              <a:latin typeface="Courier New" pitchFamily="49" charset="0"/>
            </a:endParaRPr>
          </a:p>
        </p:txBody>
      </p:sp>
      <p:sp>
        <p:nvSpPr>
          <p:cNvPr id="77" name="Isosceles Triangle 76"/>
          <p:cNvSpPr/>
          <p:nvPr/>
        </p:nvSpPr>
        <p:spPr>
          <a:xfrm>
            <a:off x="86106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 animBg="1"/>
      <p:bldP spid="149" grpId="0" animBg="1"/>
      <p:bldP spid="152" grpId="0" animBg="1"/>
      <p:bldP spid="150" grpId="0" animBg="1"/>
      <p:bldP spid="151" grpId="0" animBg="1"/>
      <p:bldP spid="74" grpId="0" animBg="1"/>
      <p:bldP spid="7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2660F8-C74C-4B7B-BA39-50B711EC1842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4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400" dirty="0"/>
              <a:t>Dynamic Allocation Algorithm: </a:t>
            </a:r>
            <a:r>
              <a:rPr lang="en-US" altLang="en-US" sz="3400" b="1" dirty="0">
                <a:solidFill>
                  <a:srgbClr val="C00000"/>
                </a:solidFill>
              </a:rPr>
              <a:t>Buddy System</a:t>
            </a:r>
          </a:p>
        </p:txBody>
      </p:sp>
      <p:sp>
        <p:nvSpPr>
          <p:cNvPr id="74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/>
            <a:r>
              <a:rPr lang="en-US" altLang="en-US" b="1" dirty="0"/>
              <a:t>Buddy</a:t>
            </a:r>
            <a:r>
              <a:rPr lang="en-US" altLang="en-US" dirty="0"/>
              <a:t> memory allocation provides efficient:</a:t>
            </a:r>
          </a:p>
          <a:p>
            <a:pPr marL="839788" lvl="1" indent="-495300">
              <a:buFont typeface="Wingdings" pitchFamily="2" charset="2"/>
              <a:buAutoNum type="arabicPeriod"/>
            </a:pPr>
            <a:r>
              <a:rPr lang="en-US" altLang="en-US" dirty="0"/>
              <a:t>Partition splitting</a:t>
            </a:r>
          </a:p>
          <a:p>
            <a:pPr marL="839788" lvl="1" indent="-495300">
              <a:buFont typeface="Wingdings" pitchFamily="2" charset="2"/>
              <a:buAutoNum type="arabicPeriod"/>
            </a:pPr>
            <a:r>
              <a:rPr lang="en-US" altLang="en-US" dirty="0"/>
              <a:t>Locating good match of free partition (hole)</a:t>
            </a:r>
          </a:p>
          <a:p>
            <a:pPr marL="839788" lvl="1" indent="-495300">
              <a:buFont typeface="Wingdings" pitchFamily="2" charset="2"/>
              <a:buAutoNum type="arabicPeriod"/>
            </a:pPr>
            <a:r>
              <a:rPr lang="en-US" altLang="en-US" dirty="0"/>
              <a:t>Partition de-allocation and coalescing</a:t>
            </a:r>
          </a:p>
          <a:p>
            <a:pPr marL="839788" lvl="1" indent="-495300">
              <a:buFont typeface="Wingdings" pitchFamily="2" charset="2"/>
              <a:buNone/>
            </a:pPr>
            <a:endParaRPr lang="en-US" altLang="en-US" dirty="0"/>
          </a:p>
          <a:p>
            <a:pPr marL="571500" indent="-571500"/>
            <a:r>
              <a:rPr lang="en-US" altLang="en-US" b="1" dirty="0">
                <a:solidFill>
                  <a:srgbClr val="003300"/>
                </a:solidFill>
              </a:rPr>
              <a:t>Main idea:</a:t>
            </a:r>
          </a:p>
          <a:p>
            <a:pPr marL="839788" lvl="1" indent="-495300">
              <a:buFont typeface="Wingdings" pitchFamily="2" charset="2"/>
              <a:buChar char="n"/>
            </a:pPr>
            <a:r>
              <a:rPr lang="en-US" altLang="en-US" dirty="0"/>
              <a:t>Free block is split into half repeatedly to meet request</a:t>
            </a:r>
          </a:p>
          <a:p>
            <a:pPr marL="1090613" lvl="2" indent="-419100"/>
            <a:r>
              <a:rPr lang="en-US" altLang="en-US" dirty="0"/>
              <a:t>The two halves forms a sibling blocks (buddy blocks)</a:t>
            </a:r>
          </a:p>
          <a:p>
            <a:pPr marL="839788" lvl="1" indent="-495300">
              <a:buFont typeface="Wingdings" pitchFamily="2" charset="2"/>
              <a:buChar char="n"/>
            </a:pPr>
            <a:r>
              <a:rPr lang="en-US" altLang="en-US" dirty="0"/>
              <a:t>When buddy blocks are both free</a:t>
            </a:r>
          </a:p>
          <a:p>
            <a:pPr marL="1090613" lvl="2" indent="-419100"/>
            <a:r>
              <a:rPr lang="en-US" altLang="en-US" dirty="0"/>
              <a:t>Can be merged to form larger block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914400" y="2216150"/>
            <a:ext cx="3429000" cy="5334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 i="0"/>
              <a:t>2</a:t>
            </a:r>
            <a:r>
              <a:rPr lang="en-US" altLang="en-US" sz="2400" b="1" i="0" baseline="30000"/>
              <a:t>k </a:t>
            </a:r>
            <a:r>
              <a:rPr lang="en-US" altLang="en-US" sz="2400" b="1" i="0"/>
              <a:t>/ 2 = 2</a:t>
            </a:r>
            <a:r>
              <a:rPr lang="en-US" altLang="en-US" sz="2400" b="1" i="0" baseline="30000"/>
              <a:t>k-1</a:t>
            </a:r>
          </a:p>
        </p:txBody>
      </p:sp>
      <p:sp>
        <p:nvSpPr>
          <p:cNvPr id="29" name="Rectangle 4"/>
          <p:cNvSpPr>
            <a:spLocks noChangeArrowheads="1"/>
          </p:cNvSpPr>
          <p:nvPr/>
        </p:nvSpPr>
        <p:spPr bwMode="auto">
          <a:xfrm>
            <a:off x="1066800" y="1143000"/>
            <a:ext cx="6781800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i="0"/>
              <a:t>original memory size = 2</a:t>
            </a:r>
            <a:r>
              <a:rPr lang="en-US" altLang="en-US" sz="2400" b="1" i="0" baseline="30000"/>
              <a:t>k</a:t>
            </a:r>
          </a:p>
        </p:txBody>
      </p:sp>
      <p:sp>
        <p:nvSpPr>
          <p:cNvPr id="3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C57118-99DF-4C8E-BC47-29C23147E6CE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5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Buddy Blocks Illustration</a:t>
            </a:r>
          </a:p>
        </p:txBody>
      </p:sp>
      <p:sp>
        <p:nvSpPr>
          <p:cNvPr id="35" name="Rectangle 4"/>
          <p:cNvSpPr>
            <a:spLocks noChangeArrowheads="1"/>
          </p:cNvSpPr>
          <p:nvPr/>
        </p:nvSpPr>
        <p:spPr bwMode="auto">
          <a:xfrm>
            <a:off x="1066800" y="1143000"/>
            <a:ext cx="6781800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i="0"/>
              <a:t>original memory size = 2</a:t>
            </a:r>
            <a:r>
              <a:rPr lang="en-US" altLang="en-US" sz="2400" b="1" i="0" baseline="30000"/>
              <a:t>k</a:t>
            </a:r>
          </a:p>
        </p:txBody>
      </p:sp>
      <p:sp>
        <p:nvSpPr>
          <p:cNvPr id="36" name="Rectangle 5"/>
          <p:cNvSpPr>
            <a:spLocks noChangeArrowheads="1"/>
          </p:cNvSpPr>
          <p:nvPr/>
        </p:nvSpPr>
        <p:spPr bwMode="auto">
          <a:xfrm>
            <a:off x="914400" y="2218509"/>
            <a:ext cx="3429000" cy="5334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 i="0"/>
              <a:t>2</a:t>
            </a:r>
            <a:r>
              <a:rPr lang="en-US" altLang="en-US" sz="2400" b="1" i="0" baseline="30000"/>
              <a:t>k </a:t>
            </a:r>
            <a:r>
              <a:rPr lang="en-US" altLang="en-US" sz="2400" b="1" i="0"/>
              <a:t>/ 2 = 2</a:t>
            </a:r>
            <a:r>
              <a:rPr lang="en-US" altLang="en-US" sz="2400" b="1" i="0" baseline="30000"/>
              <a:t>k-1</a:t>
            </a:r>
          </a:p>
        </p:txBody>
      </p:sp>
      <p:sp>
        <p:nvSpPr>
          <p:cNvPr id="37" name="Rectangle 6"/>
          <p:cNvSpPr>
            <a:spLocks noChangeArrowheads="1"/>
          </p:cNvSpPr>
          <p:nvPr/>
        </p:nvSpPr>
        <p:spPr bwMode="auto">
          <a:xfrm>
            <a:off x="4648200" y="2209800"/>
            <a:ext cx="3429000" cy="5334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 i="0"/>
              <a:t>2</a:t>
            </a:r>
            <a:r>
              <a:rPr lang="en-US" altLang="en-US" sz="2400" b="1" i="0" baseline="30000"/>
              <a:t>k-1</a:t>
            </a:r>
            <a:endParaRPr lang="en-US" altLang="en-US" sz="1800" i="0"/>
          </a:p>
        </p:txBody>
      </p:sp>
      <p:grpSp>
        <p:nvGrpSpPr>
          <p:cNvPr id="38" name="Group 31"/>
          <p:cNvGrpSpPr>
            <a:grpSpLocks/>
          </p:cNvGrpSpPr>
          <p:nvPr/>
        </p:nvGrpSpPr>
        <p:grpSpPr bwMode="auto">
          <a:xfrm>
            <a:off x="1066800" y="5715000"/>
            <a:ext cx="7010400" cy="533400"/>
            <a:chOff x="576" y="3648"/>
            <a:chExt cx="4416" cy="336"/>
          </a:xfrm>
        </p:grpSpPr>
        <p:sp>
          <p:nvSpPr>
            <p:cNvPr id="39" name="Rectangle 18"/>
            <p:cNvSpPr>
              <a:spLocks noChangeArrowheads="1"/>
            </p:cNvSpPr>
            <p:nvPr/>
          </p:nvSpPr>
          <p:spPr bwMode="auto">
            <a:xfrm>
              <a:off x="2832" y="3648"/>
              <a:ext cx="2160" cy="336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i="0"/>
                <a:t>2</a:t>
              </a:r>
              <a:r>
                <a:rPr lang="en-US" altLang="en-US" sz="2400" b="1" i="0" baseline="30000"/>
                <a:t>k-1</a:t>
              </a:r>
              <a:endParaRPr lang="en-US" altLang="en-US" sz="1800" i="0"/>
            </a:p>
          </p:txBody>
        </p:sp>
        <p:sp>
          <p:nvSpPr>
            <p:cNvPr id="40" name="Rectangle 19"/>
            <p:cNvSpPr>
              <a:spLocks noChangeArrowheads="1"/>
            </p:cNvSpPr>
            <p:nvPr/>
          </p:nvSpPr>
          <p:spPr bwMode="auto">
            <a:xfrm>
              <a:off x="576" y="3648"/>
              <a:ext cx="1104" cy="33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i="0"/>
                <a:t>2</a:t>
              </a:r>
              <a:r>
                <a:rPr lang="en-US" altLang="en-US" sz="2400" b="1" i="0" baseline="30000"/>
                <a:t>k-2</a:t>
              </a:r>
              <a:endParaRPr lang="en-US" altLang="en-US" sz="1800" i="0"/>
            </a:p>
          </p:txBody>
        </p:sp>
        <p:sp>
          <p:nvSpPr>
            <p:cNvPr id="41" name="Rectangle 20"/>
            <p:cNvSpPr>
              <a:spLocks noChangeArrowheads="1"/>
            </p:cNvSpPr>
            <p:nvPr/>
          </p:nvSpPr>
          <p:spPr bwMode="auto">
            <a:xfrm>
              <a:off x="1680" y="3648"/>
              <a:ext cx="576" cy="336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i="0"/>
                <a:t>2</a:t>
              </a:r>
              <a:r>
                <a:rPr lang="en-US" altLang="en-US" sz="2400" b="1" i="0" baseline="30000"/>
                <a:t>k-3</a:t>
              </a:r>
              <a:endParaRPr lang="en-US" altLang="en-US" sz="1800" i="0"/>
            </a:p>
          </p:txBody>
        </p:sp>
        <p:sp>
          <p:nvSpPr>
            <p:cNvPr id="42" name="Rectangle 21"/>
            <p:cNvSpPr>
              <a:spLocks noChangeArrowheads="1"/>
            </p:cNvSpPr>
            <p:nvPr/>
          </p:nvSpPr>
          <p:spPr bwMode="auto">
            <a:xfrm>
              <a:off x="2256" y="3648"/>
              <a:ext cx="576" cy="336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i="0"/>
                <a:t>2</a:t>
              </a:r>
              <a:r>
                <a:rPr lang="en-US" altLang="en-US" sz="2400" b="1" i="0" baseline="30000"/>
                <a:t>k-3</a:t>
              </a:r>
            </a:p>
          </p:txBody>
        </p:sp>
      </p:grpSp>
      <p:grpSp>
        <p:nvGrpSpPr>
          <p:cNvPr id="43" name="Group 41"/>
          <p:cNvGrpSpPr>
            <a:grpSpLocks/>
          </p:cNvGrpSpPr>
          <p:nvPr/>
        </p:nvGrpSpPr>
        <p:grpSpPr bwMode="auto">
          <a:xfrm>
            <a:off x="2590800" y="1600200"/>
            <a:ext cx="4267200" cy="609600"/>
            <a:chOff x="1344" y="1008"/>
            <a:chExt cx="2688" cy="384"/>
          </a:xfrm>
        </p:grpSpPr>
        <p:sp>
          <p:nvSpPr>
            <p:cNvPr id="44" name="Line 12"/>
            <p:cNvSpPr>
              <a:spLocks noChangeShapeType="1"/>
            </p:cNvSpPr>
            <p:nvPr/>
          </p:nvSpPr>
          <p:spPr bwMode="auto">
            <a:xfrm flipH="1">
              <a:off x="1344" y="1056"/>
              <a:ext cx="100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45" name="Line 13"/>
            <p:cNvSpPr>
              <a:spLocks noChangeShapeType="1"/>
            </p:cNvSpPr>
            <p:nvPr/>
          </p:nvSpPr>
          <p:spPr bwMode="auto">
            <a:xfrm>
              <a:off x="3072" y="1056"/>
              <a:ext cx="96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46" name="Rectangle 35"/>
            <p:cNvSpPr>
              <a:spLocks noChangeArrowheads="1"/>
            </p:cNvSpPr>
            <p:nvPr/>
          </p:nvSpPr>
          <p:spPr bwMode="auto">
            <a:xfrm>
              <a:off x="2160" y="1008"/>
              <a:ext cx="960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/>
                <a:t>split in half</a:t>
              </a:r>
            </a:p>
          </p:txBody>
        </p:sp>
      </p:grpSp>
      <p:grpSp>
        <p:nvGrpSpPr>
          <p:cNvPr id="47" name="Group 42"/>
          <p:cNvGrpSpPr>
            <a:grpSpLocks/>
          </p:cNvGrpSpPr>
          <p:nvPr/>
        </p:nvGrpSpPr>
        <p:grpSpPr bwMode="auto">
          <a:xfrm>
            <a:off x="990600" y="2667000"/>
            <a:ext cx="3886200" cy="1219200"/>
            <a:chOff x="336" y="1680"/>
            <a:chExt cx="2448" cy="768"/>
          </a:xfrm>
        </p:grpSpPr>
        <p:sp>
          <p:nvSpPr>
            <p:cNvPr id="48" name="Rectangle 7"/>
            <p:cNvSpPr>
              <a:spLocks noChangeArrowheads="1"/>
            </p:cNvSpPr>
            <p:nvPr/>
          </p:nvSpPr>
          <p:spPr bwMode="auto">
            <a:xfrm>
              <a:off x="336" y="2112"/>
              <a:ext cx="1104" cy="33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i="0"/>
                <a:t>2</a:t>
              </a:r>
              <a:r>
                <a:rPr lang="en-US" altLang="en-US" sz="2400" b="1" i="0" baseline="30000"/>
                <a:t>k-2</a:t>
              </a:r>
              <a:endParaRPr lang="en-US" altLang="en-US" sz="1800" i="0"/>
            </a:p>
          </p:txBody>
        </p:sp>
        <p:sp>
          <p:nvSpPr>
            <p:cNvPr id="49" name="Rectangle 9"/>
            <p:cNvSpPr>
              <a:spLocks noChangeArrowheads="1"/>
            </p:cNvSpPr>
            <p:nvPr/>
          </p:nvSpPr>
          <p:spPr bwMode="auto">
            <a:xfrm>
              <a:off x="1680" y="2112"/>
              <a:ext cx="1104" cy="33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i="0"/>
                <a:t>2</a:t>
              </a:r>
              <a:r>
                <a:rPr lang="en-US" altLang="en-US" sz="2400" b="1" i="0" baseline="30000"/>
                <a:t>k-2</a:t>
              </a:r>
            </a:p>
          </p:txBody>
        </p:sp>
        <p:sp>
          <p:nvSpPr>
            <p:cNvPr id="50" name="Line 14"/>
            <p:cNvSpPr>
              <a:spLocks noChangeShapeType="1"/>
            </p:cNvSpPr>
            <p:nvPr/>
          </p:nvSpPr>
          <p:spPr bwMode="auto">
            <a:xfrm flipH="1">
              <a:off x="864" y="1728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51" name="Line 15"/>
            <p:cNvSpPr>
              <a:spLocks noChangeShapeType="1"/>
            </p:cNvSpPr>
            <p:nvPr/>
          </p:nvSpPr>
          <p:spPr bwMode="auto">
            <a:xfrm>
              <a:off x="1968" y="1728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52" name="Rectangle 36"/>
            <p:cNvSpPr>
              <a:spLocks noChangeArrowheads="1"/>
            </p:cNvSpPr>
            <p:nvPr/>
          </p:nvSpPr>
          <p:spPr bwMode="auto">
            <a:xfrm>
              <a:off x="1056" y="1680"/>
              <a:ext cx="960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/>
                <a:t>split in half</a:t>
              </a:r>
            </a:p>
          </p:txBody>
        </p:sp>
      </p:grpSp>
      <p:grpSp>
        <p:nvGrpSpPr>
          <p:cNvPr id="53" name="Group 43"/>
          <p:cNvGrpSpPr>
            <a:grpSpLocks/>
          </p:cNvGrpSpPr>
          <p:nvPr/>
        </p:nvGrpSpPr>
        <p:grpSpPr bwMode="auto">
          <a:xfrm>
            <a:off x="2743200" y="3886200"/>
            <a:ext cx="2590800" cy="1219200"/>
            <a:chOff x="1440" y="2448"/>
            <a:chExt cx="1632" cy="768"/>
          </a:xfrm>
        </p:grpSpPr>
        <p:sp>
          <p:nvSpPr>
            <p:cNvPr id="54" name="Rectangle 10"/>
            <p:cNvSpPr>
              <a:spLocks noChangeArrowheads="1"/>
            </p:cNvSpPr>
            <p:nvPr/>
          </p:nvSpPr>
          <p:spPr bwMode="auto">
            <a:xfrm>
              <a:off x="1440" y="2880"/>
              <a:ext cx="576" cy="336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i="0" dirty="0"/>
                <a:t>2</a:t>
              </a:r>
              <a:r>
                <a:rPr lang="en-US" altLang="en-US" sz="2400" b="1" i="0" baseline="30000" dirty="0"/>
                <a:t>k-3</a:t>
              </a:r>
              <a:endParaRPr lang="en-US" altLang="en-US" sz="1800" i="0" dirty="0"/>
            </a:p>
          </p:txBody>
        </p:sp>
        <p:sp>
          <p:nvSpPr>
            <p:cNvPr id="55" name="Rectangle 11"/>
            <p:cNvSpPr>
              <a:spLocks noChangeArrowheads="1"/>
            </p:cNvSpPr>
            <p:nvPr/>
          </p:nvSpPr>
          <p:spPr bwMode="auto">
            <a:xfrm>
              <a:off x="2496" y="2880"/>
              <a:ext cx="576" cy="336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i="0"/>
                <a:t>2</a:t>
              </a:r>
              <a:r>
                <a:rPr lang="en-US" altLang="en-US" sz="2400" b="1" i="0" baseline="30000"/>
                <a:t>k-3</a:t>
              </a:r>
            </a:p>
          </p:txBody>
        </p:sp>
        <p:sp>
          <p:nvSpPr>
            <p:cNvPr id="56" name="Line 16"/>
            <p:cNvSpPr>
              <a:spLocks noChangeShapeType="1"/>
            </p:cNvSpPr>
            <p:nvPr/>
          </p:nvSpPr>
          <p:spPr bwMode="auto">
            <a:xfrm flipH="1">
              <a:off x="1680" y="2448"/>
              <a:ext cx="38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57" name="Line 17"/>
            <p:cNvSpPr>
              <a:spLocks noChangeShapeType="1"/>
            </p:cNvSpPr>
            <p:nvPr/>
          </p:nvSpPr>
          <p:spPr bwMode="auto">
            <a:xfrm>
              <a:off x="2448" y="2448"/>
              <a:ext cx="33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58" name="Rectangle 37"/>
            <p:cNvSpPr>
              <a:spLocks noChangeArrowheads="1"/>
            </p:cNvSpPr>
            <p:nvPr/>
          </p:nvSpPr>
          <p:spPr bwMode="auto">
            <a:xfrm>
              <a:off x="1872" y="2448"/>
              <a:ext cx="768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/>
                <a:t>split in half</a:t>
              </a:r>
            </a:p>
          </p:txBody>
        </p:sp>
      </p:grp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3124200" y="3350441"/>
            <a:ext cx="1756954" cy="533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 i="0"/>
              <a:t>2</a:t>
            </a:r>
            <a:r>
              <a:rPr lang="en-US" altLang="en-US" sz="2400" b="1" i="0" baseline="30000"/>
              <a:t>k-2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5" grpId="0" animBg="1"/>
      <p:bldP spid="36" grpId="0" animBg="1"/>
      <p:bldP spid="37" grpId="0" animBg="1"/>
      <p:bldP spid="3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992B30-7F94-4069-AC50-C6A1B8BBB81B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5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Buddy System: </a:t>
            </a:r>
            <a:r>
              <a:rPr lang="en-US" altLang="en-US" sz="3800" b="1" dirty="0"/>
              <a:t>Implementation</a:t>
            </a:r>
          </a:p>
        </p:txBody>
      </p:sp>
      <p:sp>
        <p:nvSpPr>
          <p:cNvPr id="759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Keep an array </a:t>
            </a:r>
            <a:r>
              <a:rPr lang="en-US" altLang="en-US" b="1" dirty="0">
                <a:latin typeface="Courier New" pitchFamily="49" charset="0"/>
              </a:rPr>
              <a:t>A[0…K]</a:t>
            </a:r>
            <a:r>
              <a:rPr lang="en-US" altLang="en-US" dirty="0"/>
              <a:t>, where </a:t>
            </a:r>
            <a:r>
              <a:rPr lang="en-US" altLang="en-US" b="1" dirty="0">
                <a:latin typeface="Courier New" pitchFamily="49" charset="0"/>
              </a:rPr>
              <a:t>2</a:t>
            </a:r>
            <a:r>
              <a:rPr lang="en-US" altLang="en-US" b="1" baseline="30000" dirty="0">
                <a:latin typeface="Courier New" pitchFamily="49" charset="0"/>
              </a:rPr>
              <a:t>K</a:t>
            </a:r>
            <a:r>
              <a:rPr lang="en-US" altLang="en-US" dirty="0"/>
              <a:t> is the largest </a:t>
            </a:r>
            <a:r>
              <a:rPr lang="en-US" altLang="en-US" dirty="0" err="1"/>
              <a:t>allocatable</a:t>
            </a:r>
            <a:r>
              <a:rPr lang="en-US" altLang="en-US" dirty="0"/>
              <a:t> block size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Each array element </a:t>
            </a:r>
            <a:r>
              <a:rPr lang="en-US" altLang="en-US" b="1" dirty="0">
                <a:latin typeface="Courier New" pitchFamily="49" charset="0"/>
              </a:rPr>
              <a:t>A[J]</a:t>
            </a:r>
            <a:r>
              <a:rPr lang="en-US" altLang="en-US" dirty="0"/>
              <a:t> is a linked list which keep tracks of free block(s) of the size</a:t>
            </a:r>
            <a:r>
              <a:rPr lang="en-US" altLang="en-US" b="1" dirty="0">
                <a:latin typeface="Courier New" pitchFamily="49" charset="0"/>
              </a:rPr>
              <a:t> 2</a:t>
            </a:r>
            <a:r>
              <a:rPr lang="en-US" altLang="en-US" b="1" baseline="30000" dirty="0">
                <a:latin typeface="Courier New" pitchFamily="49" charset="0"/>
              </a:rPr>
              <a:t>J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Each free block is indicated just by the starting address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In actual implementation, there may be a smallest </a:t>
            </a:r>
            <a:r>
              <a:rPr lang="en-US" altLang="en-US" dirty="0" err="1"/>
              <a:t>allocatable</a:t>
            </a:r>
            <a:r>
              <a:rPr lang="en-US" altLang="en-US" dirty="0"/>
              <a:t> block size as well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 block that is too small is not cost effective to manage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We will ignore this in the discussion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DD73E6-1B4F-4134-994E-B0BCDF52BCDC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6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Buddy System: </a:t>
            </a:r>
            <a:r>
              <a:rPr lang="en-US" altLang="en-US" sz="3800" b="1" dirty="0"/>
              <a:t>Allocation Algorithm</a:t>
            </a:r>
          </a:p>
        </p:txBody>
      </p:sp>
      <p:sp>
        <p:nvSpPr>
          <p:cNvPr id="76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/>
            <a:r>
              <a:rPr lang="en-US" altLang="en-US" dirty="0"/>
              <a:t>To allocate a block of size </a:t>
            </a:r>
            <a:r>
              <a:rPr lang="en-US" altLang="en-US" b="1" dirty="0">
                <a:solidFill>
                  <a:srgbClr val="0033CC"/>
                </a:solidFill>
              </a:rPr>
              <a:t>N</a:t>
            </a:r>
            <a:r>
              <a:rPr lang="en-US" altLang="en-US" dirty="0"/>
              <a:t>: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 dirty="0"/>
              <a:t>Find the smallest </a:t>
            </a:r>
            <a:r>
              <a:rPr lang="en-US" altLang="en-US" b="1" dirty="0">
                <a:latin typeface="Courier New" pitchFamily="49" charset="0"/>
              </a:rPr>
              <a:t>S</a:t>
            </a:r>
            <a:r>
              <a:rPr lang="en-US" altLang="en-US" dirty="0"/>
              <a:t>, such that </a:t>
            </a:r>
            <a:r>
              <a:rPr lang="en-US" altLang="en-US" b="1" dirty="0">
                <a:latin typeface="Courier New" pitchFamily="49" charset="0"/>
              </a:rPr>
              <a:t>2</a:t>
            </a:r>
            <a:r>
              <a:rPr lang="en-US" altLang="en-US" b="1" baseline="30000" dirty="0">
                <a:latin typeface="Courier New" pitchFamily="49" charset="0"/>
              </a:rPr>
              <a:t>S</a:t>
            </a:r>
            <a:r>
              <a:rPr lang="en-US" altLang="en-US" b="1" dirty="0">
                <a:latin typeface="Courier New" pitchFamily="49" charset="0"/>
              </a:rPr>
              <a:t> &gt;= N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 dirty="0"/>
              <a:t>Access </a:t>
            </a:r>
            <a:r>
              <a:rPr lang="en-US" altLang="en-US" b="1" dirty="0">
                <a:latin typeface="Courier New" pitchFamily="49" charset="0"/>
              </a:rPr>
              <a:t>A[S]</a:t>
            </a:r>
            <a:r>
              <a:rPr lang="en-US" altLang="en-US" dirty="0"/>
              <a:t> for a free block</a:t>
            </a:r>
          </a:p>
          <a:p>
            <a:pPr marL="839788" lvl="1" indent="-495300">
              <a:buFont typeface="Wingdings" pitchFamily="2" charset="2"/>
              <a:buAutoNum type="alphaLcPeriod"/>
            </a:pPr>
            <a:r>
              <a:rPr lang="en-US" altLang="en-US" dirty="0"/>
              <a:t>If free block exists:</a:t>
            </a:r>
          </a:p>
          <a:p>
            <a:pPr marL="1090613" lvl="2" indent="-419100">
              <a:buFont typeface="Wingdings" pitchFamily="2" charset="2"/>
              <a:buChar char="q"/>
            </a:pPr>
            <a:r>
              <a:rPr lang="en-US" altLang="en-US" dirty="0"/>
              <a:t>Remove the block from free block list</a:t>
            </a:r>
          </a:p>
          <a:p>
            <a:pPr marL="1090613" lvl="2" indent="-419100">
              <a:buFont typeface="Wingdings" pitchFamily="2" charset="2"/>
              <a:buChar char="q"/>
            </a:pPr>
            <a:r>
              <a:rPr lang="en-US" altLang="en-US" dirty="0"/>
              <a:t>Allocate the block</a:t>
            </a:r>
          </a:p>
          <a:p>
            <a:pPr marL="839788" lvl="1" indent="-495300">
              <a:buFont typeface="Wingdings" pitchFamily="2" charset="2"/>
              <a:buAutoNum type="alphaLcPeriod"/>
            </a:pPr>
            <a:r>
              <a:rPr lang="en-US" altLang="en-US" dirty="0"/>
              <a:t>Else</a:t>
            </a:r>
          </a:p>
          <a:p>
            <a:pPr marL="1090613" lvl="2" indent="-419100"/>
            <a:r>
              <a:rPr lang="en-US" altLang="en-US" dirty="0"/>
              <a:t>Find the smallest 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R</a:t>
            </a:r>
            <a:r>
              <a:rPr lang="en-US" altLang="en-US" dirty="0"/>
              <a:t> from 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S+1</a:t>
            </a:r>
            <a:r>
              <a:rPr lang="en-US" altLang="en-US" dirty="0">
                <a:solidFill>
                  <a:srgbClr val="0033CC"/>
                </a:solidFill>
              </a:rPr>
              <a:t> to 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K</a:t>
            </a:r>
            <a:r>
              <a:rPr lang="en-US" altLang="en-US" dirty="0"/>
              <a:t>, such that 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A[R]</a:t>
            </a:r>
            <a:r>
              <a:rPr lang="en-US" altLang="en-US" dirty="0"/>
              <a:t> has a free block 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B</a:t>
            </a:r>
          </a:p>
          <a:p>
            <a:pPr marL="1090613" lvl="2" indent="-419100"/>
            <a:r>
              <a:rPr lang="en-US" altLang="en-US" dirty="0"/>
              <a:t>For (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R-1 to S</a:t>
            </a:r>
            <a:r>
              <a:rPr lang="en-US" altLang="en-US" dirty="0"/>
              <a:t>)</a:t>
            </a:r>
          </a:p>
          <a:p>
            <a:pPr marL="1404938" lvl="3" indent="-381000"/>
            <a:r>
              <a:rPr lang="en-US" altLang="en-US" dirty="0"/>
              <a:t>Repeatedly split </a:t>
            </a:r>
            <a:r>
              <a:rPr lang="en-US" altLang="en-US" b="1" dirty="0"/>
              <a:t>B</a:t>
            </a:r>
            <a:r>
              <a:rPr lang="en-US" altLang="en-US" dirty="0"/>
              <a:t> </a:t>
            </a:r>
            <a:r>
              <a:rPr lang="en-US" altLang="en-US" dirty="0">
                <a:sym typeface="Wingdings" pitchFamily="2" charset="2"/>
              </a:rPr>
              <a:t></a:t>
            </a:r>
            <a:r>
              <a:rPr lang="en-US" altLang="en-US" dirty="0"/>
              <a:t>  </a:t>
            </a:r>
            <a:r>
              <a:rPr lang="en-US" altLang="en-US" b="1" dirty="0">
                <a:latin typeface="Courier New" pitchFamily="49" charset="0"/>
              </a:rPr>
              <a:t>A[S...R-1]</a:t>
            </a:r>
            <a:r>
              <a:rPr lang="en-US" altLang="en-US" dirty="0"/>
              <a:t> has a new free block</a:t>
            </a:r>
          </a:p>
          <a:p>
            <a:pPr marL="1090613" lvl="2" indent="-419100">
              <a:buFont typeface="Wingdings" pitchFamily="2" charset="2"/>
              <a:buChar char="q"/>
            </a:pPr>
            <a:r>
              <a:rPr lang="en-US" altLang="en-US" dirty="0" err="1"/>
              <a:t>Goto</a:t>
            </a:r>
            <a:r>
              <a:rPr lang="en-US" altLang="en-US" dirty="0"/>
              <a:t> Step 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489B46-DE34-493D-AC38-FE075CCB9DD3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6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Buddy System: </a:t>
            </a:r>
            <a:r>
              <a:rPr lang="en-US" altLang="en-US" sz="3800" b="1" dirty="0"/>
              <a:t>Deallocation Algorithm</a:t>
            </a:r>
          </a:p>
        </p:txBody>
      </p:sp>
      <p:sp>
        <p:nvSpPr>
          <p:cNvPr id="761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/>
            <a:r>
              <a:rPr lang="en-US" altLang="en-US"/>
              <a:t>To free a block </a:t>
            </a:r>
            <a:r>
              <a:rPr lang="en-US" altLang="en-US" b="1">
                <a:solidFill>
                  <a:srgbClr val="0033CC"/>
                </a:solidFill>
                <a:latin typeface="Courier New" pitchFamily="49" charset="0"/>
              </a:rPr>
              <a:t>B</a:t>
            </a:r>
            <a:r>
              <a:rPr lang="en-US" altLang="en-US"/>
              <a:t>: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/>
              <a:t>Check in </a:t>
            </a:r>
            <a:r>
              <a:rPr lang="en-US" altLang="en-US" b="1">
                <a:latin typeface="Courier New" pitchFamily="49" charset="0"/>
              </a:rPr>
              <a:t>A[S]</a:t>
            </a:r>
            <a:r>
              <a:rPr lang="en-US" altLang="en-US"/>
              <a:t> , where </a:t>
            </a:r>
            <a:r>
              <a:rPr lang="en-US" altLang="en-US" b="1">
                <a:latin typeface="Courier New" pitchFamily="49" charset="0"/>
              </a:rPr>
              <a:t>2</a:t>
            </a:r>
            <a:r>
              <a:rPr lang="en-US" altLang="en-US" b="1" baseline="30000">
                <a:latin typeface="Courier New" pitchFamily="49" charset="0"/>
              </a:rPr>
              <a:t>S</a:t>
            </a:r>
            <a:r>
              <a:rPr lang="en-US" altLang="en-US" b="1">
                <a:latin typeface="Courier New" pitchFamily="49" charset="0"/>
              </a:rPr>
              <a:t> == size of B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/>
              <a:t>If the buddy </a:t>
            </a:r>
            <a:r>
              <a:rPr lang="en-US" altLang="en-US" b="1">
                <a:solidFill>
                  <a:srgbClr val="0033CC"/>
                </a:solidFill>
                <a:latin typeface="Courier New" pitchFamily="49" charset="0"/>
              </a:rPr>
              <a:t>C</a:t>
            </a:r>
            <a:r>
              <a:rPr lang="en-US" altLang="en-US"/>
              <a:t> of </a:t>
            </a:r>
            <a:r>
              <a:rPr lang="en-US" altLang="en-US" b="1">
                <a:solidFill>
                  <a:srgbClr val="0033CC"/>
                </a:solidFill>
                <a:latin typeface="Courier New" pitchFamily="49" charset="0"/>
              </a:rPr>
              <a:t>B</a:t>
            </a:r>
            <a:r>
              <a:rPr lang="en-US" altLang="en-US"/>
              <a:t> exists (also free)</a:t>
            </a:r>
          </a:p>
          <a:p>
            <a:pPr marL="839788" lvl="1" indent="-495300">
              <a:buFont typeface="Wingdings" pitchFamily="2" charset="2"/>
              <a:buAutoNum type="alphaLcPeriod"/>
            </a:pPr>
            <a:r>
              <a:rPr lang="en-US" altLang="en-US"/>
              <a:t>Remove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B</a:t>
            </a:r>
            <a:r>
              <a:rPr lang="en-US" altLang="en-US"/>
              <a:t> and C from list</a:t>
            </a:r>
          </a:p>
          <a:p>
            <a:pPr marL="839788" lvl="1" indent="-495300">
              <a:buFont typeface="Wingdings" pitchFamily="2" charset="2"/>
              <a:buAutoNum type="alphaLcPeriod"/>
            </a:pPr>
            <a:r>
              <a:rPr lang="en-US" altLang="en-US"/>
              <a:t>Merge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B</a:t>
            </a:r>
            <a:r>
              <a:rPr lang="en-US" altLang="en-US"/>
              <a:t> and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C</a:t>
            </a:r>
            <a:r>
              <a:rPr lang="en-US" altLang="en-US"/>
              <a:t> to get a larger block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B'</a:t>
            </a:r>
          </a:p>
          <a:p>
            <a:pPr marL="839788" lvl="1" indent="-495300">
              <a:buFont typeface="Wingdings" pitchFamily="2" charset="2"/>
              <a:buAutoNum type="alphaLcPeriod"/>
            </a:pPr>
            <a:r>
              <a:rPr lang="en-US" altLang="en-US"/>
              <a:t>Goto step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1</a:t>
            </a:r>
            <a:r>
              <a:rPr lang="en-US" altLang="en-US"/>
              <a:t>, where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B </a:t>
            </a:r>
            <a:r>
              <a:rPr lang="en-US" altLang="en-US" sz="3000">
                <a:solidFill>
                  <a:srgbClr val="0033CC"/>
                </a:solidFill>
                <a:latin typeface="Courier New" pitchFamily="49" charset="0"/>
                <a:sym typeface="Wingdings" pitchFamily="2" charset="2"/>
              </a:rPr>
              <a:t>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  <a:sym typeface="Wingdings" pitchFamily="2" charset="2"/>
              </a:rPr>
              <a:t> B'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/>
              <a:t>Else  (buddy of </a:t>
            </a:r>
            <a:r>
              <a:rPr lang="en-US" altLang="en-US" b="1">
                <a:solidFill>
                  <a:srgbClr val="0033CC"/>
                </a:solidFill>
                <a:latin typeface="Courier New" pitchFamily="49" charset="0"/>
              </a:rPr>
              <a:t>B</a:t>
            </a:r>
            <a:r>
              <a:rPr lang="en-US" altLang="en-US"/>
              <a:t> is not free yet)</a:t>
            </a:r>
          </a:p>
          <a:p>
            <a:pPr marL="839788" lvl="1" indent="-495300">
              <a:buFont typeface="Wingdings" pitchFamily="2" charset="2"/>
              <a:buChar char="n"/>
            </a:pPr>
            <a:r>
              <a:rPr lang="en-US" altLang="en-US"/>
              <a:t>Insert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B</a:t>
            </a:r>
            <a:r>
              <a:rPr lang="en-US" altLang="en-US"/>
              <a:t> to the list in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A[S]</a:t>
            </a:r>
          </a:p>
          <a:p>
            <a:pPr marL="839788" lvl="1" indent="-495300">
              <a:buFont typeface="Wingdings" pitchFamily="2" charset="2"/>
              <a:buNone/>
            </a:pPr>
            <a:endParaRPr lang="en-US" altLang="en-US" sz="3000" b="1">
              <a:solidFill>
                <a:srgbClr val="0033CC"/>
              </a:solidFill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7F9B8A-AA55-4B0F-8506-1525FA047137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6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Buddy System: </a:t>
            </a:r>
            <a:r>
              <a:rPr lang="en-US" altLang="en-US" sz="3800" b="1" dirty="0"/>
              <a:t>Where is my Buddy?</a:t>
            </a:r>
          </a:p>
        </p:txBody>
      </p:sp>
      <p:sp>
        <p:nvSpPr>
          <p:cNvPr id="76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600" dirty="0"/>
              <a:t>Observe that:</a:t>
            </a:r>
          </a:p>
          <a:p>
            <a:pPr lvl="1">
              <a:lnSpc>
                <a:spcPct val="80000"/>
              </a:lnSpc>
            </a:pPr>
            <a:r>
              <a:rPr lang="en-US" altLang="en-US" sz="2100" dirty="0"/>
              <a:t>Given block address </a:t>
            </a:r>
            <a:r>
              <a:rPr lang="en-US" altLang="en-US" sz="2100" b="1" dirty="0">
                <a:latin typeface="Courier New" pitchFamily="49" charset="0"/>
              </a:rPr>
              <a:t>A</a:t>
            </a:r>
            <a:r>
              <a:rPr lang="en-US" altLang="en-US" sz="2100" dirty="0"/>
              <a:t> is </a:t>
            </a:r>
            <a:r>
              <a:rPr lang="en-US" altLang="en-US" sz="2100" b="1" dirty="0">
                <a:latin typeface="Courier New" pitchFamily="49" charset="0"/>
              </a:rPr>
              <a:t>xxxx</a:t>
            </a:r>
            <a:r>
              <a:rPr lang="en-US" altLang="en-US" sz="2100" b="1" dirty="0">
                <a:solidFill>
                  <a:srgbClr val="C00000"/>
                </a:solidFill>
                <a:latin typeface="Courier New" pitchFamily="49" charset="0"/>
              </a:rPr>
              <a:t>0</a:t>
            </a:r>
            <a:r>
              <a:rPr lang="en-US" altLang="en-US" sz="2100" dirty="0">
                <a:latin typeface="Courier New" pitchFamily="49" charset="0"/>
              </a:rPr>
              <a:t>0..00</a:t>
            </a:r>
            <a:r>
              <a:rPr lang="en-US" altLang="en-US" sz="2100" baseline="-25000" dirty="0">
                <a:latin typeface="Courier New" pitchFamily="49" charset="0"/>
              </a:rPr>
              <a:t>2</a:t>
            </a:r>
          </a:p>
          <a:p>
            <a:pPr lvl="1">
              <a:lnSpc>
                <a:spcPct val="80000"/>
              </a:lnSpc>
            </a:pPr>
            <a:r>
              <a:rPr lang="en-US" altLang="en-US" sz="2100" dirty="0"/>
              <a:t>Get 2 blocks of half the size after splitting: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300" dirty="0"/>
              <a:t>		</a:t>
            </a:r>
            <a:r>
              <a:rPr lang="en-US" altLang="en-US" sz="2300" b="1" dirty="0">
                <a:latin typeface="Courier New" pitchFamily="49" charset="0"/>
              </a:rPr>
              <a:t>B</a:t>
            </a:r>
            <a:r>
              <a:rPr lang="en-US" altLang="en-US" sz="2300" dirty="0">
                <a:latin typeface="Courier New" pitchFamily="49" charset="0"/>
              </a:rPr>
              <a:t> = </a:t>
            </a:r>
            <a:r>
              <a:rPr lang="en-US" altLang="en-US" sz="2300" b="1" dirty="0">
                <a:latin typeface="Courier New" pitchFamily="49" charset="0"/>
              </a:rPr>
              <a:t>xxxx</a:t>
            </a:r>
            <a:r>
              <a:rPr lang="en-US" altLang="en-US" sz="2300" b="1" dirty="0">
                <a:solidFill>
                  <a:srgbClr val="C00000"/>
                </a:solidFill>
                <a:latin typeface="Courier New" pitchFamily="49" charset="0"/>
              </a:rPr>
              <a:t>0</a:t>
            </a:r>
            <a:r>
              <a:rPr lang="en-US" altLang="en-US" sz="2300" dirty="0">
                <a:latin typeface="Courier New" pitchFamily="49" charset="0"/>
              </a:rPr>
              <a:t>..00</a:t>
            </a:r>
            <a:r>
              <a:rPr lang="en-US" altLang="en-US" sz="2300" baseline="-25000" dirty="0">
                <a:latin typeface="Courier New" pitchFamily="49" charset="0"/>
              </a:rPr>
              <a:t>2</a:t>
            </a:r>
            <a:r>
              <a:rPr lang="en-US" altLang="en-US" sz="2300" i="1" dirty="0"/>
              <a:t> </a:t>
            </a:r>
            <a:r>
              <a:rPr lang="en-US" altLang="en-US" sz="2300" dirty="0"/>
              <a:t>and </a:t>
            </a:r>
            <a:r>
              <a:rPr lang="en-US" altLang="en-US" sz="2300" b="1" dirty="0">
                <a:latin typeface="Courier New" pitchFamily="49" charset="0"/>
              </a:rPr>
              <a:t>C</a:t>
            </a:r>
            <a:r>
              <a:rPr lang="en-US" altLang="en-US" sz="2300" dirty="0">
                <a:latin typeface="Courier New" pitchFamily="49" charset="0"/>
              </a:rPr>
              <a:t> = </a:t>
            </a:r>
            <a:r>
              <a:rPr lang="en-US" altLang="en-US" sz="2300" b="1" dirty="0">
                <a:latin typeface="Courier New" pitchFamily="49" charset="0"/>
              </a:rPr>
              <a:t>xxxx</a:t>
            </a:r>
            <a:r>
              <a:rPr lang="en-US" altLang="en-US" sz="2300" b="1" dirty="0">
                <a:solidFill>
                  <a:srgbClr val="C00000"/>
                </a:solidFill>
                <a:latin typeface="Courier New" pitchFamily="49" charset="0"/>
              </a:rPr>
              <a:t>1</a:t>
            </a:r>
            <a:r>
              <a:rPr lang="en-US" altLang="en-US" sz="2300" dirty="0">
                <a:latin typeface="Courier New" pitchFamily="49" charset="0"/>
              </a:rPr>
              <a:t>..00</a:t>
            </a:r>
            <a:r>
              <a:rPr lang="en-US" altLang="en-US" sz="2300" baseline="-25000" dirty="0">
                <a:latin typeface="Courier New" pitchFamily="49" charset="0"/>
              </a:rPr>
              <a:t>2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altLang="en-US" sz="2300" baseline="-25000" dirty="0">
              <a:latin typeface="Courier New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600" dirty="0"/>
              <a:t>Example:</a:t>
            </a:r>
          </a:p>
          <a:p>
            <a:pPr lvl="1">
              <a:lnSpc>
                <a:spcPct val="80000"/>
              </a:lnSpc>
            </a:pPr>
            <a:r>
              <a:rPr lang="en-US" altLang="en-US" b="1" dirty="0">
                <a:latin typeface="Courier New" pitchFamily="49" charset="0"/>
              </a:rPr>
              <a:t>A = 0 (0</a:t>
            </a:r>
            <a:r>
              <a:rPr lang="en-US" altLang="en-US" b="1" dirty="0">
                <a:solidFill>
                  <a:srgbClr val="C00000"/>
                </a:solidFill>
                <a:latin typeface="Courier New" pitchFamily="49" charset="0"/>
              </a:rPr>
              <a:t>0</a:t>
            </a:r>
            <a:r>
              <a:rPr lang="en-US" altLang="en-US" b="1" dirty="0">
                <a:latin typeface="Courier New" pitchFamily="49" charset="0"/>
              </a:rPr>
              <a:t>0000</a:t>
            </a:r>
            <a:r>
              <a:rPr lang="en-US" altLang="en-US" sz="2100" b="1" baseline="-25000" dirty="0">
                <a:latin typeface="Courier New" pitchFamily="49" charset="0"/>
              </a:rPr>
              <a:t>2</a:t>
            </a:r>
            <a:r>
              <a:rPr lang="en-US" altLang="en-US" b="1" dirty="0">
                <a:latin typeface="Courier New" pitchFamily="49" charset="0"/>
              </a:rPr>
              <a:t>), size = 32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After splitting:</a:t>
            </a:r>
          </a:p>
          <a:p>
            <a:pPr lvl="2">
              <a:lnSpc>
                <a:spcPct val="80000"/>
              </a:lnSpc>
            </a:pPr>
            <a:r>
              <a:rPr lang="en-US" altLang="en-US" sz="2400" b="1" dirty="0">
                <a:latin typeface="Courier New" pitchFamily="49" charset="0"/>
              </a:rPr>
              <a:t>B</a:t>
            </a:r>
            <a:r>
              <a:rPr lang="en-US" altLang="en-US" sz="2400" dirty="0">
                <a:latin typeface="Courier New" pitchFamily="49" charset="0"/>
              </a:rPr>
              <a:t> = </a:t>
            </a:r>
            <a:r>
              <a:rPr lang="en-US" altLang="en-US" sz="2400" b="1" dirty="0">
                <a:latin typeface="Courier New" pitchFamily="49" charset="0"/>
              </a:rPr>
              <a:t>0</a:t>
            </a:r>
            <a:r>
              <a:rPr lang="en-US" altLang="en-US" sz="2400" dirty="0">
                <a:latin typeface="Courier New" pitchFamily="49" charset="0"/>
              </a:rPr>
              <a:t>  (</a:t>
            </a:r>
            <a:r>
              <a:rPr lang="en-US" altLang="en-US" sz="2400" b="1" dirty="0">
                <a:latin typeface="Courier New" pitchFamily="49" charset="0"/>
              </a:rPr>
              <a:t>0</a:t>
            </a:r>
            <a:r>
              <a:rPr lang="en-US" altLang="en-US" sz="2400" b="1" dirty="0">
                <a:solidFill>
                  <a:srgbClr val="C00000"/>
                </a:solidFill>
                <a:latin typeface="Courier New" pitchFamily="49" charset="0"/>
              </a:rPr>
              <a:t>0</a:t>
            </a:r>
            <a:r>
              <a:rPr lang="en-US" altLang="en-US" sz="2400" dirty="0">
                <a:latin typeface="Courier New" pitchFamily="49" charset="0"/>
              </a:rPr>
              <a:t>0000</a:t>
            </a:r>
            <a:r>
              <a:rPr lang="en-US" altLang="en-US" sz="1900" baseline="-25000" dirty="0">
                <a:latin typeface="Courier New" pitchFamily="49" charset="0"/>
              </a:rPr>
              <a:t>2</a:t>
            </a:r>
            <a:r>
              <a:rPr lang="en-US" altLang="en-US" sz="2400" dirty="0">
                <a:latin typeface="Courier New" pitchFamily="49" charset="0"/>
              </a:rPr>
              <a:t>), </a:t>
            </a:r>
            <a:r>
              <a:rPr lang="en-US" altLang="en-US" sz="2400" b="1" dirty="0">
                <a:latin typeface="Courier New" pitchFamily="49" charset="0"/>
              </a:rPr>
              <a:t>size = 16</a:t>
            </a:r>
          </a:p>
          <a:p>
            <a:pPr lvl="2">
              <a:lnSpc>
                <a:spcPct val="80000"/>
              </a:lnSpc>
            </a:pPr>
            <a:r>
              <a:rPr lang="en-US" altLang="en-US" sz="2400" b="1" dirty="0">
                <a:latin typeface="Courier New" pitchFamily="49" charset="0"/>
              </a:rPr>
              <a:t>C</a:t>
            </a:r>
            <a:r>
              <a:rPr lang="en-US" altLang="en-US" sz="2400" dirty="0">
                <a:latin typeface="Courier New" pitchFamily="49" charset="0"/>
              </a:rPr>
              <a:t> = </a:t>
            </a:r>
            <a:r>
              <a:rPr lang="en-US" altLang="en-US" sz="2400" b="1" dirty="0">
                <a:latin typeface="Courier New" pitchFamily="49" charset="0"/>
              </a:rPr>
              <a:t>16</a:t>
            </a:r>
            <a:r>
              <a:rPr lang="en-US" altLang="en-US" sz="2400" dirty="0">
                <a:latin typeface="Courier New" pitchFamily="49" charset="0"/>
              </a:rPr>
              <a:t> (</a:t>
            </a:r>
            <a:r>
              <a:rPr lang="en-US" altLang="en-US" sz="2400" b="1" dirty="0">
                <a:latin typeface="Courier New" pitchFamily="49" charset="0"/>
              </a:rPr>
              <a:t>0</a:t>
            </a:r>
            <a:r>
              <a:rPr lang="en-US" altLang="en-US" sz="2400" b="1" dirty="0">
                <a:solidFill>
                  <a:srgbClr val="C00000"/>
                </a:solidFill>
                <a:latin typeface="Courier New" pitchFamily="49" charset="0"/>
              </a:rPr>
              <a:t>1</a:t>
            </a:r>
            <a:r>
              <a:rPr lang="en-US" altLang="en-US" sz="2400" dirty="0">
                <a:latin typeface="Courier New" pitchFamily="49" charset="0"/>
              </a:rPr>
              <a:t>0000</a:t>
            </a:r>
            <a:r>
              <a:rPr lang="en-US" altLang="en-US" sz="1900" baseline="-25000" dirty="0">
                <a:latin typeface="Courier New" pitchFamily="49" charset="0"/>
              </a:rPr>
              <a:t>2</a:t>
            </a:r>
            <a:r>
              <a:rPr lang="en-US" altLang="en-US" sz="2400" dirty="0">
                <a:latin typeface="Courier New" pitchFamily="49" charset="0"/>
              </a:rPr>
              <a:t>), </a:t>
            </a:r>
            <a:r>
              <a:rPr lang="en-US" altLang="en-US" sz="2400" b="1" dirty="0">
                <a:latin typeface="Courier New" pitchFamily="49" charset="0"/>
              </a:rPr>
              <a:t>size = 16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So, two blocks </a:t>
            </a:r>
            <a:r>
              <a:rPr lang="en-US" altLang="en-US" b="1" dirty="0">
                <a:latin typeface="Courier New" pitchFamily="49" charset="0"/>
              </a:rPr>
              <a:t>B</a:t>
            </a:r>
            <a:r>
              <a:rPr lang="en-US" altLang="en-US" dirty="0"/>
              <a:t> and </a:t>
            </a:r>
            <a:r>
              <a:rPr lang="en-US" altLang="en-US" b="1" dirty="0">
                <a:latin typeface="Courier New" pitchFamily="49" charset="0"/>
              </a:rPr>
              <a:t>C</a:t>
            </a:r>
            <a:r>
              <a:rPr lang="en-US" altLang="en-US" dirty="0"/>
              <a:t> are buddy of size </a:t>
            </a:r>
            <a:r>
              <a:rPr lang="en-US" altLang="en-US" b="1" dirty="0">
                <a:latin typeface="Courier New" pitchFamily="49" charset="0"/>
              </a:rPr>
              <a:t>S</a:t>
            </a:r>
            <a:r>
              <a:rPr lang="en-US" altLang="en-US" dirty="0"/>
              <a:t>, if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The </a:t>
            </a:r>
            <a:r>
              <a:rPr lang="en-US" altLang="en-US" sz="3000" b="1" dirty="0" err="1">
                <a:latin typeface="Courier New" pitchFamily="49" charset="0"/>
              </a:rPr>
              <a:t>S</a:t>
            </a:r>
            <a:r>
              <a:rPr lang="en-US" altLang="en-US" baseline="30000" dirty="0" err="1"/>
              <a:t>th</a:t>
            </a:r>
            <a:r>
              <a:rPr lang="en-US" altLang="en-US" dirty="0"/>
              <a:t> bit of </a:t>
            </a:r>
            <a:r>
              <a:rPr lang="en-US" altLang="en-US" sz="3000" b="1" dirty="0">
                <a:latin typeface="Courier New" pitchFamily="49" charset="0"/>
              </a:rPr>
              <a:t>B</a:t>
            </a:r>
            <a:r>
              <a:rPr lang="en-US" altLang="en-US" dirty="0"/>
              <a:t> and </a:t>
            </a:r>
            <a:r>
              <a:rPr lang="en-US" altLang="en-US" sz="3000" b="1" dirty="0">
                <a:latin typeface="Courier New" pitchFamily="49" charset="0"/>
              </a:rPr>
              <a:t>C</a:t>
            </a:r>
            <a:r>
              <a:rPr lang="en-US" altLang="en-US" dirty="0"/>
              <a:t> is a complement 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The leading bits up to </a:t>
            </a:r>
            <a:r>
              <a:rPr lang="en-US" altLang="en-US" sz="3000" b="1" dirty="0" err="1">
                <a:latin typeface="Courier New" pitchFamily="49" charset="0"/>
              </a:rPr>
              <a:t>S</a:t>
            </a:r>
            <a:r>
              <a:rPr lang="en-US" altLang="en-US" baseline="30000" dirty="0" err="1"/>
              <a:t>th</a:t>
            </a:r>
            <a:r>
              <a:rPr lang="en-US" altLang="en-US" dirty="0"/>
              <a:t> bit of </a:t>
            </a:r>
            <a:r>
              <a:rPr lang="en-US" altLang="en-US" sz="3000" b="1" dirty="0">
                <a:latin typeface="Courier New" pitchFamily="49" charset="0"/>
              </a:rPr>
              <a:t>B</a:t>
            </a:r>
            <a:r>
              <a:rPr lang="en-US" altLang="en-US" dirty="0"/>
              <a:t> and </a:t>
            </a:r>
            <a:r>
              <a:rPr lang="en-US" altLang="en-US" sz="3000" b="1" dirty="0">
                <a:latin typeface="Courier New" pitchFamily="49" charset="0"/>
              </a:rPr>
              <a:t>C</a:t>
            </a:r>
            <a:r>
              <a:rPr lang="en-US" altLang="en-US" dirty="0"/>
              <a:t> are the same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63"/>
          <p:cNvGrpSpPr>
            <a:grpSpLocks/>
          </p:cNvGrpSpPr>
          <p:nvPr/>
        </p:nvGrpSpPr>
        <p:grpSpPr bwMode="auto">
          <a:xfrm>
            <a:off x="4900014" y="5362575"/>
            <a:ext cx="2743200" cy="609600"/>
            <a:chOff x="384" y="3504"/>
            <a:chExt cx="1728" cy="384"/>
          </a:xfrm>
        </p:grpSpPr>
        <p:sp>
          <p:nvSpPr>
            <p:cNvPr id="87" name="Rectangle 31"/>
            <p:cNvSpPr>
              <a:spLocks noChangeArrowheads="1"/>
            </p:cNvSpPr>
            <p:nvPr/>
          </p:nvSpPr>
          <p:spPr bwMode="auto">
            <a:xfrm>
              <a:off x="432" y="3696"/>
              <a:ext cx="1680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Free Memory = 512</a:t>
              </a:r>
            </a:p>
          </p:txBody>
        </p:sp>
        <p:sp>
          <p:nvSpPr>
            <p:cNvPr id="88" name="Text Box 32"/>
            <p:cNvSpPr txBox="1">
              <a:spLocks noChangeArrowheads="1"/>
            </p:cNvSpPr>
            <p:nvPr/>
          </p:nvSpPr>
          <p:spPr bwMode="auto">
            <a:xfrm>
              <a:off x="384" y="3504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0</a:t>
              </a:r>
            </a:p>
          </p:txBody>
        </p:sp>
      </p:grpSp>
      <p:sp>
        <p:nvSpPr>
          <p:cNvPr id="6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70774E-65A6-432A-848D-6A5A0D7734D2}" type="slidenum">
              <a:rPr lang="en-US" altLang="en-US">
                <a:solidFill>
                  <a:srgbClr val="000000"/>
                </a:solidFill>
              </a:rPr>
              <a:pPr/>
              <a:t>38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  <p:sp>
        <p:nvSpPr>
          <p:cNvPr id="76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/>
              <a:t>Buddy System: Example</a:t>
            </a:r>
          </a:p>
        </p:txBody>
      </p:sp>
      <p:grpSp>
        <p:nvGrpSpPr>
          <p:cNvPr id="763968" name="Group 64"/>
          <p:cNvGrpSpPr>
            <a:grpSpLocks/>
          </p:cNvGrpSpPr>
          <p:nvPr/>
        </p:nvGrpSpPr>
        <p:grpSpPr bwMode="auto">
          <a:xfrm>
            <a:off x="609600" y="1371600"/>
            <a:ext cx="1295400" cy="2667000"/>
            <a:chOff x="384" y="864"/>
            <a:chExt cx="816" cy="1680"/>
          </a:xfrm>
        </p:grpSpPr>
        <p:grpSp>
          <p:nvGrpSpPr>
            <p:cNvPr id="763926" name="Group 22"/>
            <p:cNvGrpSpPr>
              <a:grpSpLocks/>
            </p:cNvGrpSpPr>
            <p:nvPr/>
          </p:nvGrpSpPr>
          <p:grpSpPr bwMode="auto">
            <a:xfrm>
              <a:off x="768" y="864"/>
              <a:ext cx="432" cy="1680"/>
              <a:chOff x="624" y="960"/>
              <a:chExt cx="432" cy="1680"/>
            </a:xfrm>
          </p:grpSpPr>
          <p:sp>
            <p:nvSpPr>
              <p:cNvPr id="763908" name="Rectangle 4"/>
              <p:cNvSpPr>
                <a:spLocks noChangeArrowheads="1"/>
              </p:cNvSpPr>
              <p:nvPr/>
            </p:nvSpPr>
            <p:spPr bwMode="auto">
              <a:xfrm>
                <a:off x="624" y="1536"/>
                <a:ext cx="432" cy="528"/>
              </a:xfrm>
              <a:prstGeom prst="rect">
                <a:avLst/>
              </a:prstGeom>
              <a:solidFill>
                <a:srgbClr val="CCFF99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>
                    <a:solidFill>
                      <a:srgbClr val="000000"/>
                    </a:solidFill>
                  </a:rPr>
                  <a:t>…</a:t>
                </a:r>
                <a:br>
                  <a:rPr lang="en-US">
                    <a:solidFill>
                      <a:srgbClr val="000000"/>
                    </a:solidFill>
                  </a:rPr>
                </a:br>
                <a:r>
                  <a:rPr lang="en-US">
                    <a:solidFill>
                      <a:srgbClr val="000000"/>
                    </a:solidFill>
                  </a:rPr>
                  <a:t>…</a:t>
                </a:r>
                <a:br>
                  <a:rPr lang="en-US">
                    <a:solidFill>
                      <a:srgbClr val="000000"/>
                    </a:solidFill>
                  </a:rPr>
                </a:br>
                <a:r>
                  <a:rPr lang="en-US">
                    <a:solidFill>
                      <a:srgbClr val="000000"/>
                    </a:solidFill>
                  </a:rPr>
                  <a:t>…</a:t>
                </a:r>
              </a:p>
            </p:txBody>
          </p:sp>
          <p:sp>
            <p:nvSpPr>
              <p:cNvPr id="763912" name="Rectangle 8"/>
              <p:cNvSpPr>
                <a:spLocks noChangeArrowheads="1"/>
              </p:cNvSpPr>
              <p:nvPr/>
            </p:nvSpPr>
            <p:spPr bwMode="auto">
              <a:xfrm>
                <a:off x="624" y="960"/>
                <a:ext cx="432" cy="288"/>
              </a:xfrm>
              <a:prstGeom prst="rect">
                <a:avLst/>
              </a:prstGeom>
              <a:solidFill>
                <a:srgbClr val="F3FB8D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20" name="Rectangle 16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432" cy="288"/>
              </a:xfrm>
              <a:prstGeom prst="rect">
                <a:avLst/>
              </a:prstGeom>
              <a:solidFill>
                <a:srgbClr val="F3FB8D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21" name="Rectangle 17"/>
              <p:cNvSpPr>
                <a:spLocks noChangeArrowheads="1"/>
              </p:cNvSpPr>
              <p:nvPr/>
            </p:nvSpPr>
            <p:spPr bwMode="auto">
              <a:xfrm>
                <a:off x="624" y="2064"/>
                <a:ext cx="432" cy="288"/>
              </a:xfrm>
              <a:prstGeom prst="rect">
                <a:avLst/>
              </a:prstGeom>
              <a:solidFill>
                <a:srgbClr val="F3FB8D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22" name="Rectangle 18"/>
              <p:cNvSpPr>
                <a:spLocks noChangeArrowheads="1"/>
              </p:cNvSpPr>
              <p:nvPr/>
            </p:nvSpPr>
            <p:spPr bwMode="auto">
              <a:xfrm>
                <a:off x="624" y="2352"/>
                <a:ext cx="432" cy="288"/>
              </a:xfrm>
              <a:prstGeom prst="rect">
                <a:avLst/>
              </a:prstGeom>
              <a:solidFill>
                <a:srgbClr val="F3FB8D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23" name="Line 19"/>
              <p:cNvSpPr>
                <a:spLocks noChangeShapeType="1"/>
              </p:cNvSpPr>
              <p:nvPr/>
            </p:nvSpPr>
            <p:spPr bwMode="auto">
              <a:xfrm>
                <a:off x="624" y="1248"/>
                <a:ext cx="432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24" name="Line 20"/>
              <p:cNvSpPr>
                <a:spLocks noChangeShapeType="1"/>
              </p:cNvSpPr>
              <p:nvPr/>
            </p:nvSpPr>
            <p:spPr bwMode="auto">
              <a:xfrm>
                <a:off x="624" y="2064"/>
                <a:ext cx="432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25" name="Line 21"/>
              <p:cNvSpPr>
                <a:spLocks noChangeShapeType="1"/>
              </p:cNvSpPr>
              <p:nvPr/>
            </p:nvSpPr>
            <p:spPr bwMode="auto">
              <a:xfrm>
                <a:off x="624" y="2352"/>
                <a:ext cx="432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763927" name="Rectangle 23"/>
            <p:cNvSpPr>
              <a:spLocks noChangeArrowheads="1"/>
            </p:cNvSpPr>
            <p:nvPr/>
          </p:nvSpPr>
          <p:spPr bwMode="auto">
            <a:xfrm>
              <a:off x="384" y="864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A[9]</a:t>
              </a:r>
            </a:p>
          </p:txBody>
        </p:sp>
        <p:sp>
          <p:nvSpPr>
            <p:cNvPr id="763928" name="Rectangle 24"/>
            <p:cNvSpPr>
              <a:spLocks noChangeArrowheads="1"/>
            </p:cNvSpPr>
            <p:nvPr/>
          </p:nvSpPr>
          <p:spPr bwMode="auto">
            <a:xfrm>
              <a:off x="384" y="1152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A[8]</a:t>
              </a:r>
            </a:p>
          </p:txBody>
        </p:sp>
        <p:sp>
          <p:nvSpPr>
            <p:cNvPr id="763929" name="Rectangle 25"/>
            <p:cNvSpPr>
              <a:spLocks noChangeArrowheads="1"/>
            </p:cNvSpPr>
            <p:nvPr/>
          </p:nvSpPr>
          <p:spPr bwMode="auto">
            <a:xfrm>
              <a:off x="384" y="2016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A[1]</a:t>
              </a:r>
            </a:p>
          </p:txBody>
        </p:sp>
        <p:sp>
          <p:nvSpPr>
            <p:cNvPr id="763930" name="Rectangle 26"/>
            <p:cNvSpPr>
              <a:spLocks noChangeArrowheads="1"/>
            </p:cNvSpPr>
            <p:nvPr/>
          </p:nvSpPr>
          <p:spPr bwMode="auto">
            <a:xfrm>
              <a:off x="384" y="2304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A[0]</a:t>
              </a:r>
            </a:p>
          </p:txBody>
        </p:sp>
      </p:grpSp>
      <p:grpSp>
        <p:nvGrpSpPr>
          <p:cNvPr id="763969" name="Group 65"/>
          <p:cNvGrpSpPr>
            <a:grpSpLocks/>
          </p:cNvGrpSpPr>
          <p:nvPr/>
        </p:nvGrpSpPr>
        <p:grpSpPr bwMode="auto">
          <a:xfrm>
            <a:off x="1600200" y="1447800"/>
            <a:ext cx="1219200" cy="304800"/>
            <a:chOff x="1008" y="912"/>
            <a:chExt cx="768" cy="192"/>
          </a:xfrm>
        </p:grpSpPr>
        <p:sp>
          <p:nvSpPr>
            <p:cNvPr id="763931" name="Line 27"/>
            <p:cNvSpPr>
              <a:spLocks noChangeShapeType="1"/>
            </p:cNvSpPr>
            <p:nvPr/>
          </p:nvSpPr>
          <p:spPr bwMode="auto">
            <a:xfrm>
              <a:off x="1008" y="100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3932" name="Rectangle 28"/>
            <p:cNvSpPr>
              <a:spLocks noChangeArrowheads="1"/>
            </p:cNvSpPr>
            <p:nvPr/>
          </p:nvSpPr>
          <p:spPr bwMode="auto">
            <a:xfrm>
              <a:off x="1392" y="912"/>
              <a:ext cx="384" cy="19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0</a:t>
              </a:r>
            </a:p>
          </p:txBody>
        </p:sp>
      </p:grpSp>
      <p:grpSp>
        <p:nvGrpSpPr>
          <p:cNvPr id="763967" name="Group 63"/>
          <p:cNvGrpSpPr>
            <a:grpSpLocks/>
          </p:cNvGrpSpPr>
          <p:nvPr/>
        </p:nvGrpSpPr>
        <p:grpSpPr bwMode="auto">
          <a:xfrm>
            <a:off x="762000" y="5334000"/>
            <a:ext cx="2667000" cy="609600"/>
            <a:chOff x="384" y="3504"/>
            <a:chExt cx="1680" cy="384"/>
          </a:xfrm>
        </p:grpSpPr>
        <p:sp>
          <p:nvSpPr>
            <p:cNvPr id="763935" name="Rectangle 31"/>
            <p:cNvSpPr>
              <a:spLocks noChangeArrowheads="1"/>
            </p:cNvSpPr>
            <p:nvPr/>
          </p:nvSpPr>
          <p:spPr bwMode="auto">
            <a:xfrm>
              <a:off x="432" y="3696"/>
              <a:ext cx="1632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Free Memory = 512</a:t>
              </a:r>
            </a:p>
          </p:txBody>
        </p:sp>
        <p:sp>
          <p:nvSpPr>
            <p:cNvPr id="763936" name="Text Box 32"/>
            <p:cNvSpPr txBox="1">
              <a:spLocks noChangeArrowheads="1"/>
            </p:cNvSpPr>
            <p:nvPr/>
          </p:nvSpPr>
          <p:spPr bwMode="auto">
            <a:xfrm>
              <a:off x="384" y="3504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0</a:t>
              </a:r>
            </a:p>
          </p:txBody>
        </p:sp>
      </p:grpSp>
      <p:sp>
        <p:nvSpPr>
          <p:cNvPr id="763937" name="Line 33"/>
          <p:cNvSpPr>
            <a:spLocks noChangeShapeType="1"/>
          </p:cNvSpPr>
          <p:nvPr/>
        </p:nvSpPr>
        <p:spPr bwMode="auto">
          <a:xfrm>
            <a:off x="3962400" y="990600"/>
            <a:ext cx="0" cy="541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63938" name="Oval 34"/>
          <p:cNvSpPr>
            <a:spLocks noChangeArrowheads="1"/>
          </p:cNvSpPr>
          <p:nvPr/>
        </p:nvSpPr>
        <p:spPr bwMode="auto">
          <a:xfrm>
            <a:off x="4226379" y="984250"/>
            <a:ext cx="304800" cy="381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T1</a:t>
            </a:r>
          </a:p>
        </p:txBody>
      </p:sp>
      <p:sp>
        <p:nvSpPr>
          <p:cNvPr id="763939" name="Text Box 35"/>
          <p:cNvSpPr txBox="1">
            <a:spLocks noChangeArrowheads="1"/>
          </p:cNvSpPr>
          <p:nvPr/>
        </p:nvSpPr>
        <p:spPr bwMode="auto">
          <a:xfrm>
            <a:off x="4686300" y="987425"/>
            <a:ext cx="3429000" cy="105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</a:rPr>
              <a:t>Request 100</a:t>
            </a:r>
          </a:p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00000"/>
                </a:solidFill>
              </a:rPr>
              <a:t>Block P allocated at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br>
              <a:rPr lang="en-US" b="1" dirty="0">
                <a:solidFill>
                  <a:srgbClr val="000000"/>
                </a:solidFill>
              </a:rPr>
            </a:br>
            <a:r>
              <a:rPr lang="en-US" b="1" dirty="0">
                <a:solidFill>
                  <a:srgbClr val="000000"/>
                </a:solidFill>
              </a:rPr>
              <a:t>size =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128</a:t>
            </a:r>
          </a:p>
        </p:txBody>
      </p:sp>
      <p:grpSp>
        <p:nvGrpSpPr>
          <p:cNvPr id="763975" name="Group 71"/>
          <p:cNvGrpSpPr>
            <a:grpSpLocks/>
          </p:cNvGrpSpPr>
          <p:nvPr/>
        </p:nvGrpSpPr>
        <p:grpSpPr bwMode="auto">
          <a:xfrm>
            <a:off x="4495800" y="2514600"/>
            <a:ext cx="1295400" cy="2667000"/>
            <a:chOff x="2832" y="1584"/>
            <a:chExt cx="816" cy="1680"/>
          </a:xfrm>
        </p:grpSpPr>
        <p:sp>
          <p:nvSpPr>
            <p:cNvPr id="763949" name="Rectangle 45"/>
            <p:cNvSpPr>
              <a:spLocks noChangeArrowheads="1"/>
            </p:cNvSpPr>
            <p:nvPr/>
          </p:nvSpPr>
          <p:spPr bwMode="auto">
            <a:xfrm>
              <a:off x="2832" y="1584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A[9]</a:t>
              </a:r>
            </a:p>
          </p:txBody>
        </p:sp>
        <p:sp>
          <p:nvSpPr>
            <p:cNvPr id="763950" name="Rectangle 46"/>
            <p:cNvSpPr>
              <a:spLocks noChangeArrowheads="1"/>
            </p:cNvSpPr>
            <p:nvPr/>
          </p:nvSpPr>
          <p:spPr bwMode="auto">
            <a:xfrm>
              <a:off x="2832" y="1872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A[8]</a:t>
              </a:r>
            </a:p>
          </p:txBody>
        </p:sp>
        <p:sp>
          <p:nvSpPr>
            <p:cNvPr id="763952" name="Rectangle 48"/>
            <p:cNvSpPr>
              <a:spLocks noChangeArrowheads="1"/>
            </p:cNvSpPr>
            <p:nvPr/>
          </p:nvSpPr>
          <p:spPr bwMode="auto">
            <a:xfrm>
              <a:off x="2832" y="3024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A[0]</a:t>
              </a:r>
            </a:p>
          </p:txBody>
        </p:sp>
        <p:sp>
          <p:nvSpPr>
            <p:cNvPr id="763941" name="Rectangle 37"/>
            <p:cNvSpPr>
              <a:spLocks noChangeArrowheads="1"/>
            </p:cNvSpPr>
            <p:nvPr/>
          </p:nvSpPr>
          <p:spPr bwMode="auto">
            <a:xfrm>
              <a:off x="3216" y="2448"/>
              <a:ext cx="432" cy="528"/>
            </a:xfrm>
            <a:prstGeom prst="rect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…</a:t>
              </a:r>
              <a:br>
                <a:rPr lang="en-US">
                  <a:solidFill>
                    <a:srgbClr val="000000"/>
                  </a:solidFill>
                </a:rPr>
              </a:br>
              <a:r>
                <a:rPr lang="en-US">
                  <a:solidFill>
                    <a:srgbClr val="000000"/>
                  </a:solidFill>
                </a:rPr>
                <a:t>…</a:t>
              </a:r>
              <a:br>
                <a:rPr lang="en-US">
                  <a:solidFill>
                    <a:srgbClr val="000000"/>
                  </a:solidFill>
                </a:rPr>
              </a:br>
              <a:r>
                <a:rPr lang="en-US">
                  <a:solidFill>
                    <a:srgbClr val="000000"/>
                  </a:solidFill>
                </a:rPr>
                <a:t>…</a:t>
              </a:r>
            </a:p>
          </p:txBody>
        </p:sp>
        <p:sp>
          <p:nvSpPr>
            <p:cNvPr id="763942" name="Rectangle 38"/>
            <p:cNvSpPr>
              <a:spLocks noChangeArrowheads="1"/>
            </p:cNvSpPr>
            <p:nvPr/>
          </p:nvSpPr>
          <p:spPr bwMode="auto">
            <a:xfrm>
              <a:off x="3216" y="1584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3943" name="Rectangle 39"/>
            <p:cNvSpPr>
              <a:spLocks noChangeArrowheads="1"/>
            </p:cNvSpPr>
            <p:nvPr/>
          </p:nvSpPr>
          <p:spPr bwMode="auto">
            <a:xfrm>
              <a:off x="3216" y="1872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3945" name="Rectangle 41"/>
            <p:cNvSpPr>
              <a:spLocks noChangeArrowheads="1"/>
            </p:cNvSpPr>
            <p:nvPr/>
          </p:nvSpPr>
          <p:spPr bwMode="auto">
            <a:xfrm>
              <a:off x="3216" y="2976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3948" name="Line 44"/>
            <p:cNvSpPr>
              <a:spLocks noChangeShapeType="1"/>
            </p:cNvSpPr>
            <p:nvPr/>
          </p:nvSpPr>
          <p:spPr bwMode="auto">
            <a:xfrm>
              <a:off x="3216" y="2976"/>
              <a:ext cx="432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3955" name="Rectangle 51"/>
            <p:cNvSpPr>
              <a:spLocks noChangeArrowheads="1"/>
            </p:cNvSpPr>
            <p:nvPr/>
          </p:nvSpPr>
          <p:spPr bwMode="auto">
            <a:xfrm>
              <a:off x="3216" y="2160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3956" name="Rectangle 52"/>
            <p:cNvSpPr>
              <a:spLocks noChangeArrowheads="1"/>
            </p:cNvSpPr>
            <p:nvPr/>
          </p:nvSpPr>
          <p:spPr bwMode="auto">
            <a:xfrm>
              <a:off x="2832" y="2160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A[7]</a:t>
              </a:r>
            </a:p>
          </p:txBody>
        </p:sp>
      </p:grpSp>
      <p:grpSp>
        <p:nvGrpSpPr>
          <p:cNvPr id="763973" name="Group 69"/>
          <p:cNvGrpSpPr>
            <a:grpSpLocks/>
          </p:cNvGrpSpPr>
          <p:nvPr/>
        </p:nvGrpSpPr>
        <p:grpSpPr bwMode="auto">
          <a:xfrm>
            <a:off x="5638800" y="3505200"/>
            <a:ext cx="1219200" cy="304800"/>
            <a:chOff x="3744" y="2688"/>
            <a:chExt cx="768" cy="192"/>
          </a:xfrm>
        </p:grpSpPr>
        <p:sp>
          <p:nvSpPr>
            <p:cNvPr id="763957" name="Line 53"/>
            <p:cNvSpPr>
              <a:spLocks noChangeShapeType="1"/>
            </p:cNvSpPr>
            <p:nvPr/>
          </p:nvSpPr>
          <p:spPr bwMode="auto">
            <a:xfrm>
              <a:off x="3744" y="278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3958" name="Rectangle 54"/>
            <p:cNvSpPr>
              <a:spLocks noChangeArrowheads="1"/>
            </p:cNvSpPr>
            <p:nvPr/>
          </p:nvSpPr>
          <p:spPr bwMode="auto">
            <a:xfrm>
              <a:off x="4128" y="2688"/>
              <a:ext cx="384" cy="19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128</a:t>
              </a:r>
            </a:p>
          </p:txBody>
        </p:sp>
      </p:grpSp>
      <p:grpSp>
        <p:nvGrpSpPr>
          <p:cNvPr id="763976" name="Group 72"/>
          <p:cNvGrpSpPr>
            <a:grpSpLocks/>
          </p:cNvGrpSpPr>
          <p:nvPr/>
        </p:nvGrpSpPr>
        <p:grpSpPr bwMode="auto">
          <a:xfrm>
            <a:off x="5638800" y="2590800"/>
            <a:ext cx="1219200" cy="304800"/>
            <a:chOff x="1008" y="912"/>
            <a:chExt cx="768" cy="192"/>
          </a:xfrm>
        </p:grpSpPr>
        <p:sp>
          <p:nvSpPr>
            <p:cNvPr id="763977" name="Line 73"/>
            <p:cNvSpPr>
              <a:spLocks noChangeShapeType="1"/>
            </p:cNvSpPr>
            <p:nvPr/>
          </p:nvSpPr>
          <p:spPr bwMode="auto">
            <a:xfrm>
              <a:off x="1008" y="100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3978" name="Rectangle 74"/>
            <p:cNvSpPr>
              <a:spLocks noChangeArrowheads="1"/>
            </p:cNvSpPr>
            <p:nvPr/>
          </p:nvSpPr>
          <p:spPr bwMode="auto">
            <a:xfrm>
              <a:off x="1392" y="912"/>
              <a:ext cx="384" cy="19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0</a:t>
              </a:r>
            </a:p>
          </p:txBody>
        </p:sp>
      </p:grpSp>
      <p:grpSp>
        <p:nvGrpSpPr>
          <p:cNvPr id="763985" name="Group 81"/>
          <p:cNvGrpSpPr>
            <a:grpSpLocks/>
          </p:cNvGrpSpPr>
          <p:nvPr/>
        </p:nvGrpSpPr>
        <p:grpSpPr bwMode="auto">
          <a:xfrm>
            <a:off x="5638800" y="3048000"/>
            <a:ext cx="2362200" cy="304800"/>
            <a:chOff x="3552" y="1920"/>
            <a:chExt cx="1488" cy="192"/>
          </a:xfrm>
        </p:grpSpPr>
        <p:grpSp>
          <p:nvGrpSpPr>
            <p:cNvPr id="763972" name="Group 68"/>
            <p:cNvGrpSpPr>
              <a:grpSpLocks/>
            </p:cNvGrpSpPr>
            <p:nvPr/>
          </p:nvGrpSpPr>
          <p:grpSpPr bwMode="auto">
            <a:xfrm>
              <a:off x="4272" y="1920"/>
              <a:ext cx="768" cy="192"/>
              <a:chOff x="3744" y="2400"/>
              <a:chExt cx="768" cy="192"/>
            </a:xfrm>
          </p:grpSpPr>
          <p:sp>
            <p:nvSpPr>
              <p:cNvPr id="763953" name="Line 49"/>
              <p:cNvSpPr>
                <a:spLocks noChangeShapeType="1"/>
              </p:cNvSpPr>
              <p:nvPr/>
            </p:nvSpPr>
            <p:spPr bwMode="auto">
              <a:xfrm>
                <a:off x="3744" y="2496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54" name="Rectangle 50"/>
              <p:cNvSpPr>
                <a:spLocks noChangeArrowheads="1"/>
              </p:cNvSpPr>
              <p:nvPr/>
            </p:nvSpPr>
            <p:spPr bwMode="auto">
              <a:xfrm>
                <a:off x="4128" y="2400"/>
                <a:ext cx="384" cy="192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>
                    <a:solidFill>
                      <a:srgbClr val="000000"/>
                    </a:solidFill>
                  </a:rPr>
                  <a:t>256</a:t>
                </a:r>
              </a:p>
            </p:txBody>
          </p:sp>
        </p:grpSp>
        <p:grpSp>
          <p:nvGrpSpPr>
            <p:cNvPr id="763979" name="Group 75"/>
            <p:cNvGrpSpPr>
              <a:grpSpLocks/>
            </p:cNvGrpSpPr>
            <p:nvPr/>
          </p:nvGrpSpPr>
          <p:grpSpPr bwMode="auto">
            <a:xfrm>
              <a:off x="3552" y="1920"/>
              <a:ext cx="768" cy="192"/>
              <a:chOff x="1008" y="912"/>
              <a:chExt cx="768" cy="192"/>
            </a:xfrm>
          </p:grpSpPr>
          <p:sp>
            <p:nvSpPr>
              <p:cNvPr id="763980" name="Line 76"/>
              <p:cNvSpPr>
                <a:spLocks noChangeShapeType="1"/>
              </p:cNvSpPr>
              <p:nvPr/>
            </p:nvSpPr>
            <p:spPr bwMode="auto">
              <a:xfrm>
                <a:off x="1008" y="100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81" name="Rectangle 77"/>
              <p:cNvSpPr>
                <a:spLocks noChangeArrowheads="1"/>
              </p:cNvSpPr>
              <p:nvPr/>
            </p:nvSpPr>
            <p:spPr bwMode="auto">
              <a:xfrm>
                <a:off x="1392" y="912"/>
                <a:ext cx="384" cy="192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>
                    <a:solidFill>
                      <a:srgbClr val="000000"/>
                    </a:solidFill>
                  </a:rPr>
                  <a:t>0</a:t>
                </a:r>
              </a:p>
            </p:txBody>
          </p:sp>
        </p:grpSp>
      </p:grpSp>
      <p:grpSp>
        <p:nvGrpSpPr>
          <p:cNvPr id="763982" name="Group 78"/>
          <p:cNvGrpSpPr>
            <a:grpSpLocks/>
          </p:cNvGrpSpPr>
          <p:nvPr/>
        </p:nvGrpSpPr>
        <p:grpSpPr bwMode="auto">
          <a:xfrm>
            <a:off x="5638800" y="3048000"/>
            <a:ext cx="1219200" cy="304800"/>
            <a:chOff x="3744" y="2400"/>
            <a:chExt cx="768" cy="192"/>
          </a:xfrm>
        </p:grpSpPr>
        <p:sp>
          <p:nvSpPr>
            <p:cNvPr id="763983" name="Line 79"/>
            <p:cNvSpPr>
              <a:spLocks noChangeShapeType="1"/>
            </p:cNvSpPr>
            <p:nvPr/>
          </p:nvSpPr>
          <p:spPr bwMode="auto">
            <a:xfrm>
              <a:off x="3744" y="249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3984" name="Rectangle 80"/>
            <p:cNvSpPr>
              <a:spLocks noChangeArrowheads="1"/>
            </p:cNvSpPr>
            <p:nvPr/>
          </p:nvSpPr>
          <p:spPr bwMode="auto">
            <a:xfrm>
              <a:off x="4128" y="2400"/>
              <a:ext cx="384" cy="19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00"/>
                  </a:solidFill>
                </a:rPr>
                <a:t>256</a:t>
              </a:r>
            </a:p>
          </p:txBody>
        </p:sp>
      </p:grpSp>
      <p:grpSp>
        <p:nvGrpSpPr>
          <p:cNvPr id="763986" name="Group 82"/>
          <p:cNvGrpSpPr>
            <a:grpSpLocks/>
          </p:cNvGrpSpPr>
          <p:nvPr/>
        </p:nvGrpSpPr>
        <p:grpSpPr bwMode="auto">
          <a:xfrm>
            <a:off x="5638800" y="3505200"/>
            <a:ext cx="2362200" cy="304800"/>
            <a:chOff x="3552" y="1920"/>
            <a:chExt cx="1488" cy="192"/>
          </a:xfrm>
        </p:grpSpPr>
        <p:grpSp>
          <p:nvGrpSpPr>
            <p:cNvPr id="763987" name="Group 83"/>
            <p:cNvGrpSpPr>
              <a:grpSpLocks/>
            </p:cNvGrpSpPr>
            <p:nvPr/>
          </p:nvGrpSpPr>
          <p:grpSpPr bwMode="auto">
            <a:xfrm>
              <a:off x="4272" y="1920"/>
              <a:ext cx="768" cy="192"/>
              <a:chOff x="3744" y="2400"/>
              <a:chExt cx="768" cy="192"/>
            </a:xfrm>
          </p:grpSpPr>
          <p:sp>
            <p:nvSpPr>
              <p:cNvPr id="763988" name="Line 84"/>
              <p:cNvSpPr>
                <a:spLocks noChangeShapeType="1"/>
              </p:cNvSpPr>
              <p:nvPr/>
            </p:nvSpPr>
            <p:spPr bwMode="auto">
              <a:xfrm>
                <a:off x="3744" y="2496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89" name="Rectangle 85"/>
              <p:cNvSpPr>
                <a:spLocks noChangeArrowheads="1"/>
              </p:cNvSpPr>
              <p:nvPr/>
            </p:nvSpPr>
            <p:spPr bwMode="auto">
              <a:xfrm>
                <a:off x="4128" y="2400"/>
                <a:ext cx="384" cy="192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>
                    <a:solidFill>
                      <a:srgbClr val="000000"/>
                    </a:solidFill>
                  </a:rPr>
                  <a:t>128</a:t>
                </a:r>
              </a:p>
            </p:txBody>
          </p:sp>
        </p:grpSp>
        <p:grpSp>
          <p:nvGrpSpPr>
            <p:cNvPr id="763990" name="Group 86"/>
            <p:cNvGrpSpPr>
              <a:grpSpLocks/>
            </p:cNvGrpSpPr>
            <p:nvPr/>
          </p:nvGrpSpPr>
          <p:grpSpPr bwMode="auto">
            <a:xfrm>
              <a:off x="3552" y="1920"/>
              <a:ext cx="768" cy="192"/>
              <a:chOff x="1008" y="912"/>
              <a:chExt cx="768" cy="192"/>
            </a:xfrm>
          </p:grpSpPr>
          <p:sp>
            <p:nvSpPr>
              <p:cNvPr id="763991" name="Line 87"/>
              <p:cNvSpPr>
                <a:spLocks noChangeShapeType="1"/>
              </p:cNvSpPr>
              <p:nvPr/>
            </p:nvSpPr>
            <p:spPr bwMode="auto">
              <a:xfrm>
                <a:off x="1008" y="100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92" name="Rectangle 88"/>
              <p:cNvSpPr>
                <a:spLocks noChangeArrowheads="1"/>
              </p:cNvSpPr>
              <p:nvPr/>
            </p:nvSpPr>
            <p:spPr bwMode="auto">
              <a:xfrm>
                <a:off x="1392" y="912"/>
                <a:ext cx="384" cy="192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>
                    <a:solidFill>
                      <a:srgbClr val="000000"/>
                    </a:solidFill>
                  </a:rPr>
                  <a:t>0</a:t>
                </a:r>
              </a:p>
            </p:txBody>
          </p:sp>
        </p:grpSp>
      </p:grpSp>
      <p:sp>
        <p:nvSpPr>
          <p:cNvPr id="69" name="Line 44"/>
          <p:cNvSpPr>
            <a:spLocks noChangeShapeType="1"/>
          </p:cNvSpPr>
          <p:nvPr/>
        </p:nvSpPr>
        <p:spPr bwMode="auto">
          <a:xfrm>
            <a:off x="5094006" y="3429000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0" name="Line 44"/>
          <p:cNvSpPr>
            <a:spLocks noChangeShapeType="1"/>
          </p:cNvSpPr>
          <p:nvPr/>
        </p:nvSpPr>
        <p:spPr bwMode="auto">
          <a:xfrm>
            <a:off x="5094006" y="2971800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2" name="Rounded Rectangle 1"/>
          <p:cNvSpPr/>
          <p:nvPr/>
        </p:nvSpPr>
        <p:spPr bwMode="auto">
          <a:xfrm>
            <a:off x="7391400" y="855133"/>
            <a:ext cx="1295400" cy="838200"/>
          </a:xfrm>
          <a:prstGeom prst="roundRect">
            <a:avLst>
              <a:gd name="adj" fmla="val 9333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/>
              <a:t>2</a:t>
            </a:r>
            <a:r>
              <a:rPr lang="en-US" sz="2400" b="1" baseline="30000" dirty="0">
                <a:solidFill>
                  <a:srgbClr val="C00000"/>
                </a:solidFill>
              </a:rPr>
              <a:t>S</a:t>
            </a:r>
            <a:r>
              <a:rPr lang="en-US" sz="2400" dirty="0"/>
              <a:t>=128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S </a:t>
            </a:r>
            <a:r>
              <a:rPr lang="en-US" sz="2400" dirty="0"/>
              <a:t>=</a:t>
            </a:r>
            <a:r>
              <a:rPr lang="en-US" sz="2400" b="1" dirty="0">
                <a:solidFill>
                  <a:srgbClr val="C00000"/>
                </a:solidFill>
              </a:rPr>
              <a:t> 7</a:t>
            </a:r>
          </a:p>
        </p:txBody>
      </p:sp>
      <p:grpSp>
        <p:nvGrpSpPr>
          <p:cNvPr id="79" name="Group 70"/>
          <p:cNvGrpSpPr>
            <a:grpSpLocks/>
          </p:cNvGrpSpPr>
          <p:nvPr/>
        </p:nvGrpSpPr>
        <p:grpSpPr bwMode="auto">
          <a:xfrm>
            <a:off x="4900014" y="5367964"/>
            <a:ext cx="2743200" cy="609600"/>
            <a:chOff x="3408" y="3744"/>
            <a:chExt cx="1728" cy="384"/>
          </a:xfrm>
        </p:grpSpPr>
        <p:sp>
          <p:nvSpPr>
            <p:cNvPr id="80" name="Rectangle 55"/>
            <p:cNvSpPr>
              <a:spLocks noChangeArrowheads="1"/>
            </p:cNvSpPr>
            <p:nvPr/>
          </p:nvSpPr>
          <p:spPr bwMode="auto">
            <a:xfrm>
              <a:off x="4320" y="3936"/>
              <a:ext cx="816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82" name="Rectangle 58"/>
            <p:cNvSpPr>
              <a:spLocks noChangeArrowheads="1"/>
            </p:cNvSpPr>
            <p:nvPr/>
          </p:nvSpPr>
          <p:spPr bwMode="auto">
            <a:xfrm>
              <a:off x="3462" y="3936"/>
              <a:ext cx="858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83" name="Text Box 59"/>
            <p:cNvSpPr txBox="1">
              <a:spLocks noChangeArrowheads="1"/>
            </p:cNvSpPr>
            <p:nvPr/>
          </p:nvSpPr>
          <p:spPr bwMode="auto">
            <a:xfrm>
              <a:off x="3408" y="3744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85" name="Text Box 61"/>
            <p:cNvSpPr txBox="1">
              <a:spLocks noChangeArrowheads="1"/>
            </p:cNvSpPr>
            <p:nvPr/>
          </p:nvSpPr>
          <p:spPr bwMode="auto">
            <a:xfrm>
              <a:off x="4224" y="3744"/>
              <a:ext cx="43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dirty="0">
                  <a:solidFill>
                    <a:srgbClr val="000000"/>
                  </a:solidFill>
                </a:rPr>
                <a:t>256</a:t>
              </a:r>
            </a:p>
          </p:txBody>
        </p:sp>
      </p:grpSp>
      <p:grpSp>
        <p:nvGrpSpPr>
          <p:cNvPr id="72" name="Group 70"/>
          <p:cNvGrpSpPr>
            <a:grpSpLocks/>
          </p:cNvGrpSpPr>
          <p:nvPr/>
        </p:nvGrpSpPr>
        <p:grpSpPr bwMode="auto">
          <a:xfrm>
            <a:off x="4906738" y="5368471"/>
            <a:ext cx="2743200" cy="609600"/>
            <a:chOff x="3408" y="3744"/>
            <a:chExt cx="1728" cy="384"/>
          </a:xfrm>
        </p:grpSpPr>
        <p:sp>
          <p:nvSpPr>
            <p:cNvPr id="73" name="Rectangle 55"/>
            <p:cNvSpPr>
              <a:spLocks noChangeArrowheads="1"/>
            </p:cNvSpPr>
            <p:nvPr/>
          </p:nvSpPr>
          <p:spPr bwMode="auto">
            <a:xfrm>
              <a:off x="4320" y="3936"/>
              <a:ext cx="816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74" name="Rectangle 57" descr="Divot"/>
            <p:cNvSpPr>
              <a:spLocks noChangeArrowheads="1"/>
            </p:cNvSpPr>
            <p:nvPr/>
          </p:nvSpPr>
          <p:spPr bwMode="auto">
            <a:xfrm>
              <a:off x="3456" y="3936"/>
              <a:ext cx="432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75" name="Rectangle 58"/>
            <p:cNvSpPr>
              <a:spLocks noChangeArrowheads="1"/>
            </p:cNvSpPr>
            <p:nvPr/>
          </p:nvSpPr>
          <p:spPr bwMode="auto">
            <a:xfrm>
              <a:off x="3888" y="3936"/>
              <a:ext cx="432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76" name="Text Box 59"/>
            <p:cNvSpPr txBox="1">
              <a:spLocks noChangeArrowheads="1"/>
            </p:cNvSpPr>
            <p:nvPr/>
          </p:nvSpPr>
          <p:spPr bwMode="auto">
            <a:xfrm>
              <a:off x="3408" y="3744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77" name="Text Box 60"/>
            <p:cNvSpPr txBox="1">
              <a:spLocks noChangeArrowheads="1"/>
            </p:cNvSpPr>
            <p:nvPr/>
          </p:nvSpPr>
          <p:spPr bwMode="auto">
            <a:xfrm>
              <a:off x="3792" y="3744"/>
              <a:ext cx="57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dirty="0">
                  <a:solidFill>
                    <a:srgbClr val="000000"/>
                  </a:solidFill>
                </a:rPr>
                <a:t>128</a:t>
              </a:r>
            </a:p>
          </p:txBody>
        </p:sp>
        <p:sp>
          <p:nvSpPr>
            <p:cNvPr id="78" name="Text Box 61"/>
            <p:cNvSpPr txBox="1">
              <a:spLocks noChangeArrowheads="1"/>
            </p:cNvSpPr>
            <p:nvPr/>
          </p:nvSpPr>
          <p:spPr bwMode="auto">
            <a:xfrm>
              <a:off x="4224" y="3744"/>
              <a:ext cx="43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256</a:t>
              </a:r>
            </a:p>
          </p:txBody>
        </p:sp>
      </p:grpSp>
      <p:grpSp>
        <p:nvGrpSpPr>
          <p:cNvPr id="763974" name="Group 70"/>
          <p:cNvGrpSpPr>
            <a:grpSpLocks/>
          </p:cNvGrpSpPr>
          <p:nvPr/>
        </p:nvGrpSpPr>
        <p:grpSpPr bwMode="auto">
          <a:xfrm>
            <a:off x="4900014" y="5365270"/>
            <a:ext cx="2743200" cy="609600"/>
            <a:chOff x="3408" y="3744"/>
            <a:chExt cx="1728" cy="384"/>
          </a:xfrm>
        </p:grpSpPr>
        <p:sp>
          <p:nvSpPr>
            <p:cNvPr id="763959" name="Rectangle 55"/>
            <p:cNvSpPr>
              <a:spLocks noChangeArrowheads="1"/>
            </p:cNvSpPr>
            <p:nvPr/>
          </p:nvSpPr>
          <p:spPr bwMode="auto">
            <a:xfrm>
              <a:off x="4320" y="3936"/>
              <a:ext cx="816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763961" name="Rectangle 57" descr="Divot"/>
            <p:cNvSpPr>
              <a:spLocks noChangeArrowheads="1"/>
            </p:cNvSpPr>
            <p:nvPr/>
          </p:nvSpPr>
          <p:spPr bwMode="auto">
            <a:xfrm>
              <a:off x="3456" y="3936"/>
              <a:ext cx="432" cy="192"/>
            </a:xfrm>
            <a:prstGeom prst="rect">
              <a:avLst/>
            </a:prstGeom>
            <a:pattFill prst="divot">
              <a:fgClr>
                <a:srgbClr val="33CC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P</a:t>
              </a:r>
            </a:p>
          </p:txBody>
        </p:sp>
        <p:sp>
          <p:nvSpPr>
            <p:cNvPr id="763962" name="Rectangle 58"/>
            <p:cNvSpPr>
              <a:spLocks noChangeArrowheads="1"/>
            </p:cNvSpPr>
            <p:nvPr/>
          </p:nvSpPr>
          <p:spPr bwMode="auto">
            <a:xfrm>
              <a:off x="3888" y="3936"/>
              <a:ext cx="432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763963" name="Text Box 59"/>
            <p:cNvSpPr txBox="1">
              <a:spLocks noChangeArrowheads="1"/>
            </p:cNvSpPr>
            <p:nvPr/>
          </p:nvSpPr>
          <p:spPr bwMode="auto">
            <a:xfrm>
              <a:off x="3408" y="3744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763964" name="Text Box 60"/>
            <p:cNvSpPr txBox="1">
              <a:spLocks noChangeArrowheads="1"/>
            </p:cNvSpPr>
            <p:nvPr/>
          </p:nvSpPr>
          <p:spPr bwMode="auto">
            <a:xfrm>
              <a:off x="3792" y="3744"/>
              <a:ext cx="57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dirty="0">
                  <a:solidFill>
                    <a:srgbClr val="000000"/>
                  </a:solidFill>
                </a:rPr>
                <a:t>128</a:t>
              </a:r>
            </a:p>
          </p:txBody>
        </p:sp>
        <p:sp>
          <p:nvSpPr>
            <p:cNvPr id="763965" name="Text Box 61"/>
            <p:cNvSpPr txBox="1">
              <a:spLocks noChangeArrowheads="1"/>
            </p:cNvSpPr>
            <p:nvPr/>
          </p:nvSpPr>
          <p:spPr bwMode="auto">
            <a:xfrm>
              <a:off x="4224" y="3744"/>
              <a:ext cx="43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256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681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63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3938" grpId="0" animBg="1"/>
      <p:bldP spid="763939" grpId="0" uiExpand="1" build="p"/>
      <p:bldP spid="69" grpId="0" animBg="1"/>
      <p:bldP spid="69" grpId="1" animBg="1"/>
      <p:bldP spid="70" grpId="0" animBg="1"/>
      <p:bldP spid="70" grpId="1" animBg="1"/>
      <p:bldP spid="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78B7F5-4300-4900-9471-731B02927421}" type="slidenum">
              <a:rPr lang="en-US" altLang="en-US">
                <a:solidFill>
                  <a:srgbClr val="000000"/>
                </a:solidFill>
              </a:rPr>
              <a:pPr/>
              <a:t>39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  <p:sp>
        <p:nvSpPr>
          <p:cNvPr id="76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/>
              <a:t>Buddy System: Example (cont)</a:t>
            </a:r>
          </a:p>
        </p:txBody>
      </p:sp>
      <p:sp>
        <p:nvSpPr>
          <p:cNvPr id="764952" name="Oval 24"/>
          <p:cNvSpPr>
            <a:spLocks noChangeArrowheads="1"/>
          </p:cNvSpPr>
          <p:nvPr/>
        </p:nvSpPr>
        <p:spPr bwMode="auto">
          <a:xfrm>
            <a:off x="609600" y="1066800"/>
            <a:ext cx="304800" cy="381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T2</a:t>
            </a:r>
          </a:p>
        </p:txBody>
      </p:sp>
      <p:sp>
        <p:nvSpPr>
          <p:cNvPr id="764953" name="Text Box 25"/>
          <p:cNvSpPr txBox="1">
            <a:spLocks noChangeArrowheads="1"/>
          </p:cNvSpPr>
          <p:nvPr/>
        </p:nvSpPr>
        <p:spPr bwMode="auto">
          <a:xfrm>
            <a:off x="990600" y="1066800"/>
            <a:ext cx="3429000" cy="105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</a:rPr>
              <a:t>Request 250</a:t>
            </a:r>
          </a:p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00000"/>
                </a:solidFill>
              </a:rPr>
              <a:t>Block Q allocated at </a:t>
            </a:r>
            <a:r>
              <a:rPr lang="en-US" b="1" dirty="0">
                <a:solidFill>
                  <a:srgbClr val="CC0000"/>
                </a:solidFill>
              </a:rPr>
              <a:t>256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br>
              <a:rPr lang="en-US" b="1" dirty="0">
                <a:solidFill>
                  <a:srgbClr val="000000"/>
                </a:solidFill>
              </a:rPr>
            </a:br>
            <a:r>
              <a:rPr lang="en-US" b="1" dirty="0">
                <a:solidFill>
                  <a:srgbClr val="000000"/>
                </a:solidFill>
              </a:rPr>
              <a:t>size = 128</a:t>
            </a:r>
          </a:p>
        </p:txBody>
      </p:sp>
      <p:grpSp>
        <p:nvGrpSpPr>
          <p:cNvPr id="764978" name="Group 50"/>
          <p:cNvGrpSpPr>
            <a:grpSpLocks/>
          </p:cNvGrpSpPr>
          <p:nvPr/>
        </p:nvGrpSpPr>
        <p:grpSpPr bwMode="auto">
          <a:xfrm>
            <a:off x="762000" y="5410200"/>
            <a:ext cx="2743200" cy="609600"/>
            <a:chOff x="720" y="3216"/>
            <a:chExt cx="1728" cy="384"/>
          </a:xfrm>
        </p:grpSpPr>
        <p:sp>
          <p:nvSpPr>
            <p:cNvPr id="764969" name="Rectangle 41" descr="Divot"/>
            <p:cNvSpPr>
              <a:spLocks noChangeArrowheads="1"/>
            </p:cNvSpPr>
            <p:nvPr/>
          </p:nvSpPr>
          <p:spPr bwMode="auto">
            <a:xfrm>
              <a:off x="1632" y="3408"/>
              <a:ext cx="816" cy="192"/>
            </a:xfrm>
            <a:prstGeom prst="rect">
              <a:avLst/>
            </a:prstGeom>
            <a:pattFill prst="divot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Q</a:t>
              </a:r>
            </a:p>
          </p:txBody>
        </p:sp>
        <p:sp>
          <p:nvSpPr>
            <p:cNvPr id="764970" name="Rectangle 42" descr="Divot"/>
            <p:cNvSpPr>
              <a:spLocks noChangeArrowheads="1"/>
            </p:cNvSpPr>
            <p:nvPr/>
          </p:nvSpPr>
          <p:spPr bwMode="auto">
            <a:xfrm>
              <a:off x="768" y="3408"/>
              <a:ext cx="432" cy="192"/>
            </a:xfrm>
            <a:prstGeom prst="rect">
              <a:avLst/>
            </a:prstGeom>
            <a:pattFill prst="divot">
              <a:fgClr>
                <a:srgbClr val="33CC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P</a:t>
              </a:r>
            </a:p>
          </p:txBody>
        </p:sp>
        <p:sp>
          <p:nvSpPr>
            <p:cNvPr id="764971" name="Rectangle 43"/>
            <p:cNvSpPr>
              <a:spLocks noChangeArrowheads="1"/>
            </p:cNvSpPr>
            <p:nvPr/>
          </p:nvSpPr>
          <p:spPr bwMode="auto">
            <a:xfrm>
              <a:off x="1200" y="3408"/>
              <a:ext cx="432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764972" name="Text Box 44"/>
            <p:cNvSpPr txBox="1">
              <a:spLocks noChangeArrowheads="1"/>
            </p:cNvSpPr>
            <p:nvPr/>
          </p:nvSpPr>
          <p:spPr bwMode="auto">
            <a:xfrm>
              <a:off x="720" y="3216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764973" name="Text Box 45"/>
            <p:cNvSpPr txBox="1">
              <a:spLocks noChangeArrowheads="1"/>
            </p:cNvSpPr>
            <p:nvPr/>
          </p:nvSpPr>
          <p:spPr bwMode="auto">
            <a:xfrm>
              <a:off x="1152" y="3216"/>
              <a:ext cx="57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128</a:t>
              </a:r>
            </a:p>
          </p:txBody>
        </p:sp>
        <p:sp>
          <p:nvSpPr>
            <p:cNvPr id="764974" name="Text Box 46"/>
            <p:cNvSpPr txBox="1">
              <a:spLocks noChangeArrowheads="1"/>
            </p:cNvSpPr>
            <p:nvPr/>
          </p:nvSpPr>
          <p:spPr bwMode="auto">
            <a:xfrm>
              <a:off x="1584" y="3216"/>
              <a:ext cx="43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256</a:t>
              </a:r>
            </a:p>
          </p:txBody>
        </p:sp>
      </p:grpSp>
      <p:grpSp>
        <p:nvGrpSpPr>
          <p:cNvPr id="765008" name="Group 80"/>
          <p:cNvGrpSpPr>
            <a:grpSpLocks/>
          </p:cNvGrpSpPr>
          <p:nvPr/>
        </p:nvGrpSpPr>
        <p:grpSpPr bwMode="auto">
          <a:xfrm>
            <a:off x="685800" y="2362200"/>
            <a:ext cx="1295400" cy="2667000"/>
            <a:chOff x="432" y="1488"/>
            <a:chExt cx="816" cy="1680"/>
          </a:xfrm>
        </p:grpSpPr>
        <p:sp>
          <p:nvSpPr>
            <p:cNvPr id="764954" name="Rectangle 26"/>
            <p:cNvSpPr>
              <a:spLocks noChangeArrowheads="1"/>
            </p:cNvSpPr>
            <p:nvPr/>
          </p:nvSpPr>
          <p:spPr bwMode="auto">
            <a:xfrm>
              <a:off x="816" y="2352"/>
              <a:ext cx="432" cy="528"/>
            </a:xfrm>
            <a:prstGeom prst="rect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…</a:t>
              </a:r>
              <a:br>
                <a:rPr lang="en-US">
                  <a:solidFill>
                    <a:srgbClr val="000000"/>
                  </a:solidFill>
                </a:rPr>
              </a:br>
              <a:r>
                <a:rPr lang="en-US">
                  <a:solidFill>
                    <a:srgbClr val="000000"/>
                  </a:solidFill>
                </a:rPr>
                <a:t>…</a:t>
              </a:r>
              <a:br>
                <a:rPr lang="en-US">
                  <a:solidFill>
                    <a:srgbClr val="000000"/>
                  </a:solidFill>
                </a:rPr>
              </a:br>
              <a:r>
                <a:rPr lang="en-US">
                  <a:solidFill>
                    <a:srgbClr val="000000"/>
                  </a:solidFill>
                </a:rPr>
                <a:t>…</a:t>
              </a:r>
            </a:p>
          </p:txBody>
        </p:sp>
        <p:sp>
          <p:nvSpPr>
            <p:cNvPr id="764955" name="Rectangle 27"/>
            <p:cNvSpPr>
              <a:spLocks noChangeArrowheads="1"/>
            </p:cNvSpPr>
            <p:nvPr/>
          </p:nvSpPr>
          <p:spPr bwMode="auto">
            <a:xfrm>
              <a:off x="816" y="1488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4956" name="Rectangle 28"/>
            <p:cNvSpPr>
              <a:spLocks noChangeArrowheads="1"/>
            </p:cNvSpPr>
            <p:nvPr/>
          </p:nvSpPr>
          <p:spPr bwMode="auto">
            <a:xfrm>
              <a:off x="816" y="1776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4957" name="Rectangle 29"/>
            <p:cNvSpPr>
              <a:spLocks noChangeArrowheads="1"/>
            </p:cNvSpPr>
            <p:nvPr/>
          </p:nvSpPr>
          <p:spPr bwMode="auto">
            <a:xfrm>
              <a:off x="816" y="2880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4958" name="Line 30"/>
            <p:cNvSpPr>
              <a:spLocks noChangeShapeType="1"/>
            </p:cNvSpPr>
            <p:nvPr/>
          </p:nvSpPr>
          <p:spPr bwMode="auto">
            <a:xfrm>
              <a:off x="816" y="1488"/>
              <a:ext cx="432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4959" name="Line 31"/>
            <p:cNvSpPr>
              <a:spLocks noChangeShapeType="1"/>
            </p:cNvSpPr>
            <p:nvPr/>
          </p:nvSpPr>
          <p:spPr bwMode="auto">
            <a:xfrm>
              <a:off x="816" y="2880"/>
              <a:ext cx="432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4960" name="Rectangle 32"/>
            <p:cNvSpPr>
              <a:spLocks noChangeArrowheads="1"/>
            </p:cNvSpPr>
            <p:nvPr/>
          </p:nvSpPr>
          <p:spPr bwMode="auto">
            <a:xfrm>
              <a:off x="432" y="1488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A[9]</a:t>
              </a:r>
            </a:p>
          </p:txBody>
        </p:sp>
        <p:sp>
          <p:nvSpPr>
            <p:cNvPr id="764961" name="Rectangle 33"/>
            <p:cNvSpPr>
              <a:spLocks noChangeArrowheads="1"/>
            </p:cNvSpPr>
            <p:nvPr/>
          </p:nvSpPr>
          <p:spPr bwMode="auto">
            <a:xfrm>
              <a:off x="432" y="1776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A[8]</a:t>
              </a:r>
            </a:p>
          </p:txBody>
        </p:sp>
        <p:sp>
          <p:nvSpPr>
            <p:cNvPr id="764962" name="Rectangle 34"/>
            <p:cNvSpPr>
              <a:spLocks noChangeArrowheads="1"/>
            </p:cNvSpPr>
            <p:nvPr/>
          </p:nvSpPr>
          <p:spPr bwMode="auto">
            <a:xfrm>
              <a:off x="432" y="2928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A[0]</a:t>
              </a:r>
            </a:p>
          </p:txBody>
        </p:sp>
        <p:sp>
          <p:nvSpPr>
            <p:cNvPr id="764965" name="Rectangle 37"/>
            <p:cNvSpPr>
              <a:spLocks noChangeArrowheads="1"/>
            </p:cNvSpPr>
            <p:nvPr/>
          </p:nvSpPr>
          <p:spPr bwMode="auto">
            <a:xfrm>
              <a:off x="816" y="2064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4966" name="Rectangle 38"/>
            <p:cNvSpPr>
              <a:spLocks noChangeArrowheads="1"/>
            </p:cNvSpPr>
            <p:nvPr/>
          </p:nvSpPr>
          <p:spPr bwMode="auto">
            <a:xfrm>
              <a:off x="432" y="2064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A[7]</a:t>
              </a:r>
            </a:p>
          </p:txBody>
        </p:sp>
      </p:grpSp>
      <p:grpSp>
        <p:nvGrpSpPr>
          <p:cNvPr id="765007" name="Group 79"/>
          <p:cNvGrpSpPr>
            <a:grpSpLocks/>
          </p:cNvGrpSpPr>
          <p:nvPr/>
        </p:nvGrpSpPr>
        <p:grpSpPr bwMode="auto">
          <a:xfrm>
            <a:off x="1676400" y="3352800"/>
            <a:ext cx="1219200" cy="304800"/>
            <a:chOff x="1056" y="2112"/>
            <a:chExt cx="768" cy="192"/>
          </a:xfrm>
        </p:grpSpPr>
        <p:sp>
          <p:nvSpPr>
            <p:cNvPr id="764967" name="Line 39"/>
            <p:cNvSpPr>
              <a:spLocks noChangeShapeType="1"/>
            </p:cNvSpPr>
            <p:nvPr/>
          </p:nvSpPr>
          <p:spPr bwMode="auto">
            <a:xfrm>
              <a:off x="1056" y="220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4968" name="Rectangle 40"/>
            <p:cNvSpPr>
              <a:spLocks noChangeArrowheads="1"/>
            </p:cNvSpPr>
            <p:nvPr/>
          </p:nvSpPr>
          <p:spPr bwMode="auto">
            <a:xfrm>
              <a:off x="1440" y="2112"/>
              <a:ext cx="384" cy="19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128</a:t>
              </a:r>
            </a:p>
          </p:txBody>
        </p:sp>
      </p:grpSp>
      <p:sp>
        <p:nvSpPr>
          <p:cNvPr id="764979" name="Line 51"/>
          <p:cNvSpPr>
            <a:spLocks noChangeShapeType="1"/>
          </p:cNvSpPr>
          <p:nvPr/>
        </p:nvSpPr>
        <p:spPr bwMode="auto">
          <a:xfrm>
            <a:off x="4191000" y="1066800"/>
            <a:ext cx="0" cy="533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grpSp>
        <p:nvGrpSpPr>
          <p:cNvPr id="765012" name="Group 84"/>
          <p:cNvGrpSpPr>
            <a:grpSpLocks/>
          </p:cNvGrpSpPr>
          <p:nvPr/>
        </p:nvGrpSpPr>
        <p:grpSpPr bwMode="auto">
          <a:xfrm>
            <a:off x="4648200" y="1066800"/>
            <a:ext cx="3810000" cy="381000"/>
            <a:chOff x="2928" y="672"/>
            <a:chExt cx="2400" cy="240"/>
          </a:xfrm>
        </p:grpSpPr>
        <p:sp>
          <p:nvSpPr>
            <p:cNvPr id="764980" name="Oval 52"/>
            <p:cNvSpPr>
              <a:spLocks noChangeArrowheads="1"/>
            </p:cNvSpPr>
            <p:nvPr/>
          </p:nvSpPr>
          <p:spPr bwMode="auto">
            <a:xfrm>
              <a:off x="2928" y="672"/>
              <a:ext cx="192" cy="24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dash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rgbClr val="000000"/>
                  </a:solidFill>
                </a:rPr>
                <a:t>T3</a:t>
              </a:r>
            </a:p>
          </p:txBody>
        </p:sp>
        <p:sp>
          <p:nvSpPr>
            <p:cNvPr id="764981" name="Text Box 53"/>
            <p:cNvSpPr txBox="1">
              <a:spLocks noChangeArrowheads="1"/>
            </p:cNvSpPr>
            <p:nvPr/>
          </p:nvSpPr>
          <p:spPr bwMode="auto">
            <a:xfrm>
              <a:off x="3168" y="672"/>
              <a:ext cx="216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0033CC"/>
                  </a:solidFill>
                </a:rPr>
                <a:t>Free Block P</a:t>
              </a:r>
              <a:r>
                <a:rPr lang="en-US" b="1">
                  <a:solidFill>
                    <a:srgbClr val="000000"/>
                  </a:solidFill>
                </a:rPr>
                <a:t> </a:t>
              </a:r>
            </a:p>
          </p:txBody>
        </p:sp>
      </p:grpSp>
      <p:sp>
        <p:nvSpPr>
          <p:cNvPr id="764990" name="Rectangle 62"/>
          <p:cNvSpPr>
            <a:spLocks noChangeArrowheads="1"/>
          </p:cNvSpPr>
          <p:nvPr/>
        </p:nvSpPr>
        <p:spPr bwMode="auto">
          <a:xfrm>
            <a:off x="5486400" y="3581400"/>
            <a:ext cx="685800" cy="838200"/>
          </a:xfrm>
          <a:prstGeom prst="rect">
            <a:avLst/>
          </a:prstGeom>
          <a:solidFill>
            <a:srgbClr val="CC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rgbClr val="000000"/>
                </a:solidFill>
              </a:rPr>
              <a:t>…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…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764991" name="Rectangle 63"/>
          <p:cNvSpPr>
            <a:spLocks noChangeArrowheads="1"/>
          </p:cNvSpPr>
          <p:nvPr/>
        </p:nvSpPr>
        <p:spPr bwMode="auto">
          <a:xfrm>
            <a:off x="5486400" y="2209800"/>
            <a:ext cx="685800" cy="457200"/>
          </a:xfrm>
          <a:prstGeom prst="rect">
            <a:avLst/>
          </a:prstGeom>
          <a:solidFill>
            <a:srgbClr val="F3FB8D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64992" name="Rectangle 64"/>
          <p:cNvSpPr>
            <a:spLocks noChangeArrowheads="1"/>
          </p:cNvSpPr>
          <p:nvPr/>
        </p:nvSpPr>
        <p:spPr bwMode="auto">
          <a:xfrm>
            <a:off x="5486400" y="2667000"/>
            <a:ext cx="685800" cy="457200"/>
          </a:xfrm>
          <a:prstGeom prst="rect">
            <a:avLst/>
          </a:prstGeom>
          <a:solidFill>
            <a:srgbClr val="F3FB8D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64993" name="Rectangle 65"/>
          <p:cNvSpPr>
            <a:spLocks noChangeArrowheads="1"/>
          </p:cNvSpPr>
          <p:nvPr/>
        </p:nvSpPr>
        <p:spPr bwMode="auto">
          <a:xfrm>
            <a:off x="5486400" y="4419600"/>
            <a:ext cx="685800" cy="457200"/>
          </a:xfrm>
          <a:prstGeom prst="rect">
            <a:avLst/>
          </a:prstGeom>
          <a:solidFill>
            <a:srgbClr val="F3FB8D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64994" name="Line 66"/>
          <p:cNvSpPr>
            <a:spLocks noChangeShapeType="1"/>
          </p:cNvSpPr>
          <p:nvPr/>
        </p:nvSpPr>
        <p:spPr bwMode="auto">
          <a:xfrm>
            <a:off x="5486400" y="2209800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64995" name="Line 67"/>
          <p:cNvSpPr>
            <a:spLocks noChangeShapeType="1"/>
          </p:cNvSpPr>
          <p:nvPr/>
        </p:nvSpPr>
        <p:spPr bwMode="auto">
          <a:xfrm>
            <a:off x="5486400" y="4419600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64996" name="Rectangle 68"/>
          <p:cNvSpPr>
            <a:spLocks noChangeArrowheads="1"/>
          </p:cNvSpPr>
          <p:nvPr/>
        </p:nvSpPr>
        <p:spPr bwMode="auto">
          <a:xfrm>
            <a:off x="4876800" y="2209800"/>
            <a:ext cx="685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/>
            <a:r>
              <a:rPr lang="en-US" b="1">
                <a:solidFill>
                  <a:srgbClr val="000000"/>
                </a:solidFill>
              </a:rPr>
              <a:t>A[9]</a:t>
            </a:r>
          </a:p>
        </p:txBody>
      </p:sp>
      <p:sp>
        <p:nvSpPr>
          <p:cNvPr id="764997" name="Rectangle 69"/>
          <p:cNvSpPr>
            <a:spLocks noChangeArrowheads="1"/>
          </p:cNvSpPr>
          <p:nvPr/>
        </p:nvSpPr>
        <p:spPr bwMode="auto">
          <a:xfrm>
            <a:off x="4876800" y="2667000"/>
            <a:ext cx="685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/>
            <a:r>
              <a:rPr lang="en-US" b="1">
                <a:solidFill>
                  <a:srgbClr val="000000"/>
                </a:solidFill>
              </a:rPr>
              <a:t>A[8]</a:t>
            </a:r>
          </a:p>
        </p:txBody>
      </p:sp>
      <p:sp>
        <p:nvSpPr>
          <p:cNvPr id="764998" name="Rectangle 70"/>
          <p:cNvSpPr>
            <a:spLocks noChangeArrowheads="1"/>
          </p:cNvSpPr>
          <p:nvPr/>
        </p:nvSpPr>
        <p:spPr bwMode="auto">
          <a:xfrm>
            <a:off x="4876800" y="4495800"/>
            <a:ext cx="685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/>
            <a:r>
              <a:rPr lang="en-US" b="1">
                <a:solidFill>
                  <a:srgbClr val="000000"/>
                </a:solidFill>
              </a:rPr>
              <a:t>A[0]</a:t>
            </a:r>
          </a:p>
        </p:txBody>
      </p:sp>
      <p:sp>
        <p:nvSpPr>
          <p:cNvPr id="764999" name="Rectangle 71"/>
          <p:cNvSpPr>
            <a:spLocks noChangeArrowheads="1"/>
          </p:cNvSpPr>
          <p:nvPr/>
        </p:nvSpPr>
        <p:spPr bwMode="auto">
          <a:xfrm>
            <a:off x="5486400" y="3124200"/>
            <a:ext cx="685800" cy="457200"/>
          </a:xfrm>
          <a:prstGeom prst="rect">
            <a:avLst/>
          </a:prstGeom>
          <a:solidFill>
            <a:srgbClr val="F3FB8D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65000" name="Rectangle 72"/>
          <p:cNvSpPr>
            <a:spLocks noChangeArrowheads="1"/>
          </p:cNvSpPr>
          <p:nvPr/>
        </p:nvSpPr>
        <p:spPr bwMode="auto">
          <a:xfrm>
            <a:off x="4876800" y="3124200"/>
            <a:ext cx="685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/>
            <a:r>
              <a:rPr lang="en-US" b="1">
                <a:solidFill>
                  <a:srgbClr val="000000"/>
                </a:solidFill>
              </a:rPr>
              <a:t>A[7]</a:t>
            </a:r>
          </a:p>
        </p:txBody>
      </p:sp>
      <p:sp>
        <p:nvSpPr>
          <p:cNvPr id="765002" name="Rectangle 74"/>
          <p:cNvSpPr>
            <a:spLocks noChangeArrowheads="1"/>
          </p:cNvSpPr>
          <p:nvPr/>
        </p:nvSpPr>
        <p:spPr bwMode="auto">
          <a:xfrm>
            <a:off x="7391400" y="3200400"/>
            <a:ext cx="609600" cy="304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765004" name="Line 76"/>
          <p:cNvSpPr>
            <a:spLocks noChangeShapeType="1"/>
          </p:cNvSpPr>
          <p:nvPr/>
        </p:nvSpPr>
        <p:spPr bwMode="auto">
          <a:xfrm>
            <a:off x="5486400" y="3124200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grpSp>
        <p:nvGrpSpPr>
          <p:cNvPr id="765009" name="Group 81"/>
          <p:cNvGrpSpPr>
            <a:grpSpLocks/>
          </p:cNvGrpSpPr>
          <p:nvPr/>
        </p:nvGrpSpPr>
        <p:grpSpPr bwMode="auto">
          <a:xfrm>
            <a:off x="1676400" y="2895600"/>
            <a:ext cx="1219200" cy="304800"/>
            <a:chOff x="3744" y="2400"/>
            <a:chExt cx="768" cy="192"/>
          </a:xfrm>
        </p:grpSpPr>
        <p:sp>
          <p:nvSpPr>
            <p:cNvPr id="765010" name="Line 82"/>
            <p:cNvSpPr>
              <a:spLocks noChangeShapeType="1"/>
            </p:cNvSpPr>
            <p:nvPr/>
          </p:nvSpPr>
          <p:spPr bwMode="auto">
            <a:xfrm>
              <a:off x="3744" y="249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5011" name="Rectangle 83"/>
            <p:cNvSpPr>
              <a:spLocks noChangeArrowheads="1"/>
            </p:cNvSpPr>
            <p:nvPr/>
          </p:nvSpPr>
          <p:spPr bwMode="auto">
            <a:xfrm>
              <a:off x="4128" y="2400"/>
              <a:ext cx="384" cy="19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256</a:t>
              </a:r>
            </a:p>
          </p:txBody>
        </p:sp>
      </p:grpSp>
      <p:grpSp>
        <p:nvGrpSpPr>
          <p:cNvPr id="765014" name="Group 86"/>
          <p:cNvGrpSpPr>
            <a:grpSpLocks/>
          </p:cNvGrpSpPr>
          <p:nvPr/>
        </p:nvGrpSpPr>
        <p:grpSpPr bwMode="auto">
          <a:xfrm>
            <a:off x="5791200" y="3200400"/>
            <a:ext cx="1219200" cy="304800"/>
            <a:chOff x="1056" y="2112"/>
            <a:chExt cx="768" cy="192"/>
          </a:xfrm>
        </p:grpSpPr>
        <p:sp>
          <p:nvSpPr>
            <p:cNvPr id="765015" name="Line 87"/>
            <p:cNvSpPr>
              <a:spLocks noChangeShapeType="1"/>
            </p:cNvSpPr>
            <p:nvPr/>
          </p:nvSpPr>
          <p:spPr bwMode="auto">
            <a:xfrm>
              <a:off x="1056" y="220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5016" name="Rectangle 88"/>
            <p:cNvSpPr>
              <a:spLocks noChangeArrowheads="1"/>
            </p:cNvSpPr>
            <p:nvPr/>
          </p:nvSpPr>
          <p:spPr bwMode="auto">
            <a:xfrm>
              <a:off x="1440" y="2112"/>
              <a:ext cx="384" cy="19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128</a:t>
              </a:r>
            </a:p>
          </p:txBody>
        </p:sp>
      </p:grpSp>
      <p:sp>
        <p:nvSpPr>
          <p:cNvPr id="765018" name="AutoShape 90"/>
          <p:cNvSpPr>
            <a:spLocks noChangeArrowheads="1"/>
          </p:cNvSpPr>
          <p:nvPr/>
        </p:nvSpPr>
        <p:spPr bwMode="auto">
          <a:xfrm>
            <a:off x="7162800" y="1828800"/>
            <a:ext cx="1676400" cy="990600"/>
          </a:xfrm>
          <a:prstGeom prst="wedgeRoundRectCallout">
            <a:avLst>
              <a:gd name="adj1" fmla="val -12972"/>
              <a:gd name="adj2" fmla="val 80611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400" b="1" i="1">
                <a:solidFill>
                  <a:srgbClr val="CC0000"/>
                </a:solidFill>
              </a:rPr>
              <a:t>Hi Buddy!</a:t>
            </a:r>
          </a:p>
        </p:txBody>
      </p:sp>
      <p:sp>
        <p:nvSpPr>
          <p:cNvPr id="765019" name="AutoShape 91"/>
          <p:cNvSpPr>
            <a:spLocks noChangeArrowheads="1"/>
          </p:cNvSpPr>
          <p:nvPr/>
        </p:nvSpPr>
        <p:spPr bwMode="auto">
          <a:xfrm>
            <a:off x="6324600" y="3733800"/>
            <a:ext cx="1828800" cy="838200"/>
          </a:xfrm>
          <a:prstGeom prst="wedgeRoundRectCallout">
            <a:avLst>
              <a:gd name="adj1" fmla="val -28560"/>
              <a:gd name="adj2" fmla="val -70074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400" b="1" i="1">
                <a:solidFill>
                  <a:srgbClr val="CC0000"/>
                </a:solidFill>
              </a:rPr>
              <a:t>Long time no see!</a:t>
            </a:r>
          </a:p>
        </p:txBody>
      </p:sp>
      <p:grpSp>
        <p:nvGrpSpPr>
          <p:cNvPr id="765020" name="Group 92"/>
          <p:cNvGrpSpPr>
            <a:grpSpLocks/>
          </p:cNvGrpSpPr>
          <p:nvPr/>
        </p:nvGrpSpPr>
        <p:grpSpPr bwMode="auto">
          <a:xfrm>
            <a:off x="5791200" y="2743200"/>
            <a:ext cx="1219200" cy="304800"/>
            <a:chOff x="3648" y="2016"/>
            <a:chExt cx="768" cy="192"/>
          </a:xfrm>
        </p:grpSpPr>
        <p:sp>
          <p:nvSpPr>
            <p:cNvPr id="765021" name="Line 93"/>
            <p:cNvSpPr>
              <a:spLocks noChangeShapeType="1"/>
            </p:cNvSpPr>
            <p:nvPr/>
          </p:nvSpPr>
          <p:spPr bwMode="auto">
            <a:xfrm>
              <a:off x="3648" y="21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5022" name="Rectangle 94"/>
            <p:cNvSpPr>
              <a:spLocks noChangeArrowheads="1"/>
            </p:cNvSpPr>
            <p:nvPr/>
          </p:nvSpPr>
          <p:spPr bwMode="auto">
            <a:xfrm>
              <a:off x="4032" y="2016"/>
              <a:ext cx="384" cy="19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0</a:t>
              </a:r>
            </a:p>
          </p:txBody>
        </p:sp>
      </p:grpSp>
      <p:sp>
        <p:nvSpPr>
          <p:cNvPr id="765023" name="Line 95"/>
          <p:cNvSpPr>
            <a:spLocks noChangeShapeType="1"/>
          </p:cNvSpPr>
          <p:nvPr/>
        </p:nvSpPr>
        <p:spPr bwMode="auto">
          <a:xfrm>
            <a:off x="5486400" y="2667000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63" name="Line 95"/>
          <p:cNvSpPr>
            <a:spLocks noChangeShapeType="1"/>
          </p:cNvSpPr>
          <p:nvPr/>
        </p:nvSpPr>
        <p:spPr bwMode="auto">
          <a:xfrm>
            <a:off x="1295400" y="2819400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64" name="Rounded Rectangle 63"/>
          <p:cNvSpPr/>
          <p:nvPr/>
        </p:nvSpPr>
        <p:spPr bwMode="auto">
          <a:xfrm>
            <a:off x="2705100" y="1913467"/>
            <a:ext cx="1316567" cy="736600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/>
              <a:t>2</a:t>
            </a:r>
            <a:r>
              <a:rPr lang="en-US" sz="2400" baseline="30000" dirty="0"/>
              <a:t>S</a:t>
            </a:r>
            <a:r>
              <a:rPr lang="en-US" sz="2400" dirty="0"/>
              <a:t>=256</a:t>
            </a:r>
          </a:p>
          <a:p>
            <a:pPr algn="ctr"/>
            <a:r>
              <a:rPr lang="en-US" sz="2400" b="1" dirty="0">
                <a:solidFill>
                  <a:srgbClr val="C00000"/>
                </a:solidFill>
              </a:rPr>
              <a:t>S = 8</a:t>
            </a:r>
          </a:p>
        </p:txBody>
      </p:sp>
      <p:grpSp>
        <p:nvGrpSpPr>
          <p:cNvPr id="65" name="Group 50"/>
          <p:cNvGrpSpPr>
            <a:grpSpLocks/>
          </p:cNvGrpSpPr>
          <p:nvPr/>
        </p:nvGrpSpPr>
        <p:grpSpPr bwMode="auto">
          <a:xfrm>
            <a:off x="5105400" y="5410200"/>
            <a:ext cx="2743200" cy="609600"/>
            <a:chOff x="720" y="3216"/>
            <a:chExt cx="1728" cy="384"/>
          </a:xfrm>
        </p:grpSpPr>
        <p:sp>
          <p:nvSpPr>
            <p:cNvPr id="66" name="Rectangle 41" descr="Divot"/>
            <p:cNvSpPr>
              <a:spLocks noChangeArrowheads="1"/>
            </p:cNvSpPr>
            <p:nvPr/>
          </p:nvSpPr>
          <p:spPr bwMode="auto">
            <a:xfrm>
              <a:off x="1632" y="3408"/>
              <a:ext cx="816" cy="192"/>
            </a:xfrm>
            <a:prstGeom prst="rect">
              <a:avLst/>
            </a:prstGeom>
            <a:pattFill prst="divot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Q</a:t>
              </a:r>
            </a:p>
          </p:txBody>
        </p:sp>
        <p:sp>
          <p:nvSpPr>
            <p:cNvPr id="67" name="Rectangle 42" descr="Divot"/>
            <p:cNvSpPr>
              <a:spLocks noChangeArrowheads="1"/>
            </p:cNvSpPr>
            <p:nvPr/>
          </p:nvSpPr>
          <p:spPr bwMode="auto">
            <a:xfrm>
              <a:off x="768" y="3408"/>
              <a:ext cx="432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68" name="Rectangle 43"/>
            <p:cNvSpPr>
              <a:spLocks noChangeArrowheads="1"/>
            </p:cNvSpPr>
            <p:nvPr/>
          </p:nvSpPr>
          <p:spPr bwMode="auto">
            <a:xfrm>
              <a:off x="1200" y="3408"/>
              <a:ext cx="432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69" name="Text Box 44"/>
            <p:cNvSpPr txBox="1">
              <a:spLocks noChangeArrowheads="1"/>
            </p:cNvSpPr>
            <p:nvPr/>
          </p:nvSpPr>
          <p:spPr bwMode="auto">
            <a:xfrm>
              <a:off x="720" y="3216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70" name="Text Box 45"/>
            <p:cNvSpPr txBox="1">
              <a:spLocks noChangeArrowheads="1"/>
            </p:cNvSpPr>
            <p:nvPr/>
          </p:nvSpPr>
          <p:spPr bwMode="auto">
            <a:xfrm>
              <a:off x="1152" y="3216"/>
              <a:ext cx="57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128</a:t>
              </a:r>
            </a:p>
          </p:txBody>
        </p:sp>
        <p:sp>
          <p:nvSpPr>
            <p:cNvPr id="71" name="Text Box 46"/>
            <p:cNvSpPr txBox="1">
              <a:spLocks noChangeArrowheads="1"/>
            </p:cNvSpPr>
            <p:nvPr/>
          </p:nvSpPr>
          <p:spPr bwMode="auto">
            <a:xfrm>
              <a:off x="1584" y="3216"/>
              <a:ext cx="43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256</a:t>
              </a:r>
            </a:p>
          </p:txBody>
        </p:sp>
      </p:grpSp>
      <p:grpSp>
        <p:nvGrpSpPr>
          <p:cNvPr id="765005" name="Group 77"/>
          <p:cNvGrpSpPr>
            <a:grpSpLocks/>
          </p:cNvGrpSpPr>
          <p:nvPr/>
        </p:nvGrpSpPr>
        <p:grpSpPr bwMode="auto">
          <a:xfrm>
            <a:off x="5105400" y="5410200"/>
            <a:ext cx="2743200" cy="609600"/>
            <a:chOff x="2976" y="3312"/>
            <a:chExt cx="1728" cy="384"/>
          </a:xfrm>
        </p:grpSpPr>
        <p:sp>
          <p:nvSpPr>
            <p:cNvPr id="764983" name="Rectangle 55" descr="Divot"/>
            <p:cNvSpPr>
              <a:spLocks noChangeArrowheads="1"/>
            </p:cNvSpPr>
            <p:nvPr/>
          </p:nvSpPr>
          <p:spPr bwMode="auto">
            <a:xfrm>
              <a:off x="3888" y="3504"/>
              <a:ext cx="816" cy="192"/>
            </a:xfrm>
            <a:prstGeom prst="rect">
              <a:avLst/>
            </a:prstGeom>
            <a:pattFill prst="divot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Q</a:t>
              </a:r>
            </a:p>
          </p:txBody>
        </p:sp>
        <p:sp>
          <p:nvSpPr>
            <p:cNvPr id="764985" name="Rectangle 57"/>
            <p:cNvSpPr>
              <a:spLocks noChangeArrowheads="1"/>
            </p:cNvSpPr>
            <p:nvPr/>
          </p:nvSpPr>
          <p:spPr bwMode="auto">
            <a:xfrm>
              <a:off x="3024" y="3504"/>
              <a:ext cx="864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764986" name="Text Box 58"/>
            <p:cNvSpPr txBox="1">
              <a:spLocks noChangeArrowheads="1"/>
            </p:cNvSpPr>
            <p:nvPr/>
          </p:nvSpPr>
          <p:spPr bwMode="auto">
            <a:xfrm>
              <a:off x="2976" y="3312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764988" name="Text Box 60"/>
            <p:cNvSpPr txBox="1">
              <a:spLocks noChangeArrowheads="1"/>
            </p:cNvSpPr>
            <p:nvPr/>
          </p:nvSpPr>
          <p:spPr bwMode="auto">
            <a:xfrm>
              <a:off x="3840" y="3312"/>
              <a:ext cx="43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256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8906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6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4952" grpId="0" animBg="1"/>
      <p:bldP spid="764953" grpId="0" uiExpand="1" build="p"/>
      <p:bldP spid="764990" grpId="0" animBg="1"/>
      <p:bldP spid="764991" grpId="0" animBg="1"/>
      <p:bldP spid="764992" grpId="0" animBg="1"/>
      <p:bldP spid="764993" grpId="0" animBg="1"/>
      <p:bldP spid="764994" grpId="0" animBg="1"/>
      <p:bldP spid="764995" grpId="0" animBg="1"/>
      <p:bldP spid="764996" grpId="0"/>
      <p:bldP spid="764997" grpId="0"/>
      <p:bldP spid="764998" grpId="0"/>
      <p:bldP spid="764999" grpId="0" animBg="1"/>
      <p:bldP spid="765000" grpId="0"/>
      <p:bldP spid="765002" grpId="0" animBg="1"/>
      <p:bldP spid="765002" grpId="1" animBg="1"/>
      <p:bldP spid="765004" grpId="0" animBg="1"/>
      <p:bldP spid="765018" grpId="0" animBg="1"/>
      <p:bldP spid="765018" grpId="1" animBg="1"/>
      <p:bldP spid="765019" grpId="0" animBg="1"/>
      <p:bldP spid="765019" grpId="1" animBg="1"/>
      <p:bldP spid="765023" grpId="0" animBg="1"/>
      <p:bldP spid="765023" grpId="1" animBg="1"/>
      <p:bldP spid="63" grpId="0" animBg="1"/>
      <p:bldP spid="6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It's all history now…. or is it?</a:t>
            </a:r>
            <a:endParaRPr lang="en-S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40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>
                <a:solidFill>
                  <a:prstClr val="black"/>
                </a:solidFill>
              </a:rPr>
              <a:t>[ CS2106 L7 - AY1819S1 ]</a:t>
            </a: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US" sz="2000" b="1" kern="0">
                <a:solidFill>
                  <a:srgbClr val="000000"/>
                </a:solidFill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9909255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8BA3E2-B62A-460B-BF94-835910FB4237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Summary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Relationship between:</a:t>
            </a:r>
          </a:p>
          <a:p>
            <a:pPr lvl="1"/>
            <a:r>
              <a:rPr lang="en-US" altLang="en-US" dirty="0"/>
              <a:t>OS, Process and Memory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Why memory abstraction is needed</a:t>
            </a:r>
          </a:p>
          <a:p>
            <a:pPr lvl="1"/>
            <a:r>
              <a:rPr lang="en-US" altLang="en-US" dirty="0"/>
              <a:t>The advantage of using logical address</a:t>
            </a:r>
          </a:p>
          <a:p>
            <a:endParaRPr lang="en-US" altLang="en-US" dirty="0"/>
          </a:p>
          <a:p>
            <a:r>
              <a:rPr lang="en-US" altLang="en-US" dirty="0"/>
              <a:t>By assuming process uses contiguous memory:</a:t>
            </a:r>
          </a:p>
          <a:p>
            <a:pPr lvl="1"/>
            <a:r>
              <a:rPr lang="en-US" altLang="en-US" dirty="0"/>
              <a:t>Various partition schemes are discussed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72287-B34D-478D-BD5E-F1E9DB1153A8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3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Fix Attempt 2: </a:t>
            </a:r>
            <a:r>
              <a:rPr lang="en-US" altLang="en-US" sz="3800" b="1" dirty="0">
                <a:solidFill>
                  <a:srgbClr val="C00000"/>
                </a:solidFill>
              </a:rPr>
              <a:t>Base</a:t>
            </a:r>
            <a:r>
              <a:rPr lang="en-US" altLang="en-US" sz="3800" b="1" dirty="0"/>
              <a:t> + </a:t>
            </a:r>
            <a:r>
              <a:rPr lang="en-US" altLang="en-US" sz="3800" b="1" dirty="0">
                <a:solidFill>
                  <a:srgbClr val="006600"/>
                </a:solidFill>
              </a:rPr>
              <a:t>Limit</a:t>
            </a:r>
            <a:r>
              <a:rPr lang="en-US" altLang="en-US" sz="3800" b="1" dirty="0"/>
              <a:t> Registers</a:t>
            </a:r>
          </a:p>
        </p:txBody>
      </p:sp>
      <p:sp>
        <p:nvSpPr>
          <p:cNvPr id="73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en-US" sz="2600" dirty="0"/>
              <a:t>Use a special register as the base of all memory references:</a:t>
            </a:r>
          </a:p>
          <a:p>
            <a:pPr lvl="1"/>
            <a:r>
              <a:rPr lang="en-US" altLang="en-US" sz="2200" dirty="0"/>
              <a:t>Known as </a:t>
            </a:r>
            <a:r>
              <a:rPr lang="en-US" altLang="en-US" sz="2200" b="1" dirty="0">
                <a:solidFill>
                  <a:srgbClr val="C00000"/>
                </a:solidFill>
              </a:rPr>
              <a:t>Base Register</a:t>
            </a:r>
            <a:endParaRPr lang="en-US" altLang="en-US" sz="2200" dirty="0">
              <a:solidFill>
                <a:srgbClr val="C00000"/>
              </a:solidFill>
            </a:endParaRPr>
          </a:p>
          <a:p>
            <a:pPr lvl="1"/>
            <a:r>
              <a:rPr lang="en-US" altLang="en-US" sz="2200" dirty="0"/>
              <a:t>During compilation time, all memory references are compiled as an offset from this register</a:t>
            </a:r>
          </a:p>
          <a:p>
            <a:pPr lvl="1"/>
            <a:r>
              <a:rPr lang="en-US" altLang="en-US" sz="2200" dirty="0"/>
              <a:t>At loading time, the base register is initialized to the starting address of the process memory space</a:t>
            </a:r>
          </a:p>
          <a:p>
            <a:pPr marL="801687" lvl="1" indent="-457200">
              <a:buFont typeface="+mj-lt"/>
              <a:buAutoNum type="arabicPeriod"/>
            </a:pPr>
            <a:endParaRPr lang="en-US" altLang="en-US" sz="2200" dirty="0"/>
          </a:p>
          <a:p>
            <a:pPr marL="514350" indent="-514350">
              <a:buFont typeface="+mj-lt"/>
              <a:buAutoNum type="arabicPeriod"/>
            </a:pPr>
            <a:r>
              <a:rPr lang="en-US" altLang="en-US" sz="2600" dirty="0"/>
              <a:t>Add another special register to indicate the range of the memory space of current process:</a:t>
            </a:r>
          </a:p>
          <a:p>
            <a:pPr lvl="1"/>
            <a:r>
              <a:rPr lang="en-US" altLang="en-US" sz="2200" dirty="0"/>
              <a:t>Known as </a:t>
            </a:r>
            <a:r>
              <a:rPr lang="en-US" altLang="en-US" sz="2200" b="1" dirty="0">
                <a:solidFill>
                  <a:srgbClr val="006600"/>
                </a:solidFill>
              </a:rPr>
              <a:t>Limit Register</a:t>
            </a:r>
            <a:endParaRPr lang="en-US" altLang="en-US" sz="2200" dirty="0">
              <a:solidFill>
                <a:srgbClr val="006600"/>
              </a:solidFill>
            </a:endParaRPr>
          </a:p>
          <a:p>
            <a:pPr lvl="1"/>
            <a:r>
              <a:rPr lang="en-US" altLang="en-US" sz="2200" dirty="0"/>
              <a:t>All memory access is checked against the limit to protect memory space integrity </a:t>
            </a:r>
          </a:p>
          <a:p>
            <a:pPr lvl="1"/>
            <a:endParaRPr lang="en-US" altLang="en-US" sz="2200" dirty="0"/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37210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Pause and Evaluate</a:t>
            </a:r>
            <a:endParaRPr lang="en-S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43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  <p:sp>
        <p:nvSpPr>
          <p:cNvPr id="6" name="Rectangle 5"/>
          <p:cNvSpPr/>
          <p:nvPr/>
        </p:nvSpPr>
        <p:spPr>
          <a:xfrm>
            <a:off x="858852" y="1447800"/>
            <a:ext cx="2265348" cy="609600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Allocation</a:t>
            </a:r>
            <a:endParaRPr lang="en-SG" sz="2400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2590800"/>
            <a:ext cx="22098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</a:rPr>
              <a:t>Deallocation</a:t>
            </a:r>
            <a:endParaRPr lang="en-SG" sz="2400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30779" y="3810000"/>
            <a:ext cx="2209800" cy="60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Merging</a:t>
            </a:r>
            <a:endParaRPr lang="en-SG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21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7F9B8A-AA55-4B0F-8506-1525FA047137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[ CS2106 L7 - AY1819S1 ]</a:t>
            </a:r>
          </a:p>
        </p:txBody>
      </p:sp>
      <p:sp>
        <p:nvSpPr>
          <p:cNvPr id="76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Buddy System: </a:t>
            </a:r>
            <a:r>
              <a:rPr lang="en-US" altLang="en-US" sz="3800" b="1" dirty="0"/>
              <a:t>Where is my Buddy?</a:t>
            </a:r>
          </a:p>
        </p:txBody>
      </p:sp>
      <p:sp>
        <p:nvSpPr>
          <p:cNvPr id="76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600" dirty="0"/>
              <a:t>Observe that:</a:t>
            </a:r>
          </a:p>
          <a:p>
            <a:pPr lvl="1">
              <a:lnSpc>
                <a:spcPct val="80000"/>
              </a:lnSpc>
            </a:pPr>
            <a:r>
              <a:rPr lang="en-US" altLang="en-US" sz="2100" dirty="0"/>
              <a:t>Given block address </a:t>
            </a:r>
            <a:r>
              <a:rPr lang="en-US" altLang="en-US" sz="2100" b="1" dirty="0">
                <a:latin typeface="Courier New" pitchFamily="49" charset="0"/>
              </a:rPr>
              <a:t>A</a:t>
            </a:r>
            <a:r>
              <a:rPr lang="en-US" altLang="en-US" sz="2100" dirty="0"/>
              <a:t> is </a:t>
            </a:r>
            <a:r>
              <a:rPr lang="en-US" altLang="en-US" sz="2100" b="1" dirty="0">
                <a:latin typeface="Courier New" pitchFamily="49" charset="0"/>
              </a:rPr>
              <a:t>xxxx</a:t>
            </a:r>
            <a:r>
              <a:rPr lang="en-US" altLang="en-US" sz="2100" b="1" dirty="0">
                <a:solidFill>
                  <a:srgbClr val="C00000"/>
                </a:solidFill>
                <a:latin typeface="Courier New" pitchFamily="49" charset="0"/>
              </a:rPr>
              <a:t>0</a:t>
            </a:r>
            <a:r>
              <a:rPr lang="en-US" altLang="en-US" sz="2100" dirty="0">
                <a:latin typeface="Courier New" pitchFamily="49" charset="0"/>
              </a:rPr>
              <a:t>0..00</a:t>
            </a:r>
            <a:r>
              <a:rPr lang="en-US" altLang="en-US" sz="2100" baseline="-25000" dirty="0">
                <a:latin typeface="Courier New" pitchFamily="49" charset="0"/>
              </a:rPr>
              <a:t>2</a:t>
            </a:r>
          </a:p>
          <a:p>
            <a:pPr lvl="1">
              <a:lnSpc>
                <a:spcPct val="80000"/>
              </a:lnSpc>
            </a:pPr>
            <a:r>
              <a:rPr lang="en-US" altLang="en-US" sz="2100" dirty="0"/>
              <a:t>Get 2 blocks of half the size after splitting: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300" dirty="0"/>
              <a:t>		</a:t>
            </a:r>
            <a:r>
              <a:rPr lang="en-US" altLang="en-US" sz="2300" b="1" dirty="0">
                <a:latin typeface="Courier New" pitchFamily="49" charset="0"/>
              </a:rPr>
              <a:t>B</a:t>
            </a:r>
            <a:r>
              <a:rPr lang="en-US" altLang="en-US" sz="2300" dirty="0">
                <a:latin typeface="Courier New" pitchFamily="49" charset="0"/>
              </a:rPr>
              <a:t> = </a:t>
            </a:r>
            <a:r>
              <a:rPr lang="en-US" altLang="en-US" sz="2300" b="1" dirty="0">
                <a:latin typeface="Courier New" pitchFamily="49" charset="0"/>
              </a:rPr>
              <a:t>xxxx</a:t>
            </a:r>
            <a:r>
              <a:rPr lang="en-US" altLang="en-US" sz="2300" b="1" dirty="0">
                <a:solidFill>
                  <a:srgbClr val="C00000"/>
                </a:solidFill>
                <a:latin typeface="Courier New" pitchFamily="49" charset="0"/>
              </a:rPr>
              <a:t>0</a:t>
            </a:r>
            <a:r>
              <a:rPr lang="en-US" altLang="en-US" sz="2300" dirty="0">
                <a:latin typeface="Courier New" pitchFamily="49" charset="0"/>
              </a:rPr>
              <a:t>..00</a:t>
            </a:r>
            <a:r>
              <a:rPr lang="en-US" altLang="en-US" sz="2300" baseline="-25000" dirty="0">
                <a:latin typeface="Courier New" pitchFamily="49" charset="0"/>
              </a:rPr>
              <a:t>2</a:t>
            </a:r>
            <a:r>
              <a:rPr lang="en-US" altLang="en-US" sz="2300" i="1" dirty="0"/>
              <a:t> </a:t>
            </a:r>
            <a:r>
              <a:rPr lang="en-US" altLang="en-US" sz="2300" dirty="0"/>
              <a:t>and </a:t>
            </a:r>
            <a:r>
              <a:rPr lang="en-US" altLang="en-US" sz="2300" b="1" dirty="0">
                <a:latin typeface="Courier New" pitchFamily="49" charset="0"/>
              </a:rPr>
              <a:t>C</a:t>
            </a:r>
            <a:r>
              <a:rPr lang="en-US" altLang="en-US" sz="2300" dirty="0">
                <a:latin typeface="Courier New" pitchFamily="49" charset="0"/>
              </a:rPr>
              <a:t> = </a:t>
            </a:r>
            <a:r>
              <a:rPr lang="en-US" altLang="en-US" sz="2300" b="1" dirty="0">
                <a:latin typeface="Courier New" pitchFamily="49" charset="0"/>
              </a:rPr>
              <a:t>xxxx</a:t>
            </a:r>
            <a:r>
              <a:rPr lang="en-US" altLang="en-US" sz="2300" b="1" dirty="0">
                <a:solidFill>
                  <a:srgbClr val="C00000"/>
                </a:solidFill>
                <a:latin typeface="Courier New" pitchFamily="49" charset="0"/>
              </a:rPr>
              <a:t>1</a:t>
            </a:r>
            <a:r>
              <a:rPr lang="en-US" altLang="en-US" sz="2300" dirty="0">
                <a:latin typeface="Courier New" pitchFamily="49" charset="0"/>
              </a:rPr>
              <a:t>..00</a:t>
            </a:r>
            <a:r>
              <a:rPr lang="en-US" altLang="en-US" sz="2300" baseline="-25000" dirty="0">
                <a:latin typeface="Courier New" pitchFamily="49" charset="0"/>
              </a:rPr>
              <a:t>2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altLang="en-US" sz="2300" baseline="-25000" dirty="0">
              <a:latin typeface="Courier New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600" dirty="0"/>
              <a:t>Example:</a:t>
            </a:r>
          </a:p>
          <a:p>
            <a:pPr lvl="1">
              <a:lnSpc>
                <a:spcPct val="80000"/>
              </a:lnSpc>
            </a:pPr>
            <a:r>
              <a:rPr lang="en-US" altLang="en-US" b="1" dirty="0">
                <a:latin typeface="Courier New" pitchFamily="49" charset="0"/>
              </a:rPr>
              <a:t>A = 0 (0</a:t>
            </a:r>
            <a:r>
              <a:rPr lang="en-US" altLang="en-US" b="1" dirty="0">
                <a:solidFill>
                  <a:srgbClr val="C00000"/>
                </a:solidFill>
                <a:latin typeface="Courier New" pitchFamily="49" charset="0"/>
              </a:rPr>
              <a:t>0</a:t>
            </a:r>
            <a:r>
              <a:rPr lang="en-US" altLang="en-US" b="1" dirty="0">
                <a:latin typeface="Courier New" pitchFamily="49" charset="0"/>
              </a:rPr>
              <a:t>0000</a:t>
            </a:r>
            <a:r>
              <a:rPr lang="en-US" altLang="en-US" sz="2100" b="1" baseline="-25000" dirty="0">
                <a:latin typeface="Courier New" pitchFamily="49" charset="0"/>
              </a:rPr>
              <a:t>2</a:t>
            </a:r>
            <a:r>
              <a:rPr lang="en-US" altLang="en-US" b="1" dirty="0">
                <a:latin typeface="Courier New" pitchFamily="49" charset="0"/>
              </a:rPr>
              <a:t>), size = 32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After splitting:</a:t>
            </a:r>
          </a:p>
          <a:p>
            <a:pPr lvl="2">
              <a:lnSpc>
                <a:spcPct val="80000"/>
              </a:lnSpc>
            </a:pPr>
            <a:r>
              <a:rPr lang="en-US" altLang="en-US" sz="2400" b="1" dirty="0">
                <a:latin typeface="Courier New" pitchFamily="49" charset="0"/>
              </a:rPr>
              <a:t>B</a:t>
            </a:r>
            <a:r>
              <a:rPr lang="en-US" altLang="en-US" sz="2400" dirty="0">
                <a:latin typeface="Courier New" pitchFamily="49" charset="0"/>
              </a:rPr>
              <a:t> = </a:t>
            </a:r>
            <a:r>
              <a:rPr lang="en-US" altLang="en-US" sz="2400" b="1" dirty="0">
                <a:latin typeface="Courier New" pitchFamily="49" charset="0"/>
              </a:rPr>
              <a:t>0</a:t>
            </a:r>
            <a:r>
              <a:rPr lang="en-US" altLang="en-US" sz="2400" dirty="0">
                <a:latin typeface="Courier New" pitchFamily="49" charset="0"/>
              </a:rPr>
              <a:t>  (</a:t>
            </a:r>
            <a:r>
              <a:rPr lang="en-US" altLang="en-US" sz="2400" b="1" dirty="0">
                <a:latin typeface="Courier New" pitchFamily="49" charset="0"/>
              </a:rPr>
              <a:t>0</a:t>
            </a:r>
            <a:r>
              <a:rPr lang="en-US" altLang="en-US" sz="2400" b="1" dirty="0">
                <a:solidFill>
                  <a:srgbClr val="C00000"/>
                </a:solidFill>
                <a:latin typeface="Courier New" pitchFamily="49" charset="0"/>
              </a:rPr>
              <a:t>0</a:t>
            </a:r>
            <a:r>
              <a:rPr lang="en-US" altLang="en-US" sz="2400" dirty="0">
                <a:latin typeface="Courier New" pitchFamily="49" charset="0"/>
              </a:rPr>
              <a:t>0000</a:t>
            </a:r>
            <a:r>
              <a:rPr lang="en-US" altLang="en-US" sz="1900" baseline="-25000" dirty="0">
                <a:latin typeface="Courier New" pitchFamily="49" charset="0"/>
              </a:rPr>
              <a:t>2</a:t>
            </a:r>
            <a:r>
              <a:rPr lang="en-US" altLang="en-US" sz="2400" dirty="0">
                <a:latin typeface="Courier New" pitchFamily="49" charset="0"/>
              </a:rPr>
              <a:t>), </a:t>
            </a:r>
            <a:r>
              <a:rPr lang="en-US" altLang="en-US" sz="2400" b="1" dirty="0">
                <a:latin typeface="Courier New" pitchFamily="49" charset="0"/>
              </a:rPr>
              <a:t>size = 16</a:t>
            </a:r>
          </a:p>
          <a:p>
            <a:pPr lvl="2">
              <a:lnSpc>
                <a:spcPct val="80000"/>
              </a:lnSpc>
            </a:pPr>
            <a:r>
              <a:rPr lang="en-US" altLang="en-US" sz="2400" b="1" dirty="0">
                <a:latin typeface="Courier New" pitchFamily="49" charset="0"/>
              </a:rPr>
              <a:t>C</a:t>
            </a:r>
            <a:r>
              <a:rPr lang="en-US" altLang="en-US" sz="2400" dirty="0">
                <a:latin typeface="Courier New" pitchFamily="49" charset="0"/>
              </a:rPr>
              <a:t> = </a:t>
            </a:r>
            <a:r>
              <a:rPr lang="en-US" altLang="en-US" sz="2400" b="1" dirty="0">
                <a:latin typeface="Courier New" pitchFamily="49" charset="0"/>
              </a:rPr>
              <a:t>16</a:t>
            </a:r>
            <a:r>
              <a:rPr lang="en-US" altLang="en-US" sz="2400" dirty="0">
                <a:latin typeface="Courier New" pitchFamily="49" charset="0"/>
              </a:rPr>
              <a:t> (</a:t>
            </a:r>
            <a:r>
              <a:rPr lang="en-US" altLang="en-US" sz="2400" b="1" dirty="0">
                <a:latin typeface="Courier New" pitchFamily="49" charset="0"/>
              </a:rPr>
              <a:t>0</a:t>
            </a:r>
            <a:r>
              <a:rPr lang="en-US" altLang="en-US" sz="2400" b="1" dirty="0">
                <a:solidFill>
                  <a:srgbClr val="C00000"/>
                </a:solidFill>
                <a:latin typeface="Courier New" pitchFamily="49" charset="0"/>
              </a:rPr>
              <a:t>1</a:t>
            </a:r>
            <a:r>
              <a:rPr lang="en-US" altLang="en-US" sz="2400" dirty="0">
                <a:latin typeface="Courier New" pitchFamily="49" charset="0"/>
              </a:rPr>
              <a:t>0000</a:t>
            </a:r>
            <a:r>
              <a:rPr lang="en-US" altLang="en-US" sz="1900" baseline="-25000" dirty="0">
                <a:latin typeface="Courier New" pitchFamily="49" charset="0"/>
              </a:rPr>
              <a:t>2</a:t>
            </a:r>
            <a:r>
              <a:rPr lang="en-US" altLang="en-US" sz="2400" dirty="0">
                <a:latin typeface="Courier New" pitchFamily="49" charset="0"/>
              </a:rPr>
              <a:t>), </a:t>
            </a:r>
            <a:r>
              <a:rPr lang="en-US" altLang="en-US" sz="2400" b="1" dirty="0">
                <a:latin typeface="Courier New" pitchFamily="49" charset="0"/>
              </a:rPr>
              <a:t>size = 16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So, two blocks </a:t>
            </a:r>
            <a:r>
              <a:rPr lang="en-US" altLang="en-US" b="1" dirty="0">
                <a:latin typeface="Courier New" pitchFamily="49" charset="0"/>
              </a:rPr>
              <a:t>B</a:t>
            </a:r>
            <a:r>
              <a:rPr lang="en-US" altLang="en-US" dirty="0"/>
              <a:t> and </a:t>
            </a:r>
            <a:r>
              <a:rPr lang="en-US" altLang="en-US" b="1" dirty="0">
                <a:latin typeface="Courier New" pitchFamily="49" charset="0"/>
              </a:rPr>
              <a:t>C</a:t>
            </a:r>
            <a:r>
              <a:rPr lang="en-US" altLang="en-US" dirty="0"/>
              <a:t> are buddy of size </a:t>
            </a:r>
            <a:r>
              <a:rPr lang="en-US" altLang="en-US" b="1" dirty="0">
                <a:latin typeface="Courier New" pitchFamily="49" charset="0"/>
              </a:rPr>
              <a:t>S</a:t>
            </a:r>
            <a:r>
              <a:rPr lang="en-US" altLang="en-US" dirty="0"/>
              <a:t>, if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The </a:t>
            </a:r>
            <a:r>
              <a:rPr lang="en-US" altLang="en-US" sz="3000" b="1" dirty="0" err="1">
                <a:latin typeface="Courier New" pitchFamily="49" charset="0"/>
              </a:rPr>
              <a:t>S</a:t>
            </a:r>
            <a:r>
              <a:rPr lang="en-US" altLang="en-US" baseline="30000" dirty="0" err="1"/>
              <a:t>th</a:t>
            </a:r>
            <a:r>
              <a:rPr lang="en-US" altLang="en-US" dirty="0"/>
              <a:t> bit of </a:t>
            </a:r>
            <a:r>
              <a:rPr lang="en-US" altLang="en-US" sz="3000" b="1" dirty="0">
                <a:latin typeface="Courier New" pitchFamily="49" charset="0"/>
              </a:rPr>
              <a:t>B</a:t>
            </a:r>
            <a:r>
              <a:rPr lang="en-US" altLang="en-US" dirty="0"/>
              <a:t> and </a:t>
            </a:r>
            <a:r>
              <a:rPr lang="en-US" altLang="en-US" sz="3000" b="1" dirty="0">
                <a:latin typeface="Courier New" pitchFamily="49" charset="0"/>
              </a:rPr>
              <a:t>C</a:t>
            </a:r>
            <a:r>
              <a:rPr lang="en-US" altLang="en-US" dirty="0"/>
              <a:t> is a complement 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The leading bits up to </a:t>
            </a:r>
            <a:r>
              <a:rPr lang="en-US" altLang="en-US" sz="3000" b="1" dirty="0" err="1">
                <a:latin typeface="Courier New" pitchFamily="49" charset="0"/>
              </a:rPr>
              <a:t>S</a:t>
            </a:r>
            <a:r>
              <a:rPr lang="en-US" altLang="en-US" baseline="30000" dirty="0" err="1"/>
              <a:t>th</a:t>
            </a:r>
            <a:r>
              <a:rPr lang="en-US" altLang="en-US" dirty="0"/>
              <a:t> bit of </a:t>
            </a:r>
            <a:r>
              <a:rPr lang="en-US" altLang="en-US" sz="3000" b="1" dirty="0">
                <a:latin typeface="Courier New" pitchFamily="49" charset="0"/>
              </a:rPr>
              <a:t>B</a:t>
            </a:r>
            <a:r>
              <a:rPr lang="en-US" altLang="en-US" dirty="0"/>
              <a:t> and </a:t>
            </a:r>
            <a:r>
              <a:rPr lang="en-US" altLang="en-US" sz="3000" b="1" dirty="0">
                <a:latin typeface="Courier New" pitchFamily="49" charset="0"/>
              </a:rPr>
              <a:t>C</a:t>
            </a:r>
            <a:r>
              <a:rPr lang="en-US" altLang="en-US" dirty="0"/>
              <a:t> are the same</a:t>
            </a: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755209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Edge">
  <a:themeElements>
    <a:clrScheme name="Edge 8">
      <a:dk1>
        <a:srgbClr val="000000"/>
      </a:dk1>
      <a:lt1>
        <a:srgbClr val="FFFFFF"/>
      </a:lt1>
      <a:dk2>
        <a:srgbClr val="CC0000"/>
      </a:dk2>
      <a:lt2>
        <a:srgbClr val="666699"/>
      </a:lt2>
      <a:accent1>
        <a:srgbClr val="808080"/>
      </a:accent1>
      <a:accent2>
        <a:srgbClr val="999933"/>
      </a:accent2>
      <a:accent3>
        <a:srgbClr val="FFFFFF"/>
      </a:accent3>
      <a:accent4>
        <a:srgbClr val="000000"/>
      </a:accent4>
      <a:accent5>
        <a:srgbClr val="C0C0C0"/>
      </a:accent5>
      <a:accent6>
        <a:srgbClr val="8A8A2D"/>
      </a:accent6>
      <a:hlink>
        <a:srgbClr val="4C6D80"/>
      </a:hlink>
      <a:folHlink>
        <a:srgbClr val="B2B2B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CS2106 0809S2</Template>
  <TotalTime>8931</TotalTime>
  <Words>2901</Words>
  <Application>Microsoft Macintosh PowerPoint</Application>
  <PresentationFormat>On-screen Show (4:3)</PresentationFormat>
  <Paragraphs>776</Paragraphs>
  <Slides>44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  <vt:variant>
        <vt:lpstr>Custom Shows</vt:lpstr>
      </vt:variant>
      <vt:variant>
        <vt:i4>1</vt:i4>
      </vt:variant>
    </vt:vector>
  </HeadingPairs>
  <TitlesOfParts>
    <vt:vector size="51" baseType="lpstr">
      <vt:lpstr>Arial</vt:lpstr>
      <vt:lpstr>Courier New</vt:lpstr>
      <vt:lpstr>Garamond</vt:lpstr>
      <vt:lpstr>Wingdings</vt:lpstr>
      <vt:lpstr>Edge</vt:lpstr>
      <vt:lpstr>1_Edge</vt:lpstr>
      <vt:lpstr>Memory Management Memory Abstraction</vt:lpstr>
      <vt:lpstr>Overview</vt:lpstr>
      <vt:lpstr>Memory Hardware</vt:lpstr>
      <vt:lpstr>The Memory Hierarchy</vt:lpstr>
      <vt:lpstr>Recap: Memory Usage of Process</vt:lpstr>
      <vt:lpstr>Binding of Memory Address</vt:lpstr>
      <vt:lpstr>Actual Execution </vt:lpstr>
      <vt:lpstr>Memory Usage: Summary</vt:lpstr>
      <vt:lpstr>Operating System: Managing Memory</vt:lpstr>
      <vt:lpstr>Key Topics</vt:lpstr>
      <vt:lpstr>Memory Abstraction</vt:lpstr>
      <vt:lpstr>Without Memory Abstraction</vt:lpstr>
      <vt:lpstr>Without Memory Abstraction: Pros</vt:lpstr>
      <vt:lpstr>Without Memory Abstraction: Cons</vt:lpstr>
      <vt:lpstr>Fix Attempt: Address Relocation</vt:lpstr>
      <vt:lpstr>Fix Attempt 2: Base + Limit Registers</vt:lpstr>
      <vt:lpstr>Base + Limit Register: Illustration</vt:lpstr>
      <vt:lpstr>Base + Limit: Summary</vt:lpstr>
      <vt:lpstr>Memory Abstraction: Logical Address</vt:lpstr>
      <vt:lpstr>Contiguous Memory Management</vt:lpstr>
      <vt:lpstr>Contiguous Memory Management</vt:lpstr>
      <vt:lpstr>Multitasking, Context Switching &amp; Swapping</vt:lpstr>
      <vt:lpstr>Memory Partitioning</vt:lpstr>
      <vt:lpstr>Fixed Partitioning: Illustration</vt:lpstr>
      <vt:lpstr>Fixed Partitioning: Summary</vt:lpstr>
      <vt:lpstr>Dynamic Partitioning: Illustration</vt:lpstr>
      <vt:lpstr>Dynamic Partitioning: Summary</vt:lpstr>
      <vt:lpstr>Dynamic Partitioning: Allocation Algorithms</vt:lpstr>
      <vt:lpstr>Dynamic Partitioning: Merging and Compaction</vt:lpstr>
      <vt:lpstr>Dynamic Partitioning in Action: Example</vt:lpstr>
      <vt:lpstr>Dynamic Partitioning in Action: Example</vt:lpstr>
      <vt:lpstr>Dynamic Allocation Algorithm: Buddy System</vt:lpstr>
      <vt:lpstr>Buddy Blocks Illustration</vt:lpstr>
      <vt:lpstr>Buddy System: Implementation</vt:lpstr>
      <vt:lpstr>Buddy System: Allocation Algorithm</vt:lpstr>
      <vt:lpstr>Buddy System: Deallocation Algorithm</vt:lpstr>
      <vt:lpstr>Buddy System: Where is my Buddy?</vt:lpstr>
      <vt:lpstr>Buddy System: Example</vt:lpstr>
      <vt:lpstr>Buddy System: Example (cont)</vt:lpstr>
      <vt:lpstr>It's all history now…. or is it?</vt:lpstr>
      <vt:lpstr>Summary</vt:lpstr>
      <vt:lpstr>Fix Attempt 2: Base + Limit Registers</vt:lpstr>
      <vt:lpstr>Let's Pause and Evaluate</vt:lpstr>
      <vt:lpstr>Buddy System: Where is my Buddy?</vt:lpstr>
      <vt:lpstr>Live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Soo Yuen Jien</dc:creator>
  <cp:lastModifiedBy>Tan Keng Yan, Colin</cp:lastModifiedBy>
  <cp:revision>734</cp:revision>
  <cp:lastPrinted>1601-01-01T00:00:00Z</cp:lastPrinted>
  <dcterms:created xsi:type="dcterms:W3CDTF">1601-01-01T00:00:00Z</dcterms:created>
  <dcterms:modified xsi:type="dcterms:W3CDTF">2025-10-03T12:10:31Z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