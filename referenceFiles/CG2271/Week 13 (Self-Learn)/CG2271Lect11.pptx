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4"/>
  </p:notesMasterIdLst>
  <p:sldIdLst>
    <p:sldId id="256" r:id="rId2"/>
    <p:sldId id="258" r:id="rId3"/>
    <p:sldId id="259" r:id="rId4"/>
    <p:sldId id="315" r:id="rId5"/>
    <p:sldId id="260" r:id="rId6"/>
    <p:sldId id="261" r:id="rId7"/>
    <p:sldId id="262" r:id="rId8"/>
    <p:sldId id="263" r:id="rId9"/>
    <p:sldId id="264" r:id="rId10"/>
    <p:sldId id="306" r:id="rId11"/>
    <p:sldId id="266" r:id="rId12"/>
    <p:sldId id="307" r:id="rId13"/>
    <p:sldId id="268" r:id="rId14"/>
    <p:sldId id="308" r:id="rId15"/>
    <p:sldId id="309" r:id="rId16"/>
    <p:sldId id="270" r:id="rId17"/>
    <p:sldId id="31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18" r:id="rId34"/>
    <p:sldId id="287" r:id="rId35"/>
    <p:sldId id="301" r:id="rId36"/>
    <p:sldId id="288" r:id="rId37"/>
    <p:sldId id="302" r:id="rId38"/>
    <p:sldId id="296" r:id="rId39"/>
    <p:sldId id="297" r:id="rId40"/>
    <p:sldId id="298" r:id="rId41"/>
    <p:sldId id="299" r:id="rId42"/>
    <p:sldId id="292" r:id="rId43"/>
    <p:sldId id="294" r:id="rId44"/>
    <p:sldId id="295" r:id="rId45"/>
    <p:sldId id="316" r:id="rId46"/>
    <p:sldId id="317" r:id="rId47"/>
    <p:sldId id="313" r:id="rId48"/>
    <p:sldId id="290" r:id="rId49"/>
    <p:sldId id="305" r:id="rId50"/>
    <p:sldId id="311" r:id="rId51"/>
    <p:sldId id="312" r:id="rId52"/>
    <p:sldId id="314" r:id="rId53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4"/>
        <p:sld r:id="rId6"/>
        <p:sld r:id="rId7"/>
        <p:sld r:id="rId8"/>
        <p:sld r:id="rId9"/>
        <p:sld r:id="rId11"/>
        <p:sld r:id="rId10"/>
        <p:sld r:id="rId13"/>
        <p:sld r:id="rId12"/>
        <p:sld r:id="rId14"/>
        <p:sld r:id="rId15"/>
        <p:sld r:id="rId16"/>
        <p:sld r:id="rId18"/>
        <p:sld r:id="rId17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00"/>
    <a:srgbClr val="FFFFCC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5574" autoAdjust="0"/>
  </p:normalViewPr>
  <p:slideViewPr>
    <p:cSldViewPr>
      <p:cViewPr varScale="1">
        <p:scale>
          <a:sx n="86" d="100"/>
          <a:sy n="86" d="100"/>
        </p:scale>
        <p:origin x="15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17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Sheet1!$A$26:$A$32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12</c:v>
                </c:pt>
                <c:pt idx="3">
                  <c:v>16</c:v>
                </c:pt>
                <c:pt idx="4">
                  <c:v>17</c:v>
                </c:pt>
                <c:pt idx="5">
                  <c:v>21</c:v>
                </c:pt>
                <c:pt idx="6">
                  <c:v>27</c:v>
                </c:pt>
              </c:numCache>
            </c:numRef>
          </c:xVal>
          <c:yVal>
            <c:numRef>
              <c:f>Sheet1!$B$26:$B$32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2</c:v>
                </c:pt>
                <c:pt idx="3">
                  <c:v>18</c:v>
                </c:pt>
                <c:pt idx="4">
                  <c:v>17</c:v>
                </c:pt>
                <c:pt idx="5">
                  <c:v>21</c:v>
                </c:pt>
                <c:pt idx="6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06-4BA9-8F1B-6C02DF340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4045032"/>
        <c:axId val="490669920"/>
      </c:scatterChart>
      <c:valAx>
        <c:axId val="704045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69920"/>
        <c:crosses val="autoZero"/>
        <c:crossBetween val="midCat"/>
      </c:valAx>
      <c:valAx>
        <c:axId val="490669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layout>
            <c:manualLayout>
              <c:xMode val="edge"/>
              <c:yMode val="edge"/>
              <c:x val="1.3095238095238096E-2"/>
              <c:y val="0.34873875140607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40450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18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21</c:v>
                </c:pt>
                <c:pt idx="6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14-4740-B2A5-A77E4D889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8521208"/>
        <c:axId val="738521600"/>
      </c:scatterChart>
      <c:valAx>
        <c:axId val="7385212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Simulated</a:t>
                </a:r>
                <a:r>
                  <a:rPr lang="en-US" sz="2000" baseline="0"/>
                  <a:t> Time</a:t>
                </a:r>
                <a:endParaRPr 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600"/>
        <c:crosses val="autoZero"/>
        <c:crossBetween val="midCat"/>
        <c:minorUnit val="1"/>
      </c:valAx>
      <c:valAx>
        <c:axId val="738521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Track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521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37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2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6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963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89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42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Think of each file as a variable-size "partition"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Over time, with file creation/deletion, disk can have many small "holes"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116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565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600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543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98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737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47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489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72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651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359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9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34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3564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42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438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579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807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582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229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3920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662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448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1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9062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25438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8632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489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248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364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http://pages.cs.wisc.edu/~remzi/OSFEP/file-disks.pdf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3009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8689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9101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4817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8300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5360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33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L11 -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L11 -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Implementations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11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260646-8620-4935-8D80-E38650719E8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File System Implementation:</a:t>
            </a:r>
          </a:p>
          <a:p>
            <a:pPr lvl="1"/>
            <a:r>
              <a:rPr lang="en-US" altLang="en-US" dirty="0"/>
              <a:t>File system layout</a:t>
            </a:r>
          </a:p>
          <a:p>
            <a:pPr lvl="1"/>
            <a:r>
              <a:rPr lang="en-US" altLang="en-US" dirty="0"/>
              <a:t>Disk organization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3300"/>
                </a:solidFill>
              </a:rPr>
              <a:t>Implementation details for: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File System in Action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Disk I/O Scheduling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4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9AB2A-2F68-4153-AB07-62EB8B1C33D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System Implementation: Overview</a:t>
            </a:r>
          </a:p>
        </p:txBody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systems are stored on storage media</a:t>
            </a:r>
          </a:p>
          <a:p>
            <a:r>
              <a:rPr lang="en-US" altLang="en-US" dirty="0"/>
              <a:t>Concentrate on hard disk in this lecture</a:t>
            </a:r>
          </a:p>
          <a:p>
            <a:endParaRPr lang="en-US" altLang="en-US" sz="1400" dirty="0"/>
          </a:p>
          <a:p>
            <a:r>
              <a:rPr lang="en-US" altLang="en-US" dirty="0"/>
              <a:t>General </a:t>
            </a:r>
            <a:r>
              <a:rPr lang="en-US" altLang="en-US" b="1" dirty="0">
                <a:solidFill>
                  <a:srgbClr val="C00000"/>
                </a:solidFill>
              </a:rPr>
              <a:t>Disk Structure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1-D array of </a:t>
            </a:r>
            <a:r>
              <a:rPr lang="en-US" altLang="en-US" b="1" dirty="0">
                <a:solidFill>
                  <a:srgbClr val="660066"/>
                </a:solidFill>
              </a:rPr>
              <a:t>logical blocks</a:t>
            </a:r>
          </a:p>
          <a:p>
            <a:pPr lvl="1"/>
            <a:endParaRPr lang="en-US" altLang="en-US" b="1" dirty="0">
              <a:solidFill>
                <a:srgbClr val="660066"/>
              </a:solidFill>
            </a:endParaRP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Logical block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Smallest accessible unit (Usually 512-bytes to 4KB)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Logical block is mapped into </a:t>
            </a:r>
            <a:r>
              <a:rPr lang="en-US" altLang="en-US" b="1" dirty="0">
                <a:solidFill>
                  <a:srgbClr val="003300"/>
                </a:solidFill>
              </a:rPr>
              <a:t>disk sector(s)</a:t>
            </a:r>
            <a:endParaRPr lang="en-US" altLang="en-US" dirty="0">
              <a:solidFill>
                <a:srgbClr val="003300"/>
              </a:solidFill>
            </a:endParaRPr>
          </a:p>
          <a:p>
            <a:pPr lvl="2"/>
            <a:r>
              <a:rPr lang="en-US" altLang="en-US" dirty="0"/>
              <a:t>Layout of disk sector is </a:t>
            </a:r>
            <a:r>
              <a:rPr lang="en-US" altLang="en-US" b="1" dirty="0"/>
              <a:t>hardware dependent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866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676884"/>
              </p:ext>
            </p:extLst>
          </p:nvPr>
        </p:nvGraphicFramePr>
        <p:xfrm>
          <a:off x="1955222" y="3668259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OS</a:t>
            </a:r>
            <a:r>
              <a:rPr lang="en-US" dirty="0">
                <a:sym typeface="Wingdings" panose="05000000000000000000" pitchFamily="2" charset="2"/>
              </a:rPr>
              <a:t> 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Hardware</a:t>
            </a:r>
            <a:r>
              <a:rPr lang="en-US" dirty="0">
                <a:sym typeface="Wingdings" panose="05000000000000000000" pitchFamily="2" charset="2"/>
              </a:rPr>
              <a:t>: Views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228600" y="1143000"/>
            <a:ext cx="1066800" cy="1371600"/>
            <a:chOff x="228600" y="1143000"/>
            <a:chExt cx="1066800" cy="1371600"/>
          </a:xfrm>
        </p:grpSpPr>
        <p:pic>
          <p:nvPicPr>
            <p:cNvPr id="1028" name="Picture 4" descr="user ico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143000"/>
              <a:ext cx="1066800" cy="106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28600" y="2209800"/>
              <a:ext cx="1066800" cy="3048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4800" y="5370830"/>
            <a:ext cx="1066800" cy="1135380"/>
            <a:chOff x="304800" y="5370830"/>
            <a:chExt cx="1066800" cy="1135380"/>
          </a:xfrm>
        </p:grpSpPr>
        <p:sp>
          <p:nvSpPr>
            <p:cNvPr id="9" name="Flowchart: Magnetic Disk 8"/>
            <p:cNvSpPr/>
            <p:nvPr/>
          </p:nvSpPr>
          <p:spPr>
            <a:xfrm>
              <a:off x="381000" y="5370830"/>
              <a:ext cx="914400" cy="762000"/>
            </a:xfrm>
            <a:prstGeom prst="flowChartMagneticDisk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4800" y="6216650"/>
              <a:ext cx="1066800" cy="2895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Storage</a:t>
              </a: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1447800" y="25908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371600" y="4724400"/>
            <a:ext cx="723900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3650673" y="1006878"/>
            <a:ext cx="5036127" cy="1466850"/>
            <a:chOff x="3650673" y="1006878"/>
            <a:chExt cx="5036127" cy="1466850"/>
          </a:xfrm>
        </p:grpSpPr>
        <p:sp>
          <p:nvSpPr>
            <p:cNvPr id="13" name="Snip Single Corner Rectangle 12"/>
            <p:cNvSpPr/>
            <p:nvPr/>
          </p:nvSpPr>
          <p:spPr>
            <a:xfrm>
              <a:off x="3657600" y="1864128"/>
              <a:ext cx="5029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Light" panose="020B0502040204020203" pitchFamily="34" charset="0"/>
                </a:rPr>
                <a:t>file.txt</a:t>
              </a:r>
            </a:p>
          </p:txBody>
        </p:sp>
        <p:sp>
          <p:nvSpPr>
            <p:cNvPr id="18" name="Snip Single Corner Rectangle 17"/>
            <p:cNvSpPr/>
            <p:nvPr/>
          </p:nvSpPr>
          <p:spPr>
            <a:xfrm>
              <a:off x="3650673" y="1006878"/>
              <a:ext cx="1600200" cy="609600"/>
            </a:xfrm>
            <a:prstGeom prst="snip1Rect">
              <a:avLst>
                <a:gd name="adj" fmla="val 28182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20474" y="1219201"/>
            <a:ext cx="1937126" cy="1028700"/>
            <a:chOff x="1720474" y="1219201"/>
            <a:chExt cx="1937126" cy="10287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0474" y="1219201"/>
              <a:ext cx="1266825" cy="1028700"/>
            </a:xfrm>
            <a:prstGeom prst="rect">
              <a:avLst/>
            </a:prstGeom>
          </p:spPr>
        </p:pic>
        <p:cxnSp>
          <p:nvCxnSpPr>
            <p:cNvPr id="17" name="Straight Connector 16"/>
            <p:cNvCxnSpPr>
              <a:stCxn id="14" idx="3"/>
              <a:endCxn id="18" idx="2"/>
            </p:cNvCxnSpPr>
            <p:nvPr/>
          </p:nvCxnSpPr>
          <p:spPr>
            <a:xfrm flipV="1">
              <a:off x="2987299" y="1311678"/>
              <a:ext cx="663374" cy="421873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4" idx="3"/>
              <a:endCxn id="13" idx="2"/>
            </p:cNvCxnSpPr>
            <p:nvPr/>
          </p:nvCxnSpPr>
          <p:spPr>
            <a:xfrm>
              <a:off x="2987299" y="1733551"/>
              <a:ext cx="670301" cy="435377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242455" y="3389383"/>
            <a:ext cx="1066800" cy="1288273"/>
            <a:chOff x="242455" y="3389383"/>
            <a:chExt cx="1066800" cy="1288273"/>
          </a:xfrm>
        </p:grpSpPr>
        <p:pic>
          <p:nvPicPr>
            <p:cNvPr id="1030" name="Picture 6" descr="cogs, configuration, gears, machine, settings, system icon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507" y="3389383"/>
              <a:ext cx="914893" cy="914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ectangle 24"/>
            <p:cNvSpPr/>
            <p:nvPr/>
          </p:nvSpPr>
          <p:spPr>
            <a:xfrm>
              <a:off x="242455" y="4388096"/>
              <a:ext cx="1066800" cy="28956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OS - FS</a:t>
              </a:r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1" y="4746569"/>
            <a:ext cx="2431822" cy="1871918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37621"/>
              </p:ext>
            </p:extLst>
          </p:nvPr>
        </p:nvGraphicFramePr>
        <p:xfrm>
          <a:off x="1955223" y="3668685"/>
          <a:ext cx="6591300" cy="370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Curved Connector 25"/>
          <p:cNvCxnSpPr>
            <a:stCxn id="14" idx="2"/>
          </p:cNvCxnSpPr>
          <p:nvPr/>
        </p:nvCxnSpPr>
        <p:spPr>
          <a:xfrm rot="16200000" flipH="1">
            <a:off x="2219151" y="2382636"/>
            <a:ext cx="1420784" cy="1151313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endCxn id="23" idx="0"/>
          </p:cNvCxnSpPr>
          <p:nvPr/>
        </p:nvCxnSpPr>
        <p:spPr>
          <a:xfrm rot="16200000" flipH="1">
            <a:off x="4257906" y="2675718"/>
            <a:ext cx="1185836" cy="800098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513691" y="2482849"/>
            <a:ext cx="1232945" cy="134733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06460" y="2482849"/>
            <a:ext cx="1594540" cy="134733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5183490" y="1862043"/>
            <a:ext cx="1972846" cy="620806"/>
            <a:chOff x="5183490" y="1862043"/>
            <a:chExt cx="1972846" cy="620806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5183490" y="1862043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7147301" y="1873127"/>
              <a:ext cx="9035" cy="609722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505200" y="4006392"/>
            <a:ext cx="3048001" cy="2440064"/>
            <a:chOff x="3505200" y="4006392"/>
            <a:chExt cx="3048001" cy="2440064"/>
          </a:xfrm>
        </p:grpSpPr>
        <p:sp>
          <p:nvSpPr>
            <p:cNvPr id="45" name="Rectangle 44"/>
            <p:cNvSpPr/>
            <p:nvPr/>
          </p:nvSpPr>
          <p:spPr>
            <a:xfrm>
              <a:off x="5410200" y="506762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45552" y="542986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710517" y="5533505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83490" y="625821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Curved Connector 52"/>
            <p:cNvCxnSpPr/>
            <p:nvPr/>
          </p:nvCxnSpPr>
          <p:spPr>
            <a:xfrm rot="16200000" flipH="1">
              <a:off x="3337158" y="4174434"/>
              <a:ext cx="1402884" cy="106680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urved Connector 55"/>
            <p:cNvCxnSpPr>
              <a:endCxn id="52" idx="3"/>
            </p:cNvCxnSpPr>
            <p:nvPr/>
          </p:nvCxnSpPr>
          <p:spPr>
            <a:xfrm rot="5400000">
              <a:off x="4818693" y="4573491"/>
              <a:ext cx="2234071" cy="1234945"/>
            </a:xfrm>
            <a:prstGeom prst="curvedConnector2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urved Connector 61"/>
            <p:cNvCxnSpPr>
              <a:endCxn id="45" idx="0"/>
            </p:cNvCxnSpPr>
            <p:nvPr/>
          </p:nvCxnSpPr>
          <p:spPr>
            <a:xfrm rot="16200000" flipH="1">
              <a:off x="4596328" y="4186368"/>
              <a:ext cx="1028098" cy="73441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urved Connector 64"/>
            <p:cNvCxnSpPr>
              <a:stCxn id="23" idx="2"/>
            </p:cNvCxnSpPr>
            <p:nvPr/>
          </p:nvCxnSpPr>
          <p:spPr>
            <a:xfrm rot="5400000">
              <a:off x="4286386" y="4548326"/>
              <a:ext cx="1473289" cy="45568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5130163" y="630122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076836" y="6346884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59055" y="5132506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27451" y="5180032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769807" y="5546657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846212" y="5559808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505664" y="5479653"/>
              <a:ext cx="134765" cy="995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996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C51610-294A-4E8E-9102-B24FCF080C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9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Disk Organization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Disk organization:</a:t>
            </a:r>
          </a:p>
          <a:p>
            <a:pPr lvl="1"/>
            <a:r>
              <a:rPr lang="en-US" altLang="en-US" sz="2200" b="1" dirty="0"/>
              <a:t>M</a:t>
            </a:r>
            <a:r>
              <a:rPr lang="en-US" altLang="en-US" sz="2200" dirty="0"/>
              <a:t>aster </a:t>
            </a:r>
            <a:r>
              <a:rPr lang="en-US" altLang="en-US" sz="2200" b="1" dirty="0"/>
              <a:t>B</a:t>
            </a:r>
            <a:r>
              <a:rPr lang="en-US" altLang="en-US" sz="2200" dirty="0"/>
              <a:t>oot </a:t>
            </a:r>
            <a:r>
              <a:rPr lang="en-US" altLang="en-US" sz="2200" b="1" dirty="0"/>
              <a:t>R</a:t>
            </a:r>
            <a:r>
              <a:rPr lang="en-US" altLang="en-US" sz="2200" dirty="0"/>
              <a:t>ecord (</a:t>
            </a:r>
            <a:r>
              <a:rPr lang="en-US" altLang="en-US" sz="2200" b="1" dirty="0"/>
              <a:t>MBR</a:t>
            </a:r>
            <a:r>
              <a:rPr lang="en-US" altLang="en-US" sz="2200" dirty="0"/>
              <a:t>) at sector 0 with partition table</a:t>
            </a:r>
          </a:p>
          <a:p>
            <a:pPr lvl="1"/>
            <a:r>
              <a:rPr lang="en-US" altLang="en-US" sz="2200" dirty="0"/>
              <a:t>Followed by one or more </a:t>
            </a:r>
            <a:r>
              <a:rPr lang="en-US" altLang="en-US" sz="2200" b="1" dirty="0"/>
              <a:t>partitions</a:t>
            </a:r>
          </a:p>
          <a:p>
            <a:pPr lvl="2"/>
            <a:r>
              <a:rPr lang="en-US" altLang="en-US" sz="2000" dirty="0"/>
              <a:t>Each partition can contains an independent </a:t>
            </a:r>
            <a:r>
              <a:rPr lang="en-US" altLang="en-US" sz="2000" b="1" dirty="0"/>
              <a:t>file system</a:t>
            </a:r>
          </a:p>
          <a:p>
            <a:endParaRPr lang="en-US" altLang="en-US" sz="2600" dirty="0"/>
          </a:p>
          <a:p>
            <a:r>
              <a:rPr lang="en-US" altLang="en-US" sz="2600" dirty="0"/>
              <a:t>A file system generally contains:</a:t>
            </a:r>
          </a:p>
          <a:p>
            <a:pPr lvl="1"/>
            <a:r>
              <a:rPr lang="en-US" altLang="en-US" sz="2200" dirty="0"/>
              <a:t>OS Boot-Up information</a:t>
            </a:r>
          </a:p>
          <a:p>
            <a:pPr lvl="1"/>
            <a:r>
              <a:rPr lang="en-US" altLang="en-US" sz="2200" dirty="0"/>
              <a:t>Partition details:</a:t>
            </a:r>
          </a:p>
          <a:p>
            <a:pPr lvl="2"/>
            <a:r>
              <a:rPr lang="en-US" altLang="en-US" sz="2000" dirty="0"/>
              <a:t>Total Number of blocks</a:t>
            </a:r>
          </a:p>
          <a:p>
            <a:pPr lvl="2"/>
            <a:r>
              <a:rPr lang="en-US" altLang="en-US" sz="2000" dirty="0"/>
              <a:t>Number and location of free disk blocks</a:t>
            </a:r>
          </a:p>
          <a:p>
            <a:pPr lvl="1"/>
            <a:r>
              <a:rPr lang="en-US" altLang="en-US" sz="2200" dirty="0"/>
              <a:t>Directory Structure</a:t>
            </a:r>
          </a:p>
          <a:p>
            <a:pPr lvl="1"/>
            <a:r>
              <a:rPr lang="en-US" altLang="en-US" sz="2200" dirty="0"/>
              <a:t>Files Information</a:t>
            </a:r>
          </a:p>
          <a:p>
            <a:pPr lvl="1"/>
            <a:r>
              <a:rPr lang="en-US" altLang="en-US" sz="2200" dirty="0"/>
              <a:t>Actual File Data</a:t>
            </a:r>
          </a:p>
        </p:txBody>
      </p:sp>
    </p:spTree>
    <p:extLst>
      <p:ext uri="{BB962C8B-B14F-4D97-AF65-F5344CB8AC3E}">
        <p14:creationId xmlns:p14="http://schemas.microsoft.com/office/powerpoint/2010/main" val="205126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93834" y="3429000"/>
            <a:ext cx="7330966" cy="1828800"/>
            <a:chOff x="593834" y="3429000"/>
            <a:chExt cx="7330966" cy="1828800"/>
          </a:xfrm>
        </p:grpSpPr>
        <p:sp>
          <p:nvSpPr>
            <p:cNvPr id="1097771" name="Line 43"/>
            <p:cNvSpPr>
              <a:spLocks noChangeShapeType="1"/>
            </p:cNvSpPr>
            <p:nvPr/>
          </p:nvSpPr>
          <p:spPr bwMode="auto">
            <a:xfrm flipV="1">
              <a:off x="609600" y="3429000"/>
              <a:ext cx="609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72" name="Line 44"/>
            <p:cNvSpPr>
              <a:spLocks noChangeShapeType="1"/>
            </p:cNvSpPr>
            <p:nvPr/>
          </p:nvSpPr>
          <p:spPr bwMode="auto">
            <a:xfrm>
              <a:off x="3276600" y="3429000"/>
              <a:ext cx="4648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593834" y="4419600"/>
              <a:ext cx="7315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</p:grpSp>
      <p:sp>
        <p:nvSpPr>
          <p:cNvPr id="25" name="Rectangle 51"/>
          <p:cNvSpPr>
            <a:spLocks noChangeArrowheads="1"/>
          </p:cNvSpPr>
          <p:nvPr/>
        </p:nvSpPr>
        <p:spPr bwMode="auto">
          <a:xfrm>
            <a:off x="457200" y="2590800"/>
            <a:ext cx="7848600" cy="838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3200" b="1">
                <a:latin typeface="Courier New" panose="02070309020205020404" pitchFamily="49" charset="0"/>
              </a:rPr>
              <a:t>Logical Blocks</a:t>
            </a:r>
          </a:p>
        </p:txBody>
      </p:sp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5846-D065-4C4F-972F-2DB4981F853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Generic Disk Organization</a:t>
            </a:r>
          </a:p>
        </p:txBody>
      </p:sp>
      <p:sp>
        <p:nvSpPr>
          <p:cNvPr id="1097755" name="Rectangle 27"/>
          <p:cNvSpPr>
            <a:spLocks noChangeArrowheads="1"/>
          </p:cNvSpPr>
          <p:nvPr/>
        </p:nvSpPr>
        <p:spPr bwMode="auto">
          <a:xfrm>
            <a:off x="457200" y="2590800"/>
            <a:ext cx="762000" cy="838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MBR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" y="1143000"/>
            <a:ext cx="2590800" cy="1447800"/>
            <a:chOff x="457200" y="1143000"/>
            <a:chExt cx="2590800" cy="1447800"/>
          </a:xfrm>
        </p:grpSpPr>
        <p:grpSp>
          <p:nvGrpSpPr>
            <p:cNvPr id="1097765" name="Group 37"/>
            <p:cNvGrpSpPr>
              <a:grpSpLocks/>
            </p:cNvGrpSpPr>
            <p:nvPr/>
          </p:nvGrpSpPr>
          <p:grpSpPr bwMode="auto">
            <a:xfrm>
              <a:off x="609600" y="1143000"/>
              <a:ext cx="2438400" cy="838200"/>
              <a:chOff x="384" y="672"/>
              <a:chExt cx="1536" cy="528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097761" name="Rectangle 33"/>
              <p:cNvSpPr>
                <a:spLocks noChangeArrowheads="1"/>
              </p:cNvSpPr>
              <p:nvPr/>
            </p:nvSpPr>
            <p:spPr bwMode="auto">
              <a:xfrm>
                <a:off x="384" y="672"/>
                <a:ext cx="816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Simple Boot Code</a:t>
                </a:r>
              </a:p>
            </p:txBody>
          </p:sp>
          <p:sp>
            <p:nvSpPr>
              <p:cNvPr id="1097762" name="Rectangle 34"/>
              <p:cNvSpPr>
                <a:spLocks noChangeArrowheads="1"/>
              </p:cNvSpPr>
              <p:nvPr/>
            </p:nvSpPr>
            <p:spPr bwMode="auto">
              <a:xfrm>
                <a:off x="1200" y="672"/>
                <a:ext cx="720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/>
                  <a:t>Partition Table</a:t>
                </a:r>
              </a:p>
            </p:txBody>
          </p:sp>
        </p:grpSp>
        <p:sp>
          <p:nvSpPr>
            <p:cNvPr id="1097763" name="Line 35"/>
            <p:cNvSpPr>
              <a:spLocks noChangeShapeType="1"/>
            </p:cNvSpPr>
            <p:nvPr/>
          </p:nvSpPr>
          <p:spPr bwMode="auto">
            <a:xfrm flipV="1">
              <a:off x="457200" y="1981200"/>
              <a:ext cx="1524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64" name="Line 36"/>
            <p:cNvSpPr>
              <a:spLocks noChangeShapeType="1"/>
            </p:cNvSpPr>
            <p:nvPr/>
          </p:nvSpPr>
          <p:spPr bwMode="auto">
            <a:xfrm flipV="1">
              <a:off x="1219200" y="19812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7766" name="Rectangle 38"/>
          <p:cNvSpPr>
            <a:spLocks noChangeArrowheads="1"/>
          </p:cNvSpPr>
          <p:nvPr/>
        </p:nvSpPr>
        <p:spPr bwMode="auto">
          <a:xfrm>
            <a:off x="5938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dirty="0"/>
              <a:t>OS Boot Block</a:t>
            </a:r>
          </a:p>
        </p:txBody>
      </p:sp>
      <p:sp>
        <p:nvSpPr>
          <p:cNvPr id="1097767" name="Rectangle 39"/>
          <p:cNvSpPr>
            <a:spLocks noChangeArrowheads="1"/>
          </p:cNvSpPr>
          <p:nvPr/>
        </p:nvSpPr>
        <p:spPr bwMode="auto">
          <a:xfrm>
            <a:off x="1889234" y="4419600"/>
            <a:ext cx="1295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Partition Details</a:t>
            </a:r>
          </a:p>
        </p:txBody>
      </p:sp>
      <p:sp>
        <p:nvSpPr>
          <p:cNvPr id="1097768" name="Rectangle 40"/>
          <p:cNvSpPr>
            <a:spLocks noChangeArrowheads="1"/>
          </p:cNvSpPr>
          <p:nvPr/>
        </p:nvSpPr>
        <p:spPr bwMode="auto">
          <a:xfrm>
            <a:off x="3178629" y="4419600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Directory Structure</a:t>
            </a:r>
          </a:p>
        </p:txBody>
      </p:sp>
      <p:sp>
        <p:nvSpPr>
          <p:cNvPr id="1097769" name="Rectangle 41"/>
          <p:cNvSpPr>
            <a:spLocks noChangeArrowheads="1"/>
          </p:cNvSpPr>
          <p:nvPr/>
        </p:nvSpPr>
        <p:spPr bwMode="auto">
          <a:xfrm>
            <a:off x="4556234" y="4419600"/>
            <a:ext cx="11430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Files Info </a:t>
            </a:r>
          </a:p>
        </p:txBody>
      </p:sp>
      <p:sp>
        <p:nvSpPr>
          <p:cNvPr id="1097770" name="Rectangle 42"/>
          <p:cNvSpPr>
            <a:spLocks noChangeArrowheads="1"/>
          </p:cNvSpPr>
          <p:nvPr/>
        </p:nvSpPr>
        <p:spPr bwMode="auto">
          <a:xfrm>
            <a:off x="5699234" y="4419600"/>
            <a:ext cx="22098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/>
              <a:t>File Data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15259" y="2590800"/>
            <a:ext cx="7090541" cy="838200"/>
            <a:chOff x="1215259" y="2340960"/>
            <a:chExt cx="7090541" cy="838200"/>
          </a:xfrm>
        </p:grpSpPr>
        <p:grpSp>
          <p:nvGrpSpPr>
            <p:cNvPr id="4" name="Group 3"/>
            <p:cNvGrpSpPr/>
            <p:nvPr/>
          </p:nvGrpSpPr>
          <p:grpSpPr>
            <a:xfrm>
              <a:off x="3276600" y="2340960"/>
              <a:ext cx="5029200" cy="838200"/>
              <a:chOff x="3276600" y="2340960"/>
              <a:chExt cx="5029200" cy="838200"/>
            </a:xfrm>
          </p:grpSpPr>
          <p:sp>
            <p:nvSpPr>
              <p:cNvPr id="1097758" name="Rectangle 30"/>
              <p:cNvSpPr>
                <a:spLocks noChangeArrowheads="1"/>
              </p:cNvSpPr>
              <p:nvPr/>
            </p:nvSpPr>
            <p:spPr bwMode="auto">
              <a:xfrm>
                <a:off x="32766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  <p:sp>
            <p:nvSpPr>
              <p:cNvPr id="1097759" name="Rectangle 31"/>
              <p:cNvSpPr>
                <a:spLocks noChangeArrowheads="1"/>
              </p:cNvSpPr>
              <p:nvPr/>
            </p:nvSpPr>
            <p:spPr bwMode="auto">
              <a:xfrm>
                <a:off x="5334000" y="2340960"/>
                <a:ext cx="914400" cy="8382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……</a:t>
                </a:r>
              </a:p>
            </p:txBody>
          </p:sp>
          <p:sp>
            <p:nvSpPr>
              <p:cNvPr id="1097760" name="Rectangle 32"/>
              <p:cNvSpPr>
                <a:spLocks noChangeArrowheads="1"/>
              </p:cNvSpPr>
              <p:nvPr/>
            </p:nvSpPr>
            <p:spPr bwMode="auto">
              <a:xfrm>
                <a:off x="6248400" y="2340960"/>
                <a:ext cx="2057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000" b="1"/>
                  <a:t>Partition</a:t>
                </a:r>
              </a:p>
            </p:txBody>
          </p:sp>
        </p:grp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1215259" y="2340960"/>
              <a:ext cx="2057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000" b="1"/>
                <a:t>Partition</a:t>
              </a:r>
            </a:p>
          </p:txBody>
        </p:sp>
      </p:grpSp>
      <p:sp>
        <p:nvSpPr>
          <p:cNvPr id="1097757" name="Rectangle 29"/>
          <p:cNvSpPr>
            <a:spLocks noChangeArrowheads="1"/>
          </p:cNvSpPr>
          <p:nvPr/>
        </p:nvSpPr>
        <p:spPr bwMode="auto">
          <a:xfrm>
            <a:off x="1219200" y="2590800"/>
            <a:ext cx="2057400" cy="838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Partition</a:t>
            </a:r>
          </a:p>
        </p:txBody>
      </p:sp>
    </p:spTree>
    <p:extLst>
      <p:ext uri="{BB962C8B-B14F-4D97-AF65-F5344CB8AC3E}">
        <p14:creationId xmlns:p14="http://schemas.microsoft.com/office/powerpoint/2010/main" val="364431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97755" grpId="0" animBg="1"/>
      <p:bldP spid="1097766" grpId="0" animBg="1"/>
      <p:bldP spid="1097767" grpId="0" animBg="1"/>
      <p:bldP spid="1097768" grpId="0" animBg="1"/>
      <p:bldP spid="1097769" grpId="0" animBg="1"/>
      <p:bldP spid="1097770" grpId="0" animBg="1"/>
      <p:bldP spid="10977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File</a:t>
            </a:r>
          </a:p>
        </p:txBody>
      </p:sp>
      <p:grpSp>
        <p:nvGrpSpPr>
          <p:cNvPr id="1100806" name="Group 6"/>
          <p:cNvGrpSpPr>
            <a:grpSpLocks/>
          </p:cNvGrpSpPr>
          <p:nvPr/>
        </p:nvGrpSpPr>
        <p:grpSpPr bwMode="auto">
          <a:xfrm>
            <a:off x="838200" y="4648200"/>
            <a:ext cx="7315200" cy="838200"/>
            <a:chOff x="384" y="2736"/>
            <a:chExt cx="4608" cy="528"/>
          </a:xfrm>
        </p:grpSpPr>
        <p:sp>
          <p:nvSpPr>
            <p:cNvPr id="1100807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0808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0809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0810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0811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0812" name="Oval 12"/>
          <p:cNvSpPr>
            <a:spLocks noChangeArrowheads="1"/>
          </p:cNvSpPr>
          <p:nvPr/>
        </p:nvSpPr>
        <p:spPr bwMode="auto">
          <a:xfrm>
            <a:off x="4572000" y="4114800"/>
            <a:ext cx="4038600" cy="19050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5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818CE-FF05-49E5-8426-2A7F55B5AD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File Implementation: Overview</a:t>
            </a:r>
          </a:p>
        </p:txBody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Logical view of a file: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collection of </a:t>
            </a:r>
            <a:r>
              <a:rPr lang="en-US" altLang="en-US" b="1" dirty="0"/>
              <a:t>logical blocks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file size != multiple of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Last block may have </a:t>
            </a:r>
            <a:r>
              <a:rPr lang="en-US" altLang="en-US" b="1" dirty="0">
                <a:solidFill>
                  <a:srgbClr val="C00000"/>
                </a:solidFill>
              </a:rPr>
              <a:t>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A good file implementation must: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Keep track of the logical blocks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Allow efficient access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Disk space is utilized effectively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   </a:t>
            </a:r>
            <a:r>
              <a:rPr lang="en-US" altLang="en-US" dirty="0"/>
              <a:t>focuses on </a:t>
            </a:r>
            <a:r>
              <a:rPr lang="en-US" altLang="en-US" b="1" dirty="0"/>
              <a:t>how to allocate </a:t>
            </a:r>
            <a:r>
              <a:rPr lang="en-US" altLang="en-US" dirty="0"/>
              <a:t>file data on disk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03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A92CE8-6606-40C1-AF1E-9D86C3E8E4AD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1: </a:t>
            </a:r>
            <a:r>
              <a:rPr lang="en-US" altLang="en-US" sz="3800" b="1" dirty="0">
                <a:solidFill>
                  <a:srgbClr val="C00000"/>
                </a:solidFill>
              </a:rPr>
              <a:t>Contiguous </a:t>
            </a:r>
          </a:p>
        </p:txBody>
      </p:sp>
      <p:sp>
        <p:nvSpPr>
          <p:cNvPr id="110900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Allocate consecutive disk blocks to a file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to keep track: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(only need to seek to first block)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External Fragmentation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File size need to be specified in advance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173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2586790"/>
            <a:chOff x="5105400" y="1310940"/>
            <a:chExt cx="3810000" cy="258679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25867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count 	    2</a:t>
              </a:r>
            </a:p>
            <a:p>
              <a:r>
                <a:rPr lang="en-US" altLang="en-US" sz="2400" dirty="0" err="1"/>
                <a:t>tr</a:t>
              </a:r>
              <a:r>
                <a:rPr lang="en-US" altLang="en-US" sz="2400" dirty="0"/>
                <a:t>	    3</a:t>
              </a:r>
            </a:p>
            <a:p>
              <a:r>
                <a:rPr lang="en-US" altLang="en-US" sz="2400" dirty="0"/>
                <a:t>mail	    6</a:t>
              </a:r>
            </a:p>
            <a:p>
              <a:r>
                <a:rPr lang="en-US" altLang="en-US" sz="2400" dirty="0"/>
                <a:t>list	    4</a:t>
              </a:r>
            </a:p>
            <a:p>
              <a:r>
                <a:rPr lang="en-US" altLang="en-US" sz="2400" dirty="0"/>
                <a:t>f	    2</a:t>
              </a:r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1144154" y="1729582"/>
            <a:ext cx="990600" cy="304800"/>
            <a:chOff x="1295400" y="1981200"/>
            <a:chExt cx="990600" cy="304800"/>
          </a:xfrm>
        </p:grpSpPr>
        <p:sp>
          <p:nvSpPr>
            <p:cNvPr id="210" name="Rectangle 209"/>
            <p:cNvSpPr/>
            <p:nvPr/>
          </p:nvSpPr>
          <p:spPr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981200" y="19812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1143000" y="3377407"/>
            <a:ext cx="2416463" cy="817852"/>
            <a:chOff x="1294246" y="3629025"/>
            <a:chExt cx="2416463" cy="817852"/>
          </a:xfrm>
        </p:grpSpPr>
        <p:sp>
          <p:nvSpPr>
            <p:cNvPr id="213" name="Rectangle 212"/>
            <p:cNvSpPr/>
            <p:nvPr/>
          </p:nvSpPr>
          <p:spPr>
            <a:xfrm>
              <a:off x="27201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3405909" y="3629025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294246" y="4142077"/>
              <a:ext cx="304800" cy="3048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1143000" y="3890459"/>
            <a:ext cx="2414155" cy="1403350"/>
            <a:chOff x="1294246" y="4142077"/>
            <a:chExt cx="2414155" cy="1403350"/>
          </a:xfrm>
        </p:grpSpPr>
        <p:sp>
          <p:nvSpPr>
            <p:cNvPr id="217" name="Rectangle 216"/>
            <p:cNvSpPr/>
            <p:nvPr/>
          </p:nvSpPr>
          <p:spPr>
            <a:xfrm>
              <a:off x="3403601" y="414207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2942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980046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27178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403601" y="4691352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1295400" y="5240627"/>
              <a:ext cx="3048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144154" y="5538284"/>
            <a:ext cx="2414155" cy="304800"/>
            <a:chOff x="1295400" y="5789902"/>
            <a:chExt cx="2414155" cy="304800"/>
          </a:xfrm>
        </p:grpSpPr>
        <p:sp>
          <p:nvSpPr>
            <p:cNvPr id="224" name="Rectangle 223"/>
            <p:cNvSpPr/>
            <p:nvPr/>
          </p:nvSpPr>
          <p:spPr>
            <a:xfrm>
              <a:off x="12954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981200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7189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404755" y="5789902"/>
              <a:ext cx="304800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2567709" y="2278857"/>
            <a:ext cx="990600" cy="304800"/>
            <a:chOff x="2718955" y="2530475"/>
            <a:chExt cx="990600" cy="304800"/>
          </a:xfrm>
        </p:grpSpPr>
        <p:sp>
          <p:nvSpPr>
            <p:cNvPr id="229" name="Rectangle 228"/>
            <p:cNvSpPr/>
            <p:nvPr/>
          </p:nvSpPr>
          <p:spPr>
            <a:xfrm>
              <a:off x="27189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3404755" y="2530475"/>
              <a:ext cx="304800" cy="3048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/>
          <p:cNvSpPr/>
          <p:nvPr/>
        </p:nvSpPr>
        <p:spPr>
          <a:xfrm>
            <a:off x="5257800" y="2389359"/>
            <a:ext cx="185618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/>
        </p:nvSpPr>
        <p:spPr>
          <a:xfrm>
            <a:off x="5257800" y="2781300"/>
            <a:ext cx="185618" cy="228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/>
          <p:cNvSpPr/>
          <p:nvPr/>
        </p:nvSpPr>
        <p:spPr>
          <a:xfrm>
            <a:off x="5257800" y="3124200"/>
            <a:ext cx="185618" cy="22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/>
          <p:cNvSpPr/>
          <p:nvPr/>
        </p:nvSpPr>
        <p:spPr>
          <a:xfrm>
            <a:off x="5257800" y="3456159"/>
            <a:ext cx="185618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30184" y="1437715"/>
            <a:ext cx="2347116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0	       2</a:t>
            </a:r>
          </a:p>
          <a:p>
            <a:r>
              <a:rPr lang="en-US" altLang="en-US" sz="2400" dirty="0"/>
              <a:t>14	       3</a:t>
            </a:r>
          </a:p>
          <a:p>
            <a:r>
              <a:rPr lang="en-US" altLang="en-US" sz="2400" dirty="0"/>
              <a:t>19	       6</a:t>
            </a:r>
          </a:p>
          <a:p>
            <a:r>
              <a:rPr lang="en-US" altLang="en-US" sz="2400" dirty="0"/>
              <a:t>28	       4</a:t>
            </a:r>
          </a:p>
          <a:p>
            <a:r>
              <a:rPr lang="en-US" altLang="en-US" sz="2400" dirty="0"/>
              <a:t>  6	       2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5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4" grpId="0" animBg="1"/>
      <p:bldP spid="235" grpId="0" animBg="1"/>
      <p:bldP spid="236" grpId="0" animBg="1"/>
      <p:bldP spid="237" grpId="0" animBg="1"/>
      <p:bldP spid="238" grpId="0" build="allAtOnce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D8C67-74F0-48BF-BE4E-42ABE5AB4DF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11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sp>
        <p:nvSpPr>
          <p:cNvPr id="111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660066"/>
                </a:solidFill>
              </a:rPr>
              <a:t>General Idea:</a:t>
            </a:r>
          </a:p>
          <a:p>
            <a:pPr lvl="1"/>
            <a:r>
              <a:rPr lang="en-US" altLang="en-US" sz="2200" dirty="0"/>
              <a:t>Keep a linked list of disk blocks</a:t>
            </a:r>
          </a:p>
          <a:p>
            <a:pPr lvl="1"/>
            <a:r>
              <a:rPr lang="en-US" altLang="en-US" sz="2200" dirty="0"/>
              <a:t>Each disk block stores:</a:t>
            </a:r>
          </a:p>
          <a:p>
            <a:pPr lvl="2"/>
            <a:r>
              <a:rPr lang="en-US" altLang="en-US" sz="2000" dirty="0"/>
              <a:t>The next disk block number (i.e. act as </a:t>
            </a:r>
            <a:r>
              <a:rPr lang="en-US" altLang="en-US" sz="2000" b="1" dirty="0"/>
              <a:t>pointer</a:t>
            </a:r>
            <a:r>
              <a:rPr lang="en-US" altLang="en-US" sz="2000" dirty="0"/>
              <a:t>)</a:t>
            </a:r>
          </a:p>
          <a:p>
            <a:pPr lvl="2"/>
            <a:r>
              <a:rPr lang="en-US" altLang="en-US" sz="2000" dirty="0"/>
              <a:t>Actual file data</a:t>
            </a:r>
          </a:p>
          <a:p>
            <a:pPr lvl="1"/>
            <a:r>
              <a:rPr lang="en-US" altLang="en-US" sz="2200" dirty="0"/>
              <a:t>File information stores:</a:t>
            </a:r>
          </a:p>
          <a:p>
            <a:pPr lvl="2"/>
            <a:r>
              <a:rPr lang="en-US" altLang="en-US" sz="2000" dirty="0"/>
              <a:t>First and last disk block number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Solve fragmentation problem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Random access in a file is very slow</a:t>
            </a:r>
          </a:p>
          <a:p>
            <a:pPr lvl="1"/>
            <a:r>
              <a:rPr lang="en-US" altLang="en-US" sz="2200" dirty="0"/>
              <a:t>Part of disk block is used for pointer</a:t>
            </a:r>
          </a:p>
          <a:p>
            <a:pPr lvl="1"/>
            <a:r>
              <a:rPr lang="en-US" altLang="en-US" sz="2200" dirty="0"/>
              <a:t>Less reliable (what if one of the pointers is incorrect?)</a:t>
            </a:r>
          </a:p>
        </p:txBody>
      </p:sp>
    </p:spTree>
    <p:extLst>
      <p:ext uri="{BB962C8B-B14F-4D97-AF65-F5344CB8AC3E}">
        <p14:creationId xmlns:p14="http://schemas.microsoft.com/office/powerpoint/2010/main" val="93366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45967" y="9906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2286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	  size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jeep 	    5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586014" y="1497568"/>
            <a:ext cx="227091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	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9	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67475" y="27519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179367" y="3056732"/>
            <a:ext cx="840508" cy="1062327"/>
            <a:chOff x="1143000" y="3232150"/>
            <a:chExt cx="840508" cy="1062327"/>
          </a:xfrm>
        </p:grpSpPr>
        <p:sp>
          <p:nvSpPr>
            <p:cNvPr id="209" name="Rectangle 208"/>
            <p:cNvSpPr/>
            <p:nvPr/>
          </p:nvSpPr>
          <p:spPr>
            <a:xfrm>
              <a:off x="1143000" y="3989677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208" idx="2"/>
            </p:cNvCxnSpPr>
            <p:nvPr/>
          </p:nvCxnSpPr>
          <p:spPr>
            <a:xfrm flipH="1">
              <a:off x="1487633" y="3232150"/>
              <a:ext cx="495875" cy="7844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331767" y="1653382"/>
            <a:ext cx="839354" cy="2160877"/>
            <a:chOff x="1295400" y="1828800"/>
            <a:chExt cx="839354" cy="1985459"/>
          </a:xfrm>
        </p:grpSpPr>
        <p:sp>
          <p:nvSpPr>
            <p:cNvPr id="239" name="Rectangle 238"/>
            <p:cNvSpPr/>
            <p:nvPr/>
          </p:nvSpPr>
          <p:spPr>
            <a:xfrm>
              <a:off x="1829954" y="182880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>
              <a:stCxn id="209" idx="0"/>
              <a:endCxn id="239" idx="2"/>
            </p:cNvCxnSpPr>
            <p:nvPr/>
          </p:nvCxnSpPr>
          <p:spPr>
            <a:xfrm flipV="1">
              <a:off x="1295400" y="2133600"/>
              <a:ext cx="686954" cy="16806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2160104" y="1958182"/>
            <a:ext cx="747609" cy="1097735"/>
            <a:chOff x="2132446" y="2133600"/>
            <a:chExt cx="747609" cy="1097735"/>
          </a:xfrm>
        </p:grpSpPr>
        <p:sp>
          <p:nvSpPr>
            <p:cNvPr id="242" name="Rectangle 241"/>
            <p:cNvSpPr/>
            <p:nvPr/>
          </p:nvSpPr>
          <p:spPr>
            <a:xfrm>
              <a:off x="2575255" y="2926535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4" name="Straight Arrow Connector 243"/>
            <p:cNvCxnSpPr>
              <a:endCxn id="242" idx="0"/>
            </p:cNvCxnSpPr>
            <p:nvPr/>
          </p:nvCxnSpPr>
          <p:spPr>
            <a:xfrm>
              <a:off x="2132446" y="2133600"/>
              <a:ext cx="595209" cy="7929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1866321" y="3055917"/>
            <a:ext cx="888992" cy="2161692"/>
            <a:chOff x="1829954" y="3231335"/>
            <a:chExt cx="888992" cy="2161692"/>
          </a:xfrm>
        </p:grpSpPr>
        <p:sp>
          <p:nvSpPr>
            <p:cNvPr id="241" name="Rectangle 240"/>
            <p:cNvSpPr/>
            <p:nvPr/>
          </p:nvSpPr>
          <p:spPr>
            <a:xfrm>
              <a:off x="1829954" y="5088227"/>
              <a:ext cx="304800" cy="304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Straight Arrow Connector 244"/>
            <p:cNvCxnSpPr>
              <a:stCxn id="242" idx="2"/>
              <a:endCxn id="241" idx="0"/>
            </p:cNvCxnSpPr>
            <p:nvPr/>
          </p:nvCxnSpPr>
          <p:spPr>
            <a:xfrm flipH="1">
              <a:off x="1982354" y="3231335"/>
              <a:ext cx="736592" cy="18568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54895" y="1502055"/>
            <a:ext cx="803305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25</a:t>
            </a:r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1" name="Isosceles Triangle 210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2" grpId="0" animBg="1"/>
      <p:bldP spid="238" grpId="0" uiExpand="1" build="allAtOnce" animBg="1"/>
      <p:bldP spid="208" grpId="0" animBg="1"/>
      <p:bldP spid="206" grpId="0" uiExpand="1" build="allAtOnce" animBg="1"/>
      <p:bldP spid="2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F</a:t>
            </a:r>
            <a:r>
              <a:rPr lang="en-US" altLang="en-US" dirty="0"/>
              <a:t>ile </a:t>
            </a:r>
            <a:r>
              <a:rPr lang="en-US" altLang="en-US" b="1" dirty="0"/>
              <a:t>A</a:t>
            </a:r>
            <a:r>
              <a:rPr lang="en-US" altLang="en-US" dirty="0"/>
              <a:t>llocation </a:t>
            </a:r>
            <a:r>
              <a:rPr lang="en-US" altLang="en-US" b="1" dirty="0"/>
              <a:t>T</a:t>
            </a:r>
            <a:r>
              <a:rPr lang="en-US" altLang="en-US" dirty="0"/>
              <a:t>able </a:t>
            </a:r>
            <a:r>
              <a:rPr lang="en-US" altLang="en-US" b="1" dirty="0"/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Used by MS-DOS</a:t>
            </a:r>
          </a:p>
        </p:txBody>
      </p:sp>
    </p:spTree>
    <p:extLst>
      <p:ext uri="{BB962C8B-B14F-4D97-AF65-F5344CB8AC3E}">
        <p14:creationId xmlns:p14="http://schemas.microsoft.com/office/powerpoint/2010/main" val="24820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067300" y="1981200"/>
            <a:ext cx="2065327" cy="4257827"/>
            <a:chOff x="3632201" y="2025030"/>
            <a:chExt cx="2065327" cy="4257827"/>
          </a:xfrm>
        </p:grpSpPr>
        <p:sp>
          <p:nvSpPr>
            <p:cNvPr id="264" name="Rectangle 9"/>
            <p:cNvSpPr>
              <a:spLocks noChangeArrowheads="1"/>
            </p:cNvSpPr>
            <p:nvPr/>
          </p:nvSpPr>
          <p:spPr bwMode="auto">
            <a:xfrm>
              <a:off x="4332716" y="2451980"/>
              <a:ext cx="1364812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65" name="Rectangle 9"/>
            <p:cNvSpPr>
              <a:spLocks noChangeArrowheads="1"/>
            </p:cNvSpPr>
            <p:nvPr/>
          </p:nvSpPr>
          <p:spPr bwMode="auto">
            <a:xfrm>
              <a:off x="3641636" y="245198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  <p:grpSp>
          <p:nvGrpSpPr>
            <p:cNvPr id="251" name="Group 250"/>
            <p:cNvGrpSpPr/>
            <p:nvPr/>
          </p:nvGrpSpPr>
          <p:grpSpPr>
            <a:xfrm>
              <a:off x="3650690" y="5849122"/>
              <a:ext cx="2046836" cy="430964"/>
              <a:chOff x="5638799" y="3015853"/>
              <a:chExt cx="2046836" cy="430964"/>
            </a:xfrm>
          </p:grpSpPr>
          <p:sp>
            <p:nvSpPr>
              <p:cNvPr id="260" name="Rectangle 9"/>
              <p:cNvSpPr>
                <a:spLocks noChangeArrowheads="1"/>
              </p:cNvSpPr>
              <p:nvPr/>
            </p:nvSpPr>
            <p:spPr bwMode="auto">
              <a:xfrm>
                <a:off x="6323091" y="3015853"/>
                <a:ext cx="1362544" cy="4309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61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3641636" y="2882943"/>
              <a:ext cx="2055892" cy="2438403"/>
              <a:chOff x="5638799" y="3013211"/>
              <a:chExt cx="2055892" cy="802208"/>
            </a:xfrm>
          </p:grpSpPr>
          <p:sp>
            <p:nvSpPr>
              <p:cNvPr id="258" name="Rectangle 9"/>
              <p:cNvSpPr>
                <a:spLocks noChangeArrowheads="1"/>
              </p:cNvSpPr>
              <p:nvPr/>
            </p:nvSpPr>
            <p:spPr bwMode="auto">
              <a:xfrm>
                <a:off x="6329879" y="3013211"/>
                <a:ext cx="1364812" cy="8022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lang="en-US" altLang="en-US" sz="2000" b="1" dirty="0"/>
              </a:p>
            </p:txBody>
          </p:sp>
          <p:sp>
            <p:nvSpPr>
              <p:cNvPr id="259" name="Rectangle 9"/>
              <p:cNvSpPr>
                <a:spLocks noChangeArrowheads="1"/>
              </p:cNvSpPr>
              <p:nvPr/>
            </p:nvSpPr>
            <p:spPr bwMode="auto">
              <a:xfrm>
                <a:off x="5638799" y="3015853"/>
                <a:ext cx="684291" cy="4309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r"/>
                <a:endParaRPr lang="en-US" altLang="en-US" sz="2000" b="1" dirty="0"/>
              </a:p>
            </p:txBody>
          </p:sp>
        </p:grpSp>
        <p:sp>
          <p:nvSpPr>
            <p:cNvPr id="253" name="Rectangle 9"/>
            <p:cNvSpPr>
              <a:spLocks noChangeArrowheads="1"/>
            </p:cNvSpPr>
            <p:nvPr/>
          </p:nvSpPr>
          <p:spPr bwMode="auto">
            <a:xfrm>
              <a:off x="4332715" y="2029044"/>
              <a:ext cx="1364811" cy="4309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54" name="Rectangle 9"/>
            <p:cNvSpPr>
              <a:spLocks noChangeArrowheads="1"/>
            </p:cNvSpPr>
            <p:nvPr/>
          </p:nvSpPr>
          <p:spPr bwMode="auto">
            <a:xfrm>
              <a:off x="3632202" y="2025030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0</a:t>
              </a:r>
            </a:p>
          </p:txBody>
        </p:sp>
        <p:sp>
          <p:nvSpPr>
            <p:cNvPr id="255" name="Rectangle 9"/>
            <p:cNvSpPr>
              <a:spLocks noChangeArrowheads="1"/>
            </p:cNvSpPr>
            <p:nvPr/>
          </p:nvSpPr>
          <p:spPr bwMode="auto">
            <a:xfrm>
              <a:off x="3632201" y="28829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endParaRPr lang="en-US" altLang="en-US" sz="2000" b="1" dirty="0"/>
            </a:p>
          </p:txBody>
        </p:sp>
        <p:sp>
          <p:nvSpPr>
            <p:cNvPr id="257" name="Rectangle 9"/>
            <p:cNvSpPr>
              <a:spLocks noChangeArrowheads="1"/>
            </p:cNvSpPr>
            <p:nvPr/>
          </p:nvSpPr>
          <p:spPr bwMode="auto">
            <a:xfrm>
              <a:off x="4332717" y="5321344"/>
              <a:ext cx="1364809" cy="5356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</p:txBody>
        </p:sp>
        <p:sp>
          <p:nvSpPr>
            <p:cNvPr id="298" name="Rectangle 9"/>
            <p:cNvSpPr>
              <a:spLocks noChangeArrowheads="1"/>
            </p:cNvSpPr>
            <p:nvPr/>
          </p:nvSpPr>
          <p:spPr bwMode="auto">
            <a:xfrm>
              <a:off x="3648425" y="585189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n-1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solidFill>
                  <a:srgbClr val="C00000"/>
                </a:solidFill>
              </a:rPr>
              <a:t>FAT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85800" y="10898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1" name="Group 10"/>
          <p:cNvGrpSpPr/>
          <p:nvPr/>
        </p:nvGrpSpPr>
        <p:grpSpPr>
          <a:xfrm>
            <a:off x="5067300" y="819590"/>
            <a:ext cx="3810000" cy="1003545"/>
            <a:chOff x="5105400" y="1402708"/>
            <a:chExt cx="3810000" cy="1003545"/>
          </a:xfrm>
        </p:grpSpPr>
        <p:grpSp>
          <p:nvGrpSpPr>
            <p:cNvPr id="2" name="Group 1"/>
            <p:cNvGrpSpPr/>
            <p:nvPr/>
          </p:nvGrpSpPr>
          <p:grpSpPr>
            <a:xfrm>
              <a:off x="5105400" y="1402708"/>
              <a:ext cx="3810000" cy="1003545"/>
              <a:chOff x="5105400" y="1402708"/>
              <a:chExt cx="3810000" cy="1003545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402708"/>
                <a:ext cx="3810000" cy="100354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</p:grpSp>
      <p:sp>
        <p:nvSpPr>
          <p:cNvPr id="208" name="Rectangle 207"/>
          <p:cNvSpPr/>
          <p:nvPr/>
        </p:nvSpPr>
        <p:spPr>
          <a:xfrm>
            <a:off x="1907308" y="285115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219200" y="391347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522846" y="3155950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1906154" y="1752600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371600" y="2057400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/>
          <p:cNvSpPr/>
          <p:nvPr/>
        </p:nvSpPr>
        <p:spPr>
          <a:xfrm>
            <a:off x="2651455" y="2850335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208646" y="2057400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1906154" y="5012027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2058554" y="3155135"/>
            <a:ext cx="745301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5067047" y="3482575"/>
            <a:ext cx="2071493" cy="430964"/>
            <a:chOff x="5638799" y="3015853"/>
            <a:chExt cx="2071493" cy="430964"/>
          </a:xfrm>
        </p:grpSpPr>
        <p:sp>
          <p:nvSpPr>
            <p:cNvPr id="215" name="Rectangle 9"/>
            <p:cNvSpPr>
              <a:spLocks noChangeArrowheads="1"/>
            </p:cNvSpPr>
            <p:nvPr/>
          </p:nvSpPr>
          <p:spPr bwMode="auto">
            <a:xfrm>
              <a:off x="6341833" y="3015853"/>
              <a:ext cx="1368459" cy="4131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16</a:t>
              </a:r>
            </a:p>
          </p:txBody>
        </p:sp>
        <p:sp>
          <p:nvSpPr>
            <p:cNvPr id="216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9</a:t>
              </a:r>
            </a:p>
          </p:txBody>
        </p:sp>
      </p:grpSp>
      <p:grpSp>
        <p:nvGrpSpPr>
          <p:cNvPr id="217" name="Group 216"/>
          <p:cNvGrpSpPr/>
          <p:nvPr/>
        </p:nvGrpSpPr>
        <p:grpSpPr>
          <a:xfrm>
            <a:off x="5077609" y="4854175"/>
            <a:ext cx="2055892" cy="430964"/>
            <a:chOff x="5638799" y="3015853"/>
            <a:chExt cx="2055892" cy="430964"/>
          </a:xfrm>
        </p:grpSpPr>
        <p:sp>
          <p:nvSpPr>
            <p:cNvPr id="218" name="Rectangle 9"/>
            <p:cNvSpPr>
              <a:spLocks noChangeArrowheads="1"/>
            </p:cNvSpPr>
            <p:nvPr/>
          </p:nvSpPr>
          <p:spPr bwMode="auto">
            <a:xfrm>
              <a:off x="6327497" y="3015853"/>
              <a:ext cx="1367194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</a:t>
              </a:r>
            </a:p>
          </p:txBody>
        </p:sp>
        <p:sp>
          <p:nvSpPr>
            <p:cNvPr id="219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16</a:t>
              </a:r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5076100" y="2415775"/>
            <a:ext cx="2062442" cy="430964"/>
            <a:chOff x="5638799" y="3015853"/>
            <a:chExt cx="2062442" cy="430964"/>
          </a:xfrm>
        </p:grpSpPr>
        <p:sp>
          <p:nvSpPr>
            <p:cNvPr id="221" name="Rectangle 9"/>
            <p:cNvSpPr>
              <a:spLocks noChangeArrowheads="1"/>
            </p:cNvSpPr>
            <p:nvPr/>
          </p:nvSpPr>
          <p:spPr bwMode="auto">
            <a:xfrm>
              <a:off x="6332780" y="3015853"/>
              <a:ext cx="1368461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10</a:t>
              </a:r>
            </a:p>
          </p:txBody>
        </p:sp>
        <p:sp>
          <p:nvSpPr>
            <p:cNvPr id="222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</a:t>
              </a: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5085154" y="5392606"/>
            <a:ext cx="2053387" cy="430964"/>
            <a:chOff x="5638799" y="3015853"/>
            <a:chExt cx="2056544" cy="430964"/>
          </a:xfrm>
        </p:grpSpPr>
        <p:sp>
          <p:nvSpPr>
            <p:cNvPr id="227" name="Rectangle 9"/>
            <p:cNvSpPr>
              <a:spLocks noChangeArrowheads="1"/>
            </p:cNvSpPr>
            <p:nvPr/>
          </p:nvSpPr>
          <p:spPr bwMode="auto">
            <a:xfrm>
              <a:off x="6323091" y="3015853"/>
              <a:ext cx="137225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-1</a:t>
              </a:r>
            </a:p>
          </p:txBody>
        </p:sp>
        <p:sp>
          <p:nvSpPr>
            <p:cNvPr id="228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25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76733" y="4278314"/>
            <a:ext cx="2055892" cy="430964"/>
            <a:chOff x="3641634" y="4322144"/>
            <a:chExt cx="2055892" cy="430964"/>
          </a:xfrm>
        </p:grpSpPr>
        <p:sp>
          <p:nvSpPr>
            <p:cNvPr id="296" name="Rectangle 9"/>
            <p:cNvSpPr>
              <a:spLocks noChangeArrowheads="1"/>
            </p:cNvSpPr>
            <p:nvPr/>
          </p:nvSpPr>
          <p:spPr bwMode="auto">
            <a:xfrm>
              <a:off x="4332714" y="4322144"/>
              <a:ext cx="136481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…..</a:t>
              </a:r>
            </a:p>
          </p:txBody>
        </p:sp>
        <p:sp>
          <p:nvSpPr>
            <p:cNvPr id="297" name="Rectangle 9"/>
            <p:cNvSpPr>
              <a:spLocks noChangeArrowheads="1"/>
            </p:cNvSpPr>
            <p:nvPr/>
          </p:nvSpPr>
          <p:spPr bwMode="auto">
            <a:xfrm>
              <a:off x="3641634" y="4322144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Y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5077609" y="3894683"/>
            <a:ext cx="2055892" cy="432003"/>
            <a:chOff x="5638799" y="3014814"/>
            <a:chExt cx="2055892" cy="432003"/>
          </a:xfrm>
        </p:grpSpPr>
        <p:sp>
          <p:nvSpPr>
            <p:cNvPr id="224" name="Rectangle 9"/>
            <p:cNvSpPr>
              <a:spLocks noChangeArrowheads="1"/>
            </p:cNvSpPr>
            <p:nvPr/>
          </p:nvSpPr>
          <p:spPr bwMode="auto">
            <a:xfrm>
              <a:off x="6328371" y="3014814"/>
              <a:ext cx="1366320" cy="43200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25</a:t>
              </a:r>
            </a:p>
          </p:txBody>
        </p:sp>
        <p:sp>
          <p:nvSpPr>
            <p:cNvPr id="225" name="Rectangle 9"/>
            <p:cNvSpPr>
              <a:spLocks noChangeArrowheads="1"/>
            </p:cNvSpPr>
            <p:nvPr/>
          </p:nvSpPr>
          <p:spPr bwMode="auto">
            <a:xfrm>
              <a:off x="5638799" y="3015853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10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85786" y="3055301"/>
            <a:ext cx="2052756" cy="430964"/>
            <a:chOff x="3641634" y="3455698"/>
            <a:chExt cx="2052756" cy="430964"/>
          </a:xfrm>
        </p:grpSpPr>
        <p:sp>
          <p:nvSpPr>
            <p:cNvPr id="294" name="Rectangle 9"/>
            <p:cNvSpPr>
              <a:spLocks noChangeArrowheads="1"/>
            </p:cNvSpPr>
            <p:nvPr/>
          </p:nvSpPr>
          <p:spPr bwMode="auto">
            <a:xfrm>
              <a:off x="4323028" y="3455698"/>
              <a:ext cx="1371362" cy="4309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Y</a:t>
              </a:r>
            </a:p>
          </p:txBody>
        </p:sp>
        <p:sp>
          <p:nvSpPr>
            <p:cNvPr id="295" name="Rectangle 9"/>
            <p:cNvSpPr>
              <a:spLocks noChangeArrowheads="1"/>
            </p:cNvSpPr>
            <p:nvPr/>
          </p:nvSpPr>
          <p:spPr bwMode="auto">
            <a:xfrm>
              <a:off x="3641634" y="3455698"/>
              <a:ext cx="684291" cy="430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altLang="en-US" sz="2000" b="1" dirty="0"/>
                <a:t>X</a:t>
              </a:r>
            </a:p>
          </p:txBody>
        </p:sp>
      </p:grpSp>
      <p:sp>
        <p:nvSpPr>
          <p:cNvPr id="206" name="Rectangle 11"/>
          <p:cNvSpPr>
            <a:spLocks noChangeArrowheads="1"/>
          </p:cNvSpPr>
          <p:nvPr/>
        </p:nvSpPr>
        <p:spPr bwMode="auto">
          <a:xfrm>
            <a:off x="7674114" y="914450"/>
            <a:ext cx="1088886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z="800" b="1" dirty="0"/>
          </a:p>
        </p:txBody>
      </p:sp>
      <p:pic>
        <p:nvPicPr>
          <p:cNvPr id="210" name="Picture 2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2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0691-3058-431A-82B5-2920765D157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Block Allocation 2: </a:t>
            </a:r>
            <a:r>
              <a:rPr lang="en-US" altLang="en-US" sz="3800" dirty="0">
                <a:solidFill>
                  <a:srgbClr val="C00000"/>
                </a:solidFill>
              </a:rPr>
              <a:t>Linked List V2.0</a:t>
            </a:r>
          </a:p>
        </p:txBody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Move all the block pointers into a single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known as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ile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llocation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able 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</a:rPr>
              <a:t>(FAT)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FAT is in memory at all time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Simple yet efficient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Used by MS-DOS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Random Access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linked list traversal now takes place in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FAT keep tracks of </a:t>
            </a:r>
            <a:r>
              <a:rPr lang="en-US" altLang="en-US" b="1" dirty="0"/>
              <a:t>all disk blocks </a:t>
            </a:r>
            <a:r>
              <a:rPr lang="en-US" altLang="en-US" dirty="0"/>
              <a:t>in a partition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be huge when disk is large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Consume valuable memory space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7541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A77E8-DCFA-4C71-95E8-578CE1D4A97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11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File Block Allocation 3: </a:t>
            </a:r>
            <a:r>
              <a:rPr lang="en-US" altLang="en-US" sz="3600" b="1" dirty="0">
                <a:solidFill>
                  <a:srgbClr val="C00000"/>
                </a:solidFill>
              </a:rPr>
              <a:t>Indexed Allocation</a:t>
            </a:r>
          </a:p>
        </p:txBody>
      </p:sp>
      <p:sp>
        <p:nvSpPr>
          <p:cNvPr id="111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General Idea: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 has an </a:t>
            </a:r>
            <a:r>
              <a:rPr lang="en-US" altLang="en-US" b="1" dirty="0"/>
              <a:t>index block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dirty="0"/>
              <a:t>array of </a:t>
            </a:r>
            <a:r>
              <a:rPr lang="en-US" altLang="en-US" dirty="0"/>
              <a:t>disk block addresses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IndexBlock</a:t>
            </a:r>
            <a:r>
              <a:rPr lang="en-US" altLang="en-US" dirty="0"/>
              <a:t>[ N ] == N</a:t>
            </a:r>
            <a:r>
              <a:rPr lang="en-US" altLang="en-US" baseline="30000" dirty="0"/>
              <a:t>th</a:t>
            </a:r>
            <a:r>
              <a:rPr lang="en-US" altLang="en-US" dirty="0"/>
              <a:t> Block address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Lesser memory overhead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index block of opened file needs to be in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direct access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Limited maximum file size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Max number of blocks == Number of index block entries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Index block overhead</a:t>
            </a:r>
          </a:p>
        </p:txBody>
      </p:sp>
    </p:spTree>
    <p:extLst>
      <p:ext uri="{BB962C8B-B14F-4D97-AF65-F5344CB8AC3E}">
        <p14:creationId xmlns:p14="http://schemas.microsoft.com/office/powerpoint/2010/main" val="280733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Indexed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066800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2" name="Group 1"/>
          <p:cNvGrpSpPr/>
          <p:nvPr/>
        </p:nvGrpSpPr>
        <p:grpSpPr>
          <a:xfrm>
            <a:off x="5105400" y="1310940"/>
            <a:ext cx="3810000" cy="1203660"/>
            <a:chOff x="5105400" y="1310940"/>
            <a:chExt cx="3810000" cy="1203660"/>
          </a:xfrm>
        </p:grpSpPr>
        <p:sp>
          <p:nvSpPr>
            <p:cNvPr id="207" name="Rectangle 206"/>
            <p:cNvSpPr/>
            <p:nvPr/>
          </p:nvSpPr>
          <p:spPr>
            <a:xfrm>
              <a:off x="5105400" y="1310940"/>
              <a:ext cx="3810000" cy="12036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11"/>
            <p:cNvSpPr>
              <a:spLocks noChangeArrowheads="1"/>
            </p:cNvSpPr>
            <p:nvPr/>
          </p:nvSpPr>
          <p:spPr bwMode="auto">
            <a:xfrm>
              <a:off x="5486400" y="1427246"/>
              <a:ext cx="3048000" cy="950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/>
                <a:t>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file</a:t>
              </a:r>
            </a:p>
            <a:p>
              <a:r>
                <a:rPr lang="en-US" altLang="en-US" sz="8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</a:t>
              </a:r>
              <a:endParaRPr lang="en-US" altLang="en-US" sz="800" b="1" dirty="0"/>
            </a:p>
            <a:p>
              <a:r>
                <a:rPr lang="en-US" altLang="en-US" sz="2400" dirty="0"/>
                <a:t>jeep 	</a:t>
              </a: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5257800" y="2019300"/>
            <a:ext cx="185618" cy="22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11"/>
          <p:cNvSpPr>
            <a:spLocks noChangeArrowheads="1"/>
          </p:cNvSpPr>
          <p:nvPr/>
        </p:nvSpPr>
        <p:spPr bwMode="auto">
          <a:xfrm>
            <a:off x="6644484" y="1507678"/>
            <a:ext cx="1932898" cy="8101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 block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        19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831108" y="282813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/>
          <p:cNvSpPr/>
          <p:nvPr/>
        </p:nvSpPr>
        <p:spPr>
          <a:xfrm>
            <a:off x="1143000" y="3890459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/>
          <p:cNvSpPr/>
          <p:nvPr/>
        </p:nvSpPr>
        <p:spPr>
          <a:xfrm>
            <a:off x="1829954" y="1729582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/>
          <p:cNvSpPr/>
          <p:nvPr/>
        </p:nvSpPr>
        <p:spPr>
          <a:xfrm>
            <a:off x="2573382" y="2827317"/>
            <a:ext cx="3048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/>
        </p:nvSpPr>
        <p:spPr>
          <a:xfrm>
            <a:off x="1829954" y="4989009"/>
            <a:ext cx="304800" cy="3048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208" idx="2"/>
          </p:cNvCxnSpPr>
          <p:nvPr/>
        </p:nvCxnSpPr>
        <p:spPr>
          <a:xfrm flipH="1">
            <a:off x="1446646" y="3116325"/>
            <a:ext cx="536862" cy="75752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/>
          <p:cNvCxnSpPr>
            <a:stCxn id="209" idx="0"/>
            <a:endCxn id="239" idx="2"/>
          </p:cNvCxnSpPr>
          <p:nvPr/>
        </p:nvCxnSpPr>
        <p:spPr>
          <a:xfrm flipV="1">
            <a:off x="1295400" y="2040793"/>
            <a:ext cx="686954" cy="1856077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/>
          <p:cNvCxnSpPr>
            <a:endCxn id="242" idx="0"/>
          </p:cNvCxnSpPr>
          <p:nvPr/>
        </p:nvCxnSpPr>
        <p:spPr>
          <a:xfrm>
            <a:off x="2130573" y="2017775"/>
            <a:ext cx="595209" cy="792935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>
            <a:stCxn id="242" idx="2"/>
            <a:endCxn id="241" idx="0"/>
          </p:cNvCxnSpPr>
          <p:nvPr/>
        </p:nvCxnSpPr>
        <p:spPr>
          <a:xfrm flipH="1">
            <a:off x="1982354" y="3138528"/>
            <a:ext cx="743428" cy="1856892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/>
          <p:cNvSpPr/>
          <p:nvPr/>
        </p:nvSpPr>
        <p:spPr>
          <a:xfrm>
            <a:off x="3251201" y="3890459"/>
            <a:ext cx="3048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/>
          <p:cNvSpPr/>
          <p:nvPr/>
        </p:nvSpPr>
        <p:spPr>
          <a:xfrm>
            <a:off x="5181600" y="3972185"/>
            <a:ext cx="624684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45720" rtlCol="0" anchor="ctr"/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806284" y="2807881"/>
            <a:ext cx="1585116" cy="2819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9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16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10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25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chemeClr val="tx1"/>
                </a:solidFill>
              </a:rPr>
              <a:t>-1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251201" y="2807881"/>
            <a:ext cx="2555083" cy="2819399"/>
            <a:chOff x="3251201" y="2907099"/>
            <a:chExt cx="2555083" cy="2819399"/>
          </a:xfrm>
        </p:grpSpPr>
        <p:sp>
          <p:nvSpPr>
            <p:cNvPr id="212" name="Line 44"/>
            <p:cNvSpPr>
              <a:spLocks noChangeShapeType="1"/>
            </p:cNvSpPr>
            <p:nvPr/>
          </p:nvSpPr>
          <p:spPr bwMode="auto">
            <a:xfrm flipV="1">
              <a:off x="3261055" y="2907099"/>
              <a:ext cx="2545229" cy="1082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44"/>
            <p:cNvSpPr>
              <a:spLocks noChangeShapeType="1"/>
            </p:cNvSpPr>
            <p:nvPr/>
          </p:nvSpPr>
          <p:spPr bwMode="auto">
            <a:xfrm>
              <a:off x="3251201" y="4294475"/>
              <a:ext cx="2555083" cy="1432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14" name="Picture 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77932"/>
            <a:ext cx="4511359" cy="454303"/>
          </a:xfrm>
          <a:prstGeom prst="rect">
            <a:avLst/>
          </a:prstGeom>
        </p:spPr>
      </p:pic>
      <p:sp>
        <p:nvSpPr>
          <p:cNvPr id="215" name="Rectangle 214"/>
          <p:cNvSpPr/>
          <p:nvPr/>
        </p:nvSpPr>
        <p:spPr>
          <a:xfrm>
            <a:off x="6083957" y="2859390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6083957" y="3209787"/>
            <a:ext cx="1051716" cy="316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6083957" y="3582365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6118626" y="4604823"/>
            <a:ext cx="1051716" cy="913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7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8" grpId="0" animBg="1"/>
      <p:bldP spid="206" grpId="0" animBg="1"/>
      <p:bldP spid="210" grpId="0"/>
      <p:bldP spid="210" grpId="1"/>
      <p:bldP spid="211" grpId="0" animBg="1"/>
      <p:bldP spid="211" grpId="1" animBg="1"/>
      <p:bldP spid="215" grpId="0" animBg="1"/>
      <p:bldP spid="215" grpId="1" animBg="1"/>
      <p:bldP spid="215" grpId="2" animBg="1"/>
      <p:bldP spid="216" grpId="0" animBg="1"/>
      <p:bldP spid="216" grpId="1" animBg="1"/>
      <p:bldP spid="216" grpId="2" animBg="1"/>
      <p:bldP spid="217" grpId="0" animBg="1"/>
      <p:bldP spid="217" grpId="1" animBg="1"/>
      <p:bldP spid="217" grpId="2" animBg="1"/>
      <p:bldP spid="218" grpId="0" animBg="1"/>
      <p:bldP spid="218" grpId="1" animBg="1"/>
      <p:bldP spid="218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0E185-9A17-42CD-90E8-BB19E2AB43B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12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</a:p>
        </p:txBody>
      </p:sp>
      <p:sp>
        <p:nvSpPr>
          <p:cNvPr id="112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13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Several schemes to allow </a:t>
            </a:r>
            <a:r>
              <a:rPr lang="en-US" altLang="en-US" b="1" dirty="0"/>
              <a:t>larger file size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b="1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Linked scheme: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Keep a </a:t>
            </a:r>
            <a:r>
              <a:rPr lang="en-US" altLang="en-US" b="1" dirty="0"/>
              <a:t>linked list </a:t>
            </a:r>
            <a:r>
              <a:rPr lang="en-US" altLang="en-US" dirty="0"/>
              <a:t>of index blocks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66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2019300"/>
            <a:ext cx="82296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b="1" kern="0" dirty="0">
                <a:solidFill>
                  <a:srgbClr val="006600"/>
                </a:solidFill>
              </a:rPr>
              <a:t>Multilevel index:</a:t>
            </a:r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Similar idea </a:t>
            </a:r>
            <a:r>
              <a:rPr lang="en-US" altLang="en-US" b="1" kern="0" dirty="0"/>
              <a:t>as multi-level paging</a:t>
            </a:r>
            <a:endParaRPr lang="en-US" altLang="en-US" kern="0" dirty="0"/>
          </a:p>
          <a:p>
            <a:pPr lvl="1">
              <a:lnSpc>
                <a:spcPct val="90000"/>
              </a:lnSpc>
            </a:pPr>
            <a:r>
              <a:rPr lang="en-US" altLang="en-US" kern="0" dirty="0"/>
              <a:t>Can be generalized to </a:t>
            </a:r>
            <a:r>
              <a:rPr lang="en-US" altLang="en-US" b="1" kern="0" dirty="0"/>
              <a:t>any number of levels</a:t>
            </a:r>
          </a:p>
        </p:txBody>
      </p:sp>
    </p:spTree>
    <p:extLst>
      <p:ext uri="{BB962C8B-B14F-4D97-AF65-F5344CB8AC3E}">
        <p14:creationId xmlns:p14="http://schemas.microsoft.com/office/powerpoint/2010/main" val="95347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92B95-808A-4A1F-ACED-4DBA2C82124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05800" cy="712787"/>
          </a:xfrm>
        </p:spPr>
        <p:txBody>
          <a:bodyPr/>
          <a:lstStyle/>
          <a:p>
            <a:r>
              <a:rPr lang="en-US" altLang="en-US" sz="3800" dirty="0"/>
              <a:t>Indexed Block Allocation: </a:t>
            </a:r>
            <a:r>
              <a:rPr lang="en-US" altLang="en-US" sz="3800" b="1" dirty="0">
                <a:solidFill>
                  <a:srgbClr val="C00000"/>
                </a:solidFill>
              </a:rPr>
              <a:t>Variation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2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Combined scheme:</a:t>
            </a:r>
          </a:p>
          <a:p>
            <a:pPr lvl="1"/>
            <a:r>
              <a:rPr lang="en-US" altLang="en-US" dirty="0"/>
              <a:t>Combination of direct indexing and multi-level index scheme</a:t>
            </a:r>
          </a:p>
        </p:txBody>
      </p:sp>
    </p:spTree>
    <p:extLst>
      <p:ext uri="{BB962C8B-B14F-4D97-AF65-F5344CB8AC3E}">
        <p14:creationId xmlns:p14="http://schemas.microsoft.com/office/powerpoint/2010/main" val="2456349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BA3F9-9127-4DA5-AC41-0EA38BD2A82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Indexed Node</a:t>
            </a:r>
            <a:endParaRPr lang="en-US" altLang="en-US" sz="3800" dirty="0"/>
          </a:p>
        </p:txBody>
      </p:sp>
      <p:pic>
        <p:nvPicPr>
          <p:cNvPr id="1124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6" t="948" r="4706" b="948"/>
          <a:stretch>
            <a:fillRect/>
          </a:stretch>
        </p:blipFill>
        <p:spPr bwMode="auto">
          <a:xfrm>
            <a:off x="1066800" y="990600"/>
            <a:ext cx="7162800" cy="54864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075509" y="4608694"/>
            <a:ext cx="4343400" cy="790938"/>
            <a:chOff x="1075509" y="4608694"/>
            <a:chExt cx="4343400" cy="790938"/>
          </a:xfrm>
        </p:grpSpPr>
        <p:sp>
          <p:nvSpPr>
            <p:cNvPr id="3" name="Rectangle 2"/>
            <p:cNvSpPr/>
            <p:nvPr/>
          </p:nvSpPr>
          <p:spPr>
            <a:xfrm>
              <a:off x="1075509" y="4809309"/>
              <a:ext cx="4343400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81400" y="4608694"/>
              <a:ext cx="1676400" cy="7909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82037" y="4618171"/>
            <a:ext cx="7130145" cy="1832701"/>
            <a:chOff x="1082037" y="4618171"/>
            <a:chExt cx="7130145" cy="1832701"/>
          </a:xfrm>
        </p:grpSpPr>
        <p:sp>
          <p:nvSpPr>
            <p:cNvPr id="10" name="Rectangle 9"/>
            <p:cNvSpPr/>
            <p:nvPr/>
          </p:nvSpPr>
          <p:spPr>
            <a:xfrm>
              <a:off x="1082037" y="5231674"/>
              <a:ext cx="2118363" cy="4071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168" y="5417050"/>
              <a:ext cx="2797632" cy="221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73782" y="4618171"/>
              <a:ext cx="2438400" cy="18327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1077680" y="5671456"/>
            <a:ext cx="2118363" cy="407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Free Space </a:t>
            </a:r>
            <a:r>
              <a:rPr lang="en-US" altLang="en-US" dirty="0"/>
              <a:t>Management</a:t>
            </a:r>
          </a:p>
        </p:txBody>
      </p:sp>
      <p:grpSp>
        <p:nvGrpSpPr>
          <p:cNvPr id="1102854" name="Group 6"/>
          <p:cNvGrpSpPr>
            <a:grpSpLocks/>
          </p:cNvGrpSpPr>
          <p:nvPr/>
        </p:nvGrpSpPr>
        <p:grpSpPr bwMode="auto">
          <a:xfrm>
            <a:off x="990600" y="4800600"/>
            <a:ext cx="7315200" cy="838200"/>
            <a:chOff x="384" y="2736"/>
            <a:chExt cx="4608" cy="528"/>
          </a:xfrm>
        </p:grpSpPr>
        <p:sp>
          <p:nvSpPr>
            <p:cNvPr id="1102855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OS Boot Block</a:t>
              </a:r>
            </a:p>
          </p:txBody>
        </p:sp>
        <p:sp>
          <p:nvSpPr>
            <p:cNvPr id="1102856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2857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2858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2859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2860" name="Oval 12"/>
          <p:cNvSpPr>
            <a:spLocks noChangeArrowheads="1"/>
          </p:cNvSpPr>
          <p:nvPr/>
        </p:nvSpPr>
        <p:spPr bwMode="auto">
          <a:xfrm>
            <a:off x="2133600" y="4343400"/>
            <a:ext cx="1600200" cy="16764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9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6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8BE52-1497-4BCF-9291-E94DEF2F80BA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12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Free Space Management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perform file allocation:</a:t>
            </a:r>
          </a:p>
          <a:p>
            <a:pPr lvl="1"/>
            <a:r>
              <a:rPr lang="en-US" altLang="en-US" dirty="0"/>
              <a:t>Need to know </a:t>
            </a:r>
            <a:r>
              <a:rPr lang="en-US" altLang="en-US" b="1" dirty="0">
                <a:solidFill>
                  <a:srgbClr val="006600"/>
                </a:solidFill>
              </a:rPr>
              <a:t>which disk block is free</a:t>
            </a:r>
          </a:p>
          <a:p>
            <a:pPr lvl="1"/>
            <a:endParaRPr lang="en-US" altLang="en-US" sz="800" b="1" dirty="0">
              <a:solidFill>
                <a:srgbClr val="006600"/>
              </a:solidFill>
            </a:endParaRPr>
          </a:p>
          <a:p>
            <a:endParaRPr lang="en-US" altLang="en-US" dirty="0"/>
          </a:p>
          <a:p>
            <a:r>
              <a:rPr lang="en-US" altLang="en-US" dirty="0"/>
              <a:t>Free space management:</a:t>
            </a:r>
          </a:p>
          <a:p>
            <a:pPr lvl="1"/>
            <a:r>
              <a:rPr lang="en-US" altLang="en-US" dirty="0"/>
              <a:t>Maintain free space information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Allocate:</a:t>
            </a:r>
          </a:p>
          <a:p>
            <a:pPr lvl="2"/>
            <a:r>
              <a:rPr lang="en-US" altLang="en-US" dirty="0"/>
              <a:t>Remove free disk block from free space list</a:t>
            </a:r>
          </a:p>
          <a:p>
            <a:pPr lvl="2"/>
            <a:r>
              <a:rPr lang="en-US" altLang="en-US" dirty="0"/>
              <a:t>Needed when file is created or enlarged (appended)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Free:</a:t>
            </a:r>
          </a:p>
          <a:p>
            <a:pPr lvl="2"/>
            <a:r>
              <a:rPr lang="en-US" altLang="en-US" dirty="0"/>
              <a:t>Add free disk block to free space list</a:t>
            </a:r>
          </a:p>
          <a:p>
            <a:pPr lvl="2"/>
            <a:r>
              <a:rPr lang="en-US" altLang="en-US" dirty="0"/>
              <a:t>Needed when file is deleted or truncated</a:t>
            </a:r>
          </a:p>
          <a:p>
            <a:pPr lvl="1"/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90600"/>
            <a:ext cx="7450752" cy="9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C90FAD-955A-4FD7-912F-4D8A7311B65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Bitmap</a:t>
            </a:r>
          </a:p>
        </p:txBody>
      </p:sp>
      <p:sp>
        <p:nvSpPr>
          <p:cNvPr id="112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Each disk block is represented by 1 bit</a:t>
            </a:r>
          </a:p>
        </p:txBody>
      </p:sp>
      <p:sp>
        <p:nvSpPr>
          <p:cNvPr id="1127428" name="Rectangle 4"/>
          <p:cNvSpPr>
            <a:spLocks noChangeArrowheads="1"/>
          </p:cNvSpPr>
          <p:nvPr/>
        </p:nvSpPr>
        <p:spPr bwMode="auto">
          <a:xfrm>
            <a:off x="914400" y="1703386"/>
            <a:ext cx="7467600" cy="6588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1 1 1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0 0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b="1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1 1</a:t>
            </a:r>
            <a:r>
              <a:rPr lang="en-US" altLang="en-US" sz="3200" b="1" dirty="0">
                <a:latin typeface="Courier New" panose="02070309020205020404" pitchFamily="49" charset="0"/>
              </a:rPr>
              <a:t> ......</a:t>
            </a:r>
          </a:p>
        </p:txBody>
      </p:sp>
      <p:sp>
        <p:nvSpPr>
          <p:cNvPr id="1127429" name="Rectangle 5"/>
          <p:cNvSpPr>
            <a:spLocks noChangeArrowheads="1"/>
          </p:cNvSpPr>
          <p:nvPr/>
        </p:nvSpPr>
        <p:spPr bwMode="auto">
          <a:xfrm>
            <a:off x="457200" y="2667000"/>
            <a:ext cx="8229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90000"/>
              </a:lnSpc>
            </a:pPr>
            <a:r>
              <a:rPr lang="en-US" altLang="en-US" dirty="0"/>
              <a:t>Occupied Blocks = </a:t>
            </a:r>
            <a:r>
              <a:rPr lang="en-US" altLang="en-US" b="1" dirty="0">
                <a:solidFill>
                  <a:srgbClr val="C00000"/>
                </a:solidFill>
              </a:rPr>
              <a:t>0, 2, 6, 7, 9, …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Free Blocks =  </a:t>
            </a:r>
            <a:r>
              <a:rPr lang="en-US" altLang="en-US" b="1" dirty="0">
                <a:solidFill>
                  <a:srgbClr val="006600"/>
                </a:solidFill>
              </a:rPr>
              <a:t>1, 3, 4, 5, 8, 10, 11, …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 a good set of manipulations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keep in memory for efficiency reason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248400"/>
            <a:ext cx="4128274" cy="5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6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a </a:t>
            </a:r>
            <a:r>
              <a:rPr lang="en-US" altLang="en-US" b="1" i="1" dirty="0"/>
              <a:t>linked list </a:t>
            </a:r>
            <a:r>
              <a:rPr lang="en-US" altLang="en-US" b="1" dirty="0"/>
              <a:t>of disk blocks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contains: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number of free disk block numbers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 pointer to the next free space disk block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033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locate free 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Only the first pointer is needed in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Though other blocks can be cached for efficiency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High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0AEA2-6780-44C9-9AD7-785AAA91F405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Free Space Management: </a:t>
            </a:r>
            <a:r>
              <a:rPr lang="en-US" altLang="en-US" sz="3800" b="1" dirty="0">
                <a:solidFill>
                  <a:srgbClr val="C00000"/>
                </a:solidFill>
              </a:rPr>
              <a:t>Linked List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3316433" cy="5158582"/>
            <a:chOff x="609600" y="1166018"/>
            <a:chExt cx="3316433" cy="5158582"/>
          </a:xfrm>
        </p:grpSpPr>
        <p:grpSp>
          <p:nvGrpSpPr>
            <p:cNvPr id="6" name="Group 5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7" name="Can 6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01" name="Group 10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11" name="Rectangle 11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112" name="Rectangle 11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2" name="Group 10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9" name="Rectangle 10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110" name="Rectangle 10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7" name="Rectangle 10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108" name="Rectangle 10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89" name="Group 8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0" name="Group 8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92" name="Group 9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77" name="Group 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8" name="Group 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5" name="Rectangle 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86" name="Rectangle 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9" name="Group 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3" name="Rectangle 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84" name="Rectangle 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0" name="Group 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81" name="Rectangle 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82" name="Rectangle 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" name="Group 11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65" name="Group 6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5" name="Rectangle 7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76" name="Rectangle 7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6" name="Group 6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3" name="Rectangle 7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74" name="Rectangle 7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1" name="Rectangle 7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72" name="Rectangle 7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8" name="Group 6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9" name="Rectangle 6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70" name="Rectangle 6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3" name="Rectangle 6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64" name="Rectangle 6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61" name="Rectangle 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62" name="Rectangle 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5" name="Group 54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60" name="Rectangle 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7" name="Rectangle 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41" name="Group 4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2" name="Group 4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48" name="Rectangle 4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4" name="Group 4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46" name="Rectangle 4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0" name="Group 29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7" name="Rectangle 3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5" name="Rectangle 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3" name="Rectangle 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34" name="Rectangle 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" name="Group 1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26" name="Rectangle 2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" name="Group 1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3" name="Rectangle 2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0" name="Group 1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22" name="Rectangle 2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113" name="Group 112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128" name="Rectangle 127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133" name="Rectangle 132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36" name="Picture 1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33" y="1211925"/>
            <a:ext cx="4889186" cy="5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6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Implementing </a:t>
            </a:r>
            <a:r>
              <a:rPr lang="en-US" altLang="en-US" b="1" dirty="0">
                <a:solidFill>
                  <a:srgbClr val="C00000"/>
                </a:solidFill>
              </a:rPr>
              <a:t>Directory</a:t>
            </a:r>
          </a:p>
        </p:txBody>
      </p:sp>
      <p:grpSp>
        <p:nvGrpSpPr>
          <p:cNvPr id="1104902" name="Group 6"/>
          <p:cNvGrpSpPr>
            <a:grpSpLocks/>
          </p:cNvGrpSpPr>
          <p:nvPr/>
        </p:nvGrpSpPr>
        <p:grpSpPr bwMode="auto">
          <a:xfrm>
            <a:off x="1143000" y="4953000"/>
            <a:ext cx="7315200" cy="838200"/>
            <a:chOff x="384" y="2736"/>
            <a:chExt cx="4608" cy="528"/>
          </a:xfrm>
        </p:grpSpPr>
        <p:sp>
          <p:nvSpPr>
            <p:cNvPr id="1104903" name="Rectangle 7"/>
            <p:cNvSpPr>
              <a:spLocks noChangeArrowheads="1"/>
            </p:cNvSpPr>
            <p:nvPr/>
          </p:nvSpPr>
          <p:spPr bwMode="auto">
            <a:xfrm>
              <a:off x="384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 dirty="0"/>
                <a:t>OS Boot Block</a:t>
              </a:r>
            </a:p>
          </p:txBody>
        </p:sp>
        <p:sp>
          <p:nvSpPr>
            <p:cNvPr id="1104904" name="Rectangle 8"/>
            <p:cNvSpPr>
              <a:spLocks noChangeArrowheads="1"/>
            </p:cNvSpPr>
            <p:nvPr/>
          </p:nvSpPr>
          <p:spPr bwMode="auto">
            <a:xfrm>
              <a:off x="1200" y="2736"/>
              <a:ext cx="816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Partition Details</a:t>
              </a:r>
            </a:p>
          </p:txBody>
        </p:sp>
        <p:sp>
          <p:nvSpPr>
            <p:cNvPr id="1104905" name="Rectangle 9"/>
            <p:cNvSpPr>
              <a:spLocks noChangeArrowheads="1"/>
            </p:cNvSpPr>
            <p:nvPr/>
          </p:nvSpPr>
          <p:spPr bwMode="auto">
            <a:xfrm>
              <a:off x="2016" y="2736"/>
              <a:ext cx="864" cy="5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Directory Structure</a:t>
              </a:r>
            </a:p>
          </p:txBody>
        </p:sp>
        <p:sp>
          <p:nvSpPr>
            <p:cNvPr id="1104906" name="Rectangle 10"/>
            <p:cNvSpPr>
              <a:spLocks noChangeArrowheads="1"/>
            </p:cNvSpPr>
            <p:nvPr/>
          </p:nvSpPr>
          <p:spPr bwMode="auto">
            <a:xfrm>
              <a:off x="2880" y="2736"/>
              <a:ext cx="720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Files Info </a:t>
              </a:r>
            </a:p>
          </p:txBody>
        </p:sp>
        <p:sp>
          <p:nvSpPr>
            <p:cNvPr id="1104907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392" cy="5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2000" b="1"/>
                <a:t>File Data </a:t>
              </a:r>
            </a:p>
          </p:txBody>
        </p:sp>
      </p:grpSp>
      <p:sp>
        <p:nvSpPr>
          <p:cNvPr id="1104908" name="Oval 12"/>
          <p:cNvSpPr>
            <a:spLocks noChangeArrowheads="1"/>
          </p:cNvSpPr>
          <p:nvPr/>
        </p:nvSpPr>
        <p:spPr bwMode="auto">
          <a:xfrm>
            <a:off x="3429000" y="4495800"/>
            <a:ext cx="1905000" cy="17526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6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6EAB1-8EBB-42BA-A9C3-3ADFF3CA80E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Directory Structure</a:t>
            </a:r>
            <a:r>
              <a:rPr lang="en-US" altLang="en-US" sz="3800" dirty="0"/>
              <a:t>: Overview</a:t>
            </a:r>
          </a:p>
        </p:txBody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 main tasks: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Keep tracks of the files in a directory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Possibly with the file metadata</a:t>
            </a:r>
          </a:p>
          <a:p>
            <a:pPr marL="858837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Map the file name to the </a:t>
            </a:r>
            <a:r>
              <a:rPr lang="en-US" altLang="en-US" b="1" dirty="0">
                <a:solidFill>
                  <a:srgbClr val="660066"/>
                </a:solidFill>
              </a:rPr>
              <a:t>file information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Remember: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File must be opened before use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Something like </a:t>
            </a:r>
            <a:r>
              <a:rPr lang="en-US" altLang="en-US" b="1" dirty="0">
                <a:latin typeface="Courier New" panose="02070309020205020404" pitchFamily="49" charset="0"/>
              </a:rPr>
              <a:t>open( "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data.txt</a:t>
            </a:r>
            <a:r>
              <a:rPr lang="en-US" altLang="en-US" b="1" dirty="0">
                <a:latin typeface="Courier New" panose="02070309020205020404" pitchFamily="49" charset="0"/>
              </a:rPr>
              <a:t>" );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The purpose of the open operation: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Locate the file information using pathname + file name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02467"/>
            <a:ext cx="5880626" cy="3660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820397"/>
            <a:ext cx="4444963" cy="53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3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1618F-C860-41A0-9243-440E64C71D8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Directory Structure: Overview (cont)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Given a full path name: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Need to recursively search the directories along the path to arrive at the file information</a:t>
            </a:r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endParaRPr lang="en-US" altLang="en-US" dirty="0"/>
          </a:p>
          <a:p>
            <a:pPr marL="571500" indent="-571500">
              <a:lnSpc>
                <a:spcPct val="90000"/>
              </a:lnSpc>
            </a:pPr>
            <a:r>
              <a:rPr lang="en-US" altLang="en-US" dirty="0"/>
              <a:t>Sub-directory is usually stored as file entry with special type in a directory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47800" y="2438400"/>
            <a:ext cx="5967549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dir2/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dir3/</a:t>
            </a:r>
            <a:r>
              <a:rPr lang="en-US" altLang="en-US" sz="3200" b="1" dirty="0">
                <a:solidFill>
                  <a:srgbClr val="006600"/>
                </a:solidFill>
                <a:latin typeface="Courier New" panose="02070309020205020404" pitchFamily="49" charset="0"/>
              </a:rPr>
              <a:t>data.txt</a:t>
            </a:r>
          </a:p>
        </p:txBody>
      </p:sp>
    </p:spTree>
    <p:extLst>
      <p:ext uri="{BB962C8B-B14F-4D97-AF65-F5344CB8AC3E}">
        <p14:creationId xmlns:p14="http://schemas.microsoft.com/office/powerpoint/2010/main" val="20456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B75FB-FB92-40D6-AF08-B86E27401E7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Linear List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Directory consists of a list:</a:t>
            </a:r>
          </a:p>
          <a:p>
            <a:pPr lvl="1"/>
            <a:r>
              <a:rPr lang="en-US" altLang="en-US" dirty="0"/>
              <a:t>Each entry represents a file:</a:t>
            </a:r>
          </a:p>
          <a:p>
            <a:pPr lvl="2"/>
            <a:r>
              <a:rPr lang="en-US" altLang="en-US" dirty="0"/>
              <a:t>Store file name (minimum) and possibly other metadata</a:t>
            </a:r>
          </a:p>
          <a:p>
            <a:pPr lvl="2"/>
            <a:r>
              <a:rPr lang="en-US" altLang="en-US" dirty="0"/>
              <a:t>Store </a:t>
            </a:r>
            <a:r>
              <a:rPr lang="en-US" altLang="en-US" b="1" dirty="0"/>
              <a:t>file information </a:t>
            </a:r>
            <a:r>
              <a:rPr lang="en-US" altLang="en-US" dirty="0"/>
              <a:t>or pointer to </a:t>
            </a:r>
            <a:r>
              <a:rPr lang="en-US" altLang="en-US" b="1" dirty="0"/>
              <a:t>file information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Locate a file using list:</a:t>
            </a:r>
          </a:p>
          <a:p>
            <a:pPr lvl="1"/>
            <a:r>
              <a:rPr lang="en-US" altLang="en-US" dirty="0"/>
              <a:t>Requires a </a:t>
            </a:r>
            <a:r>
              <a:rPr lang="en-US" altLang="en-US" b="1" dirty="0">
                <a:solidFill>
                  <a:srgbClr val="660066"/>
                </a:solidFill>
              </a:rPr>
              <a:t>linear search</a:t>
            </a:r>
          </a:p>
          <a:p>
            <a:pPr lvl="2"/>
            <a:r>
              <a:rPr lang="en-US" altLang="en-US" dirty="0"/>
              <a:t>Inefficient for large directories and/or deep tree traversal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Common solution:</a:t>
            </a:r>
          </a:p>
          <a:p>
            <a:pPr lvl="2"/>
            <a:r>
              <a:rPr lang="en-US" altLang="en-US" dirty="0"/>
              <a:t>Use cache to remember the latest few searches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2891505"/>
            <a:ext cx="3828620" cy="154851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90" y="1073150"/>
            <a:ext cx="3828620" cy="15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C6A-4787-4A14-880E-E73D244D93D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3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Implementation: </a:t>
            </a:r>
            <a:r>
              <a:rPr lang="en-US" altLang="en-US" sz="3800" b="1" dirty="0">
                <a:solidFill>
                  <a:srgbClr val="C00000"/>
                </a:solidFill>
              </a:rPr>
              <a:t>Hash Table</a:t>
            </a:r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Each directory contains a </a:t>
            </a:r>
          </a:p>
          <a:p>
            <a:pPr lvl="1"/>
            <a:r>
              <a:rPr lang="en-US" altLang="en-US" sz="2200" dirty="0"/>
              <a:t>Hash table of size </a:t>
            </a:r>
            <a:r>
              <a:rPr lang="en-US" altLang="en-US" sz="2200" b="1" dirty="0">
                <a:latin typeface="Courier New" panose="02070309020205020404" pitchFamily="49" charset="0"/>
              </a:rPr>
              <a:t>N</a:t>
            </a:r>
          </a:p>
          <a:p>
            <a:r>
              <a:rPr lang="en-US" altLang="en-US" sz="2600" dirty="0"/>
              <a:t>To locate a file by file name:</a:t>
            </a:r>
          </a:p>
          <a:p>
            <a:pPr lvl="1"/>
            <a:r>
              <a:rPr lang="en-US" altLang="en-US" sz="2200" dirty="0"/>
              <a:t>File name is hashed into index </a:t>
            </a:r>
            <a:r>
              <a:rPr lang="en-US" altLang="en-US" sz="2200" b="1" dirty="0">
                <a:latin typeface="Courier New" panose="02070309020205020404" pitchFamily="49" charset="0"/>
              </a:rPr>
              <a:t>K</a:t>
            </a:r>
            <a:r>
              <a:rPr lang="en-US" altLang="en-US" sz="2200" dirty="0"/>
              <a:t> from </a:t>
            </a:r>
            <a:r>
              <a:rPr lang="en-US" altLang="en-US" sz="2200" b="1" dirty="0">
                <a:latin typeface="Courier New" panose="02070309020205020404" pitchFamily="49" charset="0"/>
              </a:rPr>
              <a:t>0</a:t>
            </a:r>
            <a:r>
              <a:rPr lang="en-US" altLang="en-US" sz="2200" dirty="0"/>
              <a:t> to </a:t>
            </a:r>
            <a:r>
              <a:rPr lang="en-US" altLang="en-US" sz="2200" b="1" dirty="0">
                <a:latin typeface="Courier New" panose="02070309020205020404" pitchFamily="49" charset="0"/>
              </a:rPr>
              <a:t>N-1</a:t>
            </a:r>
          </a:p>
          <a:p>
            <a:pPr lvl="1"/>
            <a:r>
              <a:rPr lang="en-US" altLang="en-US" sz="2200" b="1" dirty="0" err="1">
                <a:latin typeface="Courier New" panose="02070309020205020404" pitchFamily="49" charset="0"/>
              </a:rPr>
              <a:t>HashTable</a:t>
            </a:r>
            <a:r>
              <a:rPr lang="en-US" altLang="en-US" sz="2200" b="1" dirty="0">
                <a:latin typeface="Courier New" panose="02070309020205020404" pitchFamily="49" charset="0"/>
              </a:rPr>
              <a:t>[K]</a:t>
            </a:r>
            <a:r>
              <a:rPr lang="en-US" altLang="en-US" sz="2200" dirty="0"/>
              <a:t> is inspected to match file name</a:t>
            </a:r>
          </a:p>
          <a:p>
            <a:pPr lvl="2"/>
            <a:r>
              <a:rPr lang="en-US" altLang="en-US" sz="2000" dirty="0"/>
              <a:t>Usually </a:t>
            </a:r>
            <a:r>
              <a:rPr lang="en-US" altLang="en-US" sz="2000" b="1" dirty="0">
                <a:solidFill>
                  <a:srgbClr val="006600"/>
                </a:solidFill>
              </a:rPr>
              <a:t>chained collision resolution </a:t>
            </a:r>
            <a:r>
              <a:rPr lang="en-US" altLang="en-US" sz="2000" dirty="0"/>
              <a:t>is used</a:t>
            </a:r>
          </a:p>
          <a:p>
            <a:r>
              <a:rPr lang="en-US" altLang="en-US" sz="2600" b="1" dirty="0">
                <a:solidFill>
                  <a:srgbClr val="003300"/>
                </a:solidFill>
              </a:rPr>
              <a:t>Pros:</a:t>
            </a:r>
          </a:p>
          <a:p>
            <a:pPr lvl="1"/>
            <a:r>
              <a:rPr lang="en-US" altLang="en-US" sz="2200" dirty="0"/>
              <a:t>Fast lookup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sz="2200" dirty="0"/>
              <a:t>Hash table has limited size</a:t>
            </a:r>
          </a:p>
          <a:p>
            <a:pPr lvl="1"/>
            <a:r>
              <a:rPr lang="en-US" altLang="en-US" sz="2200" dirty="0"/>
              <a:t>Depends on good hash function</a:t>
            </a:r>
          </a:p>
        </p:txBody>
      </p:sp>
    </p:spTree>
    <p:extLst>
      <p:ext uri="{BB962C8B-B14F-4D97-AF65-F5344CB8AC3E}">
        <p14:creationId xmlns:p14="http://schemas.microsoft.com/office/powerpoint/2010/main" val="5974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19DCA-629D-4B25-A3CB-6FD47C3C405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Directory Implementation: </a:t>
            </a:r>
            <a:r>
              <a:rPr lang="en-US" altLang="en-US" sz="3600" b="1" dirty="0">
                <a:solidFill>
                  <a:srgbClr val="C00000"/>
                </a:solidFill>
              </a:rPr>
              <a:t>File Information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File information consists of: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File name and other metadata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Disk blocks information</a:t>
            </a:r>
          </a:p>
          <a:p>
            <a:pPr marL="344488" lvl="1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Two common approaches to store: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everything in directory entry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only file name and points to some data structure for other info</a:t>
            </a:r>
          </a:p>
          <a:p>
            <a:pPr marL="839788" lvl="1" indent="-495300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354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File System in </a:t>
            </a:r>
            <a:r>
              <a:rPr lang="en-US" altLang="en-US" b="1" dirty="0">
                <a:solidFill>
                  <a:srgbClr val="C00000"/>
                </a:solidFill>
              </a:rPr>
              <a:t>Action</a:t>
            </a:r>
          </a:p>
        </p:txBody>
      </p:sp>
      <p:sp>
        <p:nvSpPr>
          <p:cNvPr id="11345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30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39D1DC-FAFB-4A1D-81CE-DD24C76D3782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13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File System in Action</a:t>
            </a:r>
            <a:r>
              <a:rPr lang="en-US" altLang="en-US" sz="3800" dirty="0"/>
              <a:t>: Overview</a:t>
            </a:r>
          </a:p>
        </p:txBody>
      </p:sp>
      <p:sp>
        <p:nvSpPr>
          <p:cNvPr id="113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Previous sections are on </a:t>
            </a:r>
            <a:r>
              <a:rPr lang="en-US" altLang="en-US" b="1" dirty="0"/>
              <a:t>static information </a:t>
            </a:r>
            <a:r>
              <a:rPr lang="en-US" altLang="en-US" dirty="0"/>
              <a:t>for a FS stored on media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At runtime, when user interacts with file: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Run-time information </a:t>
            </a:r>
            <a:r>
              <a:rPr lang="en-US" altLang="en-US" dirty="0"/>
              <a:t>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Maintained by OS in memory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[Recap] Common in-memory information: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System-wide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Per-process open-file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Buffers for disk blocks read from/written to disk</a:t>
            </a:r>
          </a:p>
        </p:txBody>
      </p:sp>
    </p:spTree>
    <p:extLst>
      <p:ext uri="{BB962C8B-B14F-4D97-AF65-F5344CB8AC3E}">
        <p14:creationId xmlns:p14="http://schemas.microsoft.com/office/powerpoint/2010/main" val="1363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4649-9EDD-264E-75E2-FA912460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0EBF-5F8B-F308-4FEA-F8BAE5BF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13EE0-4CB0-424D-0197-141161B1B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47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0D3770-1C62-4493-9F17-F60BE65B5BA8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Create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create a file </a:t>
            </a:r>
            <a:r>
              <a:rPr lang="en-US" altLang="en-US" b="1" dirty="0">
                <a:latin typeface="Courier New" panose="02070309020205020404" pitchFamily="49" charset="0"/>
              </a:rPr>
              <a:t>/…/…/parent/F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Use full pathname to locate the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Search for filename </a:t>
            </a:r>
            <a:r>
              <a:rPr lang="en-US" altLang="en-US" b="1" dirty="0"/>
              <a:t>F </a:t>
            </a:r>
            <a:r>
              <a:rPr lang="en-US" altLang="en-US" dirty="0"/>
              <a:t>to avoid duplicates</a:t>
            </a:r>
          </a:p>
          <a:p>
            <a:pPr lvl="3"/>
            <a:r>
              <a:rPr lang="en-US" altLang="en-US" dirty="0"/>
              <a:t>If found, file creation terminates with error</a:t>
            </a:r>
          </a:p>
          <a:p>
            <a:pPr lvl="2"/>
            <a:r>
              <a:rPr lang="en-US" altLang="en-US" dirty="0"/>
              <a:t>Search could be on the cached directory structure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Use free space list to find free disk block(s)</a:t>
            </a:r>
          </a:p>
          <a:p>
            <a:pPr lvl="2"/>
            <a:r>
              <a:rPr lang="en-US" altLang="en-US" dirty="0"/>
              <a:t>Depends on allocation scheme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Add an entry to </a:t>
            </a:r>
            <a:r>
              <a:rPr lang="en-US" altLang="en-US" b="1" dirty="0"/>
              <a:t>parent </a:t>
            </a:r>
            <a:r>
              <a:rPr lang="en-US" altLang="en-US" dirty="0"/>
              <a:t>directory</a:t>
            </a:r>
          </a:p>
          <a:p>
            <a:pPr lvl="2"/>
            <a:r>
              <a:rPr lang="en-US" altLang="en-US" dirty="0"/>
              <a:t>With relevant file</a:t>
            </a:r>
            <a:r>
              <a:rPr lang="en-US" altLang="en-US" b="1" dirty="0"/>
              <a:t> </a:t>
            </a:r>
            <a:r>
              <a:rPr lang="en-US" altLang="en-US" dirty="0"/>
              <a:t>information</a:t>
            </a:r>
          </a:p>
          <a:p>
            <a:pPr lvl="2"/>
            <a:r>
              <a:rPr lang="en-US" altLang="en-US" dirty="0"/>
              <a:t>File name, disk block information </a:t>
            </a:r>
            <a:r>
              <a:rPr lang="en-US" altLang="en-US" dirty="0" err="1"/>
              <a:t>etc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62269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Creation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3777433" y="1841407"/>
            <a:ext cx="2380283" cy="3049237"/>
            <a:chOff x="3777433" y="1841407"/>
            <a:chExt cx="2380283" cy="3049237"/>
          </a:xfrm>
        </p:grpSpPr>
        <p:grpSp>
          <p:nvGrpSpPr>
            <p:cNvPr id="8" name="Group 7"/>
            <p:cNvGrpSpPr/>
            <p:nvPr/>
          </p:nvGrpSpPr>
          <p:grpSpPr>
            <a:xfrm>
              <a:off x="4145322" y="1841407"/>
              <a:ext cx="1657711" cy="1996893"/>
              <a:chOff x="4145322" y="1841407"/>
              <a:chExt cx="1657711" cy="1996893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4145322" y="1841407"/>
                <a:ext cx="1657710" cy="7490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  <p:sp>
            <p:nvSpPr>
              <p:cNvPr id="25" name="Rectangle 4"/>
              <p:cNvSpPr>
                <a:spLocks noChangeArrowheads="1"/>
              </p:cNvSpPr>
              <p:nvPr/>
            </p:nvSpPr>
            <p:spPr bwMode="auto">
              <a:xfrm>
                <a:off x="4145323" y="2586530"/>
                <a:ext cx="1657710" cy="5242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4145322" y="3110805"/>
                <a:ext cx="1657710" cy="7274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 type="none" w="lg" len="lg"/>
              </a:ln>
              <a:effectLst/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…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777433" y="3967314"/>
              <a:ext cx="23802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Directory Structure</a:t>
              </a:r>
            </a:p>
            <a:p>
              <a:pPr algn="ctr"/>
              <a:r>
                <a:rPr lang="en-US" dirty="0"/>
                <a:t>(Can be cached in memory)</a:t>
              </a:r>
            </a:p>
          </p:txBody>
        </p:sp>
      </p:grpSp>
      <p:cxnSp>
        <p:nvCxnSpPr>
          <p:cNvPr id="83" name="Straight Connector 82"/>
          <p:cNvCxnSpPr/>
          <p:nvPr/>
        </p:nvCxnSpPr>
        <p:spPr>
          <a:xfrm>
            <a:off x="3352800" y="1736864"/>
            <a:ext cx="0" cy="453960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flipV="1">
            <a:off x="5801400" y="2538054"/>
            <a:ext cx="1580202" cy="165782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nip Single Corner Rectangle 2"/>
          <p:cNvSpPr/>
          <p:nvPr/>
        </p:nvSpPr>
        <p:spPr>
          <a:xfrm>
            <a:off x="363834" y="2431690"/>
            <a:ext cx="2810440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9556" y="4102789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Program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988083" y="1736864"/>
            <a:ext cx="2095500" cy="4560202"/>
            <a:chOff x="6988083" y="1736864"/>
            <a:chExt cx="2095500" cy="4560202"/>
          </a:xfrm>
        </p:grpSpPr>
        <p:sp>
          <p:nvSpPr>
            <p:cNvPr id="73" name="TextBox 72"/>
            <p:cNvSpPr txBox="1"/>
            <p:nvPr/>
          </p:nvSpPr>
          <p:spPr>
            <a:xfrm>
              <a:off x="6988083" y="5650735"/>
              <a:ext cx="2095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Secondary</a:t>
              </a:r>
            </a:p>
            <a:p>
              <a:pPr algn="ctr"/>
              <a:r>
                <a:rPr lang="en-US" dirty="0"/>
                <a:t>Storage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7391400" y="1736864"/>
              <a:ext cx="1295400" cy="3854450"/>
              <a:chOff x="7162800" y="1981200"/>
              <a:chExt cx="1295400" cy="3854450"/>
            </a:xfrm>
          </p:grpSpPr>
          <p:sp>
            <p:nvSpPr>
              <p:cNvPr id="57" name="Rectangle 9"/>
              <p:cNvSpPr>
                <a:spLocks noChangeArrowheads="1"/>
              </p:cNvSpPr>
              <p:nvPr/>
            </p:nvSpPr>
            <p:spPr bwMode="auto">
              <a:xfrm>
                <a:off x="7162800" y="1981200"/>
                <a:ext cx="1295400" cy="1066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Directory Structure</a:t>
                </a:r>
              </a:p>
              <a:p>
                <a:pPr algn="ctr"/>
                <a:endParaRPr lang="en-US" altLang="en-US" b="1" dirty="0"/>
              </a:p>
            </p:txBody>
          </p:sp>
          <p:sp>
            <p:nvSpPr>
              <p:cNvPr id="58" name="Rectangle 10"/>
              <p:cNvSpPr>
                <a:spLocks noChangeArrowheads="1"/>
              </p:cNvSpPr>
              <p:nvPr/>
            </p:nvSpPr>
            <p:spPr bwMode="auto">
              <a:xfrm>
                <a:off x="7162800" y="3048000"/>
                <a:ext cx="1295400" cy="838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/>
                  <a:t>Files Info</a:t>
                </a:r>
              </a:p>
              <a:p>
                <a:pPr algn="ctr"/>
                <a:r>
                  <a:rPr lang="en-US" altLang="en-US" b="1" dirty="0"/>
                  <a:t> </a:t>
                </a:r>
              </a:p>
            </p:txBody>
          </p:sp>
          <p:sp>
            <p:nvSpPr>
              <p:cNvPr id="59" name="Rectangle 11"/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295400" cy="19494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r>
                  <a:rPr lang="en-US" altLang="en-US" sz="2000" b="1" dirty="0"/>
                  <a:t>File Data</a:t>
                </a:r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endParaRPr lang="en-US" altLang="en-US" sz="2000" b="1" dirty="0"/>
              </a:p>
              <a:p>
                <a:pPr algn="ctr"/>
                <a:r>
                  <a:rPr lang="en-US" altLang="en-US" sz="2000" b="1" dirty="0"/>
                  <a:t> </a:t>
                </a:r>
              </a:p>
            </p:txBody>
          </p:sp>
        </p:grpSp>
      </p:grpSp>
      <p:cxnSp>
        <p:nvCxnSpPr>
          <p:cNvPr id="89" name="Elbow Connector 88"/>
          <p:cNvCxnSpPr/>
          <p:nvPr/>
        </p:nvCxnSpPr>
        <p:spPr>
          <a:xfrm>
            <a:off x="5803032" y="3007917"/>
            <a:ext cx="1740768" cy="147214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/>
          <p:nvPr/>
        </p:nvCxnSpPr>
        <p:spPr>
          <a:xfrm>
            <a:off x="5803032" y="2857179"/>
            <a:ext cx="1588367" cy="553865"/>
          </a:xfrm>
          <a:prstGeom prst="bentConnector3">
            <a:avLst>
              <a:gd name="adj1" fmla="val 70834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1828800" y="999173"/>
            <a:ext cx="5014292" cy="61700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 dirty="0">
                <a:latin typeface="Courier New" panose="02070309020205020404" pitchFamily="49" charset="0"/>
              </a:rPr>
              <a:t>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latin typeface="Courier New" panose="02070309020205020404" pitchFamily="49" charset="0"/>
              </a:rPr>
              <a:t>…/ </a:t>
            </a: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parent/ </a:t>
            </a:r>
            <a:r>
              <a:rPr lang="en-US" altLang="en-US" sz="3200" b="1" dirty="0">
                <a:latin typeface="Courier New" panose="02070309020205020404" pitchFamily="49" charset="0"/>
              </a:rPr>
              <a:t>F</a:t>
            </a:r>
            <a:endParaRPr lang="en-US" altLang="en-US" sz="3200" dirty="0"/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7384868" y="2431690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7391399" y="3304681"/>
            <a:ext cx="130193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87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4524C-398A-4FEB-880A-1BEC1DD30D4A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Walkthrough on file operation: </a:t>
            </a:r>
            <a:r>
              <a:rPr lang="en-US" altLang="en-US" sz="3800" b="1" dirty="0">
                <a:solidFill>
                  <a:srgbClr val="C00000"/>
                </a:solidFill>
              </a:rPr>
              <a:t>Open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Process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 open file </a:t>
            </a:r>
            <a:r>
              <a:rPr lang="en-US" altLang="en-US" b="1">
                <a:latin typeface="Courier New" panose="02070309020205020404" pitchFamily="49" charset="0"/>
              </a:rPr>
              <a:t>/…/…/…/F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Search system-wide table for existing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found: 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Return a pointer to this entry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If not found, continue to next step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full pathname to locate file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If not found, open operation terminates with error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When </a:t>
            </a:r>
            <a:r>
              <a:rPr lang="en-US" altLang="en-US" b="1">
                <a:latin typeface="Courier New" panose="02070309020205020404" pitchFamily="49" charset="0"/>
              </a:rPr>
              <a:t>F</a:t>
            </a:r>
            <a:r>
              <a:rPr lang="en-US" altLang="en-US" b="1"/>
              <a:t> </a:t>
            </a:r>
            <a:r>
              <a:rPr lang="en-US" altLang="en-US"/>
              <a:t>is located, its file information is loaded into a new entry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r>
              <a:rPr lang="en-US" altLang="en-US" b="1"/>
              <a:t> </a:t>
            </a:r>
            <a:r>
              <a:rPr lang="en-US" altLang="en-US"/>
              <a:t>in system-wide table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Creates an entry in </a:t>
            </a:r>
            <a:r>
              <a:rPr lang="en-US" altLang="en-US" b="1">
                <a:latin typeface="Courier New" panose="02070309020205020404" pitchFamily="49" charset="0"/>
              </a:rPr>
              <a:t>P</a:t>
            </a:r>
            <a:r>
              <a:rPr lang="en-US" altLang="en-US"/>
              <a:t>'s table to point to </a:t>
            </a:r>
            <a:r>
              <a:rPr lang="en-US" altLang="en-US" b="1">
                <a:latin typeface="Courier New" panose="02070309020205020404" pitchFamily="49" charset="0"/>
              </a:rPr>
              <a:t>E</a:t>
            </a:r>
            <a:endParaRPr lang="en-US" altLang="en-US">
              <a:latin typeface="Courier New" panose="020703090202050204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en-US"/>
              <a:t>Return a pointer to this entry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returned pointer is used for further read/write operation</a:t>
            </a:r>
          </a:p>
        </p:txBody>
      </p:sp>
    </p:spTree>
    <p:extLst>
      <p:ext uri="{BB962C8B-B14F-4D97-AF65-F5344CB8AC3E}">
        <p14:creationId xmlns:p14="http://schemas.microsoft.com/office/powerpoint/2010/main" val="477341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99292" y="3617914"/>
            <a:ext cx="1294038" cy="19733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i="1" dirty="0"/>
              <a:t>File1.abc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71278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File Open</a:t>
            </a:r>
            <a:r>
              <a:rPr lang="en-US" dirty="0"/>
              <a:t>: Improved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1999327" y="2085481"/>
            <a:ext cx="1505685" cy="2438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 err="1"/>
              <a:t>Proc</a:t>
            </a:r>
            <a:r>
              <a:rPr lang="en-US" altLang="en-US" b="1" dirty="0"/>
              <a:t> P PCB</a:t>
            </a:r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</p:txBody>
      </p:sp>
      <p:grpSp>
        <p:nvGrpSpPr>
          <p:cNvPr id="16" name="Group 15"/>
          <p:cNvGrpSpPr/>
          <p:nvPr/>
        </p:nvGrpSpPr>
        <p:grpSpPr>
          <a:xfrm>
            <a:off x="2385962" y="2591666"/>
            <a:ext cx="907869" cy="1426029"/>
            <a:chOff x="3429000" y="1936569"/>
            <a:chExt cx="907869" cy="1426029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879669" y="1936569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429000" y="1936569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3879669" y="2231571"/>
              <a:ext cx="457200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429000" y="2231571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879669" y="2526572"/>
              <a:ext cx="457200" cy="531225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3429000" y="2526573"/>
              <a:ext cx="457200" cy="5312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>
                  <a:latin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881846" y="3057798"/>
              <a:ext cx="455023" cy="304800"/>
            </a:xfrm>
            <a:prstGeom prst="rect">
              <a:avLst/>
            </a:prstGeom>
            <a:solidFill>
              <a:srgbClr val="BBFFBB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3429000" y="3057798"/>
              <a:ext cx="4572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r"/>
              <a:r>
                <a:rPr lang="en-US" altLang="en-US" sz="1600" b="1" dirty="0" err="1">
                  <a:solidFill>
                    <a:srgbClr val="C00000"/>
                  </a:solidFill>
                  <a:latin typeface="Courier New" panose="02070309020205020404" pitchFamily="49" charset="0"/>
                </a:rPr>
                <a:t>fd</a:t>
              </a:r>
              <a:endParaRPr lang="en-US" altLang="en-US" sz="1600" b="1" dirty="0">
                <a:solidFill>
                  <a:srgbClr val="C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227031" y="405350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File Descriptor</a:t>
            </a:r>
          </a:p>
          <a:p>
            <a:pPr algn="ctr"/>
            <a:r>
              <a:rPr lang="en-US" sz="1200" dirty="0"/>
              <a:t>Table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963797" y="1077102"/>
            <a:ext cx="1657710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5800" y="1077102"/>
            <a:ext cx="492610" cy="9420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963797" y="2019191"/>
            <a:ext cx="1657710" cy="23723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4980518" y="4390242"/>
            <a:ext cx="1640989" cy="9420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4495799" y="2016555"/>
            <a:ext cx="492611" cy="23750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495800" y="4387606"/>
            <a:ext cx="484718" cy="944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610766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File Table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4963797" y="5334966"/>
            <a:ext cx="1657710" cy="7274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4495800" y="5334966"/>
            <a:ext cx="484718" cy="7274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r"/>
            <a:r>
              <a:rPr lang="en-US" altLang="en-US" sz="1600" b="1" dirty="0">
                <a:latin typeface="Courier New" panose="02070309020205020404" pitchFamily="49" charset="0"/>
              </a:rPr>
              <a:t>…</a:t>
            </a:r>
          </a:p>
        </p:txBody>
      </p:sp>
      <p:cxnSp>
        <p:nvCxnSpPr>
          <p:cNvPr id="39" name="Elbow Connector 38"/>
          <p:cNvCxnSpPr>
            <a:stCxn id="14" idx="3"/>
            <a:endCxn id="34" idx="1"/>
          </p:cNvCxnSpPr>
          <p:nvPr/>
        </p:nvCxnSpPr>
        <p:spPr>
          <a:xfrm>
            <a:off x="3293831" y="3865295"/>
            <a:ext cx="1201969" cy="994673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1828800" y="1011193"/>
            <a:ext cx="0" cy="528587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nip Single Corner Rectangle 53"/>
          <p:cNvSpPr/>
          <p:nvPr/>
        </p:nvSpPr>
        <p:spPr>
          <a:xfrm>
            <a:off x="319561" y="2535249"/>
            <a:ext cx="1296508" cy="1626158"/>
          </a:xfrm>
          <a:prstGeom prst="snip1Rect">
            <a:avLst/>
          </a:prstGeom>
          <a:solidFill>
            <a:srgbClr val="FFFFCC"/>
          </a:solidFill>
          <a:ln w="1905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7391400" y="1752600"/>
            <a:ext cx="1371600" cy="3854450"/>
            <a:chOff x="7162800" y="1981200"/>
            <a:chExt cx="1295400" cy="3854450"/>
          </a:xfrm>
        </p:grpSpPr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7162800" y="1981200"/>
              <a:ext cx="1295400" cy="1066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b="1" dirty="0"/>
                <a:t>Directory Structure</a:t>
              </a:r>
            </a:p>
            <a:p>
              <a:pPr algn="ctr"/>
              <a:endParaRPr lang="en-US" altLang="en-US" b="1" dirty="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7162800" y="3048000"/>
              <a:ext cx="1295400" cy="838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/>
                <a:t>Files Info</a:t>
              </a:r>
            </a:p>
            <a:p>
              <a:pPr algn="ctr"/>
              <a:r>
                <a:rPr lang="en-US" altLang="en-US" b="1" dirty="0"/>
                <a:t> 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7162800" y="3886200"/>
              <a:ext cx="1295400" cy="194945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2000" b="1" dirty="0"/>
                <a:t>File Data</a:t>
              </a:r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5629307" y="4724539"/>
            <a:ext cx="455023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008489" y="4276710"/>
            <a:ext cx="2394914" cy="998834"/>
            <a:chOff x="4899713" y="975814"/>
            <a:chExt cx="2394914" cy="998834"/>
          </a:xfrm>
        </p:grpSpPr>
        <p:sp>
          <p:nvSpPr>
            <p:cNvPr id="47" name="AutoShape 6"/>
            <p:cNvSpPr>
              <a:spLocks noChangeArrowheads="1"/>
            </p:cNvSpPr>
            <p:nvPr/>
          </p:nvSpPr>
          <p:spPr bwMode="auto">
            <a:xfrm>
              <a:off x="4899713" y="1136448"/>
              <a:ext cx="1555265" cy="83820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algn="ctr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r>
                <a:rPr lang="en-US" altLang="en-US" sz="1400" dirty="0" err="1"/>
                <a:t>Op.Type</a:t>
              </a:r>
              <a:r>
                <a:rPr lang="en-US" altLang="en-US" sz="1400" dirty="0"/>
                <a:t>: Read</a:t>
              </a:r>
            </a:p>
            <a:p>
              <a:r>
                <a:rPr lang="en-US" altLang="en-US" sz="1400" dirty="0"/>
                <a:t>File offset: 1234</a:t>
              </a:r>
            </a:p>
            <a:p>
              <a:r>
                <a:rPr lang="en-US" altLang="en-US" sz="1400" dirty="0"/>
                <a:t>"File Data":</a:t>
              </a:r>
            </a:p>
          </p:txBody>
        </p:sp>
        <p:cxnSp>
          <p:nvCxnSpPr>
            <p:cNvPr id="48" name="Elbow Connector 47"/>
            <p:cNvCxnSpPr/>
            <p:nvPr/>
          </p:nvCxnSpPr>
          <p:spPr>
            <a:xfrm flipV="1">
              <a:off x="6171335" y="975814"/>
              <a:ext cx="1123292" cy="804544"/>
            </a:xfrm>
            <a:prstGeom prst="bentConnector3">
              <a:avLst>
                <a:gd name="adj1" fmla="val 57753"/>
              </a:avLst>
            </a:prstGeom>
            <a:ln w="158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AutoShape 6"/>
          <p:cNvSpPr>
            <a:spLocks noChangeArrowheads="1"/>
          </p:cNvSpPr>
          <p:nvPr/>
        </p:nvSpPr>
        <p:spPr bwMode="auto">
          <a:xfrm>
            <a:off x="5015019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 algn="ctr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r>
              <a:rPr lang="en-US" altLang="en-US" sz="1400" dirty="0" err="1"/>
              <a:t>Op.Type</a:t>
            </a:r>
            <a:r>
              <a:rPr lang="en-US" altLang="en-US" sz="1400" dirty="0"/>
              <a:t>: …</a:t>
            </a:r>
          </a:p>
          <a:p>
            <a:r>
              <a:rPr lang="en-US" altLang="en-US" sz="1400" dirty="0"/>
              <a:t>File Info: </a:t>
            </a:r>
          </a:p>
          <a:p>
            <a:r>
              <a:rPr lang="en-US" altLang="en-US" sz="1400" dirty="0"/>
              <a:t>File Data:</a:t>
            </a:r>
          </a:p>
        </p:txBody>
      </p:sp>
      <p:cxnSp>
        <p:nvCxnSpPr>
          <p:cNvPr id="74" name="Elbow Connector 73"/>
          <p:cNvCxnSpPr>
            <a:endCxn id="76" idx="3"/>
          </p:cNvCxnSpPr>
          <p:nvPr/>
        </p:nvCxnSpPr>
        <p:spPr>
          <a:xfrm rot="10800000" flipV="1">
            <a:off x="6084331" y="3411043"/>
            <a:ext cx="1307069" cy="146589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/>
          <p:nvPr/>
        </p:nvCxnSpPr>
        <p:spPr>
          <a:xfrm flipV="1">
            <a:off x="6210440" y="4852038"/>
            <a:ext cx="1333360" cy="27268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headEnd type="arrow" w="lg" len="lg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7391399" y="3304681"/>
            <a:ext cx="1371601" cy="2127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7543800" y="4373701"/>
            <a:ext cx="929641" cy="868363"/>
            <a:chOff x="7543800" y="4373701"/>
            <a:chExt cx="929641" cy="868363"/>
          </a:xfrm>
        </p:grpSpPr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7543800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7798526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8053252" y="4373701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7543800" y="4745675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8040189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8294915" y="5029339"/>
              <a:ext cx="178526" cy="2127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endParaRPr lang="en-US" altLang="en-US" sz="2000" b="1" dirty="0"/>
            </a:p>
            <a:p>
              <a:pPr algn="ctr"/>
              <a:r>
                <a:rPr lang="en-US" altLang="en-US" sz="2000" b="1" dirty="0"/>
                <a:t> 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929302" y="565982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"Actual File"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8083" y="5650735"/>
            <a:ext cx="20955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Secondary</a:t>
            </a:r>
          </a:p>
          <a:p>
            <a:pPr algn="ctr"/>
            <a:r>
              <a:rPr lang="en-US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97639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2" grpId="0" animBg="1"/>
      <p:bldP spid="7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I/O Scheduling</a:t>
            </a:r>
            <a:br>
              <a:rPr lang="en-US" dirty="0"/>
            </a:br>
            <a:r>
              <a:rPr lang="en-US" dirty="0"/>
              <a:t>(NOT EXAMINABLE)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afraid you have to wait…..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364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Disk in One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39</a:t>
            </a:fld>
            <a:endParaRPr lang="en-US" altLang="en-US"/>
          </a:p>
        </p:txBody>
      </p:sp>
      <p:grpSp>
        <p:nvGrpSpPr>
          <p:cNvPr id="19" name="Group 18"/>
          <p:cNvGrpSpPr/>
          <p:nvPr/>
        </p:nvGrpSpPr>
        <p:grpSpPr>
          <a:xfrm>
            <a:off x="3219449" y="2363377"/>
            <a:ext cx="2819400" cy="2743200"/>
            <a:chOff x="5410200" y="838200"/>
            <a:chExt cx="2819400" cy="2743200"/>
          </a:xfrm>
        </p:grpSpPr>
        <p:sp>
          <p:nvSpPr>
            <p:cNvPr id="17" name="Oval 16"/>
            <p:cNvSpPr/>
            <p:nvPr/>
          </p:nvSpPr>
          <p:spPr>
            <a:xfrm>
              <a:off x="5410200" y="838200"/>
              <a:ext cx="2819400" cy="27432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800" y="1066800"/>
              <a:ext cx="2362200" cy="2286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/>
            <p:cNvSpPr/>
            <p:nvPr/>
          </p:nvSpPr>
          <p:spPr>
            <a:xfrm>
              <a:off x="5867400" y="1295400"/>
              <a:ext cx="1905000" cy="18288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/>
            <p:cNvSpPr/>
            <p:nvPr/>
          </p:nvSpPr>
          <p:spPr>
            <a:xfrm>
              <a:off x="6096000" y="1524000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/>
            <p:cNvSpPr/>
            <p:nvPr/>
          </p:nvSpPr>
          <p:spPr>
            <a:xfrm>
              <a:off x="6324600" y="1752600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Block Arc 10"/>
            <p:cNvSpPr/>
            <p:nvPr/>
          </p:nvSpPr>
          <p:spPr>
            <a:xfrm rot="10800000">
              <a:off x="6172200" y="1600200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514012" y="1939835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8" name="Freeform 37"/>
          <p:cNvSpPr/>
          <p:nvPr/>
        </p:nvSpPr>
        <p:spPr>
          <a:xfrm>
            <a:off x="3409949" y="2013663"/>
            <a:ext cx="2438400" cy="623227"/>
          </a:xfrm>
          <a:custGeom>
            <a:avLst/>
            <a:gdLst>
              <a:gd name="connsiteX0" fmla="*/ 0 w 2908662"/>
              <a:gd name="connsiteY0" fmla="*/ 928027 h 928027"/>
              <a:gd name="connsiteX1" fmla="*/ 513805 w 2908662"/>
              <a:gd name="connsiteY1" fmla="*/ 318427 h 928027"/>
              <a:gd name="connsiteX2" fmla="*/ 1262742 w 2908662"/>
              <a:gd name="connsiteY2" fmla="*/ 22335 h 928027"/>
              <a:gd name="connsiteX3" fmla="*/ 1881051 w 2908662"/>
              <a:gd name="connsiteY3" fmla="*/ 57170 h 928027"/>
              <a:gd name="connsiteX4" fmla="*/ 2499360 w 2908662"/>
              <a:gd name="connsiteY4" fmla="*/ 344553 h 928027"/>
              <a:gd name="connsiteX5" fmla="*/ 2908662 w 2908662"/>
              <a:gd name="connsiteY5" fmla="*/ 884484 h 928027"/>
              <a:gd name="connsiteX6" fmla="*/ 2908662 w 2908662"/>
              <a:gd name="connsiteY6" fmla="*/ 884484 h 92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662" h="928027">
                <a:moveTo>
                  <a:pt x="0" y="928027"/>
                </a:moveTo>
                <a:cubicBezTo>
                  <a:pt x="151674" y="698701"/>
                  <a:pt x="303348" y="469376"/>
                  <a:pt x="513805" y="318427"/>
                </a:cubicBezTo>
                <a:cubicBezTo>
                  <a:pt x="724262" y="167478"/>
                  <a:pt x="1034868" y="65878"/>
                  <a:pt x="1262742" y="22335"/>
                </a:cubicBezTo>
                <a:cubicBezTo>
                  <a:pt x="1490616" y="-21208"/>
                  <a:pt x="1674948" y="3467"/>
                  <a:pt x="1881051" y="57170"/>
                </a:cubicBezTo>
                <a:cubicBezTo>
                  <a:pt x="2087154" y="110873"/>
                  <a:pt x="2328092" y="206667"/>
                  <a:pt x="2499360" y="344553"/>
                </a:cubicBezTo>
                <a:cubicBezTo>
                  <a:pt x="2670628" y="482439"/>
                  <a:pt x="2908662" y="884484"/>
                  <a:pt x="2908662" y="884484"/>
                </a:cubicBezTo>
                <a:lnTo>
                  <a:pt x="2908662" y="884484"/>
                </a:lnTo>
              </a:path>
            </a:pathLst>
          </a:custGeom>
          <a:noFill/>
          <a:ln w="50800">
            <a:solidFill>
              <a:schemeClr val="accent2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962149" y="3465012"/>
            <a:ext cx="1257300" cy="0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nip Single Corner Rectangle 49"/>
          <p:cNvSpPr/>
          <p:nvPr/>
        </p:nvSpPr>
        <p:spPr>
          <a:xfrm>
            <a:off x="5399858" y="1174287"/>
            <a:ext cx="2019300" cy="787222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Rotation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Sector)</a:t>
            </a:r>
          </a:p>
        </p:txBody>
      </p:sp>
      <p:sp>
        <p:nvSpPr>
          <p:cNvPr id="52" name="Snip Single Corner Rectangle 51"/>
          <p:cNvSpPr/>
          <p:nvPr/>
        </p:nvSpPr>
        <p:spPr>
          <a:xfrm>
            <a:off x="609600" y="2506468"/>
            <a:ext cx="2019300" cy="749389"/>
          </a:xfrm>
          <a:prstGeom prst="snip1Rect">
            <a:avLst/>
          </a:prstGeom>
          <a:solidFill>
            <a:srgbClr val="FFFFCC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Seek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(Change Track)</a:t>
            </a:r>
          </a:p>
        </p:txBody>
      </p:sp>
      <p:grpSp>
        <p:nvGrpSpPr>
          <p:cNvPr id="2" name="Group 1"/>
          <p:cNvGrpSpPr/>
          <p:nvPr/>
        </p:nvGrpSpPr>
        <p:grpSpPr>
          <a:xfrm rot="5400000">
            <a:off x="3909651" y="3008672"/>
            <a:ext cx="1447800" cy="1480915"/>
            <a:chOff x="6572249" y="3506377"/>
            <a:chExt cx="1447800" cy="1371600"/>
          </a:xfrm>
        </p:grpSpPr>
        <p:sp>
          <p:nvSpPr>
            <p:cNvPr id="26" name="Oval 25"/>
            <p:cNvSpPr/>
            <p:nvPr/>
          </p:nvSpPr>
          <p:spPr>
            <a:xfrm>
              <a:off x="6572249" y="3506377"/>
              <a:ext cx="1447800" cy="13716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Oval 26"/>
            <p:cNvSpPr/>
            <p:nvPr/>
          </p:nvSpPr>
          <p:spPr>
            <a:xfrm>
              <a:off x="6800849" y="3734977"/>
              <a:ext cx="990600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Block Arc 27"/>
            <p:cNvSpPr/>
            <p:nvPr/>
          </p:nvSpPr>
          <p:spPr>
            <a:xfrm rot="10800000">
              <a:off x="6648449" y="3582577"/>
              <a:ext cx="1295400" cy="1295400"/>
            </a:xfrm>
            <a:prstGeom prst="blockArc">
              <a:avLst>
                <a:gd name="adj1" fmla="val 14441871"/>
                <a:gd name="adj2" fmla="val 17766204"/>
                <a:gd name="adj3" fmla="val 1802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990261" y="3922212"/>
              <a:ext cx="613954" cy="5682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62149" y="3658777"/>
            <a:ext cx="2133600" cy="228600"/>
            <a:chOff x="114300" y="2324100"/>
            <a:chExt cx="2133600" cy="2286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1066800" y="1371600"/>
              <a:ext cx="228600" cy="2133600"/>
            </a:xfrm>
            <a:prstGeom prst="round2SameRect">
              <a:avLst>
                <a:gd name="adj1" fmla="val 47143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055223" y="2367643"/>
              <a:ext cx="152400" cy="1415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3492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1.48148E-6 L -0.06649 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167E-17 -1.11111E-6 L -0.07292 0.00116 " pathEditMode="relative" rAng="0" ptsTypes="AA">
                                      <p:cBhvr>
                                        <p:cTn id="14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96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0" grpId="0" animBg="1"/>
      <p:bldP spid="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 (1/3)</a:t>
            </a:r>
            <a:endParaRPr lang="en-SG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</p:spPr>
            <p:txBody>
              <a:bodyPr>
                <a:normAutofit/>
              </a:bodyPr>
              <a:lstStyle/>
              <a:p>
                <a:pPr marL="531812" indent="-514350">
                  <a:buClr>
                    <a:srgbClr val="C00000"/>
                  </a:buClr>
                  <a:buSzPct val="80000"/>
                </a:pPr>
                <a:r>
                  <a:rPr lang="en-SG" dirty="0"/>
                  <a:t>Time taken to perform a read/write operation: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r>
                  <a:rPr lang="en-SG" dirty="0"/>
                  <a:t>   </a:t>
                </a:r>
                <a:r>
                  <a:rPr lang="en-SG" sz="2200" dirty="0"/>
                  <a:t>= [</a:t>
                </a:r>
                <a:r>
                  <a:rPr lang="en-SG" sz="2200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660066"/>
                    </a:solidFill>
                  </a:rPr>
                  <a:t>Rotational Latency</a:t>
                </a:r>
                <a:r>
                  <a:rPr lang="en-SG" sz="2200" dirty="0"/>
                  <a:t>] + [</a:t>
                </a:r>
                <a:r>
                  <a:rPr lang="en-SG" sz="2200" b="1" dirty="0">
                    <a:solidFill>
                      <a:srgbClr val="003300"/>
                    </a:solidFill>
                  </a:rPr>
                  <a:t>Transfer Time</a:t>
                </a:r>
                <a:r>
                  <a:rPr lang="en-SG" sz="2200" dirty="0"/>
                  <a:t>]</a:t>
                </a:r>
              </a:p>
              <a:p>
                <a:pPr marL="344487" lvl="1" indent="0">
                  <a:buClr>
                    <a:srgbClr val="C00000"/>
                  </a:buClr>
                  <a:buSzPct val="80000"/>
                  <a:buNone/>
                </a:pPr>
                <a:endParaRPr lang="en-SG" sz="2400" dirty="0"/>
              </a:p>
              <a:p>
                <a:pPr marL="531812" indent="-514350">
                  <a:buClr>
                    <a:srgbClr val="C00000"/>
                  </a:buClr>
                  <a:buSzPct val="80000"/>
                  <a:buFont typeface="+mj-lt"/>
                  <a:buAutoNum type="arabicPeriod"/>
                </a:pPr>
                <a:r>
                  <a:rPr lang="en-SG" dirty="0"/>
                  <a:t>Position the disk head over the proper track </a:t>
                </a:r>
              </a:p>
              <a:p>
                <a:pPr lvl="1"/>
                <a:r>
                  <a:rPr lang="en-SG" dirty="0"/>
                  <a:t>Time taken is known as [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dirty="0"/>
                  <a:t>]</a:t>
                </a:r>
              </a:p>
              <a:p>
                <a:pPr lvl="1"/>
                <a:endParaRPr lang="en-SG" b="1" dirty="0"/>
              </a:p>
              <a:p>
                <a:pPr lvl="1"/>
                <a:r>
                  <a:rPr lang="en-SG" b="1" dirty="0"/>
                  <a:t>Average </a:t>
                </a:r>
                <a:r>
                  <a:rPr lang="en-SG" b="1" dirty="0">
                    <a:solidFill>
                      <a:srgbClr val="C00000"/>
                    </a:solidFill>
                  </a:rPr>
                  <a:t>Seek Time</a:t>
                </a:r>
                <a:r>
                  <a:rPr lang="en-SG" b="1" dirty="0"/>
                  <a:t>:</a:t>
                </a:r>
              </a:p>
              <a:p>
                <a:pPr lvl="2"/>
                <a:r>
                  <a:rPr lang="en-SG" dirty="0"/>
                  <a:t>Typically in the range of 2 ms to 10 </a:t>
                </a:r>
                <a:r>
                  <a:rPr lang="en-SG" dirty="0" err="1"/>
                  <a:t>ms</a:t>
                </a:r>
                <a:endParaRPr lang="en-SG" dirty="0"/>
              </a:p>
              <a:p>
                <a:pPr marL="671512" lvl="2" indent="0">
                  <a:buNone/>
                </a:pPr>
                <a:r>
                  <a:rPr lang="en-SG" dirty="0"/>
                  <a:t> </a:t>
                </a:r>
              </a:p>
              <a:p>
                <a:pPr lvl="2"/>
                <a:r>
                  <a:rPr lang="en-SG" dirty="0"/>
                  <a:t>(∑ Time for all possible seek) / (Total # of possible seeks)</a:t>
                </a:r>
              </a:p>
              <a:p>
                <a:pPr marL="671512" lvl="2" indent="0">
                  <a:buNone/>
                </a:pPr>
                <a:r>
                  <a:rPr lang="en-SG" dirty="0">
                    <a:sym typeface="Wingdings" panose="05000000000000000000" pitchFamily="2" charset="2"/>
                  </a:rPr>
                  <a:t>     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SG" dirty="0"/>
                  <a:t> N,  where N is the time for maximum seek distance</a:t>
                </a:r>
              </a:p>
              <a:p>
                <a:pPr marL="858837" lvl="1" indent="-514350">
                  <a:buFont typeface="+mj-lt"/>
                  <a:buAutoNum type="arabicPeriod"/>
                </a:pPr>
                <a:endParaRPr lang="en-SG" dirty="0"/>
              </a:p>
              <a:p>
                <a:pPr marL="344487" lvl="1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82000" cy="5410200"/>
              </a:xfrm>
              <a:blipFill rotWithShape="0">
                <a:blip r:embed="rId3"/>
                <a:stretch>
                  <a:fillRect l="-727" t="-1466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40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3-Stage of Read/Write Process (2/3)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C00000"/>
              </a:buClr>
              <a:buSzPct val="80000"/>
              <a:buFont typeface="+mj-lt"/>
              <a:buAutoNum type="arabicPeriod" startAt="2"/>
            </a:pPr>
            <a:r>
              <a:rPr lang="en-SG" dirty="0"/>
              <a:t>Wait for the desired sector to rotate under the read/write head  </a:t>
            </a:r>
          </a:p>
          <a:p>
            <a:pPr lvl="1"/>
            <a:r>
              <a:rPr lang="en-SG" dirty="0"/>
              <a:t>Time taken is known as [</a:t>
            </a:r>
            <a:r>
              <a:rPr lang="en-SG" b="1" dirty="0">
                <a:solidFill>
                  <a:srgbClr val="660066"/>
                </a:solidFill>
              </a:rPr>
              <a:t>Rotational latency</a:t>
            </a:r>
            <a:r>
              <a:rPr lang="en-SG" dirty="0"/>
              <a:t>]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Rotation speed: 4800 to 15000 rotations per minute (RPM)</a:t>
            </a:r>
          </a:p>
          <a:p>
            <a:pPr marL="344487" lvl="1" indent="0">
              <a:buNone/>
            </a:pPr>
            <a:r>
              <a:rPr lang="en-US" dirty="0">
                <a:sym typeface="Wingdings" pitchFamily="2" charset="2"/>
              </a:rPr>
              <a:t>     </a:t>
            </a:r>
            <a:r>
              <a:rPr lang="en-US" dirty="0"/>
              <a:t>12.5 </a:t>
            </a:r>
            <a:r>
              <a:rPr lang="en-US" dirty="0" err="1"/>
              <a:t>ms</a:t>
            </a:r>
            <a:r>
              <a:rPr lang="en-US" dirty="0"/>
              <a:t> to 4 </a:t>
            </a:r>
            <a:r>
              <a:rPr lang="en-US" dirty="0" err="1"/>
              <a:t>ms</a:t>
            </a:r>
            <a:r>
              <a:rPr lang="en-US" dirty="0"/>
              <a:t> per rotation respectively</a:t>
            </a:r>
          </a:p>
          <a:p>
            <a:pPr lvl="1"/>
            <a:endParaRPr lang="en-US" b="1" dirty="0">
              <a:solidFill>
                <a:srgbClr val="660066"/>
              </a:solidFill>
            </a:endParaRP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Average Rotational Latency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Assume desired data is halfway around the track </a:t>
            </a:r>
          </a:p>
          <a:p>
            <a:pPr marL="671512" lvl="2" indent="0">
              <a:buNone/>
            </a:pPr>
            <a:r>
              <a:rPr lang="en-US" dirty="0">
                <a:sym typeface="Wingdings" pitchFamily="2" charset="2"/>
              </a:rPr>
              <a:t>     6.25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en-US" dirty="0"/>
              <a:t> at 4800 RPM, 2 </a:t>
            </a:r>
            <a:r>
              <a:rPr lang="en-US" dirty="0" err="1"/>
              <a:t>ms</a:t>
            </a:r>
            <a:r>
              <a:rPr lang="en-US" dirty="0"/>
              <a:t> at 15000 RPM</a:t>
            </a:r>
          </a:p>
          <a:p>
            <a:pPr marL="344487" lvl="1" indent="0">
              <a:buNone/>
            </a:pPr>
            <a:endParaRPr lang="en-SG" dirty="0"/>
          </a:p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6E8D3-DB0C-4F74-BF97-C11193C26298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05000" y="2667000"/>
            <a:ext cx="4076700" cy="2743200"/>
            <a:chOff x="1962149" y="2363377"/>
            <a:chExt cx="4076700" cy="2743200"/>
          </a:xfrm>
        </p:grpSpPr>
        <p:grpSp>
          <p:nvGrpSpPr>
            <p:cNvPr id="7" name="Group 6"/>
            <p:cNvGrpSpPr/>
            <p:nvPr/>
          </p:nvGrpSpPr>
          <p:grpSpPr>
            <a:xfrm>
              <a:off x="3219449" y="2363377"/>
              <a:ext cx="2819400" cy="2743200"/>
              <a:chOff x="5410200" y="838200"/>
              <a:chExt cx="2819400" cy="27432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5410200" y="838200"/>
                <a:ext cx="2819400" cy="27432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5638800" y="1066800"/>
                <a:ext cx="2362200" cy="22860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867400" y="1295400"/>
                <a:ext cx="1905000" cy="18288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096000" y="1524000"/>
                <a:ext cx="1447800" cy="13716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324600" y="1752600"/>
                <a:ext cx="990600" cy="9144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514012" y="1939835"/>
                <a:ext cx="613954" cy="56823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962149" y="3658777"/>
              <a:ext cx="2133600" cy="228600"/>
              <a:chOff x="114300" y="2324100"/>
              <a:chExt cx="2133600" cy="228600"/>
            </a:xfrm>
          </p:grpSpPr>
          <p:sp>
            <p:nvSpPr>
              <p:cNvPr id="17" name="Round Same Side Corner Rectangle 16"/>
              <p:cNvSpPr/>
              <p:nvPr/>
            </p:nvSpPr>
            <p:spPr>
              <a:xfrm rot="5400000">
                <a:off x="1066800" y="1371600"/>
                <a:ext cx="228600" cy="2133600"/>
              </a:xfrm>
              <a:prstGeom prst="round2SameRect">
                <a:avLst>
                  <a:gd name="adj1" fmla="val 47143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055223" y="2367643"/>
                <a:ext cx="152400" cy="14151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113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3-Stage of Read/Write Process  (3/3)</a:t>
            </a:r>
            <a:endParaRPr lang="en-S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lnSpcReduction="10000"/>
          </a:bodyPr>
          <a:lstStyle/>
          <a:p>
            <a:pPr marL="531812" indent="-514350">
              <a:buClr>
                <a:srgbClr val="C00000"/>
              </a:buClr>
              <a:buSzPct val="80000"/>
              <a:buFont typeface="+mj-lt"/>
              <a:buAutoNum type="arabicPeriod" startAt="3"/>
            </a:pPr>
            <a:r>
              <a:rPr lang="en-SG" dirty="0"/>
              <a:t>Transfer the sector(s)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SG" dirty="0"/>
              <a:t>Time taken is known as [</a:t>
            </a:r>
            <a:r>
              <a:rPr lang="en-SG" b="1" dirty="0">
                <a:solidFill>
                  <a:srgbClr val="006600"/>
                </a:solidFill>
              </a:rPr>
              <a:t>Transfer time</a:t>
            </a:r>
            <a:r>
              <a:rPr lang="en-SG" dirty="0"/>
              <a:t>]</a:t>
            </a:r>
          </a:p>
          <a:p>
            <a:pPr lvl="1">
              <a:buClr>
                <a:srgbClr val="C00000"/>
              </a:buClr>
              <a:buSzPct val="80000"/>
            </a:pPr>
            <a:r>
              <a:rPr lang="en-US" b="1" dirty="0">
                <a:solidFill>
                  <a:srgbClr val="006600"/>
                </a:solidFill>
              </a:rPr>
              <a:t>Transfer</a:t>
            </a:r>
            <a:r>
              <a:rPr lang="en-US" dirty="0"/>
              <a:t> </a:t>
            </a:r>
            <a:r>
              <a:rPr lang="en-US" b="1" dirty="0">
                <a:solidFill>
                  <a:srgbClr val="006600"/>
                </a:solidFill>
              </a:rPr>
              <a:t>Time</a:t>
            </a:r>
            <a:r>
              <a:rPr lang="en-US" dirty="0"/>
              <a:t> is a function of :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Transfer size / Transfer Rate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size: [X KB / Sector]  x [ # of Sectors]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rate: 70  to 125 MB / second</a:t>
            </a:r>
          </a:p>
          <a:p>
            <a:pPr lvl="2">
              <a:buClr>
                <a:srgbClr val="C00000"/>
              </a:buClr>
              <a:buSzPct val="80000"/>
            </a:pPr>
            <a:r>
              <a:rPr lang="en-US" dirty="0"/>
              <a:t>E.g. If we read 2 </a:t>
            </a:r>
            <a:r>
              <a:rPr lang="en-US" b="1" dirty="0"/>
              <a:t>consecutive sectors </a:t>
            </a:r>
            <a:r>
              <a:rPr lang="en-US" dirty="0"/>
              <a:t>of 512 Bytes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size = 512B x 2 = 1KB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Assuming a transfer rate of 100MB/second</a:t>
            </a:r>
          </a:p>
          <a:p>
            <a:pPr lvl="3">
              <a:buClr>
                <a:srgbClr val="C00000"/>
              </a:buClr>
              <a:buSzPct val="80000"/>
            </a:pPr>
            <a:r>
              <a:rPr lang="en-US" dirty="0"/>
              <a:t>Transfer time = 1KB / 100MB per second</a:t>
            </a:r>
          </a:p>
          <a:p>
            <a:pPr marL="1023937" lvl="3" indent="0">
              <a:buClr>
                <a:srgbClr val="C00000"/>
              </a:buClr>
              <a:buSzPct val="80000"/>
              <a:buNone/>
            </a:pPr>
            <a:r>
              <a:rPr lang="en-US" dirty="0"/>
              <a:t>                           = 2</a:t>
            </a:r>
            <a:r>
              <a:rPr lang="en-US" baseline="30000" dirty="0"/>
              <a:t>10</a:t>
            </a:r>
            <a:r>
              <a:rPr lang="en-US" dirty="0"/>
              <a:t> / 100 x 2</a:t>
            </a:r>
            <a:r>
              <a:rPr lang="en-US" baseline="30000" dirty="0"/>
              <a:t>20</a:t>
            </a:r>
            <a:r>
              <a:rPr lang="en-US" dirty="0"/>
              <a:t>   = 9.7µs </a:t>
            </a:r>
          </a:p>
          <a:p>
            <a:pPr lvl="2">
              <a:buClr>
                <a:srgbClr val="C00000"/>
              </a:buClr>
              <a:buSzPct val="80000"/>
            </a:pPr>
            <a:endParaRPr lang="en-US" dirty="0"/>
          </a:p>
          <a:p>
            <a:pPr>
              <a:buClr>
                <a:srgbClr val="C00000"/>
              </a:buClr>
              <a:buSzPct val="80000"/>
            </a:pPr>
            <a:r>
              <a:rPr lang="en-SG" dirty="0"/>
              <a:t>(1) + (2) is significantly more than (3)</a:t>
            </a:r>
          </a:p>
          <a:p>
            <a:pPr marL="344487" lvl="1" indent="0">
              <a:buNone/>
            </a:pP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458200" y="6459538"/>
            <a:ext cx="685800" cy="398462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4B6E8D3-DB0C-4F74-BF97-C11193C26298}" type="slidenum">
              <a:rPr lang="en-US" kern="0" smtClean="0">
                <a:solidFill>
                  <a:srgbClr val="C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42</a:t>
            </a:fld>
            <a:endParaRPr lang="en-US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59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Due to the significant seek and rotational latency, OS should schedule the disk I/O requests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With the intention of reducing overall waiting time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rotational latency is hard to mitigate, we focus on reducing the </a:t>
            </a:r>
            <a:r>
              <a:rPr lang="en-US" b="1" dirty="0">
                <a:sym typeface="Wingdings" panose="05000000000000000000" pitchFamily="2" charset="2"/>
              </a:rPr>
              <a:t>seeking time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Consider the following disk I/O requests indicated by only the </a:t>
            </a:r>
            <a:r>
              <a:rPr lang="en-US" b="1" dirty="0">
                <a:sym typeface="Wingdings" panose="05000000000000000000" pitchFamily="2" charset="2"/>
              </a:rPr>
              <a:t>track number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b="1" dirty="0"/>
              <a:t>, </a:t>
            </a:r>
            <a:r>
              <a:rPr 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lvl="1"/>
            <a:r>
              <a:rPr lang="en-US" dirty="0"/>
              <a:t>Use the following algorithms to schedule these I/O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6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Scheduling: </a:t>
            </a:r>
            <a:r>
              <a:rPr lang="en-US" b="1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few obvious candidates:</a:t>
            </a:r>
          </a:p>
          <a:p>
            <a:pPr lvl="1"/>
            <a:r>
              <a:rPr lang="en-US" b="1" dirty="0"/>
              <a:t>FCFS</a:t>
            </a:r>
          </a:p>
          <a:p>
            <a:pPr lvl="1"/>
            <a:r>
              <a:rPr lang="en-US" b="1" dirty="0"/>
              <a:t>SSF</a:t>
            </a:r>
            <a:r>
              <a:rPr lang="en-US" dirty="0"/>
              <a:t> (</a:t>
            </a:r>
            <a:r>
              <a:rPr lang="en-US" b="1" dirty="0"/>
              <a:t>S</a:t>
            </a:r>
            <a:r>
              <a:rPr lang="en-US" dirty="0"/>
              <a:t>hortest </a:t>
            </a:r>
            <a:r>
              <a:rPr lang="en-US" b="1" dirty="0"/>
              <a:t>S</a:t>
            </a:r>
            <a:r>
              <a:rPr lang="en-US" dirty="0"/>
              <a:t>eek </a:t>
            </a:r>
            <a:r>
              <a:rPr lang="en-US" b="1" dirty="0"/>
              <a:t>F</a:t>
            </a:r>
            <a:r>
              <a:rPr lang="en-US" dirty="0"/>
              <a:t>irst)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19200" y="2667000"/>
            <a:ext cx="6705600" cy="658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31764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FCFS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693423"/>
              </p:ext>
            </p:extLst>
          </p:nvPr>
        </p:nvGraphicFramePr>
        <p:xfrm>
          <a:off x="304800" y="1828800"/>
          <a:ext cx="83058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358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Chart bld="series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SSF</a:t>
            </a:r>
            <a:r>
              <a:rPr lang="en-US" dirty="0"/>
              <a:t>: Disk Head Movement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"/>
          </a:xfrm>
        </p:spPr>
        <p:txBody>
          <a:bodyPr/>
          <a:lstStyle/>
          <a:p>
            <a:r>
              <a:rPr lang="en-US" dirty="0"/>
              <a:t>Request: [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317813"/>
              </p:ext>
            </p:extLst>
          </p:nvPr>
        </p:nvGraphicFramePr>
        <p:xfrm>
          <a:off x="430876" y="1704167"/>
          <a:ext cx="80772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349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series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SCAN</a:t>
            </a:r>
            <a:r>
              <a:rPr lang="en-US" dirty="0"/>
              <a:t>: Disk Head Movement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7040"/>
            <a:ext cx="8229600" cy="8941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Bi-Direction </a:t>
            </a:r>
            <a:r>
              <a:rPr lang="en-US" dirty="0"/>
              <a:t>[Innermost </a:t>
            </a:r>
            <a:r>
              <a:rPr lang="en-US" dirty="0">
                <a:sym typeface="Wingdings" panose="05000000000000000000" pitchFamily="2" charset="2"/>
              </a:rPr>
              <a:t> Outermost]</a:t>
            </a:r>
            <a:r>
              <a:rPr lang="en-US" dirty="0"/>
              <a:t> (SCAN)</a:t>
            </a:r>
          </a:p>
          <a:p>
            <a:r>
              <a:rPr lang="en-US" dirty="0"/>
              <a:t>Request: [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en-US" sz="3200" b="1" dirty="0"/>
              <a:t>, </a:t>
            </a:r>
            <a:r>
              <a:rPr 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]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81153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085366"/>
            <a:ext cx="7473950" cy="42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0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485C1-448B-48E5-8D48-FD2D25073E1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implementation details for file system</a:t>
            </a:r>
          </a:p>
          <a:p>
            <a:pPr lvl="1"/>
            <a:r>
              <a:rPr lang="en-US" altLang="en-US" dirty="0"/>
              <a:t>File Information</a:t>
            </a:r>
          </a:p>
          <a:p>
            <a:pPr lvl="2"/>
            <a:r>
              <a:rPr lang="en-US" altLang="en-US" dirty="0"/>
              <a:t>Allocation schemes</a:t>
            </a:r>
          </a:p>
          <a:p>
            <a:pPr lvl="1"/>
            <a:r>
              <a:rPr lang="en-US" altLang="en-US" dirty="0"/>
              <a:t>Free Space management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Relook at file operations from the OS viewpoint</a:t>
            </a:r>
          </a:p>
          <a:p>
            <a:endParaRPr lang="en-US" altLang="en-US" dirty="0"/>
          </a:p>
          <a:p>
            <a:r>
              <a:rPr lang="en-US" altLang="en-US" dirty="0"/>
              <a:t>Discussed OS responsibility in I/O scheduling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8" y="1067707"/>
            <a:ext cx="837164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/>
          <p:cNvSpPr/>
          <p:nvPr/>
        </p:nvSpPr>
        <p:spPr>
          <a:xfrm>
            <a:off x="5562600" y="1310940"/>
            <a:ext cx="3200400" cy="25867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609600" y="1166018"/>
            <a:ext cx="3316433" cy="5158582"/>
            <a:chOff x="609600" y="1013618"/>
            <a:chExt cx="3316433" cy="5158582"/>
          </a:xfrm>
        </p:grpSpPr>
        <p:sp>
          <p:nvSpPr>
            <p:cNvPr id="203" name="Can 202"/>
            <p:cNvSpPr/>
            <p:nvPr/>
          </p:nvSpPr>
          <p:spPr>
            <a:xfrm>
              <a:off x="609600" y="1013618"/>
              <a:ext cx="3316433" cy="5158582"/>
            </a:xfrm>
            <a:prstGeom prst="can">
              <a:avLst>
                <a:gd name="adj" fmla="val 1686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684646" y="1676400"/>
              <a:ext cx="2873663" cy="4113502"/>
              <a:chOff x="684646" y="1676400"/>
              <a:chExt cx="2873663" cy="411350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5800" y="167640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8" name="Rectangle 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" name="Group 2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3" name="Group 32"/>
              <p:cNvGrpSpPr/>
              <p:nvPr/>
            </p:nvGrpSpPr>
            <p:grpSpPr>
              <a:xfrm>
                <a:off x="685800" y="222567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4" name="Rectangle 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40" name="Rectangle 3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1" name="Rectangle 4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38" name="Rectangle 3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39" name="Rectangle 3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4" name="Group 123"/>
              <p:cNvGrpSpPr/>
              <p:nvPr/>
            </p:nvGrpSpPr>
            <p:grpSpPr>
              <a:xfrm>
                <a:off x="686954" y="2774950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5" name="Rectangle 13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36" name="Rectangle 13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" name="Group 125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3" name="Rectangle 13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134" name="Rectangle 13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" name="Group 126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132" name="Rectangle 13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29" name="Rectangle 12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130" name="Rectangle 12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86954" y="3324225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6" name="Rectangle 14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47" name="Rectangle 14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4" name="Rectangle 14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14</a:t>
                    </a:r>
                  </a:p>
                </p:txBody>
              </p:sp>
              <p:sp>
                <p:nvSpPr>
                  <p:cNvPr id="145" name="Rectangle 14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" name="Group 140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42" name="Rectangle 14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15</a:t>
                    </a: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50" name="Group 149"/>
              <p:cNvGrpSpPr/>
              <p:nvPr/>
            </p:nvGrpSpPr>
            <p:grpSpPr>
              <a:xfrm>
                <a:off x="684646" y="383727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51" name="Group 150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1" name="Rectangle 16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16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9" name="Rectangle 158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17</a:t>
                    </a:r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18</a:t>
                    </a:r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55" name="Rectangle 15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19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/>
              <p:cNvGrpSpPr/>
              <p:nvPr/>
            </p:nvGrpSpPr>
            <p:grpSpPr>
              <a:xfrm>
                <a:off x="684646" y="438655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64" name="Group 163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4" name="Rectangle 17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20</a:t>
                    </a:r>
                  </a:p>
                </p:txBody>
              </p:sp>
              <p:sp>
                <p:nvSpPr>
                  <p:cNvPr id="175" name="Rectangle 17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2" name="Rectangle 171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21</a:t>
                    </a:r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22</a:t>
                    </a:r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68" name="Rectangle 16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23</a:t>
                    </a:r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6" name="Group 175"/>
              <p:cNvGrpSpPr/>
              <p:nvPr/>
            </p:nvGrpSpPr>
            <p:grpSpPr>
              <a:xfrm>
                <a:off x="685800" y="4935827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77" name="Group 176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7" name="Rectangle 186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24</a:t>
                    </a:r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" name="Group 177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5" name="Rectangle 184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25</a:t>
                    </a:r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3" name="Rectangle 182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26</a:t>
                    </a:r>
                  </a:p>
                </p:txBody>
              </p:sp>
              <p:sp>
                <p:nvSpPr>
                  <p:cNvPr id="184" name="Rectangle 183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81" name="Rectangle 180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27</a:t>
                    </a:r>
                  </a:p>
                </p:txBody>
              </p:sp>
              <p:sp>
                <p:nvSpPr>
                  <p:cNvPr id="182" name="Rectangle 181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9" name="Group 188"/>
              <p:cNvGrpSpPr/>
              <p:nvPr/>
            </p:nvGrpSpPr>
            <p:grpSpPr>
              <a:xfrm>
                <a:off x="685800" y="5485102"/>
                <a:ext cx="2871355" cy="304800"/>
                <a:chOff x="685800" y="1676400"/>
                <a:chExt cx="2871355" cy="304800"/>
              </a:xfrm>
            </p:grpSpPr>
            <p:grpSp>
              <p:nvGrpSpPr>
                <p:cNvPr id="190" name="Group 189"/>
                <p:cNvGrpSpPr/>
                <p:nvPr/>
              </p:nvGrpSpPr>
              <p:grpSpPr>
                <a:xfrm>
                  <a:off x="6858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200" name="Rectangle 199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28</a:t>
                    </a:r>
                  </a:p>
                </p:txBody>
              </p:sp>
              <p:sp>
                <p:nvSpPr>
                  <p:cNvPr id="201" name="Rectangle 200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1" name="Group 190"/>
                <p:cNvGrpSpPr/>
                <p:nvPr/>
              </p:nvGrpSpPr>
              <p:grpSpPr>
                <a:xfrm>
                  <a:off x="1371600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8" name="Rectangle 197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29</a:t>
                    </a:r>
                  </a:p>
                </p:txBody>
              </p:sp>
              <p:sp>
                <p:nvSpPr>
                  <p:cNvPr id="199" name="Rectangle 198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/>
                <p:cNvGrpSpPr/>
                <p:nvPr/>
              </p:nvGrpSpPr>
              <p:grpSpPr>
                <a:xfrm>
                  <a:off x="21093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6" name="Rectangle 195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30</a:t>
                    </a:r>
                  </a:p>
                </p:txBody>
              </p: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/>
                <p:cNvGrpSpPr/>
                <p:nvPr/>
              </p:nvGrpSpPr>
              <p:grpSpPr>
                <a:xfrm>
                  <a:off x="2795155" y="1676400"/>
                  <a:ext cx="762000" cy="304800"/>
                  <a:chOff x="685800" y="1676400"/>
                  <a:chExt cx="762000" cy="304800"/>
                </a:xfrm>
              </p:grpSpPr>
              <p:sp>
                <p:nvSpPr>
                  <p:cNvPr id="194" name="Rectangle 193"/>
                  <p:cNvSpPr/>
                  <p:nvPr/>
                </p:nvSpPr>
                <p:spPr>
                  <a:xfrm>
                    <a:off x="685800" y="16764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45720" rtlCol="0" anchor="ctr"/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</a:rPr>
                      <a:t>31</a:t>
                    </a:r>
                  </a:p>
                </p:txBody>
              </p:sp>
              <p:sp>
                <p:nvSpPr>
                  <p:cNvPr id="195" name="Rectangle 194"/>
                  <p:cNvSpPr/>
                  <p:nvPr/>
                </p:nvSpPr>
                <p:spPr>
                  <a:xfrm>
                    <a:off x="1143000" y="1676400"/>
                    <a:ext cx="304800" cy="3048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205" name="Rectangle 11"/>
          <p:cNvSpPr>
            <a:spLocks noChangeArrowheads="1"/>
          </p:cNvSpPr>
          <p:nvPr/>
        </p:nvSpPr>
        <p:spPr bwMode="auto">
          <a:xfrm>
            <a:off x="5943600" y="1427246"/>
            <a:ext cx="22860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size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3</a:t>
            </a:r>
          </a:p>
          <a:p>
            <a:r>
              <a:rPr lang="en-US" altLang="en-US" sz="2400" dirty="0"/>
              <a:t>mail	    6</a:t>
            </a:r>
          </a:p>
          <a:p>
            <a:r>
              <a:rPr lang="en-US" altLang="en-US" sz="2400" dirty="0"/>
              <a:t>list	    4</a:t>
            </a:r>
          </a:p>
          <a:p>
            <a:r>
              <a:rPr lang="en-US" altLang="en-US" sz="2400" dirty="0"/>
              <a:t>f	    2</a:t>
            </a:r>
          </a:p>
        </p:txBody>
      </p:sp>
      <p:sp>
        <p:nvSpPr>
          <p:cNvPr id="208" name="Rectangle 11"/>
          <p:cNvSpPr>
            <a:spLocks noChangeArrowheads="1"/>
          </p:cNvSpPr>
          <p:nvPr/>
        </p:nvSpPr>
        <p:spPr bwMode="auto">
          <a:xfrm>
            <a:off x="5791200" y="4038900"/>
            <a:ext cx="2971800" cy="235417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	  start	   length</a:t>
            </a:r>
          </a:p>
          <a:p>
            <a:endParaRPr lang="en-US" altLang="en-US" sz="800" b="1" dirty="0"/>
          </a:p>
          <a:p>
            <a:r>
              <a:rPr lang="en-US" altLang="en-US" sz="2400" dirty="0"/>
              <a:t>count 	      0	       2</a:t>
            </a:r>
          </a:p>
          <a:p>
            <a:r>
              <a:rPr lang="en-US" altLang="en-US" sz="2400" dirty="0" err="1"/>
              <a:t>tr</a:t>
            </a:r>
            <a:r>
              <a:rPr lang="en-US" altLang="en-US" sz="2400" dirty="0"/>
              <a:t>	    14	       3</a:t>
            </a:r>
          </a:p>
          <a:p>
            <a:r>
              <a:rPr lang="en-US" altLang="en-US" sz="2400" dirty="0"/>
              <a:t>mail	    19	       6</a:t>
            </a:r>
          </a:p>
          <a:p>
            <a:r>
              <a:rPr lang="en-US" altLang="en-US" sz="2400" dirty="0"/>
              <a:t>list	    28	       4</a:t>
            </a:r>
          </a:p>
          <a:p>
            <a:r>
              <a:rPr lang="en-US" altLang="en-US" sz="2400" dirty="0"/>
              <a:t>f	      6	       2</a:t>
            </a:r>
          </a:p>
        </p:txBody>
      </p:sp>
    </p:spTree>
    <p:extLst>
      <p:ext uri="{BB962C8B-B14F-4D97-AF65-F5344CB8AC3E}">
        <p14:creationId xmlns:p14="http://schemas.microsoft.com/office/powerpoint/2010/main" val="350159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/>
      <p:bldP spid="20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Block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50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2586790"/>
              <a:chOff x="5105400" y="1310940"/>
              <a:chExt cx="3810000" cy="258679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258679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23541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count 	    2</a:t>
                </a:r>
              </a:p>
              <a:p>
                <a:r>
                  <a:rPr lang="en-US" altLang="en-US" sz="2400" dirty="0" err="1"/>
                  <a:t>tr</a:t>
                </a:r>
                <a:r>
                  <a:rPr lang="en-US" altLang="en-US" sz="2400" dirty="0"/>
                  <a:t>	    3</a:t>
                </a:r>
              </a:p>
              <a:p>
                <a:r>
                  <a:rPr lang="en-US" altLang="en-US" sz="2400" dirty="0"/>
                  <a:t>mail	    6</a:t>
                </a:r>
              </a:p>
              <a:p>
                <a:r>
                  <a:rPr lang="en-US" altLang="en-US" sz="2400" dirty="0"/>
                  <a:t>list	    4</a:t>
                </a:r>
              </a:p>
              <a:p>
                <a:r>
                  <a:rPr lang="en-US" altLang="en-US" sz="2400" dirty="0"/>
                  <a:t>f	    2</a:t>
                </a:r>
              </a:p>
            </p:txBody>
          </p:sp>
        </p:grpSp>
        <p:grpSp>
          <p:nvGrpSpPr>
            <p:cNvPr id="212" name="Group 211"/>
            <p:cNvGrpSpPr/>
            <p:nvPr/>
          </p:nvGrpSpPr>
          <p:grpSpPr>
            <a:xfrm>
              <a:off x="1144154" y="1828800"/>
              <a:ext cx="990600" cy="304800"/>
              <a:chOff x="1295400" y="1981200"/>
              <a:chExt cx="990600" cy="304800"/>
            </a:xfrm>
          </p:grpSpPr>
          <p:sp>
            <p:nvSpPr>
              <p:cNvPr id="210" name="Rectangle 209"/>
              <p:cNvSpPr/>
              <p:nvPr/>
            </p:nvSpPr>
            <p:spPr>
              <a:xfrm>
                <a:off x="12954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1981200" y="19812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6" name="Group 215"/>
            <p:cNvGrpSpPr/>
            <p:nvPr/>
          </p:nvGrpSpPr>
          <p:grpSpPr>
            <a:xfrm>
              <a:off x="1143000" y="3476625"/>
              <a:ext cx="2416463" cy="817852"/>
              <a:chOff x="1294246" y="3629025"/>
              <a:chExt cx="2416463" cy="817852"/>
            </a:xfrm>
          </p:grpSpPr>
          <p:sp>
            <p:nvSpPr>
              <p:cNvPr id="213" name="Rectangle 212"/>
              <p:cNvSpPr/>
              <p:nvPr/>
            </p:nvSpPr>
            <p:spPr>
              <a:xfrm>
                <a:off x="27201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3405909" y="3629025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1294246" y="4142077"/>
                <a:ext cx="3048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3" name="Group 222"/>
            <p:cNvGrpSpPr/>
            <p:nvPr/>
          </p:nvGrpSpPr>
          <p:grpSpPr>
            <a:xfrm>
              <a:off x="1143000" y="3989677"/>
              <a:ext cx="2414155" cy="1403350"/>
              <a:chOff x="1294246" y="4142077"/>
              <a:chExt cx="2414155" cy="1403350"/>
            </a:xfrm>
          </p:grpSpPr>
          <p:sp>
            <p:nvSpPr>
              <p:cNvPr id="217" name="Rectangle 216"/>
              <p:cNvSpPr/>
              <p:nvPr/>
            </p:nvSpPr>
            <p:spPr>
              <a:xfrm>
                <a:off x="3403601" y="414207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12942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1980046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27178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3403601" y="4691352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/>
              <p:cNvSpPr/>
              <p:nvPr/>
            </p:nvSpPr>
            <p:spPr>
              <a:xfrm>
                <a:off x="1295400" y="5240627"/>
                <a:ext cx="304800" cy="304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8" name="Group 227"/>
            <p:cNvGrpSpPr/>
            <p:nvPr/>
          </p:nvGrpSpPr>
          <p:grpSpPr>
            <a:xfrm>
              <a:off x="1144154" y="5637502"/>
              <a:ext cx="2414155" cy="304800"/>
              <a:chOff x="1295400" y="5789902"/>
              <a:chExt cx="2414155" cy="304800"/>
            </a:xfrm>
          </p:grpSpPr>
          <p:sp>
            <p:nvSpPr>
              <p:cNvPr id="224" name="Rectangle 223"/>
              <p:cNvSpPr/>
              <p:nvPr/>
            </p:nvSpPr>
            <p:spPr>
              <a:xfrm>
                <a:off x="12954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1981200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27189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/>
              <p:cNvSpPr/>
              <p:nvPr/>
            </p:nvSpPr>
            <p:spPr>
              <a:xfrm>
                <a:off x="3404755" y="5789902"/>
                <a:ext cx="304800" cy="3048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1" name="Group 230"/>
            <p:cNvGrpSpPr/>
            <p:nvPr/>
          </p:nvGrpSpPr>
          <p:grpSpPr>
            <a:xfrm>
              <a:off x="2567709" y="2378075"/>
              <a:ext cx="990600" cy="304800"/>
              <a:chOff x="2718955" y="2530475"/>
              <a:chExt cx="990600" cy="304800"/>
            </a:xfrm>
          </p:grpSpPr>
          <p:sp>
            <p:nvSpPr>
              <p:cNvPr id="229" name="Rectangle 228"/>
              <p:cNvSpPr/>
              <p:nvPr/>
            </p:nvSpPr>
            <p:spPr>
              <a:xfrm>
                <a:off x="27189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3404755" y="2530475"/>
                <a:ext cx="304800" cy="3048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257800" y="2389359"/>
              <a:ext cx="185618" cy="228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257800" y="2781300"/>
              <a:ext cx="185618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257800" y="3124200"/>
              <a:ext cx="185618" cy="228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257800" y="3456159"/>
              <a:ext cx="185618" cy="228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30184" y="1437715"/>
              <a:ext cx="2347116" cy="2354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length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0	       2</a:t>
              </a:r>
            </a:p>
            <a:p>
              <a:r>
                <a:rPr lang="en-US" altLang="en-US" sz="2400" dirty="0"/>
                <a:t>14	       3</a:t>
              </a:r>
            </a:p>
            <a:p>
              <a:r>
                <a:rPr lang="en-US" altLang="en-US" sz="2400" dirty="0"/>
                <a:t>19	       6</a:t>
              </a:r>
            </a:p>
            <a:p>
              <a:r>
                <a:rPr lang="en-US" altLang="en-US" sz="2400" dirty="0"/>
                <a:t>28	       4</a:t>
              </a:r>
            </a:p>
            <a:p>
              <a:r>
                <a:rPr lang="en-US" altLang="en-US" sz="2400" dirty="0"/>
                <a:t>  6	      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39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Linked List Allocation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51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09600" y="1166018"/>
            <a:ext cx="8305800" cy="5158582"/>
            <a:chOff x="609600" y="1166018"/>
            <a:chExt cx="8305800" cy="5158582"/>
          </a:xfrm>
        </p:grpSpPr>
        <p:grpSp>
          <p:nvGrpSpPr>
            <p:cNvPr id="204" name="Group 203"/>
            <p:cNvGrpSpPr/>
            <p:nvPr/>
          </p:nvGrpSpPr>
          <p:grpSpPr>
            <a:xfrm>
              <a:off x="609600" y="1166018"/>
              <a:ext cx="3316433" cy="5158582"/>
              <a:chOff x="609600" y="1013618"/>
              <a:chExt cx="3316433" cy="5158582"/>
            </a:xfrm>
          </p:grpSpPr>
          <p:sp>
            <p:nvSpPr>
              <p:cNvPr id="203" name="Can 202"/>
              <p:cNvSpPr/>
              <p:nvPr/>
            </p:nvSpPr>
            <p:spPr>
              <a:xfrm>
                <a:off x="609600" y="1013618"/>
                <a:ext cx="3316433" cy="5158582"/>
              </a:xfrm>
              <a:prstGeom prst="can">
                <a:avLst>
                  <a:gd name="adj" fmla="val 1686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684646" y="1676400"/>
                <a:ext cx="2873663" cy="4113502"/>
                <a:chOff x="684646" y="1676400"/>
                <a:chExt cx="2873663" cy="4113502"/>
              </a:xfrm>
            </p:grpSpPr>
            <p:grpSp>
              <p:nvGrpSpPr>
                <p:cNvPr id="32" name="Group 31"/>
                <p:cNvGrpSpPr/>
                <p:nvPr/>
              </p:nvGrpSpPr>
              <p:grpSpPr>
                <a:xfrm>
                  <a:off x="685800" y="167640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p:txBody>
                </p:sp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" name="Group 22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4" name="Rectangle 2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6" name="Group 2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28" name="Rectangle 2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0" name="Rectangle 2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p:txBody>
                </p:sp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685800" y="222567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p:txBody>
                </p:sp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p:txBody>
                </p:sp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" name="Group 3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p:txBody>
                </p:sp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686954" y="2774950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5" name="Rectangle 13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p:txBody>
                </p:sp>
                <p:sp>
                  <p:nvSpPr>
                    <p:cNvPr id="136" name="Rectangle 13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6" name="Group 125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3" name="Rectangle 13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p:txBody>
                </p:sp>
                <p:sp>
                  <p:nvSpPr>
                    <p:cNvPr id="134" name="Rectangle 13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7" name="Group 126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31" name="Rectangle 13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p:txBody>
                </p:sp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29" name="Rectangle 12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p:txBody>
                </p:sp>
                <p:sp>
                  <p:nvSpPr>
                    <p:cNvPr id="130" name="Rectangle 12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686954" y="3324225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8" name="Rectangle 14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p:txBody>
                </p:sp>
                <p:sp>
                  <p:nvSpPr>
                    <p:cNvPr id="149" name="Rectangle 14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6" name="Rectangle 14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0" name="Group 139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4" name="Rectangle 14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41" name="Group 140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42" name="Rectangle 14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p:txBody>
                </p:sp>
                <p:sp>
                  <p:nvSpPr>
                    <p:cNvPr id="143" name="Rectangle 14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684646" y="383727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684646" y="438655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64" name="Group 163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6" name="Group 165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67" name="Group 166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76" name="Group 175"/>
                <p:cNvGrpSpPr/>
                <p:nvPr/>
              </p:nvGrpSpPr>
              <p:grpSpPr>
                <a:xfrm>
                  <a:off x="685800" y="4935827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77" name="Group 176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7" name="Rectangle 186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p:txBody>
                </p:sp>
                <p:sp>
                  <p:nvSpPr>
                    <p:cNvPr id="188" name="Rectangle 187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5" name="Rectangle 184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p:txBody>
                </p:sp>
                <p:sp>
                  <p:nvSpPr>
                    <p:cNvPr id="186" name="Rectangle 185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3" name="Rectangle 182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p:txBody>
                </p:sp>
                <p:sp>
                  <p:nvSpPr>
                    <p:cNvPr id="184" name="Rectangle 183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2" name="Rectangle 181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89" name="Group 188"/>
                <p:cNvGrpSpPr/>
                <p:nvPr/>
              </p:nvGrpSpPr>
              <p:grpSpPr>
                <a:xfrm>
                  <a:off x="685800" y="5485102"/>
                  <a:ext cx="2871355" cy="304800"/>
                  <a:chOff x="685800" y="1676400"/>
                  <a:chExt cx="2871355" cy="304800"/>
                </a:xfrm>
              </p:grpSpPr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58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200" name="Rectangle 199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201" name="Rectangle 200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1371600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8" name="Rectangle 197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p:txBody>
                </p:sp>
                <p:sp>
                  <p:nvSpPr>
                    <p:cNvPr id="199" name="Rectangle 198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2" name="Group 191"/>
                  <p:cNvGrpSpPr/>
                  <p:nvPr/>
                </p:nvGrpSpPr>
                <p:grpSpPr>
                  <a:xfrm>
                    <a:off x="21093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6" name="Rectangle 195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p:txBody>
                </p:sp>
                <p:sp>
                  <p:nvSpPr>
                    <p:cNvPr id="197" name="Rectangle 196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3" name="Group 192"/>
                  <p:cNvGrpSpPr/>
                  <p:nvPr/>
                </p:nvGrpSpPr>
                <p:grpSpPr>
                  <a:xfrm>
                    <a:off x="2795155" y="1676400"/>
                    <a:ext cx="762000" cy="304800"/>
                    <a:chOff x="685800" y="1676400"/>
                    <a:chExt cx="762000" cy="304800"/>
                  </a:xfrm>
                </p:grpSpPr>
                <p:sp>
                  <p:nvSpPr>
                    <p:cNvPr id="194" name="Rectangle 193"/>
                    <p:cNvSpPr/>
                    <p:nvPr/>
                  </p:nvSpPr>
                  <p:spPr>
                    <a:xfrm>
                      <a:off x="685800" y="1676400"/>
                      <a:ext cx="457200" cy="3048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45720" rtlCol="0" anchor="ctr"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p:txBody>
                </p:sp>
                <p:sp>
                  <p:nvSpPr>
                    <p:cNvPr id="195" name="Rectangle 194"/>
                    <p:cNvSpPr/>
                    <p:nvPr/>
                  </p:nvSpPr>
                  <p:spPr>
                    <a:xfrm>
                      <a:off x="1143000" y="1676400"/>
                      <a:ext cx="304800" cy="3048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</p:grpSp>
        <p:grpSp>
          <p:nvGrpSpPr>
            <p:cNvPr id="2" name="Group 1"/>
            <p:cNvGrpSpPr/>
            <p:nvPr/>
          </p:nvGrpSpPr>
          <p:grpSpPr>
            <a:xfrm>
              <a:off x="5105400" y="1310940"/>
              <a:ext cx="3810000" cy="1203660"/>
              <a:chOff x="5105400" y="1310940"/>
              <a:chExt cx="3810000" cy="1203660"/>
            </a:xfrm>
          </p:grpSpPr>
          <p:sp>
            <p:nvSpPr>
              <p:cNvPr id="207" name="Rectangle 206"/>
              <p:cNvSpPr/>
              <p:nvPr/>
            </p:nvSpPr>
            <p:spPr>
              <a:xfrm>
                <a:off x="5105400" y="1310940"/>
                <a:ext cx="3810000" cy="120366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11"/>
              <p:cNvSpPr>
                <a:spLocks noChangeArrowheads="1"/>
              </p:cNvSpPr>
              <p:nvPr/>
            </p:nvSpPr>
            <p:spPr bwMode="auto">
              <a:xfrm>
                <a:off x="5486400" y="1427246"/>
                <a:ext cx="2286000" cy="9508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400" b="1" dirty="0"/>
                  <a:t>  </a:t>
                </a:r>
                <a:r>
                  <a:rPr lang="en-US" altLang="en-US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file	  size</a:t>
                </a:r>
              </a:p>
              <a:p>
                <a:endParaRPr lang="en-US" altLang="en-US" sz="800" b="1" dirty="0"/>
              </a:p>
              <a:p>
                <a:r>
                  <a:rPr lang="en-US" altLang="en-US" sz="2400" dirty="0"/>
                  <a:t>jeep 	    5</a:t>
                </a:r>
              </a:p>
            </p:txBody>
          </p:sp>
        </p:grpSp>
        <p:sp>
          <p:nvSpPr>
            <p:cNvPr id="232" name="Rectangle 231"/>
            <p:cNvSpPr/>
            <p:nvPr/>
          </p:nvSpPr>
          <p:spPr>
            <a:xfrm>
              <a:off x="5257800" y="2019300"/>
              <a:ext cx="185618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11"/>
            <p:cNvSpPr>
              <a:spLocks noChangeArrowheads="1"/>
            </p:cNvSpPr>
            <p:nvPr/>
          </p:nvSpPr>
          <p:spPr bwMode="auto">
            <a:xfrm>
              <a:off x="6586014" y="1497568"/>
              <a:ext cx="2270916" cy="810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start	   end</a:t>
              </a:r>
            </a:p>
            <a:p>
              <a:endParaRPr lang="en-US" altLang="en-US" sz="800" b="1" dirty="0"/>
            </a:p>
            <a:p>
              <a:r>
                <a:rPr lang="en-US" altLang="en-US" sz="2400" dirty="0"/>
                <a:t>   9	     25</a:t>
              </a: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1831108" y="2927350"/>
              <a:ext cx="304800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143000" y="3232150"/>
              <a:ext cx="840508" cy="1062327"/>
              <a:chOff x="1143000" y="3232150"/>
              <a:chExt cx="840508" cy="1062327"/>
            </a:xfrm>
          </p:grpSpPr>
          <p:sp>
            <p:nvSpPr>
              <p:cNvPr id="209" name="Rectangle 208"/>
              <p:cNvSpPr/>
              <p:nvPr/>
            </p:nvSpPr>
            <p:spPr>
              <a:xfrm>
                <a:off x="1143000" y="3989677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/>
              <p:cNvCxnSpPr>
                <a:stCxn id="208" idx="2"/>
              </p:cNvCxnSpPr>
              <p:nvPr/>
            </p:nvCxnSpPr>
            <p:spPr>
              <a:xfrm flipH="1">
                <a:off x="1446646" y="3232150"/>
                <a:ext cx="536862" cy="7575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1295400" y="1828800"/>
              <a:ext cx="839354" cy="2160877"/>
              <a:chOff x="1295400" y="1828800"/>
              <a:chExt cx="839354" cy="2160877"/>
            </a:xfrm>
          </p:grpSpPr>
          <p:sp>
            <p:nvSpPr>
              <p:cNvPr id="239" name="Rectangle 238"/>
              <p:cNvSpPr/>
              <p:nvPr/>
            </p:nvSpPr>
            <p:spPr>
              <a:xfrm>
                <a:off x="1829954" y="1828800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3" name="Straight Arrow Connector 242"/>
              <p:cNvCxnSpPr>
                <a:stCxn id="209" idx="0"/>
                <a:endCxn id="239" idx="2"/>
              </p:cNvCxnSpPr>
              <p:nvPr/>
            </p:nvCxnSpPr>
            <p:spPr>
              <a:xfrm flipV="1">
                <a:off x="1295400" y="2133600"/>
                <a:ext cx="686954" cy="18560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2132446" y="2133600"/>
              <a:ext cx="747609" cy="1097735"/>
              <a:chOff x="2132446" y="2133600"/>
              <a:chExt cx="747609" cy="1097735"/>
            </a:xfrm>
          </p:grpSpPr>
          <p:sp>
            <p:nvSpPr>
              <p:cNvPr id="242" name="Rectangle 241"/>
              <p:cNvSpPr/>
              <p:nvPr/>
            </p:nvSpPr>
            <p:spPr>
              <a:xfrm>
                <a:off x="2575255" y="2926535"/>
                <a:ext cx="304800" cy="3048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4" name="Straight Arrow Connector 243"/>
              <p:cNvCxnSpPr>
                <a:endCxn id="242" idx="0"/>
              </p:cNvCxnSpPr>
              <p:nvPr/>
            </p:nvCxnSpPr>
            <p:spPr>
              <a:xfrm>
                <a:off x="2132446" y="2133600"/>
                <a:ext cx="595209" cy="79293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1829954" y="3231335"/>
              <a:ext cx="897701" cy="2161692"/>
              <a:chOff x="1829954" y="3231335"/>
              <a:chExt cx="897701" cy="2161692"/>
            </a:xfrm>
          </p:grpSpPr>
          <p:sp>
            <p:nvSpPr>
              <p:cNvPr id="241" name="Rectangle 240"/>
              <p:cNvSpPr/>
              <p:nvPr/>
            </p:nvSpPr>
            <p:spPr>
              <a:xfrm>
                <a:off x="1829954" y="5088227"/>
                <a:ext cx="304800" cy="30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5" name="Straight Arrow Connector 244"/>
              <p:cNvCxnSpPr>
                <a:stCxn id="242" idx="2"/>
                <a:endCxn id="241" idx="0"/>
              </p:cNvCxnSpPr>
              <p:nvPr/>
            </p:nvCxnSpPr>
            <p:spPr>
              <a:xfrm flipH="1">
                <a:off x="1982354" y="3231335"/>
                <a:ext cx="745301" cy="185689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00807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52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14600"/>
            <a:ext cx="5995777" cy="373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30236</TotalTime>
  <Words>2781</Words>
  <Application>Microsoft Office PowerPoint</Application>
  <PresentationFormat>On-screen Show (4:3)</PresentationFormat>
  <Paragraphs>949</Paragraphs>
  <Slides>52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  <vt:variant>
        <vt:lpstr>Custom Shows</vt:lpstr>
      </vt:variant>
      <vt:variant>
        <vt:i4>1</vt:i4>
      </vt:variant>
    </vt:vector>
  </HeadingPairs>
  <TitlesOfParts>
    <vt:vector size="60" baseType="lpstr">
      <vt:lpstr>Arial</vt:lpstr>
      <vt:lpstr>Bahnschrift SemiLight</vt:lpstr>
      <vt:lpstr>Cambria Math</vt:lpstr>
      <vt:lpstr>Courier New</vt:lpstr>
      <vt:lpstr>Garamond</vt:lpstr>
      <vt:lpstr>Wingdings</vt:lpstr>
      <vt:lpstr>Edge</vt:lpstr>
      <vt:lpstr>File System Management File System Implementations</vt:lpstr>
      <vt:lpstr>Overview</vt:lpstr>
      <vt:lpstr>File System Implementation: Overview</vt:lpstr>
      <vt:lpstr>User  OS  Hardware: Views</vt:lpstr>
      <vt:lpstr>Disk Organization: Overview</vt:lpstr>
      <vt:lpstr>Generic Disk Organization</vt:lpstr>
      <vt:lpstr>Implementing File</vt:lpstr>
      <vt:lpstr>File Implementation: Overview</vt:lpstr>
      <vt:lpstr>File Block Allocation 1: Contiguous </vt:lpstr>
      <vt:lpstr>Contiguous Block Allocation</vt:lpstr>
      <vt:lpstr>File Block Allocation 2: Linked List</vt:lpstr>
      <vt:lpstr>Linked List Allocation</vt:lpstr>
      <vt:lpstr>File Block Allocation 2: Linked List V2.0</vt:lpstr>
      <vt:lpstr>FAT Allocation</vt:lpstr>
      <vt:lpstr>File Block Allocation 2: Linked List V2.0</vt:lpstr>
      <vt:lpstr>File Block Allocation 3: Indexed Allocation</vt:lpstr>
      <vt:lpstr>Indexed Allocation</vt:lpstr>
      <vt:lpstr>Indexed Block Allocation: Variation</vt:lpstr>
      <vt:lpstr>Indexed Block Allocation: Variation(cont)</vt:lpstr>
      <vt:lpstr>Unix Indexed Node</vt:lpstr>
      <vt:lpstr>Free Space Management</vt:lpstr>
      <vt:lpstr>Free Space Management: Overview</vt:lpstr>
      <vt:lpstr>Free Space Management: Bitmap</vt:lpstr>
      <vt:lpstr>Free Space Management: Linked List</vt:lpstr>
      <vt:lpstr>Implementing Directory</vt:lpstr>
      <vt:lpstr>Directory Structure: Overview</vt:lpstr>
      <vt:lpstr>Directory Structure: Overview (cont)</vt:lpstr>
      <vt:lpstr>Directory Implementation: Linear List</vt:lpstr>
      <vt:lpstr>Directory Implementation: Hash Table</vt:lpstr>
      <vt:lpstr>Directory Implementation: File Information</vt:lpstr>
      <vt:lpstr>File System in Action</vt:lpstr>
      <vt:lpstr>File System in Action: Overview</vt:lpstr>
      <vt:lpstr>PowerPoint Presentation</vt:lpstr>
      <vt:lpstr>Walkthrough on file operation: Create</vt:lpstr>
      <vt:lpstr>File Creation</vt:lpstr>
      <vt:lpstr>Walkthrough on file operation: Open</vt:lpstr>
      <vt:lpstr>File Open: Improved Understanding</vt:lpstr>
      <vt:lpstr>disk I/O Scheduling (NOT EXAMINABLE)</vt:lpstr>
      <vt:lpstr>Magnetic Disk in One Glance</vt:lpstr>
      <vt:lpstr>3-Stage of Read/Write Process   (1/3)</vt:lpstr>
      <vt:lpstr>3-Stage of Read/Write Process (2/3)</vt:lpstr>
      <vt:lpstr>3-Stage of Read/Write Process  (3/3)</vt:lpstr>
      <vt:lpstr>Disk Scheduling: The Problem</vt:lpstr>
      <vt:lpstr>Disk Scheduling: Algorithms</vt:lpstr>
      <vt:lpstr>FCFS: Disk Head Movement</vt:lpstr>
      <vt:lpstr>SSF: Disk Head Movement</vt:lpstr>
      <vt:lpstr>SCAN: Disk Head Movement</vt:lpstr>
      <vt:lpstr>Summary</vt:lpstr>
      <vt:lpstr>Blank</vt:lpstr>
      <vt:lpstr>Contiguous Block Allocation</vt:lpstr>
      <vt:lpstr>Linked List Allocation</vt:lpstr>
      <vt:lpstr>PowerPoint Presentation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807</cp:revision>
  <cp:lastPrinted>1601-01-01T00:00:00Z</cp:lastPrinted>
  <dcterms:created xsi:type="dcterms:W3CDTF">1601-01-01T00:00:00Z</dcterms:created>
  <dcterms:modified xsi:type="dcterms:W3CDTF">2025-11-07T03:53:22Z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