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34"/>
  </p:notesMasterIdLst>
  <p:sldIdLst>
    <p:sldId id="256" r:id="rId4"/>
    <p:sldId id="269" r:id="rId5"/>
    <p:sldId id="512" r:id="rId6"/>
    <p:sldId id="316" r:id="rId7"/>
    <p:sldId id="465" r:id="rId8"/>
    <p:sldId id="317" r:id="rId9"/>
    <p:sldId id="440" r:id="rId10"/>
    <p:sldId id="444" r:id="rId11"/>
    <p:sldId id="500" r:id="rId12"/>
    <p:sldId id="501" r:id="rId13"/>
    <p:sldId id="502" r:id="rId14"/>
    <p:sldId id="497" r:id="rId15"/>
    <p:sldId id="498" r:id="rId16"/>
    <p:sldId id="495" r:id="rId17"/>
    <p:sldId id="496" r:id="rId18"/>
    <p:sldId id="499" r:id="rId19"/>
    <p:sldId id="439" r:id="rId20"/>
    <p:sldId id="438" r:id="rId21"/>
    <p:sldId id="503" r:id="rId22"/>
    <p:sldId id="445" r:id="rId23"/>
    <p:sldId id="513" r:id="rId24"/>
    <p:sldId id="466" r:id="rId25"/>
    <p:sldId id="504" r:id="rId26"/>
    <p:sldId id="506" r:id="rId27"/>
    <p:sldId id="507" r:id="rId28"/>
    <p:sldId id="509" r:id="rId29"/>
    <p:sldId id="508" r:id="rId30"/>
    <p:sldId id="510" r:id="rId31"/>
    <p:sldId id="511" r:id="rId32"/>
    <p:sldId id="299" r:id="rId3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8" autoAdjust="0"/>
    <p:restoredTop sz="94500"/>
  </p:normalViewPr>
  <p:slideViewPr>
    <p:cSldViewPr>
      <p:cViewPr>
        <p:scale>
          <a:sx n="108" d="100"/>
          <a:sy n="108" d="100"/>
        </p:scale>
        <p:origin x="126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6/11/relationships/changesInfo" Target="changesInfos/changesInfo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Chan" userId="0f39f6760756e79c" providerId="LiveId" clId="{67429FA3-1F55-4DD7-B47E-D0673B438097}"/>
    <pc:docChg chg="modSld">
      <pc:chgData name="Ethan Chan" userId="0f39f6760756e79c" providerId="LiveId" clId="{67429FA3-1F55-4DD7-B47E-D0673B438097}" dt="2025-10-28T02:45:11.763" v="1" actId="1035"/>
      <pc:docMkLst>
        <pc:docMk/>
      </pc:docMkLst>
      <pc:sldChg chg="modSp mod">
        <pc:chgData name="Ethan Chan" userId="0f39f6760756e79c" providerId="LiveId" clId="{67429FA3-1F55-4DD7-B47E-D0673B438097}" dt="2025-10-28T02:45:11.763" v="1" actId="1035"/>
        <pc:sldMkLst>
          <pc:docMk/>
          <pc:sldMk cId="1083030969" sldId="510"/>
        </pc:sldMkLst>
        <pc:picChg chg="mod">
          <ac:chgData name="Ethan Chan" userId="0f39f6760756e79c" providerId="LiveId" clId="{67429FA3-1F55-4DD7-B47E-D0673B438097}" dt="2025-10-28T02:45:11.763" v="1" actId="1035"/>
          <ac:picMkLst>
            <pc:docMk/>
            <pc:sldMk cId="1083030969" sldId="510"/>
            <ac:picMk id="11" creationId="{DEA94011-15FF-BAB5-D65D-EFB941FAA7F8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cm"/>
          <inkml:channel name="Y" type="integer" max="16520" units="cm"/>
          <inkml:channel name="F" type="integer" max="255" units="dev"/>
        </inkml:traceFormat>
        <inkml:channelProperties>
          <inkml:channelProperty channel="X" name="resolution" value="1000.07599" units="1/cm"/>
          <inkml:channelProperty channel="Y" name="resolution" value="1000.60571" units="1/cm"/>
          <inkml:channelProperty channel="F" name="resolution" value="3.97878E-7" units="1/dev"/>
        </inkml:channelProperties>
      </inkml:inkSource>
      <inkml:timestamp xml:id="ts0" timeString="2013-05-05T14:08:57.858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0 211 3,'0'0'7,"0"0"0,0 0-2,0 0 0,0 0-1,0 0-1,0 0-1,0 0 1,0 0-2,0 0 0,19-12 1,-19 12-1,15-12 2,-15 12-2,18-9 1,-18 9-1,18-8 2,-18 8-2,19-4 2,-19 4-1,18-6 0,-18 6 0,19-3 0,-19 3-1,20-1 1,-20 1 0,22 0-1,-22 0 0,18 1 1,-18-1 0,18 3-1,-18-3 0,16 3 2,-16-3 0,17 3-1,-17-3 1,16 3 0,-16-3-1,18 0 2,-18 0-1,25-1 0,-8-1-2,-1 2 1,2-4-1,-1 0 0,2 0-1,-2 3 1,-1-3-2,-16 4 2,25-4 0,-10 0-1,-15 4 2,25-2-2,-25 2 2,21-3-1,-21 3 0,23-3-1,-23 3 1,20 0-1,-20 0 3,18-2-3,-18 2 0,18 0 0,-18 0 1,15-2-1,-15 2 0,0 0 0,18-5-1,-18 5 1,0 0 0,18-6 1,-18 6-1,0 0 0,20-4 0,-20 4 0,20-4 0,-20 4 0,21-5 0,-21 5-1,22-6 1,-22 6 0,21-6 0,-21 6 0,20-5 1,-20 5-1,16-3 0,-16 3 0,0 0 1,20-3-1,-20 3 0,0 0 1,21-1-1,-21 1 0,15-3 1,-15 3-1,17 3 0,-17-3 0,18 0 1,-18 0-2,18 2 1,-18-2 1,20 4-1,-20-4 0,21 2 1,-21-2-1,20 8 0,-20-8 1,21 3-2,-21-3 1,19 4 0,-19-4 0,19 5 0,-19-5 0,20 3 0,-20-3 0,18 3 0,-18-3 1,22 3-1,-22-3 0,18 0 1,-18 0-1,19 3 0,-19-3 0,20 3 0,-20-3 0,18 1-1,-18-1 2,19 2-2,-19-2 2,18-2-2,-18 2 2,21-1-1,-21 1 1,21-2-1,-21 2 0,21-2 0,-21 2 0,26-2 0,-26 2-1,23 0 1,-23 0 0,23 3 0,-23-3-1,21 3 1,-21-3 1,22 0-1,-22 0 0,21 1 0,-21-1 1,21 1-1,-21-1-1,22 3 2,-22-3-1,21 2 0,-21-2-1,25 2 1,-25-2 0,26 2 0,-26-2 0,23 1 0,-23-1-1,23 0 1,-23 0 0,24 0 0,-24 0 0,21 1 0,-21-1 0,22 0 0,-22 0 0,21-2 1,-21 2-1,21-4 0,-21 4 0,18-6 0,-18 6 1,20-9-1,-20 9 0,18-7 1,-18 7-1,18-10 1,-18 10-1,18-8 1,-18 8-1,16-6 0,-16 6 0,15-6 0,-15 6 0,15-7 0,-15 7 0,14-11 0,-14 11 0,0 0 0,21-15 0,-21 15 0,0 0 0,22-15 0,-22 15 0,18-8 0,-18 8 0,18-7 0,-18 7 0,20-8 0,-20 8 0,19-6 0,-19 6 0,20-5 0,-20 5 0,22-4 0,-22 4 0,21-1 0,-21 1 0,21 0 0,-21 0 0,22-3 1,-22 3-2,15-1 1,-15 1 0,18 0 0,-18 0 0,15 0 0,-15 0 0,18 5 0,-18-5 0,15 4 0,-15-4 1,18 2-1,-18-2 0,18 2 0,-18-2 0,15 2 0,-15-2 0,15 3 0,-15-3 0,18 4 0,-18-4 0,0 0 0,18 6 0,-18-6 0,0 0 0,21 4 1,-21-4-1,0 0 0,20 6 0,-20-6-1,0 0 1,19 7 1,-19-7-1,15 6 0,-15-6 0,0 0 0,20 7 0,-20-7 0,15 8 0,-15-8-1,15 3 1,-15-3 0,16 1 1,-16-1-1,15 2 0,-15-2 0,18 1 1,-18-1-1,17-1 0,-17 1 0,18 4 0,-18-4 0,17 2 0,-17-2 0,21 2 0,-21-2-1,20 5 1,-20-5 0,22 3 0,-22-3 0,18 3 0,-18-3 0,23 3 0,-23-3 0,21 0 0,-21 0 0,18 3-1,-18-3 1,19 2 0,-19-2 0,0 0 0,20 8 0,-20-8 0,18 5 0,-18-5-1,16 5 2,-16-5-2,18 3 1,-18-3 0,18 0 0,-18 0 0,18-4 0,-18 4 0,21-5 0,-21 5 0,24-6 0,-24 6-1,24-2 1,-24 2 0,21-4 0,-21 4 0,20 0 0,-20 0 0,16 1 0,-16-1 0,0 0 1,20 3-2,-20-3 2,16 4-2,-16-4 1,16 4 0,-16-4 0,20 3 0,-20-3 0,27 3 1,-27-3-1,27 3 0,-27-3 0,28 4 0,-28-4 0,30 4 0,-30-4 0,26 6-1,-26-6 2,22 11-2,-7-9 1,-15-2 0,23 6 0,-23-6 0,24 2 0,-24-2 0,24-1 0,-24 1 1,22-3-1,-7 0 0,-15 3 1,24-5-1,-24 5 0,24-9 0,-24 9 1,24-4-1,-24 4 0,18-4 0,-18 4-1,18-6 1,-18 6 0,0 0 0,18-3 0,-18 3 0,0 0 0,0 0 0,16-5 1,-16 5-1,0 0 0,0 0 0,0 0 0,17 0-1,-17 0 1,0 0 0,0 0 0,0 0 0,15 5 0,-15-5 0,0 0 0,0 0 0,0 0 0,0 0 0,0 0 0,16 9 0,-16-9 0,0 0 1,11 12-1,-11-12 0,0 0 0,18 17 0,-18-17 0,10 13 0,-10-13 0,14 13-1,-14-13 1,13 12 0,-13-12 1,0 0-1,18 16 2,-18-16-2,11 11 1,-11-11-1,15 14 2,-15-14-2,12 16-1,-12-16 1,16 15 0,-16-15 0,23 15 0,-23-15 0,21 15 0,-21-15 0,19 20 0,-19-20 0,18 17-1,-18-17 1,17 14 0,-17-14-1,18 20 2,-9-8-2,-9-12 1,22 19 0,-22-19 0,23 21 0,-14-9 0,3 1-1,-12-13 0,18 16 1,-18-16 0,18 16 0,-18-16 0,19 18 0,-19-18 0,18 18 0,-18-18 1,20 18-1,-11-6 0,1 0 0,-10-12-1,17 19 2,-6-6-2,0 3 2,1-1-2,0 2 2,1 0-1,-1 3 0,2 2 0,-2-2 0,1-1 0,-1-2 0,-1 1 0,-1-1 0,4-2 0,-2 1 0,3-3 0,-3 1 0,-2-3 0,1 4 1,-1-3-1,2 1 0,-4-3 0,2 4 0,1 0 1,-4 0-1,7 0 0,-14-14 1,22 23-1,-10-12 0,2 3 0,-4-1 0,4-1 0,2-1 0,-1 0-1,-2 3 0,0-4 1,0 1 0,-13-11 0,23 20 0,-11-7 1,0-3-1,-4 3 0,5-2 0,-13-11 0,23 22 0,-10-11 0,2 1 0,-2-1-1,2 1 2,3-3-1,-3 3 0,1-2 0,1 1 0,-2-2 1,1 1-1,-1 4 0,-15-14 0,26 22 0,-8-11 0,-3 0-1,-3 1 1,4 1 0,-1 1 0,0-3-1,0 4 1,0-1 0,0 1 0,-2 1 0,2-1 0,-6 3 0,6-6 0,-5 3 0,2-2-1,-2 1 1,-1-2 1,1 0-2,0 0 2,0 0-1,-2 0 0,2-1-1,0 2 1,-2-1 0,-1 1 0,1 0 0,-1-1 0,-2-1 0,-5-11 1,11 20-1,-11-20 0,7 15 0,-7-15 0,8 12 0,-8-12-1,0 0 1,12 15 0,-12-15 0,13 13 0,-13-13 0,16 10 0,-16-10 0,22 10 0,-22-10 0,24 6 0,-9-3 0,-15-3 0,27 8 0,-27-8-2,28 10 3,-28-10-1,24 9 1,-24-9 0,25 14-1,-10-7 1,-15-7 0,23 18 0,-23-18-1,23 17-2,-8-11 2,-2 5-2,3-2 2,-1 2-1,0-2 1,2-2 0,-1 2 0,-1-2 0,0 1 0,0 3 0,-15-11-1,26 17 2,-26-17-2,25 18 2,-16-7-1,1 1 0,-10-12 0,19 21 1,-13-11-1,-6-10 0,10 20 0,-10-20 0,8 14 0,-8-14 0,5 12 0,-5-12 0,8 11 0,-8-11 0,0 0 0,14 14 0,-14-14 0,0 0-1,21 15 1,-21-15 0,15 6 0,-15-6-1,20 6 1,-20-6-1,19 5 1,-19-5 0,20 2 0,-20-2 0,22 5 0,-22-5 0,23 6 0,-23-6 0,23 8 0,-23-8 0,23 11 0,-23-11 0,24 8 0,-24-8-1,27 6 1,-12-3 0,-1 0 0,3-2-1,-2-1 1,1 1 0,-16-1 0,27 4 0,-27-4 0,24 0 0,-24 0 0,20 7 0,-20-7 0,18 11 1,-18-11-1,17 15 0,-7-3 0,-2 0 0,2 1 0,-2-1 0,0 0 0,2 2 0,-2-2 0,-8-12 1,15 18-2,-15-18 2,17 15-1,-17-15 0,16 14 0,-16-14 0,15 15-1,-15-15 1,21 19 0,-12-7 0,0-1 0,3-1 0,-12-10 0,20 19 0,-20-19 0,21 19 0,-21-19 1,20 14-1,-20-14 0,21 13 1,-21-13-1,23 10 0,-23-10 0,23 3 0,-23-3 1,27 3-2,-12-2 1,1-1 0,1 0 0,-1 1 0,2-1-1,2 0 1,-2-2 0,2 2 0,-2-3 0,2 0 0,0 0 0,-2 0 0,0 1 0,0 0 0,-2 0 0,3 1-1,-3 0 2,0 3-1,-1 1 0,2 0 1,-2-1-1,-1 2 0,-14-4 0,27 2 0,-27-2 0,23 2 0,-23-2 0,21 0 0,-21 0 0,20 2 0,-20-2 0,21 6 0,-21-6 0,24 9 0,-24-9 0,26 7 0,-11 1 0,-15-8 0,26 6 0,-11-3 0,-15-3 0,26 1 1,-26-1-1,25 3 0,-25-3 0,21-4 0,-21 4 0,27 10 2,-27-10-2,24 11 2,-24-11-2,24 9 1,-24-9 0,23 12 0,-23-12 0,16 5-1,-16-5 1,17 2-1,-17-2 0,18 4 0,-18-4 0,19 8 0,-19-8 0,22 8 0,-22-8 0,26 13-1,-26-13 1,28 9-1,-28-9 1,27 5-1,-13-2 1,1-3 1,-15 0-1,25-3 1,-25 3-1,23-2 1,-23 2-1,23-2 1,-23 2 0,23 2-3,-6-2 3,-17 0-1,24 1-1,-9 1 0,-15-2 1,25 3 0,-25-3 0,15 1 1,-15-1-1,15 2-1,-15-2 2,0 0 0,15 3-1,-15-3-1,0 0 1,21 1-2,-21-1 2,15 4 0,-15-4-1,14 2 0,-14-2 1,16 3 0,-16-3 0,15 2 1,-15-2-1,17 2 0,-17-2 0,16 1 0,-16-1 0,17 2 0,-17-2 0,18-1 0,-18 1 0,19 0 0,-19 0 0,21 0 0,-21 0 0,18-2 0,-18 2 0,18 0 0,-18 0 0,17-3 0,-17 3 0,13-2 0,-13 2 0,18-4 0,-18 4 1,18-4-2,-18 4 2,21-2-1,-21 2-1,25-2 1,-25 2 0,23 0 1,-23 0-1,25 0 1,-25 0-1,21-3 1,-21 3-1,20-1 0,-20 1 0,18 2-1,-18-2 1,15 2-1,-15-2 1,16 3-1,-16-3 1,15 3 0,-15-3 0,0 0 0,20 0 0,-20 0 0,0 0 0,15 0 2,-15 0-2,0 0 0,16 0 0,-16 0-1,0 0 2,20-3-1,-20 3 0,18-3-1,-18 3 1,22-6 1,-22 6-1,21-6 1,-21 6-1,21-6 1,-21 6-1,27-11 0,-27 11 0,24-11 0,-24 11-1,29-11 2,-16 7-2,5-3 1,-3 0-1,0 4 0,0-3 0,0 2 0,-15 4 2,27-5-1,-27 5 0,22-9-1,-22 9 1,20-6 0,-20 6 0,18-7 0,-18 7-2,22-10 1,-7 9 1,-15 1 0,23-5 0,-23 5 0,24-5 0,-24 5 0,22-3 0,-22 3 0,21-2 0,-21 2 0,21-2 0,-21 2 0,20 0 0,-20 0 0,19 0 0,-19 0 0,17-2 0,-17 2 0,16-1 1,-16 1-2,15-5 1,-15 5 0,0 0 0,20-6 0,-20 6 0,15-3 0,-15 3 0,18 0 0,-18 0 1,17-3-1,-17 3 0,21-3 0,-21 3 0,23-5 0,-23 5-1,19-7 1,-19 7 0,21-5 0,-21 5 0,26-8 0,-26 8 0,25-9 0,-10 7 0,0-2 0,2 2 1,-2-5-1,-15 7 0,27-8 0,-12 2 0,-15 6-1,28-12 1,-28 12 0,29-15 0,-14 8 0,-15 7 0,28-17 1,-13 8-1,-15 9 0,24-12 0,-24 12 0,18-9 0,-18 9 0,0 0 0,18-8 0,-18 8 0,0 0 0,0 0 0,0 0 0,18-4 0,-18 4 0,0 0 0,19-5 0,-19 5 0,20-12 0,-20 12 0,18-13 0,-18 13 0,22-15 0,-22 15 0,24-18 0,-7 11 1,-2-1-2,1-2 1,2 0 0,2-1 0,-2 0 0,3 1 0,-3-2 1,-2-2-1,1 0 0,-2 4 0,0-3-1,0 1 2,-2-1-2,2 2 1,-1-1 0,4 1 0,-3 2 0,1-1 0,1 2 0,-3 0 0,1 3 0,0 0 0,0 2 0,-15 3 0,23-9 0,-23 9 0,16-10 0,-16 10 1,17-12-1,-17 12 0,13-12 0,-13 12 1,17-11-1,-17 11-1,21-12 1,-21 12 0,19-11 0,-19 11 0,26-12 0,-26 12 0,21-16 0,-21 16 0,21-14 0,-21 14 0,24-14 0,-24 14 0,22-14 0,-7 9 0,-15 5-1,29-14 2,-14 3 0,0 7 0,0-6 1,3 4-2,-18 6 2,25-19-3,-25 19 2,26-16-1,-26 16-1,22-15 0,-22 15 0,21-13 1,-21 13-1,23-10 2,-23 10-1,22-11-1,-22 11 1,19-12 0,-19 12 0,20-11 0,-20 11 0,18-13 0,-18 13-1,17-14 1,-17 14 0,18-15 1,-18 15-1,18-16 0,-18 16 0,18-17 1,-18 17-1,20-13 0,-20 13 0,20-14-1,-20 14 1,18-17 0,-18 17 0,20-16 0,-20 16 0,16-17 0,-16 17 0,18-16 1,-18 16-1,18-12 0,-18 12-1,18-11 1,-18 11 0,15-11 0,-15 11 0,18-14 0,-18 14 0,18-15 0,-18 15 0,15-18 0,-15 18 0,15-13 0,-15 13 0,17-14 0,-17 14 0,14-14 0,-14 14 0,15-13 0,-15 13 0,18-12 0,-18 12 0,20-16 0,-20 16 0,20-19 0,-20 19 0,25-19 0,-25 19 0,24-23-1,-10 11 2,-3 1-1,6-1 0,-4-1 0,3-1 0,1-3 1,-3 3-2,3-1 2,-1 4-2,-1-3 1,0 2 0,-2-1 0,0 1 0,-13 12 0,24-18 0,-24 18 0,21-20 0,-21 20 0,18-19 0,-18 19 0,18-20 1,-18 20-1,17-21 2,-17 21-3,16-19 1,-16 19 0,17-21 1,-17 21-2,14-15 0,-14 15 0,14-16 0,-9 3 0,-5 13 1,9-22 0,-9 22-1,7-18 1,-7 18 0,10-21 1,-5 10-2,-5 11 2,13-17-1,-13 17 0,13-17 0,-13 17-1,13-19 1,-13 19 0,12-19 0,-12 19 0,10-16 1,-10 16-1,8-15 0,-8 15 0,0 0 0,17-14 0,-17 14 0,14-10 0,-14 10 0,15-7 0,-15 7 0,0 0 0,20-11 0,-20 11 0,0 0 0,16-10 0,-16 10 0,0 0 0,19-10 0,-19 10 1,0 0-2,18-9 1,-18 9 1,0 0-1,18-10 0,-18 10 0,15-6 0,-15 6-1,13-13 1,-13 13 0,13-14 0,-13 14 0,20-15 0,-10 4 0,0-2 1,-10 13-1,24-15 0,-24 15 0,23-18 0,-23 18 0,27-18-1,-27 18 1,26-16 0,-26 16 0,25-18 0,-12 6 0,2 1 0,-15 11 0,24-19 0,-10 9 0,-14 10 0,21-17 1,-21 17-2,20-10 1,-20 10 0,20-13 0,-20 13 0,14-11 0,-14 11 0,19-11 0,-19 11 1,19-12-1,-19 12 0,18-12 0,-18 12 0,19-12 0,-19 12-1,19-9 2,-19 9-1,18-9 0,-18 9 0,19-9 0,-19 9 0,18-9 0,-18 9 0,16-10 0,-16 10 0,18-9 0,-18 9 1,20-10-1,-20 10 0,21-7 0,-21 7 0,20-9 1,-20 9-1,20-6 0,-20 6 0,18-9 0,-18 9 0,20-11 0,-20 11 0,20-10 0,-20 10 1,23-18-1,-23 18 0,24-13 1,-24 13-1,25-17 0,-25 17 1,25-10-1,-25 10-1,25-9 1,-25 9 0,23-5 1,-23 5-1,26-3 0,-26 3-1,23-3 0,-23 3 1,25-6-2,-25 6 1,26-5 0,-26 5 0,22-7 0,-22 7 1,21-6 0,-21 6 0,21-6 1,-21 6-1,19-6 0,-19 6 0,18-1 0,-18 1 0,21-1 1,-21 1-1,18 1 0,-18-1 0,22 1 1,-22-1-1,21-6 0,-21 6 0,20-6 0,-20 6 0,20-10 0,-20 10 0,16-8 0,-16 8 0,18-3 0,-18 3 0,15-3 0,-15 3 0,16 0 0,-16 0 0,19 0 0,-19 0 0,19-6 0,-19 6 0,22-7 0,-22 7 0,21-4 1,-21 4-1,20-4 0,-20 4 0,18 0 0,-18 0 0,17 2 0,-17-2 0,0 0 0,19-4 0,-19 4 0,0 0 0,0 0 0,15-4 1,-15 4-1,0 0 0,0 0 1,20 0-1,-20 0 0,0 0 0,21 6 0,-21-6 0,15-2 0,-15 2 0,14-4-1,-14 4 2,17-7-2,-17 7 1,19-5 0,-19 5 0,21-1 0,-21 1 1,21 2-1,-21-2 0,20 4 0,-20-4 1,15 7-1,-15-7 0,0 0 0,18 6 0,-18-6 0,0 0 0,0 0 0,16 4 1,-16-4-1,0 0 0,0 0 0,15 9 1,-15-9-1,0 0 1,12 11-1,-12-11 0,0 0 0,9 11 0,-9-11 0,0 0 0,0 0 0,15 15 0,-15-15 0,0 0 1,15 10 1,-15-10-2,0 0 1,21 12-1,-21-12 1,15 5-1,-15-5 0,16 4 0,-16-4-1,0 0 1,18 3-1,-18-3 1,0 0 0,15 2 1,-15-2-1,0 0 0,16 1-1,-16-1 1,0 0 1,0 0-2,17 1 1,-17-1 0,0 0 2,0 0-2,16 4 0,-16-4 0,0 0 2,16 2-3,-16-2 2,15 2-2,-15-2 0,15 0 1,-15 0 2,17-2-2,-17 2-1,16-1 1,-16 1 0,16-6 0,-16 6 2,17-4-3,-17 4 0,15-6 0,-15 6 1,16-5 0,-16 5 0,20 0 0,-20 0-1,16-3 1,-16 3 0,18 0 1,-18 0-1,0 0-1,18 4 1,-18-4 0,0 0 0,0 0 0,18-1 0,-18 1 0,0 0 2,18 3-2,-18-3 1,18 3-2,-18-3 1,15-3 0,-15 3 0,21-3 0,-21 3-2,15-5 2,-15 5 0,18-6 0,-18 6 0,15-3 0,-15 3 0,15-2 0,-15 2 0,0 0 0,21-4 0,-21 4 0,15-4-1,-15 4 1,18-7 0,-18 7 0,18-7 0,-18 7 0,20-7 0,-20 7 0,18-6 1,-18 6-1,19-3 0,-19 3 0,21-3 0,-21 3 0,21-2 0,-21 2 1,18-1-1,-18 1 0,18 0 0,-18 0 0,19 0 1,-19 0-2,21 1 1,-21-1 0,18 5 0,-18-5 0,21 3 0,-21-3 0,18 4 0,-18-4 0,18 2 0,-18-2 0,21 2-1,-21-2 1,21 4 0,-21-4 0,24 1 0,-24-1 0,24 2 0,-24-2 1,26 5-1,-26-5 0,25 10 0,-25-10 0,29 12 0,-29-12 0,25 18 0,-10-10 0,0 5 1,0 2-1,0-2 2,2 1-2,-3 4 2,3-1-2,-1 2 1,-1-1-1,0-1 0,2-1 0,-2 4 0,0-3 0,0 1 0,0-1 0,6-3 0,-6 1 0,3-4 0,1-1 0,-1-3 0,-3-1 0,0 0 0,2 0 0,-17-6 0,24 12 1,-24-12-2,22 16 2,-22-16-2,23 23 1,-13-12 0,2 2 0,2 0 0,-2 1-1,-2-3 1,-10-11 0,21 17 0,-21-17 0,19 14 0,-19-14 0,18 12 1,-18-12-1,17 14 0,-17-14 0,18 21 0,-9-7 0,-9-14-1,21 21 2,-14-9-2,2 0 1,-9-12 0,18 20 1,-18-20-1,14 17 0,-14-17 0,12 16 0,-12-16 0,12 16 0,-12-16 0,16 21 0,-8-10 0,4 0 0,-2 1 0,-2-1 0,4 1 0,0 0 0,-3 0 0,1 0 0,1 0 0,-5 0 1,3-1-1,-2-1 0,-2 3 1,1 1 0,1-3-1,-2 1 1,1 1 0,0-1 0,-6-12 0,16 23-1,-16-23 0,17 19 0,-17-19 2,18 19-2,-18-19 0,15 11 0,-15-11 2,15 11-4,-15-11 2,16 11 0,-16-11 0,19 5 0,-19-5 0,23 12-1,-23-12 1,22 12 1,-22-12-2,23 15 2,-23-15-1,25 20 0,-14-9 0,2 0 0,1 2 2,-1 3-2,1 0 0,-2 0 0,1-3 0,-1 4 0,-1-2 0,-1 1 1,1 1-1,-2-2 1,0 0-1,0 0 0,-9-15 1,18 20-1,-18-20 0,13 14 0,-13-14 0,17 17 0,-17-17 0,16 19 0,-7-8 0,-1 0 0,1 2 0,-9-13 0,16 19 0,-16-19 0,20 16 0,-20-16 0,22 10 0,-22-10 0,26 9 0,-12-5 0,-14-4 0,28 8 0,-28-8 0,26 12 0,-26-12 0,27 18 0,-17-8 0,1 1 0,1 2 0,-3-1 0,3 0 1,-12-12-1,18 19 0,-18-19 0,20 13 0,-20-13 1,16 12-1,-16-12 0,15 13 0,-15-13 0,15 17 0,-15-17 0,15 18 0,-9-5-1,2 1 2,-1-1-1,1-2 1,-2 7-2,3-5 2,-3 1-1,3 3 1,-2-3-1,1 0 0,-1-1 1,1 1-1,1-1-1,-2-1 1,2-1 0,0 1 0,3-1 0,-1 2 0,4 0 0,0-3 0,0 2 0,-2 3 1,0-1-1,-1-2 0,-1 0 0,1 0 0,-12-12 0,20 22 1,-20-22-1,21 14 0,-6-8 0,-15-6 0,28 18 0,-12-11 0,-1 4 0,2-2 0,1 2-1,0-2 1,0 1 0,2 1 1,-4-1-1,2-2 0,1 1 0,-1 1 0,-3-3-1,1 3 1,0-3 0,-1-2 0,3 2-1,-3-1 1,0 2 0,3 0 0,2 0 1,-2 1-1,-1 0 0,1 3 0,-2-3 1,1 1-1,-17-10 0,23 16 0,-23-16 0,18 15 0,-18-15 0,15 10-1,-15-10 2,16 9-2,-16-9 1,20 12 0,-20-12 1,23 15-1,-23-15 0,25 18 0,-25-18-1,24 18 1,-24-18 0,25 15 0,-25-15-1,20 10 1,-20-10 0,18 7 1,-18-7 0,16 9-1,-16-9-1,15 11 1,-15-11-1,15 18 1,-15-18 0,15 18-1,-15-18 1,10 15 0,-10-15 0,0 0 0,15 13 0,-15-13 0,0 0 0,0 0 0,0 0-1,18 6 1,-18-6 0,0 0 0,15 9 0,-15-9 1,10 11-1,-10-11 0,16 15 0,-8-4 0,-8-11 0,20 19 1,-20-19-2,20 15 1,-20-15 0,23 10 0,-23-10 0,23 2 0,-23-2 0,23 0 0,-23 0 1,21 0-1,-21 0 1,19 3-1,-19-3 0,16 10 0,-16-10 0,16 10 0,-16-10 0,19 10-1,-19-10 2,18 6-2,-18-6 1,16 0 0,-16 0 0,18-2-1,-18 2 2,17-4-1,-17 4 0,20-2 0,-20 2 0,19-1 0,-19 1 0,20-1 1,-20 1-1,18 1-1,-18-1 2,17-1-2,-17 1 1,0 0 0,19-5 0,-19 5 0,0 0 0,20-5 0,-20 5 0,15-1 1,-15 1-2,0 0 1,20 2 0,-20-2 0,0 0 0,20 5 0,-20-5-1,0 0 1,21 2 0,-21-2 0,16-6 1,-16 6-1,25-5 0,-25 5 0,27-8 0,-11 4 1,2-2-1,0 2 0,0-1-1,1-1 1,-3 2 0,-1-2 0,1 3-1,-16 3 1,23-8 1,-23 8-1,20-10 0,-20 10-1,20-9 1,-20 9 0,20-8 0,-20 8 1,19-4-1,-19 4 0,22-2 0,-22 2 0,23 4 0,-23-4 1,25 6-2,-25-6 1,24 4 0,-24-4 0,22 2 1,-22-2-2,21 1 2,-21-1-1,22-1 0,-22 1 0,23 4 0,-23-4 0,26 9 0,-11-6 0,1 3 0,2 0-1,-1 0 1,-1 0 0,-1-3 0,0-2 0,0 1 0,0-1 0,-15-1 0,21-4 0,-21 4 0,18-5 0,-18 5 0,20-1 0,-20 1 0,20 1 0,-20-1 0,21 4 0,-21-4 0,25 7 0,-25-7 0,27 12 0,-12-3 0,0-1 0,2 2 1,0-1-2,-1-1 2,0-2-1,-1-1 0,0-3 0,0-1 0,0-2 0,-15 1 0,26-3 0,-26 3-1,25-4 1,-25 4 0,25-2 0,-25 2 0,24 2 1,-24-2-1,23 4 0,-23-4 0,23 4 0,-23-4 0,20 4 0,-20-4-1,15 1 1,-15-1 0,0 0 0,21 4 0,-21-4 0,20 8 1,-20-8-1,28 11 1,-11-7-1,-1 2 0,2-2 0,0-2 0,-1-2 0,-2-3 0,1 0 0,-16 3 0,24-10 0,-24 10-1,26-13 2,-26 13-2,24-10 1,-24 10 0,27-3 0,-12 0 0,-15 3 0,28 0 1,-14 0-1,-14 0 0,27 0 0,-12-2 0,-15 2 1,24 1-2,-24-1 1,27-2 0,-27 2 0,28-4 0,-14 2 0,3 2 0,-2-3-1,0 2 2,0-1-1,0 2 0,-15 0 0,27 0 0,-27 0 0,20 0 0,-20 0 0,16 2-1,-16-2 1,17 1 0,-17-1 0,0 0 0,19 0 0,-19 0 0,21-3 0,-21 3 0,15-4 0,-15 4 0,18-5 0,-18 5 0,24-6 0,-24 6 0,27-6 0,-12 2 0,0 0 0,2 1-1,-2 0 1,1-1 0,-1-1 0,0 1 0,0 0 0,0-3 0,-15 7 0,26-10 0,-26 10 0,22-9 0,-22 9 1,18-10-1,-18 10 0,0 0 0,18-8 0,-18 8 0,0 0 0,0 0 0,0 0 0,18-11 0,-18 11 0,0 0 0,16-7 0,-16 7 0,15-9 0,-15 9 0,17-21-1,-10 8 2,4 1-2,-1-3 2,2 0-2,3-1 2,2 1-2,-1 2 1,2 4 1,3-1-2,0-1 1,0 4 0,0-1 0,-3 2 0,3 2 0,-1-2 0,-2 1 0,0-1 0,-2 2 1,-1-2-1,0-1 0,-15 7-1,24-14 1,-24 14 0,24-14-1,-24 14 1,19-15 0,-19 15 0,20-16 0,-20 16 0,15-20 1,-9 10-1,0-2 0,0 1-1,-2-1 1,1-3 0,1 4 0,0-3-1,0 2 1,0 1-1,0 0 2,3 0-1,-9 11 0,16-18 0,-7 6 0,0 1 0,2-2 0,-2-1 0,0 0 0,1-3-1,-2 0 1,-1 0 0,2 0 0,-3 2 0,0 0 0,3 0 0,-6 0 0,0 2 0,2-3 0,-2 1 0,-2-4-1,2 1 1,-1-4 1,2 0-1,1 2 1,1-4-1,1-1 0,1 0 1,-1 2-1,1 0 1,-4 2-2,2 1 0,2-2 1,-1 4 0,-2 1 0,1 4 0,1 1 0,4-1 0,-11 13 0,18-18 0,-18 18 0,22-11 0,-22 11 0,19-10 0,-19 10 0,18-12-1,-18 12 1,17-21 0,-10 6 0,5 0 0,-1-1 0,4-3 0,-3-2 0,1-2 0,1 0 0,1-2 0,-3 2 1,-3-4-2,0 2 2,-3 1-2,-5 0 2,1 1-2,-2 1 2,-3 1-2,1 0 1,-2 2 0,1-2-1,0 4 1,1-1-1,1 2 2,1-3-2,0 4 2,1-2-2,1 1 1,-1 1 0,-1 0-1,0 0 1,0-3-1,0 1 1,-1 1-2,-1 1 2,1-3 0,-1 1 0,2-2 0,2 1 2,-1 2-4,2 0 2,2 1 0,1 1 0,0 0 0,3 3 2,-2 0-2,4 0-2,-4-1 2,-7 12 2,23-25-2,-14 9 0,1 0 0,-2-3-2,2-2 2,1 1 0,-4 1 0,-1 0 0,2 2 0,-2 2 0,0 3 0,-6 12 0,12-16 0,-12 16 2,6-14-2,-6 14 0,6-11 0,-6 11 0,1-11 0,-1 11-2,3-18 2,-3 18 0,8-17 2,-8 17-2,12-18 0,-12 18 0,24-18 0,-24 18 0,27-14 0,-9 10 0,-2-5 0,2 0 0,-18 9 0,27-18 0,-12 8 0,1-1 1,-2-4-1,2-1-1,1 1 1,-2 1-2,0 2 2,0 0-1,0 0 2,-15 12-2,25-18 1,-25 18 1,20-9-1,-20 9 0,18-9 0,-18 9 2,15-1-2,-15 1-2,15-2 4,-15 2-4,18-3 4,-18 3-4,18-1 4,-18 1-4,21-4 4,-21 4-2,21 2 0,-21-2 0,22 3 0,-7-2 0,-15-1-2,32-2 2,-16 2 0,4-2 0,-1-1-1,3-1 1,-2-1 1,1 0-1,4 3 0,-2 0 2,0 0-2,0 2 0,3 2 1,-4 0-1,4 3 0,-2-2 0,0 1 1,0-1-2,0-2 1,-5-2 0,4-2 0,-2-2 0,-2-2 0,1 1 0,0-3 0,-2-2-1,0 2 2,3-2-1,-3 3 0,4 3 0,-1 0 0,-1-2 1,1 4-2,2 2 2,1-1-1,-3 2 0,0-2 0,1-2-1,1 1 1,-2-1 0,2-1 1,-1 2-1,2 0 0,0 0 1,-1 1-1,-2 4 0,4 4 1,-4-2-2,-1 4 1,0-1 0,-2-2 0,2 1 0,-2-1 0,0-4 0,-18-1 0,29-1 0,-14 0 0,0 0 0,0 1 0,-15 0 0,26 2 0,-26-2 0,28 5 0,-13-1 0,0-2 0,-15-2 0,26 5 0,-11-1 0,-15-4 0,25 1 0,-10-1 0,0 0 0,-1 2 0,3-3 0,-2 2 1,1-2-1,1 0 0,-1 2 1,-16-1-2,25 0 1,-25 0 0,20-1 0,-20 1-1,16 0 1,-16 0-1,0 0 0,18-2 0,-18 2-2,0 0-2,18-10-3,-23-3-13,5 13-11,0 0-2,4-10 2,-4 10-1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1700705-A3CD-4DB7-BF22-3BD2268F0047}" type="slidenum">
              <a:rPr lang="en-US" sz="1200" smtClean="0"/>
              <a:pPr/>
              <a:t>4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8500"/>
            <a:ext cx="4545012" cy="3408363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87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1700705-A3CD-4DB7-BF22-3BD2268F0047}" type="slidenum">
              <a:rPr lang="en-US" sz="1200" smtClean="0"/>
              <a:pPr/>
              <a:t>5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8500"/>
            <a:ext cx="4545012" cy="3408363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8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DC1D037-2DB6-4104-B01E-42E6C6486759}" type="slidenum">
              <a:rPr lang="en-US" sz="1200" smtClean="0"/>
              <a:pPr/>
              <a:t>6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8500"/>
            <a:ext cx="4545012" cy="3408363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75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9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86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8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80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6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9038" y="698500"/>
            <a:ext cx="4545012" cy="3408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code sends or receives a byte of data, performing busy waiting as needed. Each</a:t>
            </a:r>
            <a:r>
              <a:rPr lang="en-US" baseline="0" dirty="0"/>
              <a:t> function blocks as needed: the transmit function does not return until it has been able to send its byte. The receive function does not return until it has a byte. If no data is ever received, then this function will never return and the program will be stuck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6131A-8D2F-46B1-A987-0CE752F88A6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6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8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8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UART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Chapter 38)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16860A-B2FE-88A4-5442-000AD1C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D06690-20D4-5527-26DD-E2A0FB32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8 – UART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9B28C-29CC-34C1-E4FF-9D7E68269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1E71-4AE7-D35A-572E-190C3CA3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434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ECEDF8-692B-D786-468B-3B4147FC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96D610-E9F6-5571-36FE-E19E8C39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Universal Asynchronous Receiver Transmitter (UART) is one of the oldest and most common serial transmission technologies:</a:t>
            </a:r>
          </a:p>
          <a:p>
            <a:pPr lvl="1"/>
            <a:r>
              <a:rPr lang="en-SG" dirty="0"/>
              <a:t>Serial – Data is sent one bit at a time.</a:t>
            </a:r>
          </a:p>
          <a:p>
            <a:pPr lvl="1"/>
            <a:r>
              <a:rPr lang="en-SG" dirty="0"/>
              <a:t>Asynchronous – There is no clocking signal coordinating the sender and receiver.</a:t>
            </a:r>
          </a:p>
          <a:p>
            <a:pPr lvl="2"/>
            <a:r>
              <a:rPr lang="en-SG" dirty="0"/>
              <a:t>Instead the sender signals the receiver that it is about to transmit.</a:t>
            </a:r>
          </a:p>
          <a:p>
            <a:pPr lvl="2"/>
            <a:r>
              <a:rPr lang="en-SG" dirty="0"/>
              <a:t>The transmitter then sends data at an agreed data rate, and the receiver samples (reads) the data at the same agreed data 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F3803-E1BB-1267-7B94-B83EBE3E8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D74C-20F4-0C9A-AF7C-72D16641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258492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61115" y="250857"/>
            <a:ext cx="8372181" cy="4321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Transmitter Basics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3791682"/>
            <a:ext cx="8839201" cy="2609118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800" dirty="0"/>
              <a:t>If no data to send, keep sending 1 (stop bit) – </a:t>
            </a:r>
            <a:r>
              <a:rPr lang="en-US" sz="2800" i="1" dirty="0"/>
              <a:t>idle line</a:t>
            </a:r>
            <a:endParaRPr lang="en-US" sz="2800" dirty="0"/>
          </a:p>
          <a:p>
            <a:pPr>
              <a:spcBef>
                <a:spcPct val="0"/>
              </a:spcBef>
            </a:pPr>
            <a:r>
              <a:rPr lang="en-US" sz="2800" dirty="0"/>
              <a:t>When there is a data word to send</a:t>
            </a:r>
          </a:p>
          <a:p>
            <a:pPr lvl="1">
              <a:spcBef>
                <a:spcPct val="0"/>
              </a:spcBef>
            </a:pPr>
            <a:r>
              <a:rPr lang="en-US" sz="2000" dirty="0"/>
              <a:t>Send a 0 (start bit) to indicate the start of a word</a:t>
            </a:r>
          </a:p>
          <a:p>
            <a:pPr lvl="1">
              <a:spcBef>
                <a:spcPct val="0"/>
              </a:spcBef>
            </a:pPr>
            <a:r>
              <a:rPr lang="en-US" sz="2000" dirty="0"/>
              <a:t>Send each data bit in the word (use a shift register for the </a:t>
            </a:r>
            <a:r>
              <a:rPr lang="en-US" sz="2000" i="1" dirty="0"/>
              <a:t>transmit buffer</a:t>
            </a:r>
            <a:r>
              <a:rPr lang="en-US" sz="2000" dirty="0"/>
              <a:t>)</a:t>
            </a:r>
          </a:p>
          <a:p>
            <a:pPr lvl="1">
              <a:spcBef>
                <a:spcPct val="0"/>
              </a:spcBef>
            </a:pPr>
            <a:r>
              <a:rPr lang="en-US" sz="2000" dirty="0"/>
              <a:t>Send a 1 (stop bit) to indicate the end of the word 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254120"/>
              </p:ext>
            </p:extLst>
          </p:nvPr>
        </p:nvGraphicFramePr>
        <p:xfrm>
          <a:off x="3124200" y="1138485"/>
          <a:ext cx="4761979" cy="845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762440" imgH="1127880" progId="Paint.Picture">
                  <p:embed/>
                </p:oleObj>
              </mc:Choice>
              <mc:Fallback>
                <p:oleObj name="Bitmap Image" r:id="rId3" imgW="4762440" imgH="1127880" progId="Paint.Picture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38485"/>
                        <a:ext cx="4761979" cy="845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/>
          <p:cNvSpPr txBox="1">
            <a:spLocks noChangeArrowheads="1"/>
          </p:cNvSpPr>
          <p:nvPr/>
        </p:nvSpPr>
        <p:spPr bwMode="auto">
          <a:xfrm rot="5400000">
            <a:off x="2892754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3682311" y="1024140"/>
            <a:ext cx="591830" cy="55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501">
                <a:latin typeface="Arial" charset="0"/>
              </a:rPr>
              <a:t>Data</a:t>
            </a:r>
          </a:p>
          <a:p>
            <a:pPr algn="ctr"/>
            <a:r>
              <a:rPr lang="en-US" sz="1501">
                <a:latin typeface="Arial" charset="0"/>
              </a:rPr>
              <a:t>bits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333096" y="1468120"/>
            <a:ext cx="1931194" cy="5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US" sz="1351" dirty="0">
                <a:latin typeface="Arial" charset="0"/>
              </a:rPr>
              <a:t>Data Sampling Time at Receiver</a:t>
            </a: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2805062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327198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37482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029049" y="928852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47007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51960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>
            <a:off x="56532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61104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6596209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708198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7558234" y="1607774"/>
            <a:ext cx="0" cy="800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 Box 13"/>
          <p:cNvSpPr txBox="1">
            <a:spLocks noChangeArrowheads="1"/>
          </p:cNvSpPr>
          <p:nvPr/>
        </p:nvSpPr>
        <p:spPr bwMode="auto">
          <a:xfrm rot="5400000">
            <a:off x="2439444" y="3202490"/>
            <a:ext cx="7628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>
                <a:solidFill>
                  <a:schemeClr val="accent2"/>
                </a:solidFill>
                <a:latin typeface="Arial" charset="0"/>
              </a:rPr>
              <a:t>Time Zero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 rot="5400000">
            <a:off x="3833495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 rot="5400000">
            <a:off x="4303867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 rot="5400000">
            <a:off x="4774237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8" name="Text Box 13"/>
          <p:cNvSpPr txBox="1">
            <a:spLocks noChangeArrowheads="1"/>
          </p:cNvSpPr>
          <p:nvPr/>
        </p:nvSpPr>
        <p:spPr bwMode="auto">
          <a:xfrm rot="5400000">
            <a:off x="5244608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 rot="5400000">
            <a:off x="5714980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 rot="5400000">
            <a:off x="6185350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 rot="5400000">
            <a:off x="6655722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2" name="Text Box 13"/>
          <p:cNvSpPr txBox="1">
            <a:spLocks noChangeArrowheads="1"/>
          </p:cNvSpPr>
          <p:nvPr/>
        </p:nvSpPr>
        <p:spPr bwMode="auto">
          <a:xfrm rot="5400000">
            <a:off x="7126093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 rot="5400000">
            <a:off x="7596460" y="2567631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5" name="Text Box 13"/>
          <p:cNvSpPr txBox="1">
            <a:spLocks noChangeArrowheads="1"/>
          </p:cNvSpPr>
          <p:nvPr/>
        </p:nvSpPr>
        <p:spPr bwMode="auto">
          <a:xfrm rot="5400000">
            <a:off x="3363125" y="2587489"/>
            <a:ext cx="360996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50" i="1" dirty="0" err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sz="1050" i="1" baseline="-25000" dirty="0" err="1">
                <a:solidFill>
                  <a:schemeClr val="accent2"/>
                </a:solidFill>
                <a:latin typeface="Arial" charset="0"/>
              </a:rPr>
              <a:t>bit</a:t>
            </a:r>
            <a:endParaRPr lang="en-US" sz="1050" i="1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646412-04B7-2F4C-F2C8-49995B29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A4DE0-9249-6794-044D-121339421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Receiver Basics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927801"/>
            <a:ext cx="8839201" cy="365238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dirty="0"/>
              <a:t>Wait for a falling edge (beginning of a Start bit)</a:t>
            </a:r>
          </a:p>
          <a:p>
            <a:pPr lvl="1">
              <a:spcBef>
                <a:spcPct val="0"/>
              </a:spcBef>
            </a:pPr>
            <a:r>
              <a:rPr lang="en-US" dirty="0"/>
              <a:t>Then wait ½ bit time </a:t>
            </a:r>
          </a:p>
          <a:p>
            <a:pPr lvl="1">
              <a:spcBef>
                <a:spcPct val="0"/>
              </a:spcBef>
            </a:pPr>
            <a:r>
              <a:rPr lang="en-US" dirty="0"/>
              <a:t>Do the following for as many data bits in the word</a:t>
            </a:r>
          </a:p>
          <a:p>
            <a:pPr lvl="5">
              <a:spcBef>
                <a:spcPct val="0"/>
              </a:spcBef>
            </a:pPr>
            <a:r>
              <a:rPr lang="en-US" sz="1351" dirty="0"/>
              <a:t>Wait 1 bit time</a:t>
            </a:r>
          </a:p>
          <a:p>
            <a:pPr lvl="5">
              <a:spcBef>
                <a:spcPct val="0"/>
              </a:spcBef>
            </a:pPr>
            <a:r>
              <a:rPr lang="en-US" sz="1351" dirty="0"/>
              <a:t>Read the data bit and shift it into a </a:t>
            </a:r>
            <a:r>
              <a:rPr lang="en-US" sz="1351" i="1" dirty="0"/>
              <a:t>receive buffer </a:t>
            </a:r>
            <a:r>
              <a:rPr lang="en-US" sz="1351" dirty="0"/>
              <a:t>(shift register)</a:t>
            </a:r>
          </a:p>
          <a:p>
            <a:pPr lvl="1">
              <a:spcBef>
                <a:spcPct val="0"/>
              </a:spcBef>
            </a:pPr>
            <a:r>
              <a:rPr lang="en-US" dirty="0"/>
              <a:t>Wait 1 bit time</a:t>
            </a:r>
          </a:p>
          <a:p>
            <a:pPr lvl="1">
              <a:spcBef>
                <a:spcPct val="0"/>
              </a:spcBef>
            </a:pPr>
            <a:r>
              <a:rPr lang="en-US" dirty="0"/>
              <a:t>Read the bit</a:t>
            </a:r>
          </a:p>
          <a:p>
            <a:pPr lvl="5">
              <a:spcBef>
                <a:spcPct val="0"/>
              </a:spcBef>
            </a:pPr>
            <a:r>
              <a:rPr lang="en-US" sz="1351" dirty="0"/>
              <a:t>if 1 (Stop bit), then OK</a:t>
            </a:r>
          </a:p>
          <a:p>
            <a:pPr lvl="5">
              <a:spcBef>
                <a:spcPct val="0"/>
              </a:spcBef>
            </a:pPr>
            <a:r>
              <a:rPr lang="en-US" sz="1351" dirty="0"/>
              <a:t>if 0, there’s a problem!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4800" y="975360"/>
            <a:ext cx="8229600" cy="2204107"/>
            <a:chOff x="304800" y="974725"/>
            <a:chExt cx="8229600" cy="2937661"/>
          </a:xfrm>
        </p:grpSpPr>
        <p:graphicFrame>
          <p:nvGraphicFramePr>
            <p:cNvPr id="5" name="Object 6"/>
            <p:cNvGraphicFramePr>
              <a:graphicFrameLocks noChangeAspect="1"/>
            </p:cNvGraphicFramePr>
            <p:nvPr/>
          </p:nvGraphicFramePr>
          <p:xfrm>
            <a:off x="2581275" y="985611"/>
            <a:ext cx="5953125" cy="140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3" imgW="5952381" imgH="1409897" progId="Paint.Picture">
                    <p:embed/>
                  </p:oleObj>
                </mc:Choice>
                <mc:Fallback>
                  <p:oleObj name="Bitmap Image" r:id="rId3" imgW="5952381" imgH="1409897" progId="Paint.Picture">
                    <p:embed/>
                    <p:pic>
                      <p:nvPicPr>
                        <p:cNvPr id="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1275" y="985611"/>
                          <a:ext cx="5953125" cy="1409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3"/>
            <p:cNvSpPr txBox="1">
              <a:spLocks noChangeArrowheads="1"/>
            </p:cNvSpPr>
            <p:nvPr/>
          </p:nvSpPr>
          <p:spPr bwMode="auto">
            <a:xfrm rot="5400000">
              <a:off x="3180593" y="3186372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*1.5</a:t>
              </a:r>
            </a:p>
          </p:txBody>
        </p:sp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3734748" y="974725"/>
              <a:ext cx="591830" cy="738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1501">
                  <a:latin typeface="Arial" charset="0"/>
                </a:rPr>
                <a:t>Data</a:t>
              </a:r>
            </a:p>
            <a:p>
              <a:pPr algn="ctr"/>
              <a:r>
                <a:rPr lang="en-US" sz="1501">
                  <a:latin typeface="Arial" charset="0"/>
                </a:rPr>
                <a:t>bits</a:t>
              </a:r>
            </a:p>
          </p:txBody>
        </p:sp>
        <p:sp>
          <p:nvSpPr>
            <p:cNvPr id="8" name="TextBox 14"/>
            <p:cNvSpPr txBox="1">
              <a:spLocks noChangeArrowheads="1"/>
            </p:cNvSpPr>
            <p:nvPr/>
          </p:nvSpPr>
          <p:spPr bwMode="auto">
            <a:xfrm>
              <a:off x="304800" y="2666999"/>
              <a:ext cx="1931194" cy="677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r"/>
              <a:r>
                <a:rPr lang="en-US" sz="1351" dirty="0">
                  <a:latin typeface="Arial" charset="0"/>
                </a:rPr>
                <a:t>Data Sampling Time at Receiver</a:t>
              </a:r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>
              <a:off x="28575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/>
            <p:cNvCxnSpPr/>
            <p:nvPr/>
          </p:nvCxnSpPr>
          <p:spPr bwMode="auto">
            <a:xfrm>
              <a:off x="35814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40386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44958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49911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>
              <a:off x="54864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59436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64008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>
              <a:off x="6886575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737235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7848600" y="1752600"/>
              <a:ext cx="0" cy="1066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Arrow Connector 19"/>
            <p:cNvCxnSpPr/>
            <p:nvPr/>
          </p:nvCxnSpPr>
          <p:spPr bwMode="auto">
            <a:xfrm>
              <a:off x="2857500" y="2362200"/>
              <a:ext cx="7239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 rot="5400000">
              <a:off x="36363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*2.5</a:t>
              </a:r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 rot="5400000">
              <a:off x="40935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*3.5</a:t>
              </a: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 rot="5400000">
              <a:off x="4553681" y="3215298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*4.5</a:t>
              </a:r>
            </a:p>
          </p:txBody>
        </p: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 rot="5400000">
              <a:off x="50841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*5.5</a:t>
              </a: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 rot="5400000">
              <a:off x="55413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*6.5</a:t>
              </a:r>
            </a:p>
          </p:txBody>
        </p:sp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 rot="5400000">
              <a:off x="6001482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*7.5</a:t>
              </a:r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 rot="5400000">
              <a:off x="65319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*8.5</a:t>
              </a: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 rot="5400000">
              <a:off x="6989104" y="3215296"/>
              <a:ext cx="80161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*9.5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 rot="5400000">
              <a:off x="7399073" y="3215296"/>
              <a:ext cx="90203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 err="1">
                  <a:solidFill>
                    <a:schemeClr val="accent2"/>
                  </a:solidFill>
                  <a:latin typeface="Arial" charset="0"/>
                </a:rPr>
                <a:t>T</a:t>
              </a:r>
              <a:r>
                <a:rPr lang="en-US" sz="1050" i="1" baseline="-25000" dirty="0" err="1">
                  <a:solidFill>
                    <a:schemeClr val="accent2"/>
                  </a:solidFill>
                  <a:latin typeface="Arial" charset="0"/>
                </a:rPr>
                <a:t>bit</a:t>
              </a:r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*10.5</a:t>
              </a:r>
            </a:p>
          </p:txBody>
        </p:sp>
        <p:sp>
          <p:nvSpPr>
            <p:cNvPr id="30" name="Text Box 13"/>
            <p:cNvSpPr txBox="1">
              <a:spLocks noChangeArrowheads="1"/>
            </p:cNvSpPr>
            <p:nvPr/>
          </p:nvSpPr>
          <p:spPr bwMode="auto">
            <a:xfrm rot="5400000">
              <a:off x="2312494" y="3196244"/>
              <a:ext cx="101678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050" i="1" dirty="0">
                  <a:solidFill>
                    <a:schemeClr val="accent2"/>
                  </a:solidFill>
                  <a:latin typeface="Arial" charset="0"/>
                </a:rPr>
                <a:t>Time Zero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2857500" y="2438400"/>
              <a:ext cx="117316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2857500" y="2514600"/>
              <a:ext cx="16383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3" name="Straight Arrow Connector 32"/>
            <p:cNvCxnSpPr/>
            <p:nvPr/>
          </p:nvCxnSpPr>
          <p:spPr bwMode="auto">
            <a:xfrm>
              <a:off x="2856011" y="2743200"/>
              <a:ext cx="499258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2857500" y="2671762"/>
              <a:ext cx="4514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D5CCFE-FFD6-0ADC-CC79-037778FD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9EBE53-E293-E656-DE3B-A770A89C3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236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For this to work…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Transmitter and receiver must agree on several things (protocol)</a:t>
            </a:r>
          </a:p>
          <a:p>
            <a:pPr lvl="1"/>
            <a:r>
              <a:rPr lang="en-US" sz="2800" dirty="0"/>
              <a:t>Order of data bits</a:t>
            </a:r>
          </a:p>
          <a:p>
            <a:pPr lvl="1"/>
            <a:r>
              <a:rPr lang="en-US" sz="2800" dirty="0"/>
              <a:t>Number of data bits</a:t>
            </a:r>
          </a:p>
          <a:p>
            <a:pPr lvl="1"/>
            <a:r>
              <a:rPr lang="en-US" sz="2800" dirty="0"/>
              <a:t>What a start bit is (1 or 0) </a:t>
            </a:r>
          </a:p>
          <a:p>
            <a:pPr lvl="1"/>
            <a:r>
              <a:rPr lang="en-US" sz="2800" dirty="0"/>
              <a:t>What a stop bit is (1 or 0)</a:t>
            </a:r>
          </a:p>
          <a:p>
            <a:pPr lvl="1"/>
            <a:r>
              <a:rPr lang="en-US" sz="2800" dirty="0"/>
              <a:t>How long a bit lasts</a:t>
            </a:r>
          </a:p>
          <a:p>
            <a:pPr lvl="2"/>
            <a:r>
              <a:rPr lang="en-US" sz="2800" dirty="0"/>
              <a:t>Transmitter and receiver clocks must be reasonably close in frequency, since the only timing reference is the start of the start bit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80149-739A-F32E-2AB5-A851CA60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F28A6-29E0-502A-E145-809F84EF70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MCXC444 UARTs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LPUART0, LPUART1</a:t>
            </a:r>
          </a:p>
          <a:p>
            <a:pPr lvl="1"/>
            <a:r>
              <a:rPr lang="en-US" dirty="0"/>
              <a:t>Low Power</a:t>
            </a:r>
          </a:p>
          <a:p>
            <a:pPr lvl="1"/>
            <a:r>
              <a:rPr lang="en-US" dirty="0"/>
              <a:t>Can oversample from 4x to 32x</a:t>
            </a:r>
          </a:p>
          <a:p>
            <a:endParaRPr lang="en-US" dirty="0"/>
          </a:p>
          <a:p>
            <a:r>
              <a:rPr lang="en-US" dirty="0"/>
              <a:t>UART2</a:t>
            </a:r>
          </a:p>
          <a:p>
            <a:pPr lvl="1"/>
            <a:r>
              <a:rPr lang="en-US" dirty="0"/>
              <a:t>More basic, fewer features, easier to program.</a:t>
            </a:r>
          </a:p>
          <a:p>
            <a:pPr lvl="1"/>
            <a:r>
              <a:rPr lang="en-US" dirty="0"/>
              <a:t>Supports only 16x oversampling.</a:t>
            </a:r>
          </a:p>
          <a:p>
            <a:pPr lvl="1"/>
            <a:r>
              <a:rPr lang="en-US" dirty="0"/>
              <a:t>Combined with </a:t>
            </a:r>
            <a:r>
              <a:rPr lang="en-US" dirty="0" err="1"/>
              <a:t>FlexIO</a:t>
            </a:r>
            <a:r>
              <a:rPr lang="en-US" dirty="0"/>
              <a:t>, a unit that can emulate various serial interfaces.</a:t>
            </a:r>
          </a:p>
          <a:p>
            <a:pPr lvl="2"/>
            <a:r>
              <a:rPr lang="en-US" dirty="0"/>
              <a:t>UART, I2C, SPI, PWM generation, 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3B2E-BF31-6466-3E0A-3A624394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1DBDE-47C9-3231-786C-DA62DA288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31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Data Oversampling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0"/>
            <a:ext cx="8839201" cy="3715755"/>
          </a:xfrm>
        </p:spPr>
        <p:txBody>
          <a:bodyPr/>
          <a:lstStyle/>
          <a:p>
            <a:r>
              <a:rPr lang="en-US" sz="2400" dirty="0"/>
              <a:t>When receiving, UART </a:t>
            </a:r>
            <a:r>
              <a:rPr lang="en-US" sz="2400" i="1" dirty="0"/>
              <a:t>oversamples</a:t>
            </a:r>
            <a:r>
              <a:rPr lang="en-US" sz="2400" dirty="0"/>
              <a:t> incoming data line </a:t>
            </a:r>
          </a:p>
          <a:p>
            <a:pPr lvl="1"/>
            <a:r>
              <a:rPr lang="en-US" sz="2000" dirty="0"/>
              <a:t>Extra samples allow voting, improving noise immunity</a:t>
            </a:r>
          </a:p>
          <a:p>
            <a:pPr lvl="1"/>
            <a:r>
              <a:rPr lang="en-US" sz="2000" dirty="0"/>
              <a:t>Better synchronization to incoming data, improving noise immunity</a:t>
            </a:r>
          </a:p>
          <a:p>
            <a:endParaRPr lang="en-US" sz="2400" dirty="0"/>
          </a:p>
          <a:p>
            <a:r>
              <a:rPr lang="en-US" sz="2400" dirty="0"/>
              <a:t>LPUART0 and LPUART1 </a:t>
            </a:r>
            <a:r>
              <a:rPr lang="en-US" sz="2400" dirty="0" err="1"/>
              <a:t>rovides</a:t>
            </a:r>
            <a:r>
              <a:rPr lang="en-US" sz="2400" dirty="0"/>
              <a:t> configurable oversampling from 4x to 32x</a:t>
            </a:r>
          </a:p>
          <a:p>
            <a:pPr lvl="1"/>
            <a:r>
              <a:rPr lang="en-US" sz="2000" dirty="0"/>
              <a:t>Put desired oversampling factor minus one into UART0 Control Register 4, OSR bits.</a:t>
            </a:r>
          </a:p>
          <a:p>
            <a:endParaRPr lang="en-US" sz="2400" dirty="0"/>
          </a:p>
          <a:p>
            <a:r>
              <a:rPr lang="en-US" sz="2400" dirty="0"/>
              <a:t>UART2 has fixed 16x oversampling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62000" y="1219200"/>
            <a:ext cx="8001000" cy="971930"/>
            <a:chOff x="1066800" y="1447800"/>
            <a:chExt cx="8001000" cy="1295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1066800" y="1447800"/>
              <a:ext cx="1600200" cy="12954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607" tIns="34303" rIns="68607" bIns="34303" numCol="1" rtlCol="0" anchor="t" anchorCtr="0" compatLnSpc="1">
              <a:prstTxWarp prst="textNoShape">
                <a:avLst/>
              </a:prstTxWarp>
            </a:bodyPr>
            <a:lstStyle/>
            <a:p>
              <a:pPr defTabSz="686074" eaLnBrk="0" hangingPunct="0"/>
              <a:endParaRPr lang="en-US" sz="1801">
                <a:latin typeface="Times New Roman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2667000" y="1447800"/>
              <a:ext cx="1600200" cy="12954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607" tIns="34303" rIns="68607" bIns="34303" numCol="1" rtlCol="0" anchor="t" anchorCtr="0" compatLnSpc="1">
              <a:prstTxWarp prst="textNoShape">
                <a:avLst/>
              </a:prstTxWarp>
            </a:bodyPr>
            <a:lstStyle/>
            <a:p>
              <a:pPr defTabSz="686074" eaLnBrk="0" hangingPunct="0"/>
              <a:endParaRPr lang="en-US" sz="1801">
                <a:latin typeface="Times New Roman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4267200" y="1447800"/>
              <a:ext cx="1600200" cy="12954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607" tIns="34303" rIns="68607" bIns="34303" numCol="1" rtlCol="0" anchor="t" anchorCtr="0" compatLnSpc="1">
              <a:prstTxWarp prst="textNoShape">
                <a:avLst/>
              </a:prstTxWarp>
            </a:bodyPr>
            <a:lstStyle/>
            <a:p>
              <a:pPr defTabSz="686074" eaLnBrk="0" hangingPunct="0"/>
              <a:endParaRPr lang="en-US" sz="1801">
                <a:latin typeface="Times New Roman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867400" y="1447800"/>
              <a:ext cx="1600200" cy="12954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607" tIns="34303" rIns="68607" bIns="34303" numCol="1" rtlCol="0" anchor="t" anchorCtr="0" compatLnSpc="1">
              <a:prstTxWarp prst="textNoShape">
                <a:avLst/>
              </a:prstTxWarp>
            </a:bodyPr>
            <a:lstStyle/>
            <a:p>
              <a:pPr defTabSz="686074" eaLnBrk="0" hangingPunct="0"/>
              <a:endParaRPr lang="en-US" sz="1801">
                <a:latin typeface="Times New Roman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467600" y="1447800"/>
              <a:ext cx="1600200" cy="12954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607" tIns="34303" rIns="68607" bIns="34303" numCol="1" rtlCol="0" anchor="t" anchorCtr="0" compatLnSpc="1">
              <a:prstTxWarp prst="textNoShape">
                <a:avLst/>
              </a:prstTxWarp>
            </a:bodyPr>
            <a:lstStyle/>
            <a:p>
              <a:pPr defTabSz="686074" eaLnBrk="0" hangingPunct="0"/>
              <a:endParaRPr lang="en-US" sz="1801">
                <a:latin typeface="Times New Roman" pitchFamily="18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62000" y="1219200"/>
            <a:ext cx="8001000" cy="971930"/>
            <a:chOff x="838200" y="1447800"/>
            <a:chExt cx="8001000" cy="1295400"/>
          </a:xfrm>
        </p:grpSpPr>
        <p:grpSp>
          <p:nvGrpSpPr>
            <p:cNvPr id="19" name="Group 18"/>
            <p:cNvGrpSpPr/>
            <p:nvPr/>
          </p:nvGrpSpPr>
          <p:grpSpPr>
            <a:xfrm>
              <a:off x="2438400" y="1447800"/>
              <a:ext cx="1600200" cy="1295400"/>
              <a:chOff x="838200" y="1600200"/>
              <a:chExt cx="6400800" cy="1295400"/>
            </a:xfrm>
          </p:grpSpPr>
          <p:sp>
            <p:nvSpPr>
              <p:cNvPr id="14" name="Rectangle 13"/>
              <p:cNvSpPr/>
              <p:nvPr/>
            </p:nvSpPr>
            <p:spPr bwMode="auto">
              <a:xfrm>
                <a:off x="8382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>
                <a:off x="24384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 bwMode="auto">
              <a:xfrm>
                <a:off x="40386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>
                <a:off x="56388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038600" y="1447800"/>
              <a:ext cx="1600200" cy="1295400"/>
              <a:chOff x="838200" y="1600200"/>
              <a:chExt cx="6400800" cy="1295400"/>
            </a:xfrm>
          </p:grpSpPr>
          <p:sp>
            <p:nvSpPr>
              <p:cNvPr id="21" name="Rectangle 20"/>
              <p:cNvSpPr/>
              <p:nvPr/>
            </p:nvSpPr>
            <p:spPr bwMode="auto">
              <a:xfrm>
                <a:off x="8382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 bwMode="auto">
              <a:xfrm>
                <a:off x="24384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40386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56388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638800" y="1447800"/>
              <a:ext cx="1600200" cy="1295400"/>
              <a:chOff x="838200" y="1600200"/>
              <a:chExt cx="6400800" cy="1295400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8382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 bwMode="auto">
              <a:xfrm>
                <a:off x="24384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40386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56388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838200" y="1447800"/>
              <a:ext cx="1600200" cy="1295400"/>
              <a:chOff x="838200" y="1600200"/>
              <a:chExt cx="6400800" cy="1295400"/>
            </a:xfrm>
          </p:grpSpPr>
          <p:sp>
            <p:nvSpPr>
              <p:cNvPr id="31" name="Rectangle 30"/>
              <p:cNvSpPr/>
              <p:nvPr/>
            </p:nvSpPr>
            <p:spPr bwMode="auto">
              <a:xfrm>
                <a:off x="8382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 bwMode="auto">
              <a:xfrm>
                <a:off x="24384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40386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 bwMode="auto">
              <a:xfrm>
                <a:off x="56388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7239000" y="1447800"/>
              <a:ext cx="1600200" cy="1295400"/>
              <a:chOff x="838200" y="1600200"/>
              <a:chExt cx="6400800" cy="1295400"/>
            </a:xfrm>
          </p:grpSpPr>
          <p:sp>
            <p:nvSpPr>
              <p:cNvPr id="36" name="Rectangle 35"/>
              <p:cNvSpPr/>
              <p:nvPr/>
            </p:nvSpPr>
            <p:spPr bwMode="auto">
              <a:xfrm>
                <a:off x="8382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 bwMode="auto">
              <a:xfrm>
                <a:off x="24384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 bwMode="auto">
              <a:xfrm>
                <a:off x="40386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 bwMode="auto">
              <a:xfrm>
                <a:off x="5638800" y="1600200"/>
                <a:ext cx="1600200" cy="1295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607" tIns="34303" rIns="68607" bIns="3430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6074" eaLnBrk="0" hangingPunct="0"/>
                <a:endParaRPr lang="en-US" sz="1801" u="sng">
                  <a:latin typeface="Times New Roman" pitchFamily="18" charset="0"/>
                </a:endParaRP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6" name="Ink 45"/>
              <p14:cNvContentPartPr/>
              <p14:nvPr/>
            </p14:nvContentPartPr>
            <p14:xfrm>
              <a:off x="781991" y="1188264"/>
              <a:ext cx="8084881" cy="1015597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117" y="1176384"/>
                <a:ext cx="8108629" cy="1039358"/>
              </a:xfrm>
              <a:prstGeom prst="rect">
                <a:avLst/>
              </a:prstGeom>
            </p:spPr>
          </p:pic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6FFF6-3BDE-1735-856C-518312AD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EEB613-CF06-7C33-4C71-823EF5AFD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777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9226-0D7F-6C9B-3252-7825D0D3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A0747C-F66F-E1EE-5434-EA69752C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programming uart2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087634-D364-D18D-BA56-9B5584BF8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8 – UART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1B871-F60E-DA74-BBB3-7D406BDD9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A675-4BF8-AF6B-D091-65D9175B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11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098A54-60EB-014C-DF28-79B298C8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Clock Gating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4946BC-E0FF-B051-4ADE-941CAB5C3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As always we start by disabling interrupts, then turn on the clock gating for UART2 in the SIM_SCGC4 register: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We also turn off the transmitter and receiver using the TE and RE bits in UARTx_C2 (see later):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B5929-E1E7-3F33-456A-9C63DFB08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E17D-7B74-F4BE-4332-35D75E619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251CED-2FF4-2798-3B5C-A7F2C2D1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4600"/>
            <a:ext cx="5257800" cy="1617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374A1F-83FB-A32B-461E-1EBE2112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08" y="5655826"/>
            <a:ext cx="7696200" cy="71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4D6A-FE39-6A37-0CC9-DCB15969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Pins to UART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FED2-35E5-7680-55C1-315BE49B8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There are several pins that can be set to be TX and RX pins for UART2. 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We will use PTE22 and PTE23.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21E8-C752-2555-3187-DCB4F9871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4DEA3-6FDF-E137-21FA-547E6512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D5C63-9050-C965-B870-9CB26E35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2027826"/>
            <a:ext cx="4876800" cy="156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7F7B2B-72B4-A865-F0A0-494F1F669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08612"/>
            <a:ext cx="7221160" cy="193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94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46D3-7595-3A68-B80A-64F1A94D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Baud Rate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D3E8-C2AD-7148-A937-403BB035D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4419600" cy="5486400"/>
          </a:xfrm>
        </p:spPr>
        <p:txBody>
          <a:bodyPr/>
          <a:lstStyle/>
          <a:p>
            <a:r>
              <a:rPr lang="en-SG" dirty="0"/>
              <a:t>The baud rate is controlled by the 13-bit divisor SBR[12:0], created using </a:t>
            </a:r>
            <a:r>
              <a:rPr lang="en-SG" dirty="0" err="1"/>
              <a:t>UARTx_BDH</a:t>
            </a:r>
            <a:r>
              <a:rPr lang="en-SG" dirty="0"/>
              <a:t> and </a:t>
            </a:r>
            <a:r>
              <a:rPr lang="en-SG" dirty="0" err="1"/>
              <a:t>UARTx_BDL</a:t>
            </a:r>
            <a:r>
              <a:rPr lang="en-SG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F4D7-CAB8-E9AF-0E9A-974AC61ED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7DCEB-D62C-E882-ADB9-FEDC7E77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9AAC6-78AD-4063-B15F-3C7F03F1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40" y="3886200"/>
            <a:ext cx="8382000" cy="1043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AC4A04-DEAE-69BC-F23D-3A8367BB1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8526929" cy="99060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8C59E52-076A-1EEA-B7A1-1A66E0671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6772" y="2086464"/>
            <a:ext cx="4267200" cy="134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65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6317-B5FE-2409-422E-0FBDEAA3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Baud Rate 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B174E-19BC-A4B7-0A6E-5E4790D7B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To derive the SBR value: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𝑆𝐵𝑅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𝐵𝑢𝑠</m:t>
                          </m:r>
                          <m:r>
                            <m:rPr>
                              <m:lit/>
                            </m:rP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𝐶𝑙𝑜𝑐𝑘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16×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𝐵𝑎𝑢𝑑</m:t>
                          </m:r>
                          <m:r>
                            <m:rPr>
                              <m:lit/>
                            </m:rP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𝑅𝑎𝑡𝑒</m:t>
                          </m:r>
                        </m:den>
                      </m:f>
                    </m:oMath>
                  </m:oMathPara>
                </a14:m>
                <a:endParaRPr lang="en-SG" b="0" dirty="0"/>
              </a:p>
              <a:p>
                <a:endParaRPr lang="en-SG" dirty="0"/>
              </a:p>
              <a:p>
                <a:r>
                  <a:rPr lang="en-SG" dirty="0"/>
                  <a:t>The Bus Clock frequency can be found by calling </a:t>
                </a:r>
                <a:r>
                  <a:rPr lang="en-SG" dirty="0" err="1"/>
                  <a:t>CLOCK_GetBusClkFreq</a:t>
                </a:r>
                <a:r>
                  <a:rPr lang="en-SG" dirty="0"/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B174E-19BC-A4B7-0A6E-5E4790D7B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DB0C4-5CDF-D20C-FE48-F7DEEF064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CED5E-0012-B474-C36D-92263F26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33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1317FD-ABDB-0887-1951-CDA871EA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Baud Rate Generator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B5EF17-D09B-0E55-6FCD-A92B4B5AD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Integer Rounding Trick:</a:t>
            </a:r>
          </a:p>
          <a:p>
            <a:pPr lvl="1"/>
            <a:r>
              <a:rPr lang="en-SG" dirty="0"/>
              <a:t>Integer divisions always round down.</a:t>
            </a:r>
          </a:p>
          <a:p>
            <a:pPr lvl="2"/>
            <a:r>
              <a:rPr lang="en-SG" dirty="0"/>
              <a:t>Issue: 3.75 will round down to 3, leading to big errors.</a:t>
            </a:r>
          </a:p>
          <a:p>
            <a:pPr lvl="1"/>
            <a:r>
              <a:rPr lang="en-SG" dirty="0"/>
              <a:t>Trick:</a:t>
            </a:r>
          </a:p>
          <a:p>
            <a:pPr lvl="2"/>
            <a:r>
              <a:rPr lang="en-SG" dirty="0"/>
              <a:t>Add 0.5 so we always round correctly.</a:t>
            </a:r>
          </a:p>
          <a:p>
            <a:pPr lvl="2"/>
            <a:r>
              <a:rPr lang="en-SG" dirty="0"/>
              <a:t>E.g. 3.1 should be rounded down to 3:</a:t>
            </a:r>
          </a:p>
          <a:p>
            <a:pPr lvl="3"/>
            <a:r>
              <a:rPr lang="en-SG" dirty="0"/>
              <a:t>3.1 + 0.5 = 3.6, which will round down to 3.</a:t>
            </a:r>
          </a:p>
          <a:p>
            <a:pPr lvl="2"/>
            <a:r>
              <a:rPr lang="en-SG" dirty="0"/>
              <a:t>3.6 should be rounded up to 4:</a:t>
            </a:r>
          </a:p>
          <a:p>
            <a:pPr lvl="3"/>
            <a:r>
              <a:rPr lang="en-SG" dirty="0"/>
              <a:t>3.6 + 0.5 = 4.1, which will round down to 4.</a:t>
            </a:r>
          </a:p>
          <a:p>
            <a:r>
              <a:rPr lang="en-SG" dirty="0"/>
              <a:t>However adding 0.5 requires floating point operations.</a:t>
            </a:r>
          </a:p>
          <a:p>
            <a:pPr lvl="1"/>
            <a:r>
              <a:rPr lang="en-SG" dirty="0"/>
              <a:t>MCXC444 only has slow software emulation.</a:t>
            </a:r>
          </a:p>
          <a:p>
            <a:pPr lvl="1"/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11331-6984-C5DB-7285-878046D52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B9D5-0321-4243-8ED9-54D29AAF37EC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A8257-D564-6AC1-2C45-DEB60312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3365289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8740-8B6A-5B7C-DA5C-A5A9D62A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874750-BEE1-9375-B423-F1D953FD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Baud Rate 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D173BEC-AB13-87E5-5165-7F62D415A5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To add 0.5 without using floating point arithmetic:</a:t>
                </a:r>
              </a:p>
              <a:p>
                <a:pPr lvl="1"/>
                <a:r>
                  <a:rPr lang="en-SG" dirty="0"/>
                  <a:t>We add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8×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𝑏𝑎𝑢𝑑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𝑟𝑎𝑡𝑒</m:t>
                    </m:r>
                  </m:oMath>
                </a14:m>
                <a:r>
                  <a:rPr lang="en-SG" dirty="0"/>
                  <a:t> to the numerator to get:</a:t>
                </a:r>
              </a:p>
              <a:p>
                <a:pPr marL="3444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𝑆𝐵𝑅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𝐶𝐿𝐾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+8×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𝐵𝐴𝑈𝐷</m:t>
                          </m:r>
                          <m:r>
                            <m:rPr>
                              <m:lit/>
                            </m:rP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𝑅𝐴𝑇𝐸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16×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𝐵𝐴𝑈𝐷</m:t>
                          </m:r>
                          <m:r>
                            <m:rPr>
                              <m:lit/>
                            </m:rP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𝑅𝐴𝑇𝐸</m:t>
                          </m:r>
                        </m:den>
                      </m:f>
                    </m:oMath>
                  </m:oMathPara>
                </a14:m>
                <a:endParaRPr lang="en-SG" b="0" dirty="0"/>
              </a:p>
              <a:p>
                <a:pPr lvl="1"/>
                <a:r>
                  <a:rPr lang="en-SG" dirty="0"/>
                  <a:t>This is 1 integer addition, 1 integer multiplication followed by 1 integer division – No FP operations.</a:t>
                </a:r>
              </a:p>
              <a:p>
                <a:pPr lvl="1"/>
                <a:endParaRPr lang="en-SG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D173BEC-AB13-87E5-5165-7F62D415A5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9172F-857D-6130-A83F-83556D027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B9D5-0321-4243-8ED9-54D29AAF37EC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61146-D4A3-C8A0-CF14-9609BAA0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8</a:t>
            </a:r>
          </a:p>
        </p:txBody>
      </p:sp>
    </p:spTree>
    <p:extLst>
      <p:ext uri="{BB962C8B-B14F-4D97-AF65-F5344CB8AC3E}">
        <p14:creationId xmlns:p14="http://schemas.microsoft.com/office/powerpoint/2010/main" val="295132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648D-9EDC-03D7-011C-77BF2AD0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Baud Rate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F149A-8621-2518-211B-B4FDCA8BF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Derive the SBR divisor: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Set BDH and BDL</a:t>
            </a:r>
          </a:p>
          <a:p>
            <a:pPr lvl="1"/>
            <a:r>
              <a:rPr lang="en-SG" dirty="0"/>
              <a:t>Note: BDH MUST be written first!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FFEE-5FFC-B529-8B02-E9F77F1BE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6201-1913-9F19-2C56-95544B20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4F22A-4881-0248-F415-DF7C591A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6998"/>
            <a:ext cx="7772400" cy="1488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D889A-8BE1-C24F-3E52-4A9C053F2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90" y="4438897"/>
            <a:ext cx="7530127" cy="196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07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Control Register 1 (UART0_C1)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99898"/>
            <a:ext cx="8839201" cy="3601857"/>
          </a:xfrm>
        </p:spPr>
        <p:txBody>
          <a:bodyPr/>
          <a:lstStyle/>
          <a:p>
            <a:r>
              <a:rPr lang="en-US" sz="2400" dirty="0"/>
              <a:t>LOOPS: Enables loopback/single-pin (TX/RX) mode</a:t>
            </a:r>
          </a:p>
          <a:p>
            <a:r>
              <a:rPr lang="en-US" sz="2400" dirty="0"/>
              <a:t>RSRC: Selects between loopback and single-pin mode</a:t>
            </a:r>
          </a:p>
          <a:p>
            <a:r>
              <a:rPr lang="en-US" sz="2400" dirty="0"/>
              <a:t>M: Select 9-bit data mode (instead of 8-bit data)</a:t>
            </a:r>
          </a:p>
          <a:p>
            <a:r>
              <a:rPr lang="en-US" sz="2400" dirty="0"/>
              <a:t>WAKE: Wakeup method</a:t>
            </a:r>
          </a:p>
          <a:p>
            <a:r>
              <a:rPr lang="en-US" sz="2400" dirty="0"/>
              <a:t>ILT: Idle line type</a:t>
            </a:r>
          </a:p>
          <a:p>
            <a:r>
              <a:rPr lang="en-US" sz="2400" dirty="0"/>
              <a:t>PE: Parity enabled with 1</a:t>
            </a:r>
          </a:p>
          <a:p>
            <a:r>
              <a:rPr lang="en-US" sz="2400" dirty="0"/>
              <a:t>PT: Odd parity with 1, even parity with 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19721-A284-129E-9903-F81D753C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34" y="990600"/>
            <a:ext cx="8402463" cy="124800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CCF4C3-5DCF-9B25-CF98-3223BF54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505ED4-E104-D08C-3D05-CA349B63B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119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Control Register 2 (UART0_C2)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42726"/>
            <a:ext cx="8839201" cy="3487512"/>
          </a:xfrm>
        </p:spPr>
        <p:txBody>
          <a:bodyPr/>
          <a:lstStyle/>
          <a:p>
            <a:r>
              <a:rPr lang="en-US" sz="2000" dirty="0"/>
              <a:t>Interrupt Enables</a:t>
            </a:r>
          </a:p>
          <a:p>
            <a:pPr lvl="1"/>
            <a:r>
              <a:rPr lang="en-US" sz="1800" dirty="0"/>
              <a:t>TIE: Interrupt when Transmit Data Register is empty</a:t>
            </a:r>
          </a:p>
          <a:p>
            <a:pPr lvl="1"/>
            <a:r>
              <a:rPr lang="en-US" sz="1800" dirty="0"/>
              <a:t>TCIE: Interrupt when transmission completes</a:t>
            </a:r>
          </a:p>
          <a:p>
            <a:pPr lvl="1"/>
            <a:r>
              <a:rPr lang="en-US" sz="1800" dirty="0"/>
              <a:t>RIE: Interrupt when receiver has data ready</a:t>
            </a:r>
          </a:p>
          <a:p>
            <a:r>
              <a:rPr lang="en-US" sz="2000" dirty="0"/>
              <a:t>Module Enables (We used these earlier to disable the transmitter and receiver)</a:t>
            </a:r>
          </a:p>
          <a:p>
            <a:pPr lvl="1"/>
            <a:r>
              <a:rPr lang="en-US" sz="1800" dirty="0"/>
              <a:t>TE: Transmitter enable</a:t>
            </a:r>
          </a:p>
          <a:p>
            <a:pPr lvl="1"/>
            <a:r>
              <a:rPr lang="en-US" sz="1800" dirty="0"/>
              <a:t>RE: Receiver enable</a:t>
            </a:r>
          </a:p>
          <a:p>
            <a:r>
              <a:rPr lang="en-US" sz="2000" dirty="0"/>
              <a:t>Other</a:t>
            </a:r>
          </a:p>
          <a:p>
            <a:pPr lvl="1"/>
            <a:r>
              <a:rPr lang="en-US" sz="1800" dirty="0"/>
              <a:t>RWU: Put receiver in standby mode, will wake up when condition occurs</a:t>
            </a:r>
          </a:p>
          <a:p>
            <a:pPr lvl="1"/>
            <a:r>
              <a:rPr lang="en-US" sz="1800" dirty="0"/>
              <a:t>SBK: Send a break character (all zeroes) 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25" y="1066800"/>
            <a:ext cx="8825750" cy="9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22C3E-A297-E60B-F56A-6C6DD332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00BC0-C3CA-F444-16B3-746F2EF70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02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F154-FBF4-BC1F-A61F-BFC2FCAC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UART2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A062-DB7B-EBF6-C653-4D01DA629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95721-8CCA-FECC-F18F-0E357DFD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44064-7053-9A09-C8D7-498EEEB0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143001"/>
            <a:ext cx="563688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75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Status Register 1 (UART_S1)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243"/>
            <a:ext cx="8839201" cy="3487512"/>
          </a:xfrm>
        </p:spPr>
        <p:txBody>
          <a:bodyPr/>
          <a:lstStyle/>
          <a:p>
            <a:r>
              <a:rPr lang="en-US" sz="2000" dirty="0"/>
              <a:t>TDRE: Transmit data register empty, can write more data to data register</a:t>
            </a:r>
          </a:p>
          <a:p>
            <a:r>
              <a:rPr lang="en-US" sz="2000" dirty="0"/>
              <a:t>TC: Transmission complete.</a:t>
            </a:r>
          </a:p>
          <a:p>
            <a:r>
              <a:rPr lang="en-US" sz="2000" dirty="0"/>
              <a:t>RDRF: Receiver data register full, can read data from data register</a:t>
            </a:r>
          </a:p>
          <a:p>
            <a:r>
              <a:rPr lang="en-US" sz="2000" dirty="0"/>
              <a:t>IDLE: UART receive line has been idle for one full character time</a:t>
            </a:r>
          </a:p>
          <a:p>
            <a:r>
              <a:rPr lang="en-US" sz="2000" dirty="0"/>
              <a:t>OR: Receive overrun. Received data has overwritten previous data in receive buffer</a:t>
            </a:r>
          </a:p>
          <a:p>
            <a:r>
              <a:rPr lang="en-US" sz="2000" dirty="0"/>
              <a:t>NF: Noise flag. Receiver data bit samples don’t agree.</a:t>
            </a:r>
          </a:p>
          <a:p>
            <a:r>
              <a:rPr lang="en-US" sz="2000" dirty="0"/>
              <a:t>FE: Framing error. Received 0 for a stop bit, expected 1.</a:t>
            </a:r>
          </a:p>
          <a:p>
            <a:r>
              <a:rPr lang="en-US" sz="2000" dirty="0"/>
              <a:t>PF: Parity error. Incorrect parity received.</a:t>
            </a:r>
          </a:p>
          <a:p>
            <a:r>
              <a:rPr lang="en-US" sz="2000" dirty="0"/>
              <a:t>To clear a flag:</a:t>
            </a:r>
          </a:p>
          <a:p>
            <a:pPr lvl="1"/>
            <a:r>
              <a:rPr lang="en-US" sz="1600" dirty="0"/>
              <a:t>Read UARTx_S1, then either read or write </a:t>
            </a:r>
            <a:r>
              <a:rPr lang="en-US" sz="1600" dirty="0" err="1"/>
              <a:t>UARTx_D</a:t>
            </a:r>
            <a:r>
              <a:rPr lang="en-US" sz="16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4E551-BBA6-35FD-0C3C-2318CB2CD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1" y="973428"/>
            <a:ext cx="8381999" cy="130733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23125C-B4BB-3AB8-DFC6-201BB82C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ECCE75-BDD4-A9C4-0562-CCDDBAAEF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318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7E1-14FA-4FB9-6B6D-E961D68D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UART Data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D94D1-6653-27D7-6B6C-F76EDF608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  <a:p>
            <a:endParaRPr lang="en-SG" dirty="0"/>
          </a:p>
          <a:p>
            <a:r>
              <a:rPr lang="en-SG" sz="2800" dirty="0"/>
              <a:t>The UART data register </a:t>
            </a:r>
            <a:r>
              <a:rPr lang="en-SG" sz="2800" dirty="0" err="1"/>
              <a:t>UARTx_D</a:t>
            </a:r>
            <a:r>
              <a:rPr lang="en-SG" sz="2800" dirty="0"/>
              <a:t> is used to transmit/receive data.</a:t>
            </a:r>
          </a:p>
          <a:p>
            <a:pPr lvl="1"/>
            <a:r>
              <a:rPr lang="en-SG" sz="2400" dirty="0"/>
              <a:t>Writing to </a:t>
            </a:r>
            <a:r>
              <a:rPr lang="en-SG" sz="2400" dirty="0" err="1"/>
              <a:t>UARTx_D</a:t>
            </a:r>
            <a:r>
              <a:rPr lang="en-SG" sz="2400" dirty="0"/>
              <a:t> sends data to “the other side”.</a:t>
            </a:r>
          </a:p>
          <a:p>
            <a:pPr lvl="1"/>
            <a:r>
              <a:rPr lang="en-SG" sz="2400" dirty="0"/>
              <a:t>Reading from </a:t>
            </a:r>
            <a:r>
              <a:rPr lang="en-SG" sz="2400" dirty="0" err="1"/>
              <a:t>UARTx_D</a:t>
            </a:r>
            <a:r>
              <a:rPr lang="en-SG" sz="2400" dirty="0"/>
              <a:t> reads data sent by “the other side”.</a:t>
            </a:r>
          </a:p>
          <a:p>
            <a:pPr lvl="1"/>
            <a:r>
              <a:rPr lang="en-SG" sz="2400" dirty="0"/>
              <a:t>Reading/Writing </a:t>
            </a:r>
            <a:r>
              <a:rPr lang="en-SG" sz="2400" dirty="0" err="1"/>
              <a:t>UARTx_D</a:t>
            </a:r>
            <a:r>
              <a:rPr lang="en-SG" sz="2400" dirty="0"/>
              <a:t> automatically clears TDRF and RDRF in UARTx_S1.</a:t>
            </a:r>
          </a:p>
          <a:p>
            <a:r>
              <a:rPr lang="en-SG" sz="2800" dirty="0"/>
              <a:t>Important: </a:t>
            </a:r>
          </a:p>
          <a:p>
            <a:pPr lvl="1"/>
            <a:r>
              <a:rPr lang="en-SG" sz="2400" dirty="0"/>
              <a:t>If using parity, only bits 0 to 6 are data bits while bit 7 is the parity bit. </a:t>
            </a:r>
            <a:r>
              <a:rPr lang="en-SG" sz="2400"/>
              <a:t>Remember to mask it off.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A0D43-D646-2EFD-C5D8-11C14C828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F745-72FD-DD53-42CE-F9D61EFC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88A21-2925-69B9-39FD-471E236B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9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04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0002" y="1936667"/>
            <a:ext cx="8479198" cy="3511372"/>
          </a:xfrm>
        </p:spPr>
        <p:txBody>
          <a:bodyPr/>
          <a:lstStyle/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void UART2_Transmit_Poll(uint8_t data) {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// wait until transmit data register is empty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while (!(UART2-&gt;S1 &amp; UART_S1_TDRE_MASK));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UART2-&gt;D = data;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}	</a:t>
            </a:r>
          </a:p>
          <a:p>
            <a:pPr marL="0" indent="0">
              <a:buNone/>
            </a:pPr>
            <a:endParaRPr lang="en-US" sz="1501" dirty="0">
              <a:latin typeface="Lucida Console" pitchFamily="49" charset="0"/>
            </a:endParaRP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uint8_t UART2_Receive_Poll(void) {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// wait until receive data register is full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while (!(UART2-&gt;S1 &amp; UART_S1_RDRF_MASK));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	return UART2-&gt;D;</a:t>
            </a:r>
          </a:p>
          <a:p>
            <a:pPr marL="0" indent="0">
              <a:buNone/>
            </a:pPr>
            <a:r>
              <a:rPr lang="en-US" sz="1501" dirty="0">
                <a:latin typeface="Lucida Console" pitchFamily="49" charset="0"/>
              </a:rPr>
              <a:t>}	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1CF15-4109-E28B-B434-4B0BE75F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2ADE-D70F-F014-0460-51F83A7A7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8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41D5-53EB-5454-F5F2-46F145C2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Interrupts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C887-837A-439D-445A-A8332920E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now look at how to use interrupts:</a:t>
            </a:r>
          </a:p>
          <a:p>
            <a:pPr lvl="1"/>
            <a:r>
              <a:rPr lang="en-US" dirty="0"/>
              <a:t>There is one single interrupt vector: UART2_FLEXIO_IRQn</a:t>
            </a:r>
          </a:p>
          <a:p>
            <a:pPr lvl="1"/>
            <a:r>
              <a:rPr lang="en-SG" dirty="0"/>
              <a:t>You need to check for a specific event within the UART2_FLEXIO_IRQHandler ISR.</a:t>
            </a:r>
          </a:p>
          <a:p>
            <a:pPr lvl="2"/>
            <a:r>
              <a:rPr lang="en-SG" dirty="0"/>
              <a:t>Data received.</a:t>
            </a:r>
          </a:p>
          <a:p>
            <a:pPr lvl="2"/>
            <a:r>
              <a:rPr lang="en-SG" dirty="0"/>
              <a:t>Ready to transmit next data.</a:t>
            </a:r>
          </a:p>
          <a:p>
            <a:pPr lvl="2"/>
            <a:r>
              <a:rPr lang="en-SG" dirty="0"/>
              <a:t>Errors (not covered here).</a:t>
            </a:r>
          </a:p>
          <a:p>
            <a:r>
              <a:rPr lang="en-SG" dirty="0"/>
              <a:t>Interrupts are asynchronous:</a:t>
            </a:r>
          </a:p>
          <a:p>
            <a:pPr lvl="1"/>
            <a:r>
              <a:rPr lang="en-SG" dirty="0"/>
              <a:t>Can come at any time.</a:t>
            </a:r>
          </a:p>
          <a:p>
            <a:pPr lvl="1"/>
            <a:r>
              <a:rPr lang="en-SG" dirty="0"/>
              <a:t>Need buffers to store characters received/to be sent.</a:t>
            </a:r>
            <a:endParaRPr lang="en-US" dirty="0"/>
          </a:p>
          <a:p>
            <a:pPr lvl="2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1174-A55B-AA45-E3C5-4796FD37A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5D1A-E197-345D-5EBF-B012B942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527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ED98-5610-421C-A895-149D10EB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Using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B95C3-83B4-DB0A-3415-CBF90A1B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use interrupts, we must set the Receive Interrupt Enable (RIE) and Transmit Interrupt Enable (TIE) bits of UARTx_C2 to 1.</a:t>
            </a:r>
          </a:p>
          <a:p>
            <a:pPr lvl="1"/>
            <a:r>
              <a:rPr lang="en-SG" dirty="0"/>
              <a:t>Must also enable the receiver (RE) and transmitter (TE) bits. Set IRQ priority and enable interrupts. Here we will only enable the receiver.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89C94-A085-5392-0980-8E23CD865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014B2-4CCE-CBDA-346F-8F4DC2FA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06C1C-1171-3DC5-9FFB-3D96CF97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749899"/>
            <a:ext cx="5562600" cy="272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05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6676-7A3B-6316-95A2-4B560C6F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Using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B3A61-6D20-61D2-5E13-BD7EDB78F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Writing the ISR:</a:t>
            </a:r>
          </a:p>
          <a:p>
            <a:pPr lvl="1"/>
            <a:r>
              <a:rPr lang="en-SG" dirty="0"/>
              <a:t>All UART interrupts are handled by UART2_FLEXIO_IRQHandler.</a:t>
            </a:r>
          </a:p>
          <a:p>
            <a:pPr lvl="1"/>
            <a:r>
              <a:rPr lang="en-SG" dirty="0"/>
              <a:t>Let’s look at the receiver code first:</a:t>
            </a:r>
          </a:p>
          <a:p>
            <a:pPr lvl="2"/>
            <a:r>
              <a:rPr lang="en-SG" dirty="0"/>
              <a:t>Each time a character comes in an interrupt is triggered.</a:t>
            </a:r>
          </a:p>
          <a:p>
            <a:pPr lvl="2"/>
            <a:r>
              <a:rPr lang="en-SG" dirty="0"/>
              <a:t>Read the data register </a:t>
            </a:r>
            <a:r>
              <a:rPr lang="en-SG" dirty="0" err="1"/>
              <a:t>UARTx_D</a:t>
            </a:r>
            <a:r>
              <a:rPr lang="en-SG" dirty="0"/>
              <a:t> to get the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0D419-DECA-3433-9C45-52F9108CF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A0A60-C17B-A27E-A7AC-2B4D288E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A4424-62DA-43A4-1C49-95F3EFF5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2400"/>
            <a:ext cx="6315595" cy="21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1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6AA3-B77B-54F5-2A6D-BD347693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Transmitting Data with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D6CE3-71FC-D474-FC47-9243145BF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can copy the data to be sent into a buffer first, then enable TE and TIE to start the transmitter.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A6EB5-6C5B-B267-66BE-3F31A158E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961F3-43F0-6E65-3805-0FE22750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73ADB-63A0-4889-A099-46DE7876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6228"/>
            <a:ext cx="5939464" cy="22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18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6BFB-3E5C-687F-19F2-BDF0FDAB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Transmitting Data with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6C1B-1D69-7D58-D2D1-F1E90C06A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SG" dirty="0"/>
              <a:t>Handling Transmitter Interrupts:</a:t>
            </a:r>
          </a:p>
          <a:p>
            <a:pPr lvl="1"/>
            <a:r>
              <a:rPr lang="en-SG" dirty="0"/>
              <a:t>Triggered when the transmitter is ready to send the next character.</a:t>
            </a:r>
          </a:p>
          <a:p>
            <a:pPr lvl="2"/>
            <a:r>
              <a:rPr lang="en-SG" dirty="0"/>
              <a:t>Write to </a:t>
            </a:r>
            <a:r>
              <a:rPr lang="en-SG" dirty="0" err="1"/>
              <a:t>UARTx_D</a:t>
            </a:r>
            <a:r>
              <a:rPr lang="en-SG" dirty="0"/>
              <a:t> to send the data.</a:t>
            </a:r>
          </a:p>
          <a:p>
            <a:pPr lvl="2"/>
            <a:r>
              <a:rPr lang="en-SG" dirty="0"/>
              <a:t>Disable TE and TIE when there is no more data to send.</a:t>
            </a:r>
          </a:p>
          <a:p>
            <a:pPr lvl="2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343E4-0352-E2AE-7B28-E979C5E50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72F46-15D1-C640-0137-47189DE5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88EDBD-16C0-2907-04BF-E16A2066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76600"/>
            <a:ext cx="463541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77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F7EE-1D1B-7736-1B6E-BDE2AF24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UART Setup Code (Interrupts)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1E4A5-89A6-DF5D-7031-C88D9A3D9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EAF5-F4E4-D931-703B-20C58C50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A94011-15FF-BAB5-D65D-EFB941FAA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0"/>
            <a:ext cx="4843785" cy="3962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7F2254-62B5-1B93-26D4-655428C1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823" y="1295400"/>
            <a:ext cx="4085477" cy="285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0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5936-3051-88C0-B79B-91AF84B1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ISR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CFBCB-BA31-F6F5-A211-9C81324F7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33A82-FA8D-7EC6-3311-0EB36941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96A1F-73FC-693D-C418-B41FFA321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461499"/>
            <a:ext cx="5096576" cy="61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95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920E-F30C-6115-A19F-10644D09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55B1-6C61-077B-5AE3-5EDDE91A6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last lecture on programming the hardware for the MCXC444.</a:t>
            </a:r>
          </a:p>
          <a:p>
            <a:r>
              <a:rPr lang="en-US" dirty="0"/>
              <a:t>Together with the previous </a:t>
            </a:r>
            <a:r>
              <a:rPr lang="en-US" dirty="0" err="1"/>
              <a:t>FreeRTOS</a:t>
            </a:r>
            <a:r>
              <a:rPr lang="en-US" dirty="0"/>
              <a:t> lecture, you are now equipped to build sophisticated real-time systems </a:t>
            </a:r>
            <a:r>
              <a:rPr lang="en-US" dirty="0" err="1"/>
              <a:t>centred</a:t>
            </a:r>
            <a:r>
              <a:rPr lang="en-US" dirty="0"/>
              <a:t> around the ARM-Cortex M0+ family of microcontrollers.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6CB97-1456-9CEB-3E64-2003A4D56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8DD60-10E7-F733-D3FA-8FEAF891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8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037709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15962</TotalTime>
  <Words>1774</Words>
  <Application>Microsoft Office PowerPoint</Application>
  <PresentationFormat>On-screen Show (4:3)</PresentationFormat>
  <Paragraphs>280</Paragraphs>
  <Slides>30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Cambria Math</vt:lpstr>
      <vt:lpstr>Garamond</vt:lpstr>
      <vt:lpstr>Lucida Console</vt:lpstr>
      <vt:lpstr>Times New Roman</vt:lpstr>
      <vt:lpstr>Wingdings</vt:lpstr>
      <vt:lpstr>Wingdings 2</vt:lpstr>
      <vt:lpstr>L1 - Basic of C++</vt:lpstr>
      <vt:lpstr>Edge</vt:lpstr>
      <vt:lpstr>HDOfficeLightV0</vt:lpstr>
      <vt:lpstr>Bitmap Image</vt:lpstr>
      <vt:lpstr>CG2271 Real Time Operating Systems</vt:lpstr>
      <vt:lpstr>Introduction</vt:lpstr>
      <vt:lpstr>Introduction</vt:lpstr>
      <vt:lpstr>Transmitter Basics</vt:lpstr>
      <vt:lpstr>Receiver Basics</vt:lpstr>
      <vt:lpstr>For this to work…</vt:lpstr>
      <vt:lpstr>MCXC444 UARTs</vt:lpstr>
      <vt:lpstr>Input Data Oversampling</vt:lpstr>
      <vt:lpstr>programming uart2</vt:lpstr>
      <vt:lpstr>Clock Gating </vt:lpstr>
      <vt:lpstr>Setting Pins to UART</vt:lpstr>
      <vt:lpstr>Baud Rate Generator</vt:lpstr>
      <vt:lpstr>Baud Rate Generator</vt:lpstr>
      <vt:lpstr>Baud Rate Generator</vt:lpstr>
      <vt:lpstr>Baud Rate Generator</vt:lpstr>
      <vt:lpstr>Baud Rate Generator</vt:lpstr>
      <vt:lpstr>UART Control Register 1 (UART0_C1)</vt:lpstr>
      <vt:lpstr>UART Control Register 2 (UART0_C2)</vt:lpstr>
      <vt:lpstr>Configuring UART2</vt:lpstr>
      <vt:lpstr>UART Status Register 1 (UART_S1)</vt:lpstr>
      <vt:lpstr>UART Data Register</vt:lpstr>
      <vt:lpstr>Polling</vt:lpstr>
      <vt:lpstr>Using Interrupts</vt:lpstr>
      <vt:lpstr>Using Interrupts</vt:lpstr>
      <vt:lpstr>Using Interrupts</vt:lpstr>
      <vt:lpstr>Transmitting Data with Interrupts</vt:lpstr>
      <vt:lpstr>Transmitting Data with Interrupts</vt:lpstr>
      <vt:lpstr>Full UART Setup Code (Interrupts)</vt:lpstr>
      <vt:lpstr>Full ISR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Ethan Chan</cp:lastModifiedBy>
  <cp:revision>342</cp:revision>
  <dcterms:created xsi:type="dcterms:W3CDTF">2009-01-07T10:53:41Z</dcterms:created>
  <dcterms:modified xsi:type="dcterms:W3CDTF">2025-10-28T02:45:21Z</dcterms:modified>
</cp:coreProperties>
</file>