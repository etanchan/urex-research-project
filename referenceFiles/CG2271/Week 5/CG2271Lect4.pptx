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0"/>
  </p:notesMasterIdLst>
  <p:sldIdLst>
    <p:sldId id="256" r:id="rId2"/>
    <p:sldId id="257" r:id="rId3"/>
    <p:sldId id="286" r:id="rId4"/>
    <p:sldId id="288" r:id="rId5"/>
    <p:sldId id="289" r:id="rId6"/>
    <p:sldId id="290" r:id="rId7"/>
    <p:sldId id="331" r:id="rId8"/>
    <p:sldId id="291" r:id="rId9"/>
    <p:sldId id="292" r:id="rId10"/>
    <p:sldId id="293" r:id="rId11"/>
    <p:sldId id="332" r:id="rId12"/>
    <p:sldId id="297" r:id="rId13"/>
    <p:sldId id="310" r:id="rId14"/>
    <p:sldId id="298" r:id="rId15"/>
    <p:sldId id="300" r:id="rId16"/>
    <p:sldId id="301" r:id="rId17"/>
    <p:sldId id="304" r:id="rId18"/>
    <p:sldId id="305" r:id="rId19"/>
    <p:sldId id="303" r:id="rId20"/>
    <p:sldId id="306" r:id="rId21"/>
    <p:sldId id="328" r:id="rId22"/>
    <p:sldId id="330" r:id="rId23"/>
    <p:sldId id="299" r:id="rId24"/>
    <p:sldId id="311" r:id="rId25"/>
    <p:sldId id="312" r:id="rId26"/>
    <p:sldId id="318" r:id="rId27"/>
    <p:sldId id="319" r:id="rId28"/>
    <p:sldId id="313" r:id="rId29"/>
    <p:sldId id="314" r:id="rId30"/>
    <p:sldId id="320" r:id="rId31"/>
    <p:sldId id="317" r:id="rId32"/>
    <p:sldId id="321" r:id="rId33"/>
    <p:sldId id="258" r:id="rId34"/>
    <p:sldId id="259" r:id="rId35"/>
    <p:sldId id="322" r:id="rId36"/>
    <p:sldId id="324" r:id="rId37"/>
    <p:sldId id="334" r:id="rId38"/>
    <p:sldId id="333" r:id="rId39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39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FFCC"/>
    <a:srgbClr val="660066"/>
    <a:srgbClr val="800080"/>
    <a:srgbClr val="0033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8017" autoAdjust="0"/>
    <p:restoredTop sz="92670" autoAdjust="0"/>
  </p:normalViewPr>
  <p:slideViewPr>
    <p:cSldViewPr>
      <p:cViewPr varScale="1">
        <p:scale>
          <a:sx n="84" d="100"/>
          <a:sy n="84" d="100"/>
        </p:scale>
        <p:origin x="21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9C5225-3C6E-4F27-85B9-5949B3C052FE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885A7FDF-6618-427C-8EC3-DE1830C72792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Economy:</a:t>
          </a:r>
          <a:endParaRPr lang="en-SG" dirty="0">
            <a:solidFill>
              <a:schemeClr val="bg1"/>
            </a:solidFill>
          </a:endParaRPr>
        </a:p>
      </dgm:t>
    </dgm:pt>
    <dgm:pt modelId="{1A683364-28FC-4DB8-B763-39FEE851625E}" type="parTrans" cxnId="{C7E10B26-2EE9-40DE-A3F6-FD0B0D3380AF}">
      <dgm:prSet/>
      <dgm:spPr/>
      <dgm:t>
        <a:bodyPr/>
        <a:lstStyle/>
        <a:p>
          <a:endParaRPr lang="en-SG"/>
        </a:p>
      </dgm:t>
    </dgm:pt>
    <dgm:pt modelId="{67F0BFED-1380-46B3-A45B-624700EA2F07}" type="sibTrans" cxnId="{C7E10B26-2EE9-40DE-A3F6-FD0B0D3380AF}">
      <dgm:prSet/>
      <dgm:spPr/>
      <dgm:t>
        <a:bodyPr/>
        <a:lstStyle/>
        <a:p>
          <a:endParaRPr lang="en-SG"/>
        </a:p>
      </dgm:t>
    </dgm:pt>
    <dgm:pt modelId="{985EED74-DD33-4C4B-9689-50C5A8C989C1}">
      <dgm:prSet/>
      <dgm:spPr/>
      <dgm:t>
        <a:bodyPr/>
        <a:lstStyle/>
        <a:p>
          <a:r>
            <a:rPr lang="en-US" altLang="en-US" dirty="0"/>
            <a:t>Multiple threads in the same process requires much less resources to manage compared to multiple processes</a:t>
          </a:r>
        </a:p>
      </dgm:t>
    </dgm:pt>
    <dgm:pt modelId="{67E69F7C-E242-49A7-BDF2-DF6686300C4F}" type="parTrans" cxnId="{19FE3ABD-1866-4D1E-901A-C55E6AD896B1}">
      <dgm:prSet/>
      <dgm:spPr/>
      <dgm:t>
        <a:bodyPr/>
        <a:lstStyle/>
        <a:p>
          <a:endParaRPr lang="en-SG"/>
        </a:p>
      </dgm:t>
    </dgm:pt>
    <dgm:pt modelId="{D8703822-EA62-43E8-ABDC-0F4C659C68AC}" type="sibTrans" cxnId="{19FE3ABD-1866-4D1E-901A-C55E6AD896B1}">
      <dgm:prSet/>
      <dgm:spPr/>
      <dgm:t>
        <a:bodyPr/>
        <a:lstStyle/>
        <a:p>
          <a:endParaRPr lang="en-SG"/>
        </a:p>
      </dgm:t>
    </dgm:pt>
    <dgm:pt modelId="{95DF7791-8B74-4322-818A-4A760800BCDF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Resource sharing:</a:t>
          </a:r>
          <a:endParaRPr lang="en-US" altLang="en-US" b="1" dirty="0">
            <a:solidFill>
              <a:schemeClr val="bg1"/>
            </a:solidFill>
          </a:endParaRPr>
        </a:p>
      </dgm:t>
    </dgm:pt>
    <dgm:pt modelId="{8E80115F-1DBF-4EDE-9019-B422323341D5}" type="parTrans" cxnId="{3B273014-5A84-4643-B369-50F20BD40F04}">
      <dgm:prSet/>
      <dgm:spPr/>
      <dgm:t>
        <a:bodyPr/>
        <a:lstStyle/>
        <a:p>
          <a:endParaRPr lang="en-SG"/>
        </a:p>
      </dgm:t>
    </dgm:pt>
    <dgm:pt modelId="{41CBBB67-3DD7-4B85-836C-6BE6876C892D}" type="sibTrans" cxnId="{3B273014-5A84-4643-B369-50F20BD40F04}">
      <dgm:prSet/>
      <dgm:spPr/>
      <dgm:t>
        <a:bodyPr/>
        <a:lstStyle/>
        <a:p>
          <a:endParaRPr lang="en-SG"/>
        </a:p>
      </dgm:t>
    </dgm:pt>
    <dgm:pt modelId="{CFCD7675-5055-46EA-83AA-6AE037ACB6C9}">
      <dgm:prSet/>
      <dgm:spPr/>
      <dgm:t>
        <a:bodyPr/>
        <a:lstStyle/>
        <a:p>
          <a:r>
            <a:rPr lang="en-US" altLang="en-US"/>
            <a:t>Threads share most of the resources of a process</a:t>
          </a:r>
          <a:endParaRPr lang="en-US" altLang="en-US" dirty="0"/>
        </a:p>
      </dgm:t>
    </dgm:pt>
    <dgm:pt modelId="{510D9CA0-60E7-4AD5-B03F-4CC8762956C9}" type="parTrans" cxnId="{6CECE71D-A2B3-4E52-995A-76A244E07274}">
      <dgm:prSet/>
      <dgm:spPr/>
      <dgm:t>
        <a:bodyPr/>
        <a:lstStyle/>
        <a:p>
          <a:endParaRPr lang="en-SG"/>
        </a:p>
      </dgm:t>
    </dgm:pt>
    <dgm:pt modelId="{BA1D82B3-25A1-4E94-9B1E-93FDC92A701F}" type="sibTrans" cxnId="{6CECE71D-A2B3-4E52-995A-76A244E07274}">
      <dgm:prSet/>
      <dgm:spPr/>
      <dgm:t>
        <a:bodyPr/>
        <a:lstStyle/>
        <a:p>
          <a:endParaRPr lang="en-SG"/>
        </a:p>
      </dgm:t>
    </dgm:pt>
    <dgm:pt modelId="{AFB2AC7E-96E6-459D-86B9-EE5CB6128719}">
      <dgm:prSet/>
      <dgm:spPr/>
      <dgm:t>
        <a:bodyPr/>
        <a:lstStyle/>
        <a:p>
          <a:r>
            <a:rPr lang="en-US" altLang="en-US"/>
            <a:t>No need for additional mechanism for passing information around</a:t>
          </a:r>
          <a:endParaRPr lang="en-US" altLang="en-US" dirty="0"/>
        </a:p>
      </dgm:t>
    </dgm:pt>
    <dgm:pt modelId="{F9B0D75A-31AB-4BE3-B9BA-7011077AE9EF}" type="parTrans" cxnId="{19A2A6ED-C872-4526-91AA-097B17E1CC3C}">
      <dgm:prSet/>
      <dgm:spPr/>
      <dgm:t>
        <a:bodyPr/>
        <a:lstStyle/>
        <a:p>
          <a:endParaRPr lang="en-SG"/>
        </a:p>
      </dgm:t>
    </dgm:pt>
    <dgm:pt modelId="{164E5600-730C-43DB-8B1D-53A0BDBE9524}" type="sibTrans" cxnId="{19A2A6ED-C872-4526-91AA-097B17E1CC3C}">
      <dgm:prSet/>
      <dgm:spPr/>
      <dgm:t>
        <a:bodyPr/>
        <a:lstStyle/>
        <a:p>
          <a:endParaRPr lang="en-SG"/>
        </a:p>
      </dgm:t>
    </dgm:pt>
    <dgm:pt modelId="{E086441D-1088-4AD8-8A3F-1AFD977D042C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Responsiveness:</a:t>
          </a:r>
          <a:endParaRPr lang="en-US" altLang="en-US" b="1" dirty="0">
            <a:solidFill>
              <a:schemeClr val="bg1"/>
            </a:solidFill>
          </a:endParaRPr>
        </a:p>
      </dgm:t>
    </dgm:pt>
    <dgm:pt modelId="{12BCCA87-E0F2-4906-AD79-25035E92BC59}" type="parTrans" cxnId="{E7AD3857-6205-4F58-9A13-16F90FAD91A1}">
      <dgm:prSet/>
      <dgm:spPr/>
      <dgm:t>
        <a:bodyPr/>
        <a:lstStyle/>
        <a:p>
          <a:endParaRPr lang="en-SG"/>
        </a:p>
      </dgm:t>
    </dgm:pt>
    <dgm:pt modelId="{B4BB4F27-F91B-47E1-A8E1-94A5AE4F3714}" type="sibTrans" cxnId="{E7AD3857-6205-4F58-9A13-16F90FAD91A1}">
      <dgm:prSet/>
      <dgm:spPr/>
      <dgm:t>
        <a:bodyPr/>
        <a:lstStyle/>
        <a:p>
          <a:endParaRPr lang="en-SG"/>
        </a:p>
      </dgm:t>
    </dgm:pt>
    <dgm:pt modelId="{037533AD-FCD8-4ABF-991A-5BAACE365BA3}">
      <dgm:prSet/>
      <dgm:spPr/>
      <dgm:t>
        <a:bodyPr/>
        <a:lstStyle/>
        <a:p>
          <a:r>
            <a:rPr lang="en-US" altLang="en-US"/>
            <a:t>Multithreaded programs can appear much more responsive</a:t>
          </a:r>
          <a:endParaRPr lang="en-US" altLang="en-US" dirty="0"/>
        </a:p>
      </dgm:t>
    </dgm:pt>
    <dgm:pt modelId="{9E7C0B59-FF7A-4B67-B8BE-3F0E1E149AC3}" type="parTrans" cxnId="{8E242CF4-FFA4-4FFB-9046-5A5D31A75E79}">
      <dgm:prSet/>
      <dgm:spPr/>
      <dgm:t>
        <a:bodyPr/>
        <a:lstStyle/>
        <a:p>
          <a:endParaRPr lang="en-SG"/>
        </a:p>
      </dgm:t>
    </dgm:pt>
    <dgm:pt modelId="{A715944E-E143-42D7-901C-0EA696746768}" type="sibTrans" cxnId="{8E242CF4-FFA4-4FFB-9046-5A5D31A75E79}">
      <dgm:prSet/>
      <dgm:spPr/>
      <dgm:t>
        <a:bodyPr/>
        <a:lstStyle/>
        <a:p>
          <a:endParaRPr lang="en-SG"/>
        </a:p>
      </dgm:t>
    </dgm:pt>
    <dgm:pt modelId="{E5698BDB-9216-4CE9-BDC6-252E79B1A304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Scalability:</a:t>
          </a:r>
          <a:endParaRPr lang="en-US" altLang="en-US" b="1" dirty="0">
            <a:solidFill>
              <a:schemeClr val="bg1"/>
            </a:solidFill>
          </a:endParaRPr>
        </a:p>
      </dgm:t>
    </dgm:pt>
    <dgm:pt modelId="{207349D1-1256-46D9-92D5-95E745012428}" type="parTrans" cxnId="{2E1D4A0E-F488-482D-A872-26463789AF01}">
      <dgm:prSet/>
      <dgm:spPr/>
      <dgm:t>
        <a:bodyPr/>
        <a:lstStyle/>
        <a:p>
          <a:endParaRPr lang="en-SG"/>
        </a:p>
      </dgm:t>
    </dgm:pt>
    <dgm:pt modelId="{50E6713E-B84E-4880-855C-13D8E4FA2B9A}" type="sibTrans" cxnId="{2E1D4A0E-F488-482D-A872-26463789AF01}">
      <dgm:prSet/>
      <dgm:spPr/>
      <dgm:t>
        <a:bodyPr/>
        <a:lstStyle/>
        <a:p>
          <a:endParaRPr lang="en-SG"/>
        </a:p>
      </dgm:t>
    </dgm:pt>
    <dgm:pt modelId="{07A58AEC-CEDF-4ED6-B8BF-D055F5504225}">
      <dgm:prSet/>
      <dgm:spPr/>
      <dgm:t>
        <a:bodyPr/>
        <a:lstStyle/>
        <a:p>
          <a:r>
            <a:rPr lang="en-US" altLang="en-US"/>
            <a:t>Multithreaded program can take advantage of multiple CPUs</a:t>
          </a:r>
          <a:endParaRPr lang="en-US" altLang="en-US" dirty="0"/>
        </a:p>
      </dgm:t>
    </dgm:pt>
    <dgm:pt modelId="{03272EAE-DC9D-4281-A273-65E218CD1081}" type="parTrans" cxnId="{7311128A-35B7-4B88-95DD-C4CC3119F212}">
      <dgm:prSet/>
      <dgm:spPr/>
      <dgm:t>
        <a:bodyPr/>
        <a:lstStyle/>
        <a:p>
          <a:endParaRPr lang="en-SG"/>
        </a:p>
      </dgm:t>
    </dgm:pt>
    <dgm:pt modelId="{C2010EE7-CAB9-4AF2-B268-9F1D73F69C46}" type="sibTrans" cxnId="{7311128A-35B7-4B88-95DD-C4CC3119F212}">
      <dgm:prSet/>
      <dgm:spPr/>
      <dgm:t>
        <a:bodyPr/>
        <a:lstStyle/>
        <a:p>
          <a:endParaRPr lang="en-SG"/>
        </a:p>
      </dgm:t>
    </dgm:pt>
    <dgm:pt modelId="{E36EEEB0-F871-4CFB-97AE-19B336B80BF2}" type="pres">
      <dgm:prSet presAssocID="{9D9C5225-3C6E-4F27-85B9-5949B3C052FE}" presName="linear" presStyleCnt="0">
        <dgm:presLayoutVars>
          <dgm:dir/>
          <dgm:animLvl val="lvl"/>
          <dgm:resizeHandles val="exact"/>
        </dgm:presLayoutVars>
      </dgm:prSet>
      <dgm:spPr/>
    </dgm:pt>
    <dgm:pt modelId="{E352C8DA-F477-4218-AF61-3C46BF1EAAFA}" type="pres">
      <dgm:prSet presAssocID="{885A7FDF-6618-427C-8EC3-DE1830C72792}" presName="parentLin" presStyleCnt="0"/>
      <dgm:spPr/>
    </dgm:pt>
    <dgm:pt modelId="{E46C7AB2-2574-41DA-9359-C6C42C8BC637}" type="pres">
      <dgm:prSet presAssocID="{885A7FDF-6618-427C-8EC3-DE1830C72792}" presName="parentLeftMargin" presStyleLbl="node1" presStyleIdx="0" presStyleCnt="4"/>
      <dgm:spPr/>
    </dgm:pt>
    <dgm:pt modelId="{2D670827-F110-40AD-8369-6143F444D746}" type="pres">
      <dgm:prSet presAssocID="{885A7FDF-6618-427C-8EC3-DE1830C72792}" presName="parentText" presStyleLbl="node1" presStyleIdx="0" presStyleCnt="4" custScaleX="53297">
        <dgm:presLayoutVars>
          <dgm:chMax val="0"/>
          <dgm:bulletEnabled val="1"/>
        </dgm:presLayoutVars>
      </dgm:prSet>
      <dgm:spPr/>
    </dgm:pt>
    <dgm:pt modelId="{E0ECA8A4-3122-46FF-9F69-9CEAA1986D35}" type="pres">
      <dgm:prSet presAssocID="{885A7FDF-6618-427C-8EC3-DE1830C72792}" presName="negativeSpace" presStyleCnt="0"/>
      <dgm:spPr/>
    </dgm:pt>
    <dgm:pt modelId="{97351719-2408-499F-83E3-0ED6C4C2C82A}" type="pres">
      <dgm:prSet presAssocID="{885A7FDF-6618-427C-8EC3-DE1830C72792}" presName="childText" presStyleLbl="conFgAcc1" presStyleIdx="0" presStyleCnt="4">
        <dgm:presLayoutVars>
          <dgm:bulletEnabled val="1"/>
        </dgm:presLayoutVars>
      </dgm:prSet>
      <dgm:spPr/>
    </dgm:pt>
    <dgm:pt modelId="{577FE1D2-B84B-4EB3-9477-F35F786B38E9}" type="pres">
      <dgm:prSet presAssocID="{67F0BFED-1380-46B3-A45B-624700EA2F07}" presName="spaceBetweenRectangles" presStyleCnt="0"/>
      <dgm:spPr/>
    </dgm:pt>
    <dgm:pt modelId="{E864C05F-87FF-469E-949D-08EFBC4DDE21}" type="pres">
      <dgm:prSet presAssocID="{95DF7791-8B74-4322-818A-4A760800BCDF}" presName="parentLin" presStyleCnt="0"/>
      <dgm:spPr/>
    </dgm:pt>
    <dgm:pt modelId="{0FEA8402-78C0-417E-8251-E852576BE5B4}" type="pres">
      <dgm:prSet presAssocID="{95DF7791-8B74-4322-818A-4A760800BCDF}" presName="parentLeftMargin" presStyleLbl="node1" presStyleIdx="0" presStyleCnt="4"/>
      <dgm:spPr/>
    </dgm:pt>
    <dgm:pt modelId="{CE54CBD6-1749-4114-9ADB-600277DC2867}" type="pres">
      <dgm:prSet presAssocID="{95DF7791-8B74-4322-818A-4A760800BCDF}" presName="parentText" presStyleLbl="node1" presStyleIdx="1" presStyleCnt="4" custScaleX="53297">
        <dgm:presLayoutVars>
          <dgm:chMax val="0"/>
          <dgm:bulletEnabled val="1"/>
        </dgm:presLayoutVars>
      </dgm:prSet>
      <dgm:spPr/>
    </dgm:pt>
    <dgm:pt modelId="{252E20FE-4A0E-4EEB-A3B8-44A3E6D598B4}" type="pres">
      <dgm:prSet presAssocID="{95DF7791-8B74-4322-818A-4A760800BCDF}" presName="negativeSpace" presStyleCnt="0"/>
      <dgm:spPr/>
    </dgm:pt>
    <dgm:pt modelId="{5A614930-9D23-424A-8243-BFE71AA22844}" type="pres">
      <dgm:prSet presAssocID="{95DF7791-8B74-4322-818A-4A760800BCDF}" presName="childText" presStyleLbl="conFgAcc1" presStyleIdx="1" presStyleCnt="4">
        <dgm:presLayoutVars>
          <dgm:bulletEnabled val="1"/>
        </dgm:presLayoutVars>
      </dgm:prSet>
      <dgm:spPr/>
    </dgm:pt>
    <dgm:pt modelId="{5A1C1536-DF21-4451-8ABE-19928B8D77BD}" type="pres">
      <dgm:prSet presAssocID="{41CBBB67-3DD7-4B85-836C-6BE6876C892D}" presName="spaceBetweenRectangles" presStyleCnt="0"/>
      <dgm:spPr/>
    </dgm:pt>
    <dgm:pt modelId="{30EABB6D-D2F2-49DF-9101-B13614C633B8}" type="pres">
      <dgm:prSet presAssocID="{E086441D-1088-4AD8-8A3F-1AFD977D042C}" presName="parentLin" presStyleCnt="0"/>
      <dgm:spPr/>
    </dgm:pt>
    <dgm:pt modelId="{EB5DEC4C-4870-4CD6-9AAA-9D41BE5A51F8}" type="pres">
      <dgm:prSet presAssocID="{E086441D-1088-4AD8-8A3F-1AFD977D042C}" presName="parentLeftMargin" presStyleLbl="node1" presStyleIdx="1" presStyleCnt="4"/>
      <dgm:spPr/>
    </dgm:pt>
    <dgm:pt modelId="{B241AD46-6F53-449A-A6F5-FF1FD7DCD7CC}" type="pres">
      <dgm:prSet presAssocID="{E086441D-1088-4AD8-8A3F-1AFD977D042C}" presName="parentText" presStyleLbl="node1" presStyleIdx="2" presStyleCnt="4" custScaleX="53297">
        <dgm:presLayoutVars>
          <dgm:chMax val="0"/>
          <dgm:bulletEnabled val="1"/>
        </dgm:presLayoutVars>
      </dgm:prSet>
      <dgm:spPr/>
    </dgm:pt>
    <dgm:pt modelId="{B4E6C861-8B78-4485-B3F2-F52D87C00B7B}" type="pres">
      <dgm:prSet presAssocID="{E086441D-1088-4AD8-8A3F-1AFD977D042C}" presName="negativeSpace" presStyleCnt="0"/>
      <dgm:spPr/>
    </dgm:pt>
    <dgm:pt modelId="{78BFE524-F0C6-47B9-BEA8-E45939E37FD7}" type="pres">
      <dgm:prSet presAssocID="{E086441D-1088-4AD8-8A3F-1AFD977D042C}" presName="childText" presStyleLbl="conFgAcc1" presStyleIdx="2" presStyleCnt="4">
        <dgm:presLayoutVars>
          <dgm:bulletEnabled val="1"/>
        </dgm:presLayoutVars>
      </dgm:prSet>
      <dgm:spPr/>
    </dgm:pt>
    <dgm:pt modelId="{6BC89EF1-3B60-4A21-952B-635A28C91BAE}" type="pres">
      <dgm:prSet presAssocID="{B4BB4F27-F91B-47E1-A8E1-94A5AE4F3714}" presName="spaceBetweenRectangles" presStyleCnt="0"/>
      <dgm:spPr/>
    </dgm:pt>
    <dgm:pt modelId="{84A98DB2-7B3B-45E1-A039-6ED368B6B53C}" type="pres">
      <dgm:prSet presAssocID="{E5698BDB-9216-4CE9-BDC6-252E79B1A304}" presName="parentLin" presStyleCnt="0"/>
      <dgm:spPr/>
    </dgm:pt>
    <dgm:pt modelId="{EE5D0634-2574-455E-AB83-CC1570BBC19A}" type="pres">
      <dgm:prSet presAssocID="{E5698BDB-9216-4CE9-BDC6-252E79B1A304}" presName="parentLeftMargin" presStyleLbl="node1" presStyleIdx="2" presStyleCnt="4"/>
      <dgm:spPr/>
    </dgm:pt>
    <dgm:pt modelId="{9BE5681C-AE3C-4F20-ABF6-B01B21A72389}" type="pres">
      <dgm:prSet presAssocID="{E5698BDB-9216-4CE9-BDC6-252E79B1A304}" presName="parentText" presStyleLbl="node1" presStyleIdx="3" presStyleCnt="4" custScaleX="53297">
        <dgm:presLayoutVars>
          <dgm:chMax val="0"/>
          <dgm:bulletEnabled val="1"/>
        </dgm:presLayoutVars>
      </dgm:prSet>
      <dgm:spPr/>
    </dgm:pt>
    <dgm:pt modelId="{077CC4B1-868D-4F51-B26D-D1ED708EACF8}" type="pres">
      <dgm:prSet presAssocID="{E5698BDB-9216-4CE9-BDC6-252E79B1A304}" presName="negativeSpace" presStyleCnt="0"/>
      <dgm:spPr/>
    </dgm:pt>
    <dgm:pt modelId="{3302309B-E934-472A-A831-A8465E4DE089}" type="pres">
      <dgm:prSet presAssocID="{E5698BDB-9216-4CE9-BDC6-252E79B1A30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A69AE0C-BACE-4386-B00B-EBE7D678106B}" type="presOf" srcId="{E086441D-1088-4AD8-8A3F-1AFD977D042C}" destId="{EB5DEC4C-4870-4CD6-9AAA-9D41BE5A51F8}" srcOrd="0" destOrd="0" presId="urn:microsoft.com/office/officeart/2005/8/layout/list1"/>
    <dgm:cxn modelId="{2E1D4A0E-F488-482D-A872-26463789AF01}" srcId="{9D9C5225-3C6E-4F27-85B9-5949B3C052FE}" destId="{E5698BDB-9216-4CE9-BDC6-252E79B1A304}" srcOrd="3" destOrd="0" parTransId="{207349D1-1256-46D9-92D5-95E745012428}" sibTransId="{50E6713E-B84E-4880-855C-13D8E4FA2B9A}"/>
    <dgm:cxn modelId="{3B273014-5A84-4643-B369-50F20BD40F04}" srcId="{9D9C5225-3C6E-4F27-85B9-5949B3C052FE}" destId="{95DF7791-8B74-4322-818A-4A760800BCDF}" srcOrd="1" destOrd="0" parTransId="{8E80115F-1DBF-4EDE-9019-B422323341D5}" sibTransId="{41CBBB67-3DD7-4B85-836C-6BE6876C892D}"/>
    <dgm:cxn modelId="{6CECE71D-A2B3-4E52-995A-76A244E07274}" srcId="{95DF7791-8B74-4322-818A-4A760800BCDF}" destId="{CFCD7675-5055-46EA-83AA-6AE037ACB6C9}" srcOrd="0" destOrd="0" parTransId="{510D9CA0-60E7-4AD5-B03F-4CC8762956C9}" sibTransId="{BA1D82B3-25A1-4E94-9B1E-93FDC92A701F}"/>
    <dgm:cxn modelId="{C7E10B26-2EE9-40DE-A3F6-FD0B0D3380AF}" srcId="{9D9C5225-3C6E-4F27-85B9-5949B3C052FE}" destId="{885A7FDF-6618-427C-8EC3-DE1830C72792}" srcOrd="0" destOrd="0" parTransId="{1A683364-28FC-4DB8-B763-39FEE851625E}" sibTransId="{67F0BFED-1380-46B3-A45B-624700EA2F07}"/>
    <dgm:cxn modelId="{10E9B02C-8885-4DB1-A0CD-1C83C7BDDB91}" type="presOf" srcId="{95DF7791-8B74-4322-818A-4A760800BCDF}" destId="{0FEA8402-78C0-417E-8251-E852576BE5B4}" srcOrd="0" destOrd="0" presId="urn:microsoft.com/office/officeart/2005/8/layout/list1"/>
    <dgm:cxn modelId="{0CEC234F-097E-453F-9FB4-2BF115F1DA69}" type="presOf" srcId="{07A58AEC-CEDF-4ED6-B8BF-D055F5504225}" destId="{3302309B-E934-472A-A831-A8465E4DE089}" srcOrd="0" destOrd="0" presId="urn:microsoft.com/office/officeart/2005/8/layout/list1"/>
    <dgm:cxn modelId="{62644B53-C3C5-434E-AF15-F1D778FBA7CD}" type="presOf" srcId="{E086441D-1088-4AD8-8A3F-1AFD977D042C}" destId="{B241AD46-6F53-449A-A6F5-FF1FD7DCD7CC}" srcOrd="1" destOrd="0" presId="urn:microsoft.com/office/officeart/2005/8/layout/list1"/>
    <dgm:cxn modelId="{E7AD3857-6205-4F58-9A13-16F90FAD91A1}" srcId="{9D9C5225-3C6E-4F27-85B9-5949B3C052FE}" destId="{E086441D-1088-4AD8-8A3F-1AFD977D042C}" srcOrd="2" destOrd="0" parTransId="{12BCCA87-E0F2-4906-AD79-25035E92BC59}" sibTransId="{B4BB4F27-F91B-47E1-A8E1-94A5AE4F3714}"/>
    <dgm:cxn modelId="{998B5F6A-C50C-4C52-A988-4088381EAFC9}" type="presOf" srcId="{985EED74-DD33-4C4B-9689-50C5A8C989C1}" destId="{97351719-2408-499F-83E3-0ED6C4C2C82A}" srcOrd="0" destOrd="0" presId="urn:microsoft.com/office/officeart/2005/8/layout/list1"/>
    <dgm:cxn modelId="{C5B6196E-0B1D-460D-BB58-CC36F6236D10}" type="presOf" srcId="{E5698BDB-9216-4CE9-BDC6-252E79B1A304}" destId="{EE5D0634-2574-455E-AB83-CC1570BBC19A}" srcOrd="0" destOrd="0" presId="urn:microsoft.com/office/officeart/2005/8/layout/list1"/>
    <dgm:cxn modelId="{43729875-F86F-45AF-839B-914A49C4F801}" type="presOf" srcId="{CFCD7675-5055-46EA-83AA-6AE037ACB6C9}" destId="{5A614930-9D23-424A-8243-BFE71AA22844}" srcOrd="0" destOrd="0" presId="urn:microsoft.com/office/officeart/2005/8/layout/list1"/>
    <dgm:cxn modelId="{398C2E80-B0D0-4FAF-A610-215A81557589}" type="presOf" srcId="{E5698BDB-9216-4CE9-BDC6-252E79B1A304}" destId="{9BE5681C-AE3C-4F20-ABF6-B01B21A72389}" srcOrd="1" destOrd="0" presId="urn:microsoft.com/office/officeart/2005/8/layout/list1"/>
    <dgm:cxn modelId="{7311128A-35B7-4B88-95DD-C4CC3119F212}" srcId="{E5698BDB-9216-4CE9-BDC6-252E79B1A304}" destId="{07A58AEC-CEDF-4ED6-B8BF-D055F5504225}" srcOrd="0" destOrd="0" parTransId="{03272EAE-DC9D-4281-A273-65E218CD1081}" sibTransId="{C2010EE7-CAB9-4AF2-B268-9F1D73F69C46}"/>
    <dgm:cxn modelId="{FC92E0A7-DA77-4F5D-98B0-E2F7407DD7DA}" type="presOf" srcId="{AFB2AC7E-96E6-459D-86B9-EE5CB6128719}" destId="{5A614930-9D23-424A-8243-BFE71AA22844}" srcOrd="0" destOrd="1" presId="urn:microsoft.com/office/officeart/2005/8/layout/list1"/>
    <dgm:cxn modelId="{81B20CAF-BF34-4934-BC23-58BB30944223}" type="presOf" srcId="{037533AD-FCD8-4ABF-991A-5BAACE365BA3}" destId="{78BFE524-F0C6-47B9-BEA8-E45939E37FD7}" srcOrd="0" destOrd="0" presId="urn:microsoft.com/office/officeart/2005/8/layout/list1"/>
    <dgm:cxn modelId="{5720F3BA-0938-48D4-BFF2-4D1C13DBDE6F}" type="presOf" srcId="{95DF7791-8B74-4322-818A-4A760800BCDF}" destId="{CE54CBD6-1749-4114-9ADB-600277DC2867}" srcOrd="1" destOrd="0" presId="urn:microsoft.com/office/officeart/2005/8/layout/list1"/>
    <dgm:cxn modelId="{19FE3ABD-1866-4D1E-901A-C55E6AD896B1}" srcId="{885A7FDF-6618-427C-8EC3-DE1830C72792}" destId="{985EED74-DD33-4C4B-9689-50C5A8C989C1}" srcOrd="0" destOrd="0" parTransId="{67E69F7C-E242-49A7-BDF2-DF6686300C4F}" sibTransId="{D8703822-EA62-43E8-ABDC-0F4C659C68AC}"/>
    <dgm:cxn modelId="{891944C6-59A5-42F3-9135-908625013C56}" type="presOf" srcId="{885A7FDF-6618-427C-8EC3-DE1830C72792}" destId="{E46C7AB2-2574-41DA-9359-C6C42C8BC637}" srcOrd="0" destOrd="0" presId="urn:microsoft.com/office/officeart/2005/8/layout/list1"/>
    <dgm:cxn modelId="{FD62A7D4-8E69-42FD-B5D4-27E9D0D21121}" type="presOf" srcId="{885A7FDF-6618-427C-8EC3-DE1830C72792}" destId="{2D670827-F110-40AD-8369-6143F444D746}" srcOrd="1" destOrd="0" presId="urn:microsoft.com/office/officeart/2005/8/layout/list1"/>
    <dgm:cxn modelId="{3FEB42DA-4834-4C35-BEF6-DADD220C7C85}" type="presOf" srcId="{9D9C5225-3C6E-4F27-85B9-5949B3C052FE}" destId="{E36EEEB0-F871-4CFB-97AE-19B336B80BF2}" srcOrd="0" destOrd="0" presId="urn:microsoft.com/office/officeart/2005/8/layout/list1"/>
    <dgm:cxn modelId="{19A2A6ED-C872-4526-91AA-097B17E1CC3C}" srcId="{95DF7791-8B74-4322-818A-4A760800BCDF}" destId="{AFB2AC7E-96E6-459D-86B9-EE5CB6128719}" srcOrd="1" destOrd="0" parTransId="{F9B0D75A-31AB-4BE3-B9BA-7011077AE9EF}" sibTransId="{164E5600-730C-43DB-8B1D-53A0BDBE9524}"/>
    <dgm:cxn modelId="{8E242CF4-FFA4-4FFB-9046-5A5D31A75E79}" srcId="{E086441D-1088-4AD8-8A3F-1AFD977D042C}" destId="{037533AD-FCD8-4ABF-991A-5BAACE365BA3}" srcOrd="0" destOrd="0" parTransId="{9E7C0B59-FF7A-4B67-B8BE-3F0E1E149AC3}" sibTransId="{A715944E-E143-42D7-901C-0EA696746768}"/>
    <dgm:cxn modelId="{0433280E-A156-4BE7-8654-56A5B4503A65}" type="presParOf" srcId="{E36EEEB0-F871-4CFB-97AE-19B336B80BF2}" destId="{E352C8DA-F477-4218-AF61-3C46BF1EAAFA}" srcOrd="0" destOrd="0" presId="urn:microsoft.com/office/officeart/2005/8/layout/list1"/>
    <dgm:cxn modelId="{740E1E13-C5B1-4D6E-8C3F-EFB3053EDFA6}" type="presParOf" srcId="{E352C8DA-F477-4218-AF61-3C46BF1EAAFA}" destId="{E46C7AB2-2574-41DA-9359-C6C42C8BC637}" srcOrd="0" destOrd="0" presId="urn:microsoft.com/office/officeart/2005/8/layout/list1"/>
    <dgm:cxn modelId="{CE6F41FB-4743-42A8-933C-15346B6785D5}" type="presParOf" srcId="{E352C8DA-F477-4218-AF61-3C46BF1EAAFA}" destId="{2D670827-F110-40AD-8369-6143F444D746}" srcOrd="1" destOrd="0" presId="urn:microsoft.com/office/officeart/2005/8/layout/list1"/>
    <dgm:cxn modelId="{FB0F9B27-232C-42FE-A85A-249C0DC946B9}" type="presParOf" srcId="{E36EEEB0-F871-4CFB-97AE-19B336B80BF2}" destId="{E0ECA8A4-3122-46FF-9F69-9CEAA1986D35}" srcOrd="1" destOrd="0" presId="urn:microsoft.com/office/officeart/2005/8/layout/list1"/>
    <dgm:cxn modelId="{72B52BA4-D936-4B64-BB75-24C4A6584BFA}" type="presParOf" srcId="{E36EEEB0-F871-4CFB-97AE-19B336B80BF2}" destId="{97351719-2408-499F-83E3-0ED6C4C2C82A}" srcOrd="2" destOrd="0" presId="urn:microsoft.com/office/officeart/2005/8/layout/list1"/>
    <dgm:cxn modelId="{B589E6F7-8C38-4653-99F9-5D900A5AC3B9}" type="presParOf" srcId="{E36EEEB0-F871-4CFB-97AE-19B336B80BF2}" destId="{577FE1D2-B84B-4EB3-9477-F35F786B38E9}" srcOrd="3" destOrd="0" presId="urn:microsoft.com/office/officeart/2005/8/layout/list1"/>
    <dgm:cxn modelId="{CD24622A-0680-4064-9EAE-BD2DD33818AD}" type="presParOf" srcId="{E36EEEB0-F871-4CFB-97AE-19B336B80BF2}" destId="{E864C05F-87FF-469E-949D-08EFBC4DDE21}" srcOrd="4" destOrd="0" presId="urn:microsoft.com/office/officeart/2005/8/layout/list1"/>
    <dgm:cxn modelId="{8CDB43EE-387B-49BE-ABB9-D094500BEB22}" type="presParOf" srcId="{E864C05F-87FF-469E-949D-08EFBC4DDE21}" destId="{0FEA8402-78C0-417E-8251-E852576BE5B4}" srcOrd="0" destOrd="0" presId="urn:microsoft.com/office/officeart/2005/8/layout/list1"/>
    <dgm:cxn modelId="{7C425285-2216-4344-BC3E-48CB0894E3C0}" type="presParOf" srcId="{E864C05F-87FF-469E-949D-08EFBC4DDE21}" destId="{CE54CBD6-1749-4114-9ADB-600277DC2867}" srcOrd="1" destOrd="0" presId="urn:microsoft.com/office/officeart/2005/8/layout/list1"/>
    <dgm:cxn modelId="{01484E24-7240-443C-8E3D-3E3712533606}" type="presParOf" srcId="{E36EEEB0-F871-4CFB-97AE-19B336B80BF2}" destId="{252E20FE-4A0E-4EEB-A3B8-44A3E6D598B4}" srcOrd="5" destOrd="0" presId="urn:microsoft.com/office/officeart/2005/8/layout/list1"/>
    <dgm:cxn modelId="{CBAFA5C0-7B7A-44BA-BB1F-1ACEC6D0F829}" type="presParOf" srcId="{E36EEEB0-F871-4CFB-97AE-19B336B80BF2}" destId="{5A614930-9D23-424A-8243-BFE71AA22844}" srcOrd="6" destOrd="0" presId="urn:microsoft.com/office/officeart/2005/8/layout/list1"/>
    <dgm:cxn modelId="{E65C3C1D-3450-4A65-B5D4-B3E7C7302DBC}" type="presParOf" srcId="{E36EEEB0-F871-4CFB-97AE-19B336B80BF2}" destId="{5A1C1536-DF21-4451-8ABE-19928B8D77BD}" srcOrd="7" destOrd="0" presId="urn:microsoft.com/office/officeart/2005/8/layout/list1"/>
    <dgm:cxn modelId="{E1B8B7ED-CB56-4EEA-BD85-7DF86CF89F78}" type="presParOf" srcId="{E36EEEB0-F871-4CFB-97AE-19B336B80BF2}" destId="{30EABB6D-D2F2-49DF-9101-B13614C633B8}" srcOrd="8" destOrd="0" presId="urn:microsoft.com/office/officeart/2005/8/layout/list1"/>
    <dgm:cxn modelId="{E153F7BD-C62F-49F0-8061-158297DA7A51}" type="presParOf" srcId="{30EABB6D-D2F2-49DF-9101-B13614C633B8}" destId="{EB5DEC4C-4870-4CD6-9AAA-9D41BE5A51F8}" srcOrd="0" destOrd="0" presId="urn:microsoft.com/office/officeart/2005/8/layout/list1"/>
    <dgm:cxn modelId="{4DBEAA50-20AC-48F9-B38E-AB113A34AC15}" type="presParOf" srcId="{30EABB6D-D2F2-49DF-9101-B13614C633B8}" destId="{B241AD46-6F53-449A-A6F5-FF1FD7DCD7CC}" srcOrd="1" destOrd="0" presId="urn:microsoft.com/office/officeart/2005/8/layout/list1"/>
    <dgm:cxn modelId="{CD445FAB-92D8-47DA-A9DD-3E3FD82805AA}" type="presParOf" srcId="{E36EEEB0-F871-4CFB-97AE-19B336B80BF2}" destId="{B4E6C861-8B78-4485-B3F2-F52D87C00B7B}" srcOrd="9" destOrd="0" presId="urn:microsoft.com/office/officeart/2005/8/layout/list1"/>
    <dgm:cxn modelId="{B20E3558-8282-451B-9237-C6327288892C}" type="presParOf" srcId="{E36EEEB0-F871-4CFB-97AE-19B336B80BF2}" destId="{78BFE524-F0C6-47B9-BEA8-E45939E37FD7}" srcOrd="10" destOrd="0" presId="urn:microsoft.com/office/officeart/2005/8/layout/list1"/>
    <dgm:cxn modelId="{2F62B2B9-6B12-4D65-B28C-63B7C86213C9}" type="presParOf" srcId="{E36EEEB0-F871-4CFB-97AE-19B336B80BF2}" destId="{6BC89EF1-3B60-4A21-952B-635A28C91BAE}" srcOrd="11" destOrd="0" presId="urn:microsoft.com/office/officeart/2005/8/layout/list1"/>
    <dgm:cxn modelId="{E643AD19-8116-4894-9410-667E6834EA00}" type="presParOf" srcId="{E36EEEB0-F871-4CFB-97AE-19B336B80BF2}" destId="{84A98DB2-7B3B-45E1-A039-6ED368B6B53C}" srcOrd="12" destOrd="0" presId="urn:microsoft.com/office/officeart/2005/8/layout/list1"/>
    <dgm:cxn modelId="{1E76E9E0-A0CF-4B4F-8075-D3D913E4D21C}" type="presParOf" srcId="{84A98DB2-7B3B-45E1-A039-6ED368B6B53C}" destId="{EE5D0634-2574-455E-AB83-CC1570BBC19A}" srcOrd="0" destOrd="0" presId="urn:microsoft.com/office/officeart/2005/8/layout/list1"/>
    <dgm:cxn modelId="{782A3085-CF2C-4268-84EA-30BA86E61ABD}" type="presParOf" srcId="{84A98DB2-7B3B-45E1-A039-6ED368B6B53C}" destId="{9BE5681C-AE3C-4F20-ABF6-B01B21A72389}" srcOrd="1" destOrd="0" presId="urn:microsoft.com/office/officeart/2005/8/layout/list1"/>
    <dgm:cxn modelId="{C213CAEB-E3FB-4051-8D39-6E06D37F2B2E}" type="presParOf" srcId="{E36EEEB0-F871-4CFB-97AE-19B336B80BF2}" destId="{077CC4B1-868D-4F51-B26D-D1ED708EACF8}" srcOrd="13" destOrd="0" presId="urn:microsoft.com/office/officeart/2005/8/layout/list1"/>
    <dgm:cxn modelId="{A5083C98-CE21-446C-9C19-39C24814CE7B}" type="presParOf" srcId="{E36EEEB0-F871-4CFB-97AE-19B336B80BF2}" destId="{3302309B-E934-472A-A831-A8465E4DE08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0A7B86-9FF1-45C9-A492-59E1CA2382E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B4BA42E2-8941-4C9D-A252-0C191462C334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User Thread:</a:t>
          </a:r>
          <a:endParaRPr lang="en-SG" dirty="0">
            <a:solidFill>
              <a:schemeClr val="bg1"/>
            </a:solidFill>
          </a:endParaRPr>
        </a:p>
      </dgm:t>
    </dgm:pt>
    <dgm:pt modelId="{421B22F3-B333-4B62-B41B-1330BBB035F5}" type="parTrans" cxnId="{7E57C344-2103-464F-836E-2C67B85B8790}">
      <dgm:prSet/>
      <dgm:spPr/>
      <dgm:t>
        <a:bodyPr/>
        <a:lstStyle/>
        <a:p>
          <a:endParaRPr lang="en-SG"/>
        </a:p>
      </dgm:t>
    </dgm:pt>
    <dgm:pt modelId="{A55B0736-FA70-45B9-808A-882479FD17B4}" type="sibTrans" cxnId="{7E57C344-2103-464F-836E-2C67B85B8790}">
      <dgm:prSet/>
      <dgm:spPr/>
      <dgm:t>
        <a:bodyPr/>
        <a:lstStyle/>
        <a:p>
          <a:endParaRPr lang="en-SG"/>
        </a:p>
      </dgm:t>
    </dgm:pt>
    <dgm:pt modelId="{E5633191-FD3D-4C05-8DCE-E145C483795A}">
      <dgm:prSet custT="1"/>
      <dgm:spPr/>
      <dgm:t>
        <a:bodyPr/>
        <a:lstStyle/>
        <a:p>
          <a:r>
            <a:rPr lang="en-US" altLang="en-US" sz="2400" dirty="0"/>
            <a:t>Thread is implemented as a </a:t>
          </a:r>
          <a:r>
            <a:rPr lang="en-US" altLang="en-US" sz="2400" b="1" dirty="0">
              <a:solidFill>
                <a:srgbClr val="C00000"/>
              </a:solidFill>
            </a:rPr>
            <a:t>user library</a:t>
          </a:r>
        </a:p>
      </dgm:t>
    </dgm:pt>
    <dgm:pt modelId="{8AD2C3AD-2541-4E47-856A-E79499B788D3}" type="parTrans" cxnId="{3429C868-DA46-46BF-88CA-EC1CAFA40918}">
      <dgm:prSet/>
      <dgm:spPr/>
      <dgm:t>
        <a:bodyPr/>
        <a:lstStyle/>
        <a:p>
          <a:endParaRPr lang="en-SG"/>
        </a:p>
      </dgm:t>
    </dgm:pt>
    <dgm:pt modelId="{2BA128D5-FEBB-4139-88F9-38840CDEF053}" type="sibTrans" cxnId="{3429C868-DA46-46BF-88CA-EC1CAFA40918}">
      <dgm:prSet/>
      <dgm:spPr/>
      <dgm:t>
        <a:bodyPr/>
        <a:lstStyle/>
        <a:p>
          <a:endParaRPr lang="en-SG"/>
        </a:p>
      </dgm:t>
    </dgm:pt>
    <dgm:pt modelId="{38BFE8C3-4A2D-427C-BA38-3B5697FCF8BD}">
      <dgm:prSet custT="1"/>
      <dgm:spPr/>
      <dgm:t>
        <a:bodyPr/>
        <a:lstStyle/>
        <a:p>
          <a:r>
            <a:rPr lang="en-US" altLang="en-US" sz="2000" dirty="0"/>
            <a:t>A </a:t>
          </a:r>
          <a:r>
            <a:rPr lang="en-US" altLang="en-US" sz="2000" b="1" dirty="0">
              <a:solidFill>
                <a:srgbClr val="C00000"/>
              </a:solidFill>
            </a:rPr>
            <a:t>runtime system </a:t>
          </a:r>
          <a:r>
            <a:rPr lang="en-US" altLang="en-US" sz="2000" dirty="0"/>
            <a:t>(in the process) will handle thread related operation</a:t>
          </a:r>
        </a:p>
      </dgm:t>
    </dgm:pt>
    <dgm:pt modelId="{A556D11E-E829-4896-B1D6-99E5FBB29A99}" type="parTrans" cxnId="{3746167F-BCAB-43F0-8F3E-8B9C693FF11B}">
      <dgm:prSet/>
      <dgm:spPr/>
      <dgm:t>
        <a:bodyPr/>
        <a:lstStyle/>
        <a:p>
          <a:endParaRPr lang="en-SG"/>
        </a:p>
      </dgm:t>
    </dgm:pt>
    <dgm:pt modelId="{3EA8A25F-30C9-4BC2-B87D-88296979B4D3}" type="sibTrans" cxnId="{3746167F-BCAB-43F0-8F3E-8B9C693FF11B}">
      <dgm:prSet/>
      <dgm:spPr/>
      <dgm:t>
        <a:bodyPr/>
        <a:lstStyle/>
        <a:p>
          <a:endParaRPr lang="en-SG"/>
        </a:p>
      </dgm:t>
    </dgm:pt>
    <dgm:pt modelId="{96604E75-DD74-4462-8B83-ACACBDD5AF28}">
      <dgm:prSet custT="1"/>
      <dgm:spPr/>
      <dgm:t>
        <a:bodyPr/>
        <a:lstStyle/>
        <a:p>
          <a:r>
            <a:rPr lang="en-US" altLang="en-US" sz="2400" dirty="0"/>
            <a:t>Kernel is </a:t>
          </a:r>
          <a:r>
            <a:rPr lang="en-US" altLang="en-US" sz="2400" b="1" dirty="0">
              <a:solidFill>
                <a:srgbClr val="C00000"/>
              </a:solidFill>
            </a:rPr>
            <a:t>not aware </a:t>
          </a:r>
          <a:r>
            <a:rPr lang="en-US" altLang="en-US" sz="2400" dirty="0"/>
            <a:t>of the threads in the process</a:t>
          </a:r>
        </a:p>
      </dgm:t>
    </dgm:pt>
    <dgm:pt modelId="{0FD48011-271C-424D-ACAD-45E33ABC8B65}" type="parTrans" cxnId="{0CC95FEE-E5D7-4723-9A94-2BEC54F883D8}">
      <dgm:prSet/>
      <dgm:spPr/>
      <dgm:t>
        <a:bodyPr/>
        <a:lstStyle/>
        <a:p>
          <a:endParaRPr lang="en-SG"/>
        </a:p>
      </dgm:t>
    </dgm:pt>
    <dgm:pt modelId="{C72F7149-B346-4707-963C-8CF21DA33AFF}" type="sibTrans" cxnId="{0CC95FEE-E5D7-4723-9A94-2BEC54F883D8}">
      <dgm:prSet/>
      <dgm:spPr/>
      <dgm:t>
        <a:bodyPr/>
        <a:lstStyle/>
        <a:p>
          <a:endParaRPr lang="en-SG"/>
        </a:p>
      </dgm:t>
    </dgm:pt>
    <dgm:pt modelId="{CB320BA5-88AB-48C7-99D9-489020D19ACE}">
      <dgm:prSet/>
      <dgm:spPr/>
      <dgm:t>
        <a:bodyPr/>
        <a:lstStyle/>
        <a:p>
          <a:endParaRPr lang="en-US" altLang="en-US" sz="2200" dirty="0"/>
        </a:p>
      </dgm:t>
    </dgm:pt>
    <dgm:pt modelId="{172D4FFF-CC39-4950-BC54-FF8021AC15B9}" type="parTrans" cxnId="{4CEED1A5-02DF-42BC-BADF-08EC96DD5FC9}">
      <dgm:prSet/>
      <dgm:spPr/>
      <dgm:t>
        <a:bodyPr/>
        <a:lstStyle/>
        <a:p>
          <a:endParaRPr lang="en-SG"/>
        </a:p>
      </dgm:t>
    </dgm:pt>
    <dgm:pt modelId="{3F25FE33-A20E-4E47-A4A9-1ED91426E318}" type="sibTrans" cxnId="{4CEED1A5-02DF-42BC-BADF-08EC96DD5FC9}">
      <dgm:prSet/>
      <dgm:spPr/>
      <dgm:t>
        <a:bodyPr/>
        <a:lstStyle/>
        <a:p>
          <a:endParaRPr lang="en-SG"/>
        </a:p>
      </dgm:t>
    </dgm:pt>
    <dgm:pt modelId="{B6646A57-5E33-43EC-AE58-F3875EE951D3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Kernel Thread:</a:t>
          </a:r>
        </a:p>
      </dgm:t>
    </dgm:pt>
    <dgm:pt modelId="{8FBCC779-F075-4FED-A45C-C0989478C526}" type="parTrans" cxnId="{02681E19-2838-4A38-97B0-227073CA2F84}">
      <dgm:prSet/>
      <dgm:spPr/>
      <dgm:t>
        <a:bodyPr/>
        <a:lstStyle/>
        <a:p>
          <a:endParaRPr lang="en-SG"/>
        </a:p>
      </dgm:t>
    </dgm:pt>
    <dgm:pt modelId="{A3C8C36F-F2AC-4776-A519-AC2F17C4B371}" type="sibTrans" cxnId="{02681E19-2838-4A38-97B0-227073CA2F84}">
      <dgm:prSet/>
      <dgm:spPr/>
      <dgm:t>
        <a:bodyPr/>
        <a:lstStyle/>
        <a:p>
          <a:endParaRPr lang="en-SG"/>
        </a:p>
      </dgm:t>
    </dgm:pt>
    <dgm:pt modelId="{A8C50234-B15D-4434-8EC1-F00E17CD6F98}">
      <dgm:prSet custT="1"/>
      <dgm:spPr/>
      <dgm:t>
        <a:bodyPr/>
        <a:lstStyle/>
        <a:p>
          <a:r>
            <a:rPr lang="en-US" altLang="en-US" sz="2400" dirty="0"/>
            <a:t>Thread is implemented in the </a:t>
          </a:r>
          <a:r>
            <a:rPr lang="en-US" alt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OS</a:t>
          </a:r>
        </a:p>
      </dgm:t>
    </dgm:pt>
    <dgm:pt modelId="{81432B96-1E8E-49F6-BF42-57CC292F7F42}" type="parTrans" cxnId="{067792FC-1AAE-496A-B22D-128B55AB2E24}">
      <dgm:prSet/>
      <dgm:spPr/>
      <dgm:t>
        <a:bodyPr/>
        <a:lstStyle/>
        <a:p>
          <a:endParaRPr lang="en-SG"/>
        </a:p>
      </dgm:t>
    </dgm:pt>
    <dgm:pt modelId="{E4D11E35-DA58-4F77-B9B3-C29D6EE51FED}" type="sibTrans" cxnId="{067792FC-1AAE-496A-B22D-128B55AB2E24}">
      <dgm:prSet/>
      <dgm:spPr/>
      <dgm:t>
        <a:bodyPr/>
        <a:lstStyle/>
        <a:p>
          <a:endParaRPr lang="en-SG"/>
        </a:p>
      </dgm:t>
    </dgm:pt>
    <dgm:pt modelId="{1790F279-0851-4E81-BD9D-327BC456CF54}">
      <dgm:prSet custT="1"/>
      <dgm:spPr/>
      <dgm:t>
        <a:bodyPr/>
        <a:lstStyle/>
        <a:p>
          <a:r>
            <a:rPr lang="en-US" altLang="en-US" sz="2000" dirty="0"/>
            <a:t>Thread operation is handled as </a:t>
          </a:r>
          <a:r>
            <a:rPr lang="en-US" alt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system calls</a:t>
          </a:r>
        </a:p>
      </dgm:t>
    </dgm:pt>
    <dgm:pt modelId="{CFA036EE-A01C-48B2-9CAA-C3983367596D}" type="parTrans" cxnId="{2DC62227-5FA6-4517-9F46-A29222756917}">
      <dgm:prSet/>
      <dgm:spPr/>
      <dgm:t>
        <a:bodyPr/>
        <a:lstStyle/>
        <a:p>
          <a:endParaRPr lang="en-SG"/>
        </a:p>
      </dgm:t>
    </dgm:pt>
    <dgm:pt modelId="{E0B81D2B-3B88-436E-A27C-25E6AD430D4C}" type="sibTrans" cxnId="{2DC62227-5FA6-4517-9F46-A29222756917}">
      <dgm:prSet/>
      <dgm:spPr/>
      <dgm:t>
        <a:bodyPr/>
        <a:lstStyle/>
        <a:p>
          <a:endParaRPr lang="en-SG"/>
        </a:p>
      </dgm:t>
    </dgm:pt>
    <dgm:pt modelId="{9F9A4141-02B3-44E3-B4A0-A32C48253A75}">
      <dgm:prSet custT="1"/>
      <dgm:spPr/>
      <dgm:t>
        <a:bodyPr/>
        <a:lstStyle/>
        <a:p>
          <a:r>
            <a:rPr lang="en-US" altLang="en-US" sz="2400" dirty="0"/>
            <a:t>Thread-level scheduling is possible:</a:t>
          </a:r>
        </a:p>
      </dgm:t>
    </dgm:pt>
    <dgm:pt modelId="{02C0EE0B-B735-4ACE-AF31-9766F27290E7}" type="parTrans" cxnId="{A1012186-5968-46D0-A0DC-961ACD6745B2}">
      <dgm:prSet/>
      <dgm:spPr/>
      <dgm:t>
        <a:bodyPr/>
        <a:lstStyle/>
        <a:p>
          <a:endParaRPr lang="en-SG"/>
        </a:p>
      </dgm:t>
    </dgm:pt>
    <dgm:pt modelId="{536BAA9C-01BD-4FA5-8A31-696BD5BC3B73}" type="sibTrans" cxnId="{A1012186-5968-46D0-A0DC-961ACD6745B2}">
      <dgm:prSet/>
      <dgm:spPr/>
      <dgm:t>
        <a:bodyPr/>
        <a:lstStyle/>
        <a:p>
          <a:endParaRPr lang="en-SG"/>
        </a:p>
      </dgm:t>
    </dgm:pt>
    <dgm:pt modelId="{DFF4DBB4-CF2D-417A-A0CA-BB8BAE975CD1}">
      <dgm:prSet custT="1"/>
      <dgm:spPr/>
      <dgm:t>
        <a:bodyPr/>
        <a:lstStyle/>
        <a:p>
          <a:r>
            <a:rPr lang="en-US" altLang="en-US" sz="2000" dirty="0"/>
            <a:t>Kernel schedule by threads, instead of by process</a:t>
          </a:r>
        </a:p>
      </dgm:t>
    </dgm:pt>
    <dgm:pt modelId="{255F9561-D426-4D31-A31A-157FED7DFC62}" type="parTrans" cxnId="{40D9E743-1A7F-4E1E-BF53-0CCE93D54822}">
      <dgm:prSet/>
      <dgm:spPr/>
      <dgm:t>
        <a:bodyPr/>
        <a:lstStyle/>
        <a:p>
          <a:endParaRPr lang="en-SG"/>
        </a:p>
      </dgm:t>
    </dgm:pt>
    <dgm:pt modelId="{0E6371AD-A64E-4336-BDEA-5A12300099E3}" type="sibTrans" cxnId="{40D9E743-1A7F-4E1E-BF53-0CCE93D54822}">
      <dgm:prSet/>
      <dgm:spPr/>
      <dgm:t>
        <a:bodyPr/>
        <a:lstStyle/>
        <a:p>
          <a:endParaRPr lang="en-SG"/>
        </a:p>
      </dgm:t>
    </dgm:pt>
    <dgm:pt modelId="{167C0788-B6EF-4712-B3C1-A291CEE34361}">
      <dgm:prSet custT="1"/>
      <dgm:spPr/>
      <dgm:t>
        <a:bodyPr/>
        <a:lstStyle/>
        <a:p>
          <a:r>
            <a:rPr lang="en-US" altLang="en-US" sz="2400" dirty="0"/>
            <a:t>Kernel may make use of threads for its own execution</a:t>
          </a:r>
        </a:p>
      </dgm:t>
    </dgm:pt>
    <dgm:pt modelId="{C1AE1EDA-FEB7-4BF5-981B-02A5D3F982DB}" type="parTrans" cxnId="{8E7B5EEE-E487-42BC-AEAB-1938584D6612}">
      <dgm:prSet/>
      <dgm:spPr/>
      <dgm:t>
        <a:bodyPr/>
        <a:lstStyle/>
        <a:p>
          <a:endParaRPr lang="en-SG"/>
        </a:p>
      </dgm:t>
    </dgm:pt>
    <dgm:pt modelId="{983A4CF0-C4F0-4F12-A347-D924250E58C3}" type="sibTrans" cxnId="{8E7B5EEE-E487-42BC-AEAB-1938584D6612}">
      <dgm:prSet/>
      <dgm:spPr/>
      <dgm:t>
        <a:bodyPr/>
        <a:lstStyle/>
        <a:p>
          <a:endParaRPr lang="en-SG"/>
        </a:p>
      </dgm:t>
    </dgm:pt>
    <dgm:pt modelId="{205C0FDD-4319-424D-ADCF-138FAC51EA34}" type="pres">
      <dgm:prSet presAssocID="{B00A7B86-9FF1-45C9-A492-59E1CA2382EB}" presName="linear" presStyleCnt="0">
        <dgm:presLayoutVars>
          <dgm:dir/>
          <dgm:animLvl val="lvl"/>
          <dgm:resizeHandles val="exact"/>
        </dgm:presLayoutVars>
      </dgm:prSet>
      <dgm:spPr/>
    </dgm:pt>
    <dgm:pt modelId="{BF453E06-AA79-4304-8CE7-C50AB7D9CED4}" type="pres">
      <dgm:prSet presAssocID="{B4BA42E2-8941-4C9D-A252-0C191462C334}" presName="parentLin" presStyleCnt="0"/>
      <dgm:spPr/>
    </dgm:pt>
    <dgm:pt modelId="{970782C8-C6C8-4A68-AB66-00C3EDAA28BE}" type="pres">
      <dgm:prSet presAssocID="{B4BA42E2-8941-4C9D-A252-0C191462C334}" presName="parentLeftMargin" presStyleLbl="node1" presStyleIdx="0" presStyleCnt="2"/>
      <dgm:spPr/>
    </dgm:pt>
    <dgm:pt modelId="{7A3EF68F-9752-4DCC-965F-DBA8D7E116F3}" type="pres">
      <dgm:prSet presAssocID="{B4BA42E2-8941-4C9D-A252-0C191462C334}" presName="parentText" presStyleLbl="node1" presStyleIdx="0" presStyleCnt="2" custScaleX="50852">
        <dgm:presLayoutVars>
          <dgm:chMax val="0"/>
          <dgm:bulletEnabled val="1"/>
        </dgm:presLayoutVars>
      </dgm:prSet>
      <dgm:spPr/>
    </dgm:pt>
    <dgm:pt modelId="{C5E82BFF-B948-4E0D-9489-D25C7675A5A6}" type="pres">
      <dgm:prSet presAssocID="{B4BA42E2-8941-4C9D-A252-0C191462C334}" presName="negativeSpace" presStyleCnt="0"/>
      <dgm:spPr/>
    </dgm:pt>
    <dgm:pt modelId="{66723F28-7626-44F9-B9CB-8C67ADCA4544}" type="pres">
      <dgm:prSet presAssocID="{B4BA42E2-8941-4C9D-A252-0C191462C334}" presName="childText" presStyleLbl="conFgAcc1" presStyleIdx="0" presStyleCnt="2">
        <dgm:presLayoutVars>
          <dgm:bulletEnabled val="1"/>
        </dgm:presLayoutVars>
      </dgm:prSet>
      <dgm:spPr/>
    </dgm:pt>
    <dgm:pt modelId="{41706324-8AE9-4348-95C8-46EBCCD2140D}" type="pres">
      <dgm:prSet presAssocID="{A55B0736-FA70-45B9-808A-882479FD17B4}" presName="spaceBetweenRectangles" presStyleCnt="0"/>
      <dgm:spPr/>
    </dgm:pt>
    <dgm:pt modelId="{78AEA3BA-B078-4004-B7E7-68252ED87115}" type="pres">
      <dgm:prSet presAssocID="{B6646A57-5E33-43EC-AE58-F3875EE951D3}" presName="parentLin" presStyleCnt="0"/>
      <dgm:spPr/>
    </dgm:pt>
    <dgm:pt modelId="{A389030F-1AD8-40B5-877D-7CACB5D7680E}" type="pres">
      <dgm:prSet presAssocID="{B6646A57-5E33-43EC-AE58-F3875EE951D3}" presName="parentLeftMargin" presStyleLbl="node1" presStyleIdx="0" presStyleCnt="2"/>
      <dgm:spPr/>
    </dgm:pt>
    <dgm:pt modelId="{3547AF6B-B92A-4CCB-A3D4-D90E00998E36}" type="pres">
      <dgm:prSet presAssocID="{B6646A57-5E33-43EC-AE58-F3875EE951D3}" presName="parentText" presStyleLbl="node1" presStyleIdx="1" presStyleCnt="2" custScaleX="50852">
        <dgm:presLayoutVars>
          <dgm:chMax val="0"/>
          <dgm:bulletEnabled val="1"/>
        </dgm:presLayoutVars>
      </dgm:prSet>
      <dgm:spPr/>
    </dgm:pt>
    <dgm:pt modelId="{B4CD73F3-783E-4EE2-BC3E-54D103B8325A}" type="pres">
      <dgm:prSet presAssocID="{B6646A57-5E33-43EC-AE58-F3875EE951D3}" presName="negativeSpace" presStyleCnt="0"/>
      <dgm:spPr/>
    </dgm:pt>
    <dgm:pt modelId="{7EAC4806-83AB-4C11-928C-2DFE25CE71C4}" type="pres">
      <dgm:prSet presAssocID="{B6646A57-5E33-43EC-AE58-F3875EE951D3}" presName="childText" presStyleLbl="conFgAcc1" presStyleIdx="1" presStyleCnt="2" custLinFactNeighborX="-60550" custLinFactNeighborY="-3748">
        <dgm:presLayoutVars>
          <dgm:bulletEnabled val="1"/>
        </dgm:presLayoutVars>
      </dgm:prSet>
      <dgm:spPr/>
    </dgm:pt>
  </dgm:ptLst>
  <dgm:cxnLst>
    <dgm:cxn modelId="{7C662E00-CD49-4F3C-8F9D-4A41DA2A3DAE}" type="presOf" srcId="{DFF4DBB4-CF2D-417A-A0CA-BB8BAE975CD1}" destId="{7EAC4806-83AB-4C11-928C-2DFE25CE71C4}" srcOrd="0" destOrd="3" presId="urn:microsoft.com/office/officeart/2005/8/layout/list1"/>
    <dgm:cxn modelId="{436ECE13-0579-4E9E-BC2B-DBD98D83D3DE}" type="presOf" srcId="{9F9A4141-02B3-44E3-B4A0-A32C48253A75}" destId="{7EAC4806-83AB-4C11-928C-2DFE25CE71C4}" srcOrd="0" destOrd="2" presId="urn:microsoft.com/office/officeart/2005/8/layout/list1"/>
    <dgm:cxn modelId="{02681E19-2838-4A38-97B0-227073CA2F84}" srcId="{B00A7B86-9FF1-45C9-A492-59E1CA2382EB}" destId="{B6646A57-5E33-43EC-AE58-F3875EE951D3}" srcOrd="1" destOrd="0" parTransId="{8FBCC779-F075-4FED-A45C-C0989478C526}" sibTransId="{A3C8C36F-F2AC-4776-A519-AC2F17C4B371}"/>
    <dgm:cxn modelId="{B2314F1A-9C7F-44E3-8DF0-FF26681C812B}" type="presOf" srcId="{A8C50234-B15D-4434-8EC1-F00E17CD6F98}" destId="{7EAC4806-83AB-4C11-928C-2DFE25CE71C4}" srcOrd="0" destOrd="0" presId="urn:microsoft.com/office/officeart/2005/8/layout/list1"/>
    <dgm:cxn modelId="{2DC62227-5FA6-4517-9F46-A29222756917}" srcId="{A8C50234-B15D-4434-8EC1-F00E17CD6F98}" destId="{1790F279-0851-4E81-BD9D-327BC456CF54}" srcOrd="0" destOrd="0" parTransId="{CFA036EE-A01C-48B2-9CAA-C3983367596D}" sibTransId="{E0B81D2B-3B88-436E-A27C-25E6AD430D4C}"/>
    <dgm:cxn modelId="{4F06702E-B6B4-4128-AA0C-345D044225F5}" type="presOf" srcId="{CB320BA5-88AB-48C7-99D9-489020D19ACE}" destId="{66723F28-7626-44F9-B9CB-8C67ADCA4544}" srcOrd="0" destOrd="3" presId="urn:microsoft.com/office/officeart/2005/8/layout/list1"/>
    <dgm:cxn modelId="{E152462F-F8AA-453C-8C34-E2C43041C70C}" type="presOf" srcId="{167C0788-B6EF-4712-B3C1-A291CEE34361}" destId="{7EAC4806-83AB-4C11-928C-2DFE25CE71C4}" srcOrd="0" destOrd="4" presId="urn:microsoft.com/office/officeart/2005/8/layout/list1"/>
    <dgm:cxn modelId="{3AD72233-D206-4FE6-B0E6-4BD6C6BAD77C}" type="presOf" srcId="{E5633191-FD3D-4C05-8DCE-E145C483795A}" destId="{66723F28-7626-44F9-B9CB-8C67ADCA4544}" srcOrd="0" destOrd="0" presId="urn:microsoft.com/office/officeart/2005/8/layout/list1"/>
    <dgm:cxn modelId="{40D9E743-1A7F-4E1E-BF53-0CCE93D54822}" srcId="{9F9A4141-02B3-44E3-B4A0-A32C48253A75}" destId="{DFF4DBB4-CF2D-417A-A0CA-BB8BAE975CD1}" srcOrd="0" destOrd="0" parTransId="{255F9561-D426-4D31-A31A-157FED7DFC62}" sibTransId="{0E6371AD-A64E-4336-BDEA-5A12300099E3}"/>
    <dgm:cxn modelId="{7E57C344-2103-464F-836E-2C67B85B8790}" srcId="{B00A7B86-9FF1-45C9-A492-59E1CA2382EB}" destId="{B4BA42E2-8941-4C9D-A252-0C191462C334}" srcOrd="0" destOrd="0" parTransId="{421B22F3-B333-4B62-B41B-1330BBB035F5}" sibTransId="{A55B0736-FA70-45B9-808A-882479FD17B4}"/>
    <dgm:cxn modelId="{828BEC5E-8018-41B6-BCA7-4B45F9EB240F}" type="presOf" srcId="{B6646A57-5E33-43EC-AE58-F3875EE951D3}" destId="{A389030F-1AD8-40B5-877D-7CACB5D7680E}" srcOrd="0" destOrd="0" presId="urn:microsoft.com/office/officeart/2005/8/layout/list1"/>
    <dgm:cxn modelId="{53DF9264-939D-41A2-AC15-5C6C7E9810BA}" type="presOf" srcId="{38BFE8C3-4A2D-427C-BA38-3B5697FCF8BD}" destId="{66723F28-7626-44F9-B9CB-8C67ADCA4544}" srcOrd="0" destOrd="1" presId="urn:microsoft.com/office/officeart/2005/8/layout/list1"/>
    <dgm:cxn modelId="{B807AC64-26DC-4502-93D2-35387E779A82}" type="presOf" srcId="{1790F279-0851-4E81-BD9D-327BC456CF54}" destId="{7EAC4806-83AB-4C11-928C-2DFE25CE71C4}" srcOrd="0" destOrd="1" presId="urn:microsoft.com/office/officeart/2005/8/layout/list1"/>
    <dgm:cxn modelId="{3429C868-DA46-46BF-88CA-EC1CAFA40918}" srcId="{B4BA42E2-8941-4C9D-A252-0C191462C334}" destId="{E5633191-FD3D-4C05-8DCE-E145C483795A}" srcOrd="0" destOrd="0" parTransId="{8AD2C3AD-2541-4E47-856A-E79499B788D3}" sibTransId="{2BA128D5-FEBB-4139-88F9-38840CDEF053}"/>
    <dgm:cxn modelId="{3746167F-BCAB-43F0-8F3E-8B9C693FF11B}" srcId="{E5633191-FD3D-4C05-8DCE-E145C483795A}" destId="{38BFE8C3-4A2D-427C-BA38-3B5697FCF8BD}" srcOrd="0" destOrd="0" parTransId="{A556D11E-E829-4896-B1D6-99E5FBB29A99}" sibTransId="{3EA8A25F-30C9-4BC2-B87D-88296979B4D3}"/>
    <dgm:cxn modelId="{A1012186-5968-46D0-A0DC-961ACD6745B2}" srcId="{B6646A57-5E33-43EC-AE58-F3875EE951D3}" destId="{9F9A4141-02B3-44E3-B4A0-A32C48253A75}" srcOrd="1" destOrd="0" parTransId="{02C0EE0B-B735-4ACE-AF31-9766F27290E7}" sibTransId="{536BAA9C-01BD-4FA5-8A31-696BD5BC3B73}"/>
    <dgm:cxn modelId="{305D809B-ACD2-403F-89A1-363E4B7E6885}" type="presOf" srcId="{96604E75-DD74-4462-8B83-ACACBDD5AF28}" destId="{66723F28-7626-44F9-B9CB-8C67ADCA4544}" srcOrd="0" destOrd="2" presId="urn:microsoft.com/office/officeart/2005/8/layout/list1"/>
    <dgm:cxn modelId="{4CEED1A5-02DF-42BC-BADF-08EC96DD5FC9}" srcId="{B4BA42E2-8941-4C9D-A252-0C191462C334}" destId="{CB320BA5-88AB-48C7-99D9-489020D19ACE}" srcOrd="2" destOrd="0" parTransId="{172D4FFF-CC39-4950-BC54-FF8021AC15B9}" sibTransId="{3F25FE33-A20E-4E47-A4A9-1ED91426E318}"/>
    <dgm:cxn modelId="{D30D17AB-A524-45D6-B949-05A5AF7E28BC}" type="presOf" srcId="{B6646A57-5E33-43EC-AE58-F3875EE951D3}" destId="{3547AF6B-B92A-4CCB-A3D4-D90E00998E36}" srcOrd="1" destOrd="0" presId="urn:microsoft.com/office/officeart/2005/8/layout/list1"/>
    <dgm:cxn modelId="{7542A3AB-C710-4BEB-B64C-13097017C27E}" type="presOf" srcId="{B4BA42E2-8941-4C9D-A252-0C191462C334}" destId="{7A3EF68F-9752-4DCC-965F-DBA8D7E116F3}" srcOrd="1" destOrd="0" presId="urn:microsoft.com/office/officeart/2005/8/layout/list1"/>
    <dgm:cxn modelId="{6C9812AC-241B-4657-8B4E-B63BB4547E5B}" type="presOf" srcId="{B00A7B86-9FF1-45C9-A492-59E1CA2382EB}" destId="{205C0FDD-4319-424D-ADCF-138FAC51EA34}" srcOrd="0" destOrd="0" presId="urn:microsoft.com/office/officeart/2005/8/layout/list1"/>
    <dgm:cxn modelId="{8052D0D9-DE7B-4A56-A516-1A86D6DA5C5B}" type="presOf" srcId="{B4BA42E2-8941-4C9D-A252-0C191462C334}" destId="{970782C8-C6C8-4A68-AB66-00C3EDAA28BE}" srcOrd="0" destOrd="0" presId="urn:microsoft.com/office/officeart/2005/8/layout/list1"/>
    <dgm:cxn modelId="{8E7B5EEE-E487-42BC-AEAB-1938584D6612}" srcId="{B6646A57-5E33-43EC-AE58-F3875EE951D3}" destId="{167C0788-B6EF-4712-B3C1-A291CEE34361}" srcOrd="2" destOrd="0" parTransId="{C1AE1EDA-FEB7-4BF5-981B-02A5D3F982DB}" sibTransId="{983A4CF0-C4F0-4F12-A347-D924250E58C3}"/>
    <dgm:cxn modelId="{0CC95FEE-E5D7-4723-9A94-2BEC54F883D8}" srcId="{B4BA42E2-8941-4C9D-A252-0C191462C334}" destId="{96604E75-DD74-4462-8B83-ACACBDD5AF28}" srcOrd="1" destOrd="0" parTransId="{0FD48011-271C-424D-ACAD-45E33ABC8B65}" sibTransId="{C72F7149-B346-4707-963C-8CF21DA33AFF}"/>
    <dgm:cxn modelId="{067792FC-1AAE-496A-B22D-128B55AB2E24}" srcId="{B6646A57-5E33-43EC-AE58-F3875EE951D3}" destId="{A8C50234-B15D-4434-8EC1-F00E17CD6F98}" srcOrd="0" destOrd="0" parTransId="{81432B96-1E8E-49F6-BF42-57CC292F7F42}" sibTransId="{E4D11E35-DA58-4F77-B9B3-C29D6EE51FED}"/>
    <dgm:cxn modelId="{59D61138-CC4A-447F-943E-E27FEE5E142C}" type="presParOf" srcId="{205C0FDD-4319-424D-ADCF-138FAC51EA34}" destId="{BF453E06-AA79-4304-8CE7-C50AB7D9CED4}" srcOrd="0" destOrd="0" presId="urn:microsoft.com/office/officeart/2005/8/layout/list1"/>
    <dgm:cxn modelId="{69EB9BAF-ADEC-4C07-9A3A-8AEE78406B24}" type="presParOf" srcId="{BF453E06-AA79-4304-8CE7-C50AB7D9CED4}" destId="{970782C8-C6C8-4A68-AB66-00C3EDAA28BE}" srcOrd="0" destOrd="0" presId="urn:microsoft.com/office/officeart/2005/8/layout/list1"/>
    <dgm:cxn modelId="{9B194810-152F-430B-95F8-E519F473015B}" type="presParOf" srcId="{BF453E06-AA79-4304-8CE7-C50AB7D9CED4}" destId="{7A3EF68F-9752-4DCC-965F-DBA8D7E116F3}" srcOrd="1" destOrd="0" presId="urn:microsoft.com/office/officeart/2005/8/layout/list1"/>
    <dgm:cxn modelId="{3E117084-DCF3-4CC0-AF84-5042DF715706}" type="presParOf" srcId="{205C0FDD-4319-424D-ADCF-138FAC51EA34}" destId="{C5E82BFF-B948-4E0D-9489-D25C7675A5A6}" srcOrd="1" destOrd="0" presId="urn:microsoft.com/office/officeart/2005/8/layout/list1"/>
    <dgm:cxn modelId="{B58FFADF-78E7-4484-94B0-12FC70F0AB9C}" type="presParOf" srcId="{205C0FDD-4319-424D-ADCF-138FAC51EA34}" destId="{66723F28-7626-44F9-B9CB-8C67ADCA4544}" srcOrd="2" destOrd="0" presId="urn:microsoft.com/office/officeart/2005/8/layout/list1"/>
    <dgm:cxn modelId="{5A26A834-6170-4175-B5AA-71C250737D15}" type="presParOf" srcId="{205C0FDD-4319-424D-ADCF-138FAC51EA34}" destId="{41706324-8AE9-4348-95C8-46EBCCD2140D}" srcOrd="3" destOrd="0" presId="urn:microsoft.com/office/officeart/2005/8/layout/list1"/>
    <dgm:cxn modelId="{78B99FC0-3020-438F-A271-C4703F18F8B9}" type="presParOf" srcId="{205C0FDD-4319-424D-ADCF-138FAC51EA34}" destId="{78AEA3BA-B078-4004-B7E7-68252ED87115}" srcOrd="4" destOrd="0" presId="urn:microsoft.com/office/officeart/2005/8/layout/list1"/>
    <dgm:cxn modelId="{3FB36A8C-64B4-4B3D-8436-5495FCB53F44}" type="presParOf" srcId="{78AEA3BA-B078-4004-B7E7-68252ED87115}" destId="{A389030F-1AD8-40B5-877D-7CACB5D7680E}" srcOrd="0" destOrd="0" presId="urn:microsoft.com/office/officeart/2005/8/layout/list1"/>
    <dgm:cxn modelId="{505DE076-9BB6-44F2-A5B7-82631D1070EF}" type="presParOf" srcId="{78AEA3BA-B078-4004-B7E7-68252ED87115}" destId="{3547AF6B-B92A-4CCB-A3D4-D90E00998E36}" srcOrd="1" destOrd="0" presId="urn:microsoft.com/office/officeart/2005/8/layout/list1"/>
    <dgm:cxn modelId="{4677DBAC-1280-4717-B8B2-EBBAF60060E9}" type="presParOf" srcId="{205C0FDD-4319-424D-ADCF-138FAC51EA34}" destId="{B4CD73F3-783E-4EE2-BC3E-54D103B8325A}" srcOrd="5" destOrd="0" presId="urn:microsoft.com/office/officeart/2005/8/layout/list1"/>
    <dgm:cxn modelId="{5317FE73-EC65-4B4D-815B-AB664CAD321E}" type="presParOf" srcId="{205C0FDD-4319-424D-ADCF-138FAC51EA34}" destId="{7EAC4806-83AB-4C11-928C-2DFE25CE71C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51719-2408-499F-83E3-0ED6C4C2C82A}">
      <dsp:nvSpPr>
        <dsp:cNvPr id="0" name=""/>
        <dsp:cNvSpPr/>
      </dsp:nvSpPr>
      <dsp:spPr>
        <a:xfrm>
          <a:off x="0" y="318847"/>
          <a:ext cx="7924800" cy="1047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053" tIns="395732" rIns="61505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 dirty="0"/>
            <a:t>Multiple threads in the same process requires much less resources to manage compared to multiple processes</a:t>
          </a:r>
        </a:p>
      </dsp:txBody>
      <dsp:txXfrm>
        <a:off x="0" y="318847"/>
        <a:ext cx="7924800" cy="1047375"/>
      </dsp:txXfrm>
    </dsp:sp>
    <dsp:sp modelId="{2D670827-F110-40AD-8369-6143F444D746}">
      <dsp:nvSpPr>
        <dsp:cNvPr id="0" name=""/>
        <dsp:cNvSpPr/>
      </dsp:nvSpPr>
      <dsp:spPr>
        <a:xfrm>
          <a:off x="396240" y="38407"/>
          <a:ext cx="2956576" cy="5608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677" tIns="0" rIns="209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kern="1200" dirty="0">
              <a:solidFill>
                <a:schemeClr val="bg1"/>
              </a:solidFill>
            </a:rPr>
            <a:t>Economy:</a:t>
          </a:r>
          <a:endParaRPr lang="en-SG" sz="1900" kern="1200" dirty="0">
            <a:solidFill>
              <a:schemeClr val="bg1"/>
            </a:solidFill>
          </a:endParaRPr>
        </a:p>
      </dsp:txBody>
      <dsp:txXfrm>
        <a:off x="423620" y="65787"/>
        <a:ext cx="2901816" cy="506119"/>
      </dsp:txXfrm>
    </dsp:sp>
    <dsp:sp modelId="{5A614930-9D23-424A-8243-BFE71AA22844}">
      <dsp:nvSpPr>
        <dsp:cNvPr id="0" name=""/>
        <dsp:cNvSpPr/>
      </dsp:nvSpPr>
      <dsp:spPr>
        <a:xfrm>
          <a:off x="0" y="1749262"/>
          <a:ext cx="7924800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053" tIns="395732" rIns="61505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Threads share most of the resources of a process</a:t>
          </a:r>
          <a:endParaRPr lang="en-US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No need for additional mechanism for passing information around</a:t>
          </a:r>
          <a:endParaRPr lang="en-US" altLang="en-US" sz="1900" kern="1200" dirty="0"/>
        </a:p>
      </dsp:txBody>
      <dsp:txXfrm>
        <a:off x="0" y="1749262"/>
        <a:ext cx="7924800" cy="1346625"/>
      </dsp:txXfrm>
    </dsp:sp>
    <dsp:sp modelId="{CE54CBD6-1749-4114-9ADB-600277DC2867}">
      <dsp:nvSpPr>
        <dsp:cNvPr id="0" name=""/>
        <dsp:cNvSpPr/>
      </dsp:nvSpPr>
      <dsp:spPr>
        <a:xfrm>
          <a:off x="396240" y="1468822"/>
          <a:ext cx="2956576" cy="560879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677" tIns="0" rIns="209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kern="1200">
              <a:solidFill>
                <a:schemeClr val="bg1"/>
              </a:solidFill>
            </a:rPr>
            <a:t>Resource sharing:</a:t>
          </a:r>
          <a:endParaRPr lang="en-US" altLang="en-US" sz="1900" b="1" kern="1200" dirty="0">
            <a:solidFill>
              <a:schemeClr val="bg1"/>
            </a:solidFill>
          </a:endParaRPr>
        </a:p>
      </dsp:txBody>
      <dsp:txXfrm>
        <a:off x="423620" y="1496202"/>
        <a:ext cx="2901816" cy="506119"/>
      </dsp:txXfrm>
    </dsp:sp>
    <dsp:sp modelId="{78BFE524-F0C6-47B9-BEA8-E45939E37FD7}">
      <dsp:nvSpPr>
        <dsp:cNvPr id="0" name=""/>
        <dsp:cNvSpPr/>
      </dsp:nvSpPr>
      <dsp:spPr>
        <a:xfrm>
          <a:off x="0" y="3478927"/>
          <a:ext cx="7924800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053" tIns="395732" rIns="61505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Multithreaded programs can appear much more responsive</a:t>
          </a:r>
          <a:endParaRPr lang="en-US" altLang="en-US" sz="1900" kern="1200" dirty="0"/>
        </a:p>
      </dsp:txBody>
      <dsp:txXfrm>
        <a:off x="0" y="3478927"/>
        <a:ext cx="7924800" cy="793012"/>
      </dsp:txXfrm>
    </dsp:sp>
    <dsp:sp modelId="{B241AD46-6F53-449A-A6F5-FF1FD7DCD7CC}">
      <dsp:nvSpPr>
        <dsp:cNvPr id="0" name=""/>
        <dsp:cNvSpPr/>
      </dsp:nvSpPr>
      <dsp:spPr>
        <a:xfrm>
          <a:off x="396240" y="3198487"/>
          <a:ext cx="2956576" cy="560879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677" tIns="0" rIns="209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kern="1200">
              <a:solidFill>
                <a:schemeClr val="bg1"/>
              </a:solidFill>
            </a:rPr>
            <a:t>Responsiveness:</a:t>
          </a:r>
          <a:endParaRPr lang="en-US" altLang="en-US" sz="1900" b="1" kern="1200" dirty="0">
            <a:solidFill>
              <a:schemeClr val="bg1"/>
            </a:solidFill>
          </a:endParaRPr>
        </a:p>
      </dsp:txBody>
      <dsp:txXfrm>
        <a:off x="423620" y="3225867"/>
        <a:ext cx="2901816" cy="506119"/>
      </dsp:txXfrm>
    </dsp:sp>
    <dsp:sp modelId="{3302309B-E934-472A-A831-A8465E4DE089}">
      <dsp:nvSpPr>
        <dsp:cNvPr id="0" name=""/>
        <dsp:cNvSpPr/>
      </dsp:nvSpPr>
      <dsp:spPr>
        <a:xfrm>
          <a:off x="0" y="4654980"/>
          <a:ext cx="7924800" cy="7930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5053" tIns="395732" rIns="615053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900" kern="1200"/>
            <a:t>Multithreaded program can take advantage of multiple CPUs</a:t>
          </a:r>
          <a:endParaRPr lang="en-US" altLang="en-US" sz="1900" kern="1200" dirty="0"/>
        </a:p>
      </dsp:txBody>
      <dsp:txXfrm>
        <a:off x="0" y="4654980"/>
        <a:ext cx="7924800" cy="793012"/>
      </dsp:txXfrm>
    </dsp:sp>
    <dsp:sp modelId="{9BE5681C-AE3C-4F20-ABF6-B01B21A72389}">
      <dsp:nvSpPr>
        <dsp:cNvPr id="0" name=""/>
        <dsp:cNvSpPr/>
      </dsp:nvSpPr>
      <dsp:spPr>
        <a:xfrm>
          <a:off x="396240" y="4374540"/>
          <a:ext cx="2956576" cy="560879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677" tIns="0" rIns="209677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900" b="1" kern="1200">
              <a:solidFill>
                <a:schemeClr val="bg1"/>
              </a:solidFill>
            </a:rPr>
            <a:t>Scalability:</a:t>
          </a:r>
          <a:endParaRPr lang="en-US" altLang="en-US" sz="1900" b="1" kern="1200" dirty="0">
            <a:solidFill>
              <a:schemeClr val="bg1"/>
            </a:solidFill>
          </a:endParaRPr>
        </a:p>
      </dsp:txBody>
      <dsp:txXfrm>
        <a:off x="423620" y="4401920"/>
        <a:ext cx="2901816" cy="506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23F28-7626-44F9-B9CB-8C67ADCA4544}">
      <dsp:nvSpPr>
        <dsp:cNvPr id="0" name=""/>
        <dsp:cNvSpPr/>
      </dsp:nvSpPr>
      <dsp:spPr>
        <a:xfrm>
          <a:off x="0" y="283425"/>
          <a:ext cx="8001000" cy="24632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54076" rIns="62096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Thread is implemented as a </a:t>
          </a:r>
          <a:r>
            <a:rPr lang="en-US" altLang="en-US" sz="2400" b="1" kern="1200" dirty="0">
              <a:solidFill>
                <a:srgbClr val="C00000"/>
              </a:solidFill>
            </a:rPr>
            <a:t>user library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/>
            <a:t>A </a:t>
          </a:r>
          <a:r>
            <a:rPr lang="en-US" altLang="en-US" sz="2000" b="1" kern="1200" dirty="0">
              <a:solidFill>
                <a:srgbClr val="C00000"/>
              </a:solidFill>
            </a:rPr>
            <a:t>runtime system </a:t>
          </a:r>
          <a:r>
            <a:rPr lang="en-US" altLang="en-US" sz="2000" kern="1200" dirty="0"/>
            <a:t>(in the process) will handle thread related operation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Kernel is </a:t>
          </a:r>
          <a:r>
            <a:rPr lang="en-US" altLang="en-US" sz="2400" b="1" kern="1200" dirty="0">
              <a:solidFill>
                <a:srgbClr val="C00000"/>
              </a:solidFill>
            </a:rPr>
            <a:t>not aware </a:t>
          </a:r>
          <a:r>
            <a:rPr lang="en-US" altLang="en-US" sz="2400" kern="1200" dirty="0"/>
            <a:t>of the threads in the process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en-US" sz="2200" kern="1200" dirty="0"/>
        </a:p>
      </dsp:txBody>
      <dsp:txXfrm>
        <a:off x="0" y="283425"/>
        <a:ext cx="8001000" cy="2463299"/>
      </dsp:txXfrm>
    </dsp:sp>
    <dsp:sp modelId="{7A3EF68F-9752-4DCC-965F-DBA8D7E116F3}">
      <dsp:nvSpPr>
        <dsp:cNvPr id="0" name=""/>
        <dsp:cNvSpPr/>
      </dsp:nvSpPr>
      <dsp:spPr>
        <a:xfrm>
          <a:off x="400050" y="32505"/>
          <a:ext cx="2848067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 dirty="0">
              <a:solidFill>
                <a:schemeClr val="bg1"/>
              </a:solidFill>
            </a:rPr>
            <a:t>User Thread:</a:t>
          </a:r>
          <a:endParaRPr lang="en-SG" sz="1700" kern="1200" dirty="0">
            <a:solidFill>
              <a:schemeClr val="bg1"/>
            </a:solidFill>
          </a:endParaRPr>
        </a:p>
      </dsp:txBody>
      <dsp:txXfrm>
        <a:off x="424548" y="57003"/>
        <a:ext cx="2799071" cy="452844"/>
      </dsp:txXfrm>
    </dsp:sp>
    <dsp:sp modelId="{7EAC4806-83AB-4C11-928C-2DFE25CE71C4}">
      <dsp:nvSpPr>
        <dsp:cNvPr id="0" name=""/>
        <dsp:cNvSpPr/>
      </dsp:nvSpPr>
      <dsp:spPr>
        <a:xfrm>
          <a:off x="0" y="3080040"/>
          <a:ext cx="8001000" cy="25168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54076" rIns="62096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Thread is implemented in the </a:t>
          </a:r>
          <a:r>
            <a:rPr lang="en-US" altLang="en-US" sz="24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/>
            <a:t>Thread operation is handled as </a:t>
          </a:r>
          <a:r>
            <a:rPr lang="en-US" altLang="en-US" sz="2000" b="1" kern="1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system calls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Thread-level scheduling is possible: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/>
            <a:t>Kernel schedule by threads, instead of by process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400" kern="1200" dirty="0"/>
            <a:t>Kernel may make use of threads for its own execution</a:t>
          </a:r>
        </a:p>
      </dsp:txBody>
      <dsp:txXfrm>
        <a:off x="0" y="3080040"/>
        <a:ext cx="8001000" cy="2516849"/>
      </dsp:txXfrm>
    </dsp:sp>
    <dsp:sp modelId="{3547AF6B-B92A-4CCB-A3D4-D90E00998E36}">
      <dsp:nvSpPr>
        <dsp:cNvPr id="0" name=""/>
        <dsp:cNvSpPr/>
      </dsp:nvSpPr>
      <dsp:spPr>
        <a:xfrm>
          <a:off x="400050" y="2838525"/>
          <a:ext cx="2848067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 dirty="0">
              <a:solidFill>
                <a:schemeClr val="bg1"/>
              </a:solidFill>
            </a:rPr>
            <a:t>Kernel Thread:</a:t>
          </a:r>
        </a:p>
      </dsp:txBody>
      <dsp:txXfrm>
        <a:off x="424548" y="2863023"/>
        <a:ext cx="2799071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A7123C3C-9D1C-4445-B456-3556A459FD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8661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23C3C-9D1C-4445-B456-3556A459FD5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66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</a:t>
            </a:r>
            <a:r>
              <a:rPr lang="en-US" baseline="0" dirty="0"/>
              <a:t> is not justifiable if the two processes shared a lot of information, working closely together etc.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23C3C-9D1C-4445-B456-3556A459FD5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661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 </a:t>
            </a:r>
            <a:r>
              <a:rPr lang="en-US" dirty="0" err="1"/>
              <a:t>fopen</a:t>
            </a:r>
            <a:r>
              <a:rPr lang="en-US" dirty="0"/>
              <a:t>, MT-level</a:t>
            </a:r>
          </a:p>
          <a:p>
            <a:r>
              <a:rPr lang="en-US" dirty="0"/>
              <a:t>man fork,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23C3C-9D1C-4445-B456-3556A459FD58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99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DED7AD-AB0D-4F9A-A367-2063C3CAF0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305342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2718F0-7A44-4837-A3B6-37B5C2E1C8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32697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705A8E-295C-475B-88CF-F8047734C16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76602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843A55-A462-4EBB-BEB4-E6D8A0C32A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215433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564599A-68C5-4FE1-8C32-58F8D80483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3351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E4DF77-DFB5-4F4A-9B1B-58A1F5D5702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5591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0B722E-486E-42D5-BB94-BA0D8B6D77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174754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B09E9D-7B3E-4E3D-A52C-8A9AEAD11F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110700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D6FCA6-B865-414D-B0EE-16F1FD9A1E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8415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0275F7-D357-4AFA-9C7D-1DD6CB226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09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L4 -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575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FF0000"/>
                </a:solidFill>
                <a:latin typeface="+mn-lt"/>
              </a:defRPr>
            </a:lvl1pPr>
          </a:lstStyle>
          <a:p>
            <a:fld id="{F9B07A73-DF12-4291-A91A-5972E411FC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kern="0" dirty="0">
                <a:solidFill>
                  <a:prstClr val="black"/>
                </a:solidFill>
              </a:rPr>
              <a:t>Process Management</a:t>
            </a:r>
            <a:br>
              <a:rPr lang="en-US" altLang="en-US" dirty="0">
                <a:solidFill>
                  <a:srgbClr val="323232"/>
                </a:solidFill>
              </a:rPr>
            </a:br>
            <a:r>
              <a:rPr lang="en-US" altLang="en-US" sz="4600" b="1" dirty="0">
                <a:solidFill>
                  <a:srgbClr val="C00000"/>
                </a:solidFill>
              </a:rPr>
              <a:t>Process Alternative - Threads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4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AD7E42-AFE6-41D1-ACDF-9F04DC5FF111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Threads: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Basic Idea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6600"/>
                </a:solidFill>
              </a:rPr>
              <a:t>Threads models:</a:t>
            </a:r>
          </a:p>
          <a:p>
            <a:pPr lvl="1"/>
            <a:r>
              <a:rPr lang="en-US" altLang="en-US" dirty="0"/>
              <a:t>Kernel vs User Thread</a:t>
            </a:r>
          </a:p>
          <a:p>
            <a:pPr lvl="1"/>
            <a:r>
              <a:rPr lang="en-US" altLang="en-US" dirty="0"/>
              <a:t>Hybrid model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660066"/>
                </a:solidFill>
              </a:rPr>
              <a:t>Thread in Unix</a:t>
            </a:r>
          </a:p>
          <a:p>
            <a:pPr lvl="1"/>
            <a:r>
              <a:rPr lang="en-US" altLang="en-US" dirty="0"/>
              <a:t>POSIX thread:</a:t>
            </a:r>
          </a:p>
          <a:p>
            <a:pPr lvl="2"/>
            <a:r>
              <a:rPr lang="en-US" altLang="en-US" dirty="0"/>
              <a:t>Create, Exit, Synchronization</a:t>
            </a:r>
          </a:p>
          <a:p>
            <a:pPr lvl="2"/>
            <a:r>
              <a:rPr lang="en-US" altLang="en-US" dirty="0"/>
              <a:t>Exploration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9EA24-E179-4A19-9D07-EEA593F13D7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Motivation for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Process is </a:t>
            </a:r>
            <a:r>
              <a:rPr lang="en-US" altLang="en-US" dirty="0">
                <a:solidFill>
                  <a:srgbClr val="C00000"/>
                </a:solidFill>
              </a:rPr>
              <a:t>expensive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Process creation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dirty="0"/>
              <a:t>in the </a:t>
            </a:r>
            <a:r>
              <a:rPr lang="en-US" altLang="en-US" sz="2000" b="1" dirty="0">
                <a:latin typeface="Courier New" panose="02070309020205020404" pitchFamily="49" charset="0"/>
              </a:rPr>
              <a:t>fork()</a:t>
            </a:r>
            <a:r>
              <a:rPr lang="en-US" altLang="en-US" dirty="0"/>
              <a:t> model:</a:t>
            </a:r>
          </a:p>
          <a:p>
            <a:pPr lvl="2"/>
            <a:r>
              <a:rPr lang="en-US" altLang="en-US" dirty="0"/>
              <a:t>Duplicate memory space &amp; process context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Context switch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Requires saving/restoration of process Information</a:t>
            </a:r>
          </a:p>
          <a:p>
            <a:endParaRPr lang="en-US" altLang="en-US" dirty="0"/>
          </a:p>
          <a:p>
            <a:r>
              <a:rPr lang="en-US" altLang="en-US" dirty="0"/>
              <a:t>Communication between processes:</a:t>
            </a:r>
          </a:p>
          <a:p>
            <a:pPr lvl="1"/>
            <a:r>
              <a:rPr lang="en-US" altLang="en-US" dirty="0"/>
              <a:t>Independent memory space </a:t>
            </a:r>
            <a:r>
              <a:rPr lang="en-US" altLang="en-US" dirty="0">
                <a:sym typeface="Wingdings" panose="05000000000000000000" pitchFamily="2" charset="2"/>
              </a:rPr>
              <a:t> No easy way to pass information</a:t>
            </a:r>
          </a:p>
          <a:p>
            <a:pPr marL="344487" lvl="1" indent="0"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Requires </a:t>
            </a:r>
            <a:r>
              <a:rPr lang="en-US" alt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I</a:t>
            </a:r>
            <a:r>
              <a:rPr lang="en-US" altLang="en-US" dirty="0">
                <a:sym typeface="Wingdings" panose="05000000000000000000" pitchFamily="2" charset="2"/>
              </a:rPr>
              <a:t>nter-</a:t>
            </a:r>
            <a:r>
              <a:rPr lang="en-US" alt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P</a:t>
            </a:r>
            <a:r>
              <a:rPr lang="en-US" altLang="en-US" dirty="0">
                <a:sym typeface="Wingdings" panose="05000000000000000000" pitchFamily="2" charset="2"/>
              </a:rPr>
              <a:t>rocess </a:t>
            </a:r>
            <a:r>
              <a:rPr lang="en-US" alt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C</a:t>
            </a:r>
            <a:r>
              <a:rPr lang="en-US" altLang="en-US" dirty="0">
                <a:sym typeface="Wingdings" panose="05000000000000000000" pitchFamily="2" charset="2"/>
              </a:rPr>
              <a:t>ommunication (</a:t>
            </a:r>
            <a:r>
              <a:rPr lang="en-US" alt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IPC</a:t>
            </a:r>
            <a:r>
              <a:rPr lang="en-US" altLang="en-US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7E130-441D-424D-B939-42CE70FD670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Motivation for Thread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Thread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dirty="0"/>
              <a:t>was invented to overcome the problems with process model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Started out as a "</a:t>
            </a:r>
            <a:r>
              <a:rPr lang="en-US" altLang="en-US" i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hack</a:t>
            </a:r>
            <a:r>
              <a:rPr lang="en-US" altLang="en-US" dirty="0"/>
              <a:t>“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Basic Idea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Traditional process has a </a:t>
            </a:r>
            <a:r>
              <a:rPr lang="en-US" altLang="en-US" b="1" dirty="0">
                <a:solidFill>
                  <a:srgbClr val="C00000"/>
                </a:solidFill>
              </a:rPr>
              <a:t>single thread of control</a:t>
            </a:r>
            <a:r>
              <a:rPr lang="en-US" altLang="en-US" dirty="0">
                <a:solidFill>
                  <a:schemeClr val="tx2"/>
                </a:solidFill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Only one instruction of the whole program is executing at any time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Add </a:t>
            </a:r>
            <a:r>
              <a:rPr lang="en-US" altLang="en-US" b="1" dirty="0">
                <a:solidFill>
                  <a:srgbClr val="C00000"/>
                </a:solidFill>
              </a:rPr>
              <a:t>more threads of control </a:t>
            </a:r>
            <a:r>
              <a:rPr lang="en-US" altLang="en-US" dirty="0"/>
              <a:t>to the same process: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Multiple parts of the programs is executing at the same time conceptually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6AE55-F56D-4D1A-8A3E-8E21826D783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Threads of control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408580" name="Text Box 4"/>
          <p:cNvSpPr txBox="1">
            <a:spLocks noChangeArrowheads="1"/>
          </p:cNvSpPr>
          <p:nvPr/>
        </p:nvSpPr>
        <p:spPr bwMode="auto">
          <a:xfrm>
            <a:off x="1295400" y="3124200"/>
            <a:ext cx="6096000" cy="28352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 "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Lunch READY!!\n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"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08582" name="Rectangle 6"/>
          <p:cNvSpPr>
            <a:spLocks noChangeArrowheads="1"/>
          </p:cNvSpPr>
          <p:nvPr/>
        </p:nvSpPr>
        <p:spPr bwMode="auto">
          <a:xfrm>
            <a:off x="1790700" y="1295400"/>
            <a:ext cx="5105400" cy="16002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LUNCH TIME!!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0" grpId="0" uiExpand="1" build="p" animBg="1"/>
      <p:bldP spid="40858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DBB14-94D2-475D-9229-5990B493241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Threads of control</a:t>
            </a:r>
            <a:r>
              <a:rPr lang="en-US" altLang="en-US" sz="3800" dirty="0"/>
              <a:t>: Illustration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066800"/>
          </a:xfrm>
        </p:spPr>
        <p:txBody>
          <a:bodyPr/>
          <a:lstStyle/>
          <a:p>
            <a:r>
              <a:rPr lang="en-US" altLang="en-US" dirty="0"/>
              <a:t>Single Threaded Process go through the functions </a:t>
            </a:r>
            <a:r>
              <a:rPr lang="en-US" altLang="en-US" b="1" dirty="0"/>
              <a:t>sequentially</a:t>
            </a:r>
          </a:p>
        </p:txBody>
      </p:sp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838200" y="2057400"/>
            <a:ext cx="6096000" cy="28352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 "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Lunch READY!!\n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"</a:t>
            </a:r>
            <a:r>
              <a:rPr lang="en-US" altLang="en-US" sz="2000" b="1" dirty="0">
                <a:latin typeface="Courier New" panose="02070309020205020404" pitchFamily="49" charset="0"/>
              </a:rPr>
              <a:t> 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09605" name="AutoShape 5"/>
          <p:cNvSpPr>
            <a:spLocks noChangeArrowheads="1"/>
          </p:cNvSpPr>
          <p:nvPr/>
        </p:nvSpPr>
        <p:spPr bwMode="auto">
          <a:xfrm>
            <a:off x="5334000" y="2438400"/>
            <a:ext cx="2133600" cy="685800"/>
          </a:xfrm>
          <a:prstGeom prst="leftArrow">
            <a:avLst>
              <a:gd name="adj1" fmla="val 50000"/>
              <a:gd name="adj2" fmla="val 77778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Single PC</a:t>
            </a:r>
          </a:p>
        </p:txBody>
      </p:sp>
      <p:sp>
        <p:nvSpPr>
          <p:cNvPr id="409611" name="AutoShape 11"/>
          <p:cNvSpPr>
            <a:spLocks noChangeArrowheads="1"/>
          </p:cNvSpPr>
          <p:nvPr/>
        </p:nvSpPr>
        <p:spPr bwMode="auto">
          <a:xfrm>
            <a:off x="5334000" y="2743200"/>
            <a:ext cx="2133600" cy="685800"/>
          </a:xfrm>
          <a:prstGeom prst="leftArrow">
            <a:avLst>
              <a:gd name="adj1" fmla="val 50000"/>
              <a:gd name="adj2" fmla="val 77778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Single PC</a:t>
            </a:r>
          </a:p>
        </p:txBody>
      </p:sp>
      <p:sp>
        <p:nvSpPr>
          <p:cNvPr id="409612" name="AutoShape 12"/>
          <p:cNvSpPr>
            <a:spLocks noChangeArrowheads="1"/>
          </p:cNvSpPr>
          <p:nvPr/>
        </p:nvSpPr>
        <p:spPr bwMode="auto">
          <a:xfrm>
            <a:off x="5334000" y="3048000"/>
            <a:ext cx="2133600" cy="685800"/>
          </a:xfrm>
          <a:prstGeom prst="leftArrow">
            <a:avLst>
              <a:gd name="adj1" fmla="val 50000"/>
              <a:gd name="adj2" fmla="val 77778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Single PC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505700" y="2057400"/>
            <a:ext cx="990600" cy="2698750"/>
            <a:chOff x="7429500" y="2057400"/>
            <a:chExt cx="990600" cy="2698750"/>
          </a:xfrm>
        </p:grpSpPr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7924800" y="2057400"/>
              <a:ext cx="0" cy="26987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7429500" y="3026390"/>
              <a:ext cx="990600" cy="461665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400" b="1" dirty="0"/>
                <a:t>Time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5" grpId="0" animBg="1"/>
      <p:bldP spid="409605" grpId="1" animBg="1"/>
      <p:bldP spid="409611" grpId="0" animBg="1"/>
      <p:bldP spid="409611" grpId="1" animBg="1"/>
      <p:bldP spid="4096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Multiple "threads of control" with </a:t>
            </a:r>
            <a:r>
              <a:rPr lang="en-US" altLang="en-US" sz="3600" b="1" dirty="0">
                <a:solidFill>
                  <a:srgbClr val="C00000"/>
                </a:solidFill>
              </a:rPr>
              <a:t>fork( )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559300" y="29795"/>
            <a:ext cx="4495800" cy="32932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</a:t>
            </a:r>
            <a:r>
              <a:rPr lang="en-US" altLang="en-US" sz="16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16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en-US" sz="1600" b="1" dirty="0">
                <a:latin typeface="Courier New" pitchFamily="49" charset="0"/>
              </a:rPr>
              <a:t>result;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solidFill>
                  <a:srgbClr val="0033CC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	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1600" i="1" dirty="0">
                <a:latin typeface="Courier New" panose="02070309020205020404" pitchFamily="49" charset="0"/>
              </a:rPr>
              <a:t> </a:t>
            </a:r>
            <a:r>
              <a:rPr lang="en-US" altLang="en-US" sz="1600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...  ...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C1D6E7-0605-4C3F-9160-9226D2F54B73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355332" name="Text Box 4"/>
          <p:cNvSpPr txBox="1">
            <a:spLocks noChangeArrowheads="1"/>
          </p:cNvSpPr>
          <p:nvPr/>
        </p:nvSpPr>
        <p:spPr bwMode="auto">
          <a:xfrm>
            <a:off x="228600" y="1050191"/>
            <a:ext cx="4495800" cy="329320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</a:t>
            </a:r>
            <a:r>
              <a:rPr lang="en-US" altLang="en-US" sz="16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1600" b="1" dirty="0">
                <a:solidFill>
                  <a:srgbClr val="006600"/>
                </a:solidFill>
                <a:latin typeface="Courier New" pitchFamily="49" charset="0"/>
              </a:rPr>
              <a:t> </a:t>
            </a:r>
            <a:r>
              <a:rPr lang="en-US" altLang="en-US" sz="1600" b="1" dirty="0">
                <a:latin typeface="Courier New" pitchFamily="49" charset="0"/>
              </a:rPr>
              <a:t>result;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solidFill>
                  <a:srgbClr val="0033CC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	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1600" i="1" dirty="0">
                <a:latin typeface="Courier New" panose="02070309020205020404" pitchFamily="49" charset="0"/>
              </a:rPr>
              <a:t> </a:t>
            </a:r>
            <a:r>
              <a:rPr lang="en-US" altLang="en-US" sz="1600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...  ...</a:t>
            </a:r>
          </a:p>
        </p:txBody>
      </p:sp>
      <p:sp>
        <p:nvSpPr>
          <p:cNvPr id="16" name="AutoShape 10"/>
          <p:cNvSpPr>
            <a:spLocks noChangeArrowheads="1"/>
          </p:cNvSpPr>
          <p:nvPr/>
        </p:nvSpPr>
        <p:spPr bwMode="auto">
          <a:xfrm>
            <a:off x="2895600" y="1126392"/>
            <a:ext cx="13716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4661719"/>
            <a:ext cx="2133600" cy="1524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We effectively have two "threads" of control after fork()</a:t>
            </a:r>
            <a:endParaRPr lang="en-SG" b="1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733800" y="3488591"/>
            <a:ext cx="4495800" cy="32932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</a:t>
            </a:r>
            <a:r>
              <a:rPr lang="en-US" altLang="en-US" sz="16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result;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result = </a:t>
            </a:r>
            <a:r>
              <a:rPr lang="en-US" altLang="en-US" sz="1600" b="1" dirty="0">
                <a:solidFill>
                  <a:srgbClr val="C00000"/>
                </a:solidFill>
                <a:latin typeface="Courier New" pitchFamily="49" charset="0"/>
              </a:rPr>
              <a:t>fork();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if</a:t>
            </a:r>
            <a:r>
              <a:rPr lang="en-US" altLang="en-US" sz="1600" b="1" dirty="0">
                <a:latin typeface="Courier New" pitchFamily="49" charset="0"/>
              </a:rPr>
              <a:t> (result != 0){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steamRice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twoBowls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solidFill>
                  <a:srgbClr val="0033CC"/>
                </a:solidFill>
                <a:latin typeface="Courier New" panose="02070309020205020404" pitchFamily="49" charset="0"/>
              </a:rPr>
              <a:t>    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fryFish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bigFish</a:t>
            </a:r>
            <a:r>
              <a:rPr lang="en-US" altLang="en-US" sz="1600" dirty="0">
                <a:latin typeface="Courier New" panose="02070309020205020404" pitchFamily="49" charset="0"/>
              </a:rPr>
              <a:t> );</a:t>
            </a:r>
            <a:endParaRPr lang="en-US" altLang="en-US" sz="16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	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 </a:t>
            </a:r>
            <a:r>
              <a:rPr lang="en-US" altLang="en-US" sz="1600" b="1" dirty="0">
                <a:solidFill>
                  <a:srgbClr val="9900CC"/>
                </a:solidFill>
                <a:latin typeface="Courier New" pitchFamily="49" charset="0"/>
              </a:rPr>
              <a:t>else</a:t>
            </a:r>
            <a:r>
              <a:rPr lang="en-US" altLang="en-US" sz="1600" b="1" dirty="0">
                <a:latin typeface="Courier New" pitchFamily="49" charset="0"/>
              </a:rPr>
              <a:t> {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    </a:t>
            </a:r>
            <a:r>
              <a:rPr lang="en-US" altLang="en-US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cookSoup</a:t>
            </a:r>
            <a:r>
              <a:rPr lang="en-US" altLang="en-US" sz="1600" dirty="0">
                <a:latin typeface="Courier New" panose="02070309020205020404" pitchFamily="49" charset="0"/>
              </a:rPr>
              <a:t>( </a:t>
            </a:r>
            <a:r>
              <a:rPr lang="en-US" altLang="en-US" sz="1600" i="1" dirty="0" err="1">
                <a:latin typeface="Courier New" panose="02070309020205020404" pitchFamily="49" charset="0"/>
              </a:rPr>
              <a:t>cornSoup</a:t>
            </a:r>
            <a:r>
              <a:rPr lang="en-US" altLang="en-US" sz="1600" i="1" dirty="0">
                <a:latin typeface="Courier New" panose="02070309020205020404" pitchFamily="49" charset="0"/>
              </a:rPr>
              <a:t> </a:t>
            </a:r>
            <a:r>
              <a:rPr lang="en-US" altLang="en-US" sz="1600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}</a:t>
            </a:r>
          </a:p>
          <a:p>
            <a:pPr eaLnBrk="0" hangingPunct="0"/>
            <a:r>
              <a:rPr lang="en-US" altLang="en-US" sz="1600" b="1" dirty="0">
                <a:latin typeface="Courier New" pitchFamily="49" charset="0"/>
              </a:rPr>
              <a:t>    ...  ...</a:t>
            </a:r>
          </a:p>
        </p:txBody>
      </p:sp>
      <p:sp>
        <p:nvSpPr>
          <p:cNvPr id="20" name="AutoShape 10"/>
          <p:cNvSpPr>
            <a:spLocks noChangeArrowheads="1"/>
          </p:cNvSpPr>
          <p:nvPr/>
        </p:nvSpPr>
        <p:spPr bwMode="auto">
          <a:xfrm>
            <a:off x="6324600" y="3607616"/>
            <a:ext cx="14097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2</a:t>
            </a: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3374745" y="1600525"/>
            <a:ext cx="13716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1</a:t>
            </a:r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7226292" y="5790542"/>
            <a:ext cx="14097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2</a:t>
            </a: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7620000" y="609600"/>
            <a:ext cx="12827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3</a:t>
            </a:r>
          </a:p>
        </p:txBody>
      </p:sp>
      <p:sp>
        <p:nvSpPr>
          <p:cNvPr id="17" name="AutoShape 10"/>
          <p:cNvSpPr>
            <a:spLocks noChangeArrowheads="1"/>
          </p:cNvSpPr>
          <p:nvPr/>
        </p:nvSpPr>
        <p:spPr bwMode="auto">
          <a:xfrm>
            <a:off x="3733803" y="2104129"/>
            <a:ext cx="13716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1</a:t>
            </a:r>
          </a:p>
        </p:txBody>
      </p:sp>
      <p:sp>
        <p:nvSpPr>
          <p:cNvPr id="18" name="AutoShape 10"/>
          <p:cNvSpPr>
            <a:spLocks noChangeArrowheads="1"/>
          </p:cNvSpPr>
          <p:nvPr/>
        </p:nvSpPr>
        <p:spPr bwMode="auto">
          <a:xfrm>
            <a:off x="7817442" y="1600200"/>
            <a:ext cx="1282700" cy="609600"/>
          </a:xfrm>
          <a:prstGeom prst="leftArrow">
            <a:avLst>
              <a:gd name="adj1" fmla="val 50000"/>
              <a:gd name="adj2" fmla="val 87500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PC 3</a:t>
            </a:r>
          </a:p>
        </p:txBody>
      </p:sp>
    </p:spTree>
    <p:extLst>
      <p:ext uri="{BB962C8B-B14F-4D97-AF65-F5344CB8AC3E}">
        <p14:creationId xmlns:p14="http://schemas.microsoft.com/office/powerpoint/2010/main" val="74104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6" grpId="1" animBg="1"/>
      <p:bldP spid="13" grpId="0" animBg="1"/>
      <p:bldP spid="14" grpId="0" animBg="1"/>
      <p:bldP spid="20" grpId="0" animBg="1"/>
      <p:bldP spid="20" grpId="1" animBg="1"/>
      <p:bldP spid="10" grpId="0" animBg="1"/>
      <p:bldP spid="10" grpId="1" animBg="1"/>
      <p:bldP spid="11" grpId="0" animBg="1"/>
      <p:bldP spid="15" grpId="0" animBg="1"/>
      <p:bldP spid="15" grpId="1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B9062-5EBE-43B2-8CCA-8077AB35A1B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New approach: </a:t>
            </a:r>
            <a:r>
              <a:rPr lang="en-US" altLang="en-US" sz="3600" b="1" dirty="0">
                <a:solidFill>
                  <a:srgbClr val="C00000"/>
                </a:solidFill>
              </a:rPr>
              <a:t>Multi-Threading</a:t>
            </a:r>
            <a:endParaRPr lang="en-US" altLang="en-US" sz="3800" b="1" dirty="0">
              <a:solidFill>
                <a:srgbClr val="C00000"/>
              </a:solidFill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533400" y="1584325"/>
            <a:ext cx="7086600" cy="4154984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anose="02070309020205020404" pitchFamily="49" charset="0"/>
              </a:rPr>
              <a:t>main()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steamRice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solidFill>
                  <a:prstClr val="black"/>
                </a:solidFill>
                <a:latin typeface="Courier New" panose="02070309020205020404" pitchFamily="49" charset="0"/>
              </a:rPr>
              <a:t>twoBowls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 );</a:t>
            </a:r>
            <a:endParaRPr lang="en-SG" sz="2000" dirty="0">
              <a:solidFill>
                <a:prstClr val="white"/>
              </a:solidFill>
              <a:latin typeface="Arial"/>
              <a:cs typeface="+mn-cs"/>
            </a:endParaRP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</a:t>
            </a:r>
          </a:p>
          <a:p>
            <a:pPr eaLnBrk="0" hangingPunct="0"/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fryFish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solidFill>
                  <a:prstClr val="black"/>
                </a:solidFill>
                <a:latin typeface="Courier New" panose="02070309020205020404" pitchFamily="49" charset="0"/>
              </a:rPr>
              <a:t>bigFish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 );</a:t>
            </a:r>
            <a:endParaRPr lang="en-SG" sz="2000" b="1" dirty="0"/>
          </a:p>
          <a:p>
            <a:pPr eaLnBrk="0" hangingPunct="0"/>
            <a:endParaRPr lang="en-US" altLang="en-US" sz="2000" dirty="0">
              <a:latin typeface="Courier New" panose="02070309020205020404" pitchFamily="49" charset="0"/>
            </a:endParaRPr>
          </a:p>
          <a:p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cookSoup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sz="2000" b="1" i="1" dirty="0" err="1">
                <a:solidFill>
                  <a:prstClr val="black"/>
                </a:solidFill>
                <a:latin typeface="Courier New" panose="02070309020205020404" pitchFamily="49" charset="0"/>
              </a:rPr>
              <a:t>cornSoup</a:t>
            </a:r>
            <a:r>
              <a:rPr lang="en-US" altLang="en-US" sz="2000" b="1" dirty="0">
                <a:solidFill>
                  <a:prstClr val="black"/>
                </a:solidFill>
                <a:latin typeface="Courier New" panose="02070309020205020404" pitchFamily="49" charset="0"/>
              </a:rPr>
              <a:t> );</a:t>
            </a:r>
            <a:endParaRPr lang="en-SG" sz="2000" b="1" dirty="0"/>
          </a:p>
          <a:p>
            <a:pPr eaLnBrk="0" hangingPunct="0"/>
            <a:endParaRPr lang="en-US" altLang="en-US" sz="2000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solidFill>
                  <a:srgbClr val="9900CC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4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Wait for all threads to finish;</a:t>
            </a:r>
          </a:p>
          <a:p>
            <a:pPr eaLnBrk="0" hangingPunct="0"/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 "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Lunch Ready\n</a:t>
            </a:r>
            <a:r>
              <a:rPr lang="en-US" altLang="en-US" sz="2000" b="1" dirty="0">
                <a:latin typeface="Courier New" panose="02070309020205020404" pitchFamily="49" charset="0"/>
              </a:rPr>
              <a:t>");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" name="AutoShape 10"/>
          <p:cNvSpPr>
            <a:spLocks noChangeArrowheads="1"/>
          </p:cNvSpPr>
          <p:nvPr/>
        </p:nvSpPr>
        <p:spPr bwMode="auto">
          <a:xfrm>
            <a:off x="6858000" y="2057400"/>
            <a:ext cx="2133600" cy="6096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PC 1</a:t>
            </a:r>
          </a:p>
        </p:txBody>
      </p:sp>
      <p:sp>
        <p:nvSpPr>
          <p:cNvPr id="20" name="AutoShape 11"/>
          <p:cNvSpPr>
            <a:spLocks noChangeArrowheads="1"/>
          </p:cNvSpPr>
          <p:nvPr/>
        </p:nvSpPr>
        <p:spPr bwMode="auto">
          <a:xfrm>
            <a:off x="6858000" y="2688945"/>
            <a:ext cx="2133600" cy="6096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PC 2</a:t>
            </a:r>
          </a:p>
        </p:txBody>
      </p:sp>
      <p:sp>
        <p:nvSpPr>
          <p:cNvPr id="21" name="AutoShape 12"/>
          <p:cNvSpPr>
            <a:spLocks noChangeArrowheads="1"/>
          </p:cNvSpPr>
          <p:nvPr/>
        </p:nvSpPr>
        <p:spPr bwMode="auto">
          <a:xfrm>
            <a:off x="6872288" y="3336925"/>
            <a:ext cx="2133600" cy="609600"/>
          </a:xfrm>
          <a:prstGeom prst="leftArrow">
            <a:avLst>
              <a:gd name="adj1" fmla="val 50000"/>
              <a:gd name="adj2" fmla="val 87500"/>
            </a:avLst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PC 3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66800" y="2077286"/>
            <a:ext cx="5690937" cy="593725"/>
            <a:chOff x="1395663" y="914400"/>
            <a:chExt cx="5690937" cy="593725"/>
          </a:xfrm>
        </p:grpSpPr>
        <p:sp>
          <p:nvSpPr>
            <p:cNvPr id="23" name="Rectangle 22"/>
            <p:cNvSpPr/>
            <p:nvPr/>
          </p:nvSpPr>
          <p:spPr>
            <a:xfrm>
              <a:off x="1395663" y="914400"/>
              <a:ext cx="5690937" cy="5937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hangingPunct="0"/>
              <a:r>
                <a:rPr lang="en-US" altLang="en-US" sz="20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Thread 1 do</a:t>
              </a:r>
              <a:r>
                <a:rPr lang="en-US" alt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 </a:t>
              </a:r>
              <a:r>
                <a:rPr lang="en-US" altLang="en-US" sz="2000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steamRice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twoBowls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 </a:t>
              </a:r>
              <a:endParaRPr lang="en-SG" b="1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276600" y="982662"/>
              <a:ext cx="3657600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en-US" sz="2000" b="1" dirty="0" err="1">
                  <a:solidFill>
                    <a:srgbClr val="0033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steamRice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twoBowls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</a:t>
              </a:r>
              <a:endParaRPr lang="en-SG" sz="20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066799" y="2711116"/>
            <a:ext cx="5690937" cy="593725"/>
            <a:chOff x="1395663" y="914400"/>
            <a:chExt cx="5690937" cy="593725"/>
          </a:xfrm>
        </p:grpSpPr>
        <p:sp>
          <p:nvSpPr>
            <p:cNvPr id="26" name="Rectangle 25"/>
            <p:cNvSpPr/>
            <p:nvPr/>
          </p:nvSpPr>
          <p:spPr>
            <a:xfrm>
              <a:off x="1395663" y="914400"/>
              <a:ext cx="5690937" cy="5937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hangingPunct="0"/>
              <a:r>
                <a:rPr lang="en-US" altLang="en-US" sz="20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Thread 2 do</a:t>
              </a:r>
              <a:r>
                <a:rPr lang="en-US" alt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 </a:t>
              </a:r>
              <a:r>
                <a:rPr lang="en-US" altLang="en-US" sz="2000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steamRice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twoBowls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 </a:t>
              </a:r>
              <a:endParaRPr lang="en-SG" b="1" dirty="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276600" y="982662"/>
              <a:ext cx="3657600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en-US" sz="2000" b="1" dirty="0" err="1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fryFish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bigFish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</a:t>
              </a:r>
              <a:endParaRPr lang="en-SG" sz="2000" b="1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066800" y="3352800"/>
            <a:ext cx="5690937" cy="593725"/>
            <a:chOff x="1395663" y="914400"/>
            <a:chExt cx="5690937" cy="593725"/>
          </a:xfrm>
        </p:grpSpPr>
        <p:sp>
          <p:nvSpPr>
            <p:cNvPr id="29" name="Rectangle 28"/>
            <p:cNvSpPr/>
            <p:nvPr/>
          </p:nvSpPr>
          <p:spPr>
            <a:xfrm>
              <a:off x="1395663" y="914400"/>
              <a:ext cx="5690937" cy="5937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eaLnBrk="0" hangingPunct="0"/>
              <a:r>
                <a:rPr lang="en-US" altLang="en-US" sz="20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Thread 3 do</a:t>
              </a:r>
              <a:r>
                <a:rPr lang="en-US" altLang="en-US" sz="2000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 </a:t>
              </a:r>
              <a:r>
                <a:rPr lang="en-US" altLang="en-US" sz="2000" b="1" dirty="0" err="1">
                  <a:solidFill>
                    <a:srgbClr val="0033CC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steamRice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twoBowls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 </a:t>
              </a:r>
              <a:endParaRPr lang="en-SG" b="1" dirty="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276600" y="982662"/>
              <a:ext cx="3657600" cy="457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en-US" sz="20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Arial" panose="020B0604020202020204" pitchFamily="34" charset="0"/>
                </a:rPr>
                <a:t>cookSoup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( </a:t>
              </a:r>
              <a:r>
                <a:rPr lang="en-US" altLang="en-US" sz="2000" b="1" i="1" dirty="0" err="1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cornSoup</a:t>
              </a:r>
              <a:r>
                <a:rPr lang="en-US" altLang="en-US" sz="2000" b="1" dirty="0">
                  <a:solidFill>
                    <a:prstClr val="black"/>
                  </a:solidFill>
                  <a:latin typeface="Courier New" panose="02070309020205020404" pitchFamily="49" charset="0"/>
                  <a:cs typeface="Arial" panose="020B0604020202020204" pitchFamily="34" charset="0"/>
                </a:rPr>
                <a:t> );</a:t>
              </a:r>
              <a:endParaRPr lang="en-SG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19" grpId="0" uiExpand="1" animBg="1"/>
      <p:bldP spid="20" grpId="0" uiExpand="1" animBg="1"/>
      <p:bldP spid="21" grpId="0" uiExpan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090DB-DC20-4ED4-B806-FB094062E54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Process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Thread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 single process can have multiple threads: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660066"/>
                </a:solidFill>
              </a:rPr>
              <a:t>multithreaded process</a:t>
            </a:r>
          </a:p>
          <a:p>
            <a:pPr lvl="1"/>
            <a:endParaRPr lang="en-US" altLang="en-US" b="1" dirty="0">
              <a:solidFill>
                <a:srgbClr val="0033CC"/>
              </a:solidFill>
            </a:endParaRPr>
          </a:p>
          <a:p>
            <a:r>
              <a:rPr lang="en-US" altLang="en-US" dirty="0"/>
              <a:t>Threads in the same process shares:</a:t>
            </a:r>
          </a:p>
          <a:p>
            <a:pPr lvl="1"/>
            <a:r>
              <a:rPr lang="en-US" altLang="en-US" b="1" dirty="0"/>
              <a:t>Memory Context</a:t>
            </a:r>
            <a:r>
              <a:rPr lang="en-US" altLang="en-US" dirty="0"/>
              <a:t>: Text, Data, Heap</a:t>
            </a:r>
          </a:p>
          <a:p>
            <a:pPr lvl="1"/>
            <a:r>
              <a:rPr lang="en-US" altLang="en-US" b="1" dirty="0"/>
              <a:t>OS Context</a:t>
            </a:r>
            <a:r>
              <a:rPr lang="en-US" altLang="en-US" dirty="0"/>
              <a:t>: Process id, other resources like files,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Unique information needed for each thread:</a:t>
            </a:r>
          </a:p>
          <a:p>
            <a:pPr lvl="1"/>
            <a:r>
              <a:rPr lang="en-US" altLang="en-US" dirty="0"/>
              <a:t>Identification (usually </a:t>
            </a:r>
            <a:r>
              <a:rPr lang="en-US" altLang="en-US" b="1" dirty="0"/>
              <a:t>thread id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Registers (General purpose and special)</a:t>
            </a:r>
          </a:p>
          <a:p>
            <a:pPr lvl="1"/>
            <a:r>
              <a:rPr lang="en-US" altLang="en-US" dirty="0"/>
              <a:t>“Stack” (more about this later)</a:t>
            </a:r>
          </a:p>
          <a:p>
            <a:pPr lvl="1"/>
            <a:endParaRPr lang="en-US" altLang="en-US" dirty="0">
              <a:solidFill>
                <a:srgbClr val="0033CC"/>
              </a:solidFill>
            </a:endParaRPr>
          </a:p>
        </p:txBody>
      </p:sp>
      <p:sp>
        <p:nvSpPr>
          <p:cNvPr id="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62000" y="2057400"/>
            <a:ext cx="7924800" cy="1981200"/>
          </a:xfrm>
          <a:prstGeom prst="roundRect">
            <a:avLst>
              <a:gd name="adj" fmla="val 11129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altLang="en-US" sz="40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Check:</a:t>
            </a:r>
          </a:p>
          <a:p>
            <a:pPr algn="ctr"/>
            <a:endParaRPr lang="en-US" altLang="en-US" sz="2800" b="1" dirty="0"/>
          </a:p>
          <a:p>
            <a:pPr algn="ctr"/>
            <a:r>
              <a:rPr lang="en-US" altLang="en-US" sz="3200" b="1" dirty="0"/>
              <a:t>What can we share between threads?</a:t>
            </a:r>
          </a:p>
        </p:txBody>
      </p:sp>
      <p:sp>
        <p:nvSpPr>
          <p:cNvPr id="2" name="Isosceles Triangle 1"/>
          <p:cNvSpPr/>
          <p:nvPr/>
        </p:nvSpPr>
        <p:spPr>
          <a:xfrm>
            <a:off x="8432597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uiExpand="1" build="p"/>
      <p:bldP spid="6" grpId="0" animBg="1"/>
      <p:bldP spid="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32D3C-BA68-4FCC-9940-D17AC71F84C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</a:rPr>
              <a:t>Process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Thread</a:t>
            </a:r>
            <a:r>
              <a:rPr lang="en-US" altLang="en-US" sz="3800" dirty="0"/>
              <a:t>: </a:t>
            </a:r>
            <a:r>
              <a:rPr lang="en-US" altLang="en-US" sz="3800" b="1" dirty="0"/>
              <a:t>Illustration</a:t>
            </a:r>
          </a:p>
        </p:txBody>
      </p:sp>
      <p:pic>
        <p:nvPicPr>
          <p:cNvPr id="412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11746" r="392" b="11746"/>
          <a:stretch>
            <a:fillRect/>
          </a:stretch>
        </p:blipFill>
        <p:spPr bwMode="auto">
          <a:xfrm>
            <a:off x="609600" y="1371600"/>
            <a:ext cx="8001000" cy="4629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2679" name="Rectangle 7"/>
          <p:cNvSpPr>
            <a:spLocks noChangeArrowheads="1"/>
          </p:cNvSpPr>
          <p:nvPr/>
        </p:nvSpPr>
        <p:spPr bwMode="auto">
          <a:xfrm>
            <a:off x="4267200" y="1371600"/>
            <a:ext cx="4343400" cy="457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74DCBE-9758-4CD0-A4B2-ABAEB4CD2BE5}" type="slidenum">
              <a:rPr lang="en-US" altLang="en-US"/>
              <a:pPr/>
              <a:t>11</a:t>
            </a:fld>
            <a:endParaRPr lang="en-US" altLang="en-US"/>
          </a:p>
        </p:txBody>
      </p:sp>
      <p:pic>
        <p:nvPicPr>
          <p:cNvPr id="4567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11746" r="392" b="11746"/>
          <a:stretch>
            <a:fillRect/>
          </a:stretch>
        </p:blipFill>
        <p:spPr bwMode="auto">
          <a:xfrm>
            <a:off x="457200" y="1295400"/>
            <a:ext cx="8001000" cy="4629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Process Context Switch </a:t>
            </a:r>
            <a:r>
              <a:rPr lang="en-US" altLang="en-US" sz="3800" dirty="0"/>
              <a:t>VS </a:t>
            </a:r>
            <a:r>
              <a:rPr lang="en-US" altLang="en-US" sz="3800" dirty="0">
                <a:solidFill>
                  <a:srgbClr val="660066"/>
                </a:solidFill>
              </a:rPr>
              <a:t>Thread Switch</a:t>
            </a:r>
            <a:endParaRPr lang="en-US" altLang="en-US" sz="3800" dirty="0"/>
          </a:p>
        </p:txBody>
      </p:sp>
      <p:grpSp>
        <p:nvGrpSpPr>
          <p:cNvPr id="456712" name="Group 8"/>
          <p:cNvGrpSpPr>
            <a:grpSpLocks/>
          </p:cNvGrpSpPr>
          <p:nvPr/>
        </p:nvGrpSpPr>
        <p:grpSpPr bwMode="auto">
          <a:xfrm>
            <a:off x="4114800" y="1295400"/>
            <a:ext cx="4343400" cy="4572000"/>
            <a:chOff x="2592" y="816"/>
            <a:chExt cx="2736" cy="2880"/>
          </a:xfrm>
        </p:grpSpPr>
        <p:sp>
          <p:nvSpPr>
            <p:cNvPr id="456711" name="Rectangle 7"/>
            <p:cNvSpPr>
              <a:spLocks noChangeArrowheads="1"/>
            </p:cNvSpPr>
            <p:nvPr/>
          </p:nvSpPr>
          <p:spPr bwMode="auto">
            <a:xfrm>
              <a:off x="2592" y="816"/>
              <a:ext cx="2736" cy="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45671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8" y="816"/>
              <a:ext cx="2084" cy="2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5539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8296268" cy="553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Threads: </a:t>
            </a:r>
            <a:r>
              <a:rPr lang="en-US" altLang="en-US" sz="3800" b="1" dirty="0">
                <a:solidFill>
                  <a:srgbClr val="006600"/>
                </a:solidFill>
              </a:rPr>
              <a:t>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6D2A0-3F53-40C8-85F4-22BB4B340A9C}" type="slidenum">
              <a:rPr lang="en-US" altLang="en-US"/>
              <a:pPr/>
              <a:t>12</a:t>
            </a:fld>
            <a:endParaRPr lang="en-US" altLang="en-US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638228748"/>
              </p:ext>
            </p:extLst>
          </p:nvPr>
        </p:nvGraphicFramePr>
        <p:xfrm>
          <a:off x="440131" y="931469"/>
          <a:ext cx="79248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D670827-F110-40AD-8369-6143F444D7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E54CBD6-1749-4114-9ADB-600277DC28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241AD46-6F53-449A-A6F5-FF1FD7DCD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BE5681C-AE3C-4F20-ABF6-B01B21A723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7351719-2408-499F-83E3-0ED6C4C2C8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A614930-9D23-424A-8243-BFE71AA22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8BFE524-F0C6-47B9-BEA8-E45939E37F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302309B-E934-472A-A831-A8465E4DE0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lvl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A80844-10C8-4F37-BB63-A8B0FABC6D9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Thread: </a:t>
            </a:r>
            <a:r>
              <a:rPr lang="en-US" altLang="en-US" sz="3800" b="1" dirty="0">
                <a:solidFill>
                  <a:srgbClr val="C00000"/>
                </a:solidFill>
              </a:rPr>
              <a:t>Problems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C00000"/>
                </a:solidFill>
              </a:rPr>
              <a:t>System Call Concurrency</a:t>
            </a:r>
          </a:p>
          <a:p>
            <a:pPr lvl="1"/>
            <a:r>
              <a:rPr lang="en-US" altLang="en-US" sz="2200" dirty="0"/>
              <a:t>Parallel execution of multiple threads </a:t>
            </a:r>
            <a:r>
              <a:rPr lang="en-US" altLang="en-US" sz="2200" dirty="0">
                <a:sym typeface="Wingdings" panose="05000000000000000000" pitchFamily="2" charset="2"/>
              </a:rPr>
              <a:t> parallel system call possible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2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Process Behavior:</a:t>
            </a:r>
          </a:p>
          <a:p>
            <a:pPr lvl="1"/>
            <a:r>
              <a:rPr lang="en-US" altLang="en-US" sz="2200" dirty="0"/>
              <a:t>Impact on process operations</a:t>
            </a:r>
          </a:p>
          <a:p>
            <a:pPr lvl="1"/>
            <a:r>
              <a:rPr lang="en-US" altLang="en-US" sz="2200" dirty="0"/>
              <a:t>Example:</a:t>
            </a:r>
          </a:p>
          <a:p>
            <a:pPr lvl="2"/>
            <a:r>
              <a:rPr lang="en-US" altLang="en-US" sz="2000" b="1" dirty="0"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duplicate process, how about threads?</a:t>
            </a:r>
          </a:p>
          <a:p>
            <a:pPr lvl="2"/>
            <a:r>
              <a:rPr lang="en-US" altLang="en-US" sz="2000" dirty="0"/>
              <a:t>If a single thread executes </a:t>
            </a:r>
            <a:r>
              <a:rPr lang="en-US" altLang="en-US" sz="2000" b="1" dirty="0"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, how  about the whole process?</a:t>
            </a:r>
          </a:p>
          <a:p>
            <a:pPr lvl="2"/>
            <a:r>
              <a:rPr lang="en-US" altLang="en-US" sz="2000" dirty="0"/>
              <a:t>If a single thread calls </a:t>
            </a:r>
            <a:r>
              <a:rPr lang="en-US" altLang="en-US" sz="2000" b="1" dirty="0"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, how about other threads?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2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Thread Models</a:t>
            </a:r>
          </a:p>
        </p:txBody>
      </p:sp>
      <p:sp>
        <p:nvSpPr>
          <p:cNvPr id="41882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What are the ways to support threads?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Two Major Thread Implementations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FF213B-5C36-4E77-B8F9-9B5B5C29F703}" type="slidenum">
              <a:rPr lang="en-US" altLang="en-US"/>
              <a:pPr/>
              <a:t>15</a:t>
            </a:fld>
            <a:endParaRPr lang="en-US" altLang="en-US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643738590"/>
              </p:ext>
            </p:extLst>
          </p:nvPr>
        </p:nvGraphicFramePr>
        <p:xfrm>
          <a:off x="533400" y="838200"/>
          <a:ext cx="80010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95B2D-9C28-45E2-8372-D09CF92A5DBF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User Thread: </a:t>
            </a:r>
            <a:r>
              <a:rPr lang="en-US" altLang="en-US" sz="3800" dirty="0"/>
              <a:t>Illustration</a:t>
            </a:r>
          </a:p>
        </p:txBody>
      </p:sp>
      <p:sp>
        <p:nvSpPr>
          <p:cNvPr id="423940" name="Rectangle 4"/>
          <p:cNvSpPr>
            <a:spLocks noChangeArrowheads="1"/>
          </p:cNvSpPr>
          <p:nvPr/>
        </p:nvSpPr>
        <p:spPr bwMode="auto">
          <a:xfrm>
            <a:off x="1676400" y="1371600"/>
            <a:ext cx="55626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41" name="Rectangle 5"/>
          <p:cNvSpPr>
            <a:spLocks noChangeArrowheads="1"/>
          </p:cNvSpPr>
          <p:nvPr/>
        </p:nvSpPr>
        <p:spPr bwMode="auto">
          <a:xfrm>
            <a:off x="1676400" y="4419600"/>
            <a:ext cx="5562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3942" name="Oval 6"/>
          <p:cNvSpPr>
            <a:spLocks noChangeArrowheads="1"/>
          </p:cNvSpPr>
          <p:nvPr/>
        </p:nvSpPr>
        <p:spPr bwMode="auto">
          <a:xfrm>
            <a:off x="2057400" y="1676400"/>
            <a:ext cx="2286000" cy="2286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3980" name="Group 44"/>
          <p:cNvGrpSpPr>
            <a:grpSpLocks/>
          </p:cNvGrpSpPr>
          <p:nvPr/>
        </p:nvGrpSpPr>
        <p:grpSpPr bwMode="auto">
          <a:xfrm>
            <a:off x="2590800" y="2133600"/>
            <a:ext cx="685800" cy="838200"/>
            <a:chOff x="1536" y="1344"/>
            <a:chExt cx="432" cy="528"/>
          </a:xfrm>
        </p:grpSpPr>
        <p:sp>
          <p:nvSpPr>
            <p:cNvPr id="423943" name="Freeform 7"/>
            <p:cNvSpPr>
              <a:spLocks/>
            </p:cNvSpPr>
            <p:nvPr/>
          </p:nvSpPr>
          <p:spPr bwMode="auto">
            <a:xfrm>
              <a:off x="1536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45" name="Freeform 9"/>
            <p:cNvSpPr>
              <a:spLocks/>
            </p:cNvSpPr>
            <p:nvPr/>
          </p:nvSpPr>
          <p:spPr bwMode="auto">
            <a:xfrm>
              <a:off x="1864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3946" name="Freeform 10"/>
          <p:cNvSpPr>
            <a:spLocks/>
          </p:cNvSpPr>
          <p:nvPr/>
        </p:nvSpPr>
        <p:spPr bwMode="auto">
          <a:xfrm>
            <a:off x="3644900" y="2133600"/>
            <a:ext cx="165100" cy="838200"/>
          </a:xfrm>
          <a:custGeom>
            <a:avLst/>
            <a:gdLst>
              <a:gd name="T0" fmla="*/ 56 w 104"/>
              <a:gd name="T1" fmla="*/ 0 h 528"/>
              <a:gd name="T2" fmla="*/ 8 w 104"/>
              <a:gd name="T3" fmla="*/ 48 h 528"/>
              <a:gd name="T4" fmla="*/ 104 w 104"/>
              <a:gd name="T5" fmla="*/ 144 h 528"/>
              <a:gd name="T6" fmla="*/ 8 w 104"/>
              <a:gd name="T7" fmla="*/ 192 h 528"/>
              <a:gd name="T8" fmla="*/ 104 w 104"/>
              <a:gd name="T9" fmla="*/ 288 h 528"/>
              <a:gd name="T10" fmla="*/ 8 w 104"/>
              <a:gd name="T11" fmla="*/ 384 h 528"/>
              <a:gd name="T12" fmla="*/ 104 w 104"/>
              <a:gd name="T13" fmla="*/ 432 h 528"/>
              <a:gd name="T14" fmla="*/ 8 w 104"/>
              <a:gd name="T15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4" h="528">
                <a:moveTo>
                  <a:pt x="56" y="0"/>
                </a:moveTo>
                <a:cubicBezTo>
                  <a:pt x="28" y="12"/>
                  <a:pt x="0" y="24"/>
                  <a:pt x="8" y="48"/>
                </a:cubicBezTo>
                <a:cubicBezTo>
                  <a:pt x="16" y="72"/>
                  <a:pt x="104" y="120"/>
                  <a:pt x="104" y="144"/>
                </a:cubicBezTo>
                <a:cubicBezTo>
                  <a:pt x="104" y="168"/>
                  <a:pt x="8" y="168"/>
                  <a:pt x="8" y="192"/>
                </a:cubicBezTo>
                <a:cubicBezTo>
                  <a:pt x="8" y="216"/>
                  <a:pt x="104" y="256"/>
                  <a:pt x="104" y="288"/>
                </a:cubicBezTo>
                <a:cubicBezTo>
                  <a:pt x="104" y="320"/>
                  <a:pt x="8" y="360"/>
                  <a:pt x="8" y="384"/>
                </a:cubicBezTo>
                <a:cubicBezTo>
                  <a:pt x="8" y="408"/>
                  <a:pt x="104" y="408"/>
                  <a:pt x="104" y="432"/>
                </a:cubicBezTo>
                <a:cubicBezTo>
                  <a:pt x="104" y="456"/>
                  <a:pt x="56" y="492"/>
                  <a:pt x="8" y="52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3947" name="Oval 11"/>
          <p:cNvSpPr>
            <a:spLocks noChangeArrowheads="1"/>
          </p:cNvSpPr>
          <p:nvPr/>
        </p:nvSpPr>
        <p:spPr bwMode="auto">
          <a:xfrm>
            <a:off x="4495800" y="1676400"/>
            <a:ext cx="2286000" cy="2286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3956" name="Group 20"/>
          <p:cNvGrpSpPr>
            <a:grpSpLocks/>
          </p:cNvGrpSpPr>
          <p:nvPr/>
        </p:nvGrpSpPr>
        <p:grpSpPr bwMode="auto">
          <a:xfrm>
            <a:off x="6096000" y="4648200"/>
            <a:ext cx="838200" cy="685800"/>
            <a:chOff x="4800" y="3072"/>
            <a:chExt cx="528" cy="432"/>
          </a:xfrm>
        </p:grpSpPr>
        <p:sp>
          <p:nvSpPr>
            <p:cNvPr id="423953" name="Rectangle 17"/>
            <p:cNvSpPr>
              <a:spLocks noChangeArrowheads="1"/>
            </p:cNvSpPr>
            <p:nvPr/>
          </p:nvSpPr>
          <p:spPr bwMode="auto">
            <a:xfrm>
              <a:off x="4800" y="3072"/>
              <a:ext cx="528" cy="1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954" name="Rectangle 18"/>
            <p:cNvSpPr>
              <a:spLocks noChangeArrowheads="1"/>
            </p:cNvSpPr>
            <p:nvPr/>
          </p:nvSpPr>
          <p:spPr bwMode="auto">
            <a:xfrm>
              <a:off x="4800" y="3216"/>
              <a:ext cx="528" cy="1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955" name="Rectangle 19"/>
            <p:cNvSpPr>
              <a:spLocks noChangeArrowheads="1"/>
            </p:cNvSpPr>
            <p:nvPr/>
          </p:nvSpPr>
          <p:spPr bwMode="auto">
            <a:xfrm>
              <a:off x="4800" y="3360"/>
              <a:ext cx="528" cy="14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23976" name="Group 40"/>
          <p:cNvGrpSpPr>
            <a:grpSpLocks/>
          </p:cNvGrpSpPr>
          <p:nvPr/>
        </p:nvGrpSpPr>
        <p:grpSpPr bwMode="auto">
          <a:xfrm>
            <a:off x="2438400" y="3124200"/>
            <a:ext cx="1600200" cy="381000"/>
            <a:chOff x="1440" y="1968"/>
            <a:chExt cx="1008" cy="240"/>
          </a:xfrm>
        </p:grpSpPr>
        <p:sp>
          <p:nvSpPr>
            <p:cNvPr id="423944" name="Rectangle 8"/>
            <p:cNvSpPr>
              <a:spLocks noChangeArrowheads="1"/>
            </p:cNvSpPr>
            <p:nvPr/>
          </p:nvSpPr>
          <p:spPr bwMode="auto">
            <a:xfrm>
              <a:off x="1440" y="1968"/>
              <a:ext cx="1008" cy="24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23957" name="Group 21"/>
            <p:cNvGrpSpPr>
              <a:grpSpLocks/>
            </p:cNvGrpSpPr>
            <p:nvPr/>
          </p:nvGrpSpPr>
          <p:grpSpPr bwMode="auto">
            <a:xfrm>
              <a:off x="2160" y="2016"/>
              <a:ext cx="240" cy="144"/>
              <a:chOff x="4800" y="3072"/>
              <a:chExt cx="528" cy="432"/>
            </a:xfrm>
          </p:grpSpPr>
          <p:sp>
            <p:nvSpPr>
              <p:cNvPr id="423958" name="Rectangle 22"/>
              <p:cNvSpPr>
                <a:spLocks noChangeArrowheads="1"/>
              </p:cNvSpPr>
              <p:nvPr/>
            </p:nvSpPr>
            <p:spPr bwMode="auto">
              <a:xfrm>
                <a:off x="4800" y="3072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3959" name="Rectangle 23"/>
              <p:cNvSpPr>
                <a:spLocks noChangeArrowheads="1"/>
              </p:cNvSpPr>
              <p:nvPr/>
            </p:nvSpPr>
            <p:spPr bwMode="auto">
              <a:xfrm>
                <a:off x="4800" y="3216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3960" name="Rectangle 24"/>
              <p:cNvSpPr>
                <a:spLocks noChangeArrowheads="1"/>
              </p:cNvSpPr>
              <p:nvPr/>
            </p:nvSpPr>
            <p:spPr bwMode="auto">
              <a:xfrm>
                <a:off x="4800" y="3360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23978" name="Group 42"/>
          <p:cNvGrpSpPr>
            <a:grpSpLocks/>
          </p:cNvGrpSpPr>
          <p:nvPr/>
        </p:nvGrpSpPr>
        <p:grpSpPr bwMode="auto">
          <a:xfrm>
            <a:off x="4876800" y="2133600"/>
            <a:ext cx="1600200" cy="1371600"/>
            <a:chOff x="2976" y="1344"/>
            <a:chExt cx="1008" cy="864"/>
          </a:xfrm>
        </p:grpSpPr>
        <p:sp>
          <p:nvSpPr>
            <p:cNvPr id="423948" name="Freeform 12"/>
            <p:cNvSpPr>
              <a:spLocks/>
            </p:cNvSpPr>
            <p:nvPr/>
          </p:nvSpPr>
          <p:spPr bwMode="auto">
            <a:xfrm>
              <a:off x="307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50" name="Freeform 14"/>
            <p:cNvSpPr>
              <a:spLocks/>
            </p:cNvSpPr>
            <p:nvPr/>
          </p:nvSpPr>
          <p:spPr bwMode="auto">
            <a:xfrm>
              <a:off x="331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51" name="Freeform 15"/>
            <p:cNvSpPr>
              <a:spLocks/>
            </p:cNvSpPr>
            <p:nvPr/>
          </p:nvSpPr>
          <p:spPr bwMode="auto">
            <a:xfrm>
              <a:off x="355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3952" name="Freeform 16"/>
            <p:cNvSpPr>
              <a:spLocks/>
            </p:cNvSpPr>
            <p:nvPr/>
          </p:nvSpPr>
          <p:spPr bwMode="auto">
            <a:xfrm>
              <a:off x="3744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3977" name="Group 41"/>
            <p:cNvGrpSpPr>
              <a:grpSpLocks/>
            </p:cNvGrpSpPr>
            <p:nvPr/>
          </p:nvGrpSpPr>
          <p:grpSpPr bwMode="auto">
            <a:xfrm>
              <a:off x="2976" y="1968"/>
              <a:ext cx="1008" cy="240"/>
              <a:chOff x="2976" y="1968"/>
              <a:chExt cx="1008" cy="240"/>
            </a:xfrm>
          </p:grpSpPr>
          <p:sp>
            <p:nvSpPr>
              <p:cNvPr id="423949" name="Rectangle 13"/>
              <p:cNvSpPr>
                <a:spLocks noChangeArrowheads="1"/>
              </p:cNvSpPr>
              <p:nvPr/>
            </p:nvSpPr>
            <p:spPr bwMode="auto">
              <a:xfrm>
                <a:off x="2976" y="1968"/>
                <a:ext cx="1008" cy="240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23961" name="Group 25"/>
              <p:cNvGrpSpPr>
                <a:grpSpLocks/>
              </p:cNvGrpSpPr>
              <p:nvPr/>
            </p:nvGrpSpPr>
            <p:grpSpPr bwMode="auto">
              <a:xfrm>
                <a:off x="3648" y="2016"/>
                <a:ext cx="240" cy="144"/>
                <a:chOff x="4800" y="3072"/>
                <a:chExt cx="528" cy="432"/>
              </a:xfrm>
            </p:grpSpPr>
            <p:sp>
              <p:nvSpPr>
                <p:cNvPr id="423962" name="Rectangle 26"/>
                <p:cNvSpPr>
                  <a:spLocks noChangeArrowheads="1"/>
                </p:cNvSpPr>
                <p:nvPr/>
              </p:nvSpPr>
              <p:spPr bwMode="auto">
                <a:xfrm>
                  <a:off x="4800" y="3072"/>
                  <a:ext cx="528" cy="144"/>
                </a:xfrm>
                <a:prstGeom prst="rect">
                  <a:avLst/>
                </a:prstGeom>
                <a:solidFill>
                  <a:srgbClr val="CCFF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3963" name="Rectangle 27"/>
                <p:cNvSpPr>
                  <a:spLocks noChangeArrowheads="1"/>
                </p:cNvSpPr>
                <p:nvPr/>
              </p:nvSpPr>
              <p:spPr bwMode="auto">
                <a:xfrm>
                  <a:off x="4800" y="3216"/>
                  <a:ext cx="528" cy="144"/>
                </a:xfrm>
                <a:prstGeom prst="rect">
                  <a:avLst/>
                </a:prstGeom>
                <a:solidFill>
                  <a:srgbClr val="CCFF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3964" name="Rectangle 28"/>
                <p:cNvSpPr>
                  <a:spLocks noChangeArrowheads="1"/>
                </p:cNvSpPr>
                <p:nvPr/>
              </p:nvSpPr>
              <p:spPr bwMode="auto">
                <a:xfrm>
                  <a:off x="4800" y="3360"/>
                  <a:ext cx="528" cy="144"/>
                </a:xfrm>
                <a:prstGeom prst="rect">
                  <a:avLst/>
                </a:prstGeom>
                <a:solidFill>
                  <a:srgbClr val="CCFF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23965" name="AutoShape 29"/>
          <p:cNvSpPr>
            <a:spLocks/>
          </p:cNvSpPr>
          <p:nvPr/>
        </p:nvSpPr>
        <p:spPr bwMode="auto">
          <a:xfrm>
            <a:off x="1143000" y="1371600"/>
            <a:ext cx="228600" cy="2971800"/>
          </a:xfrm>
          <a:prstGeom prst="leftBrace">
            <a:avLst>
              <a:gd name="adj1" fmla="val 10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6" name="AutoShape 30"/>
          <p:cNvSpPr>
            <a:spLocks/>
          </p:cNvSpPr>
          <p:nvPr/>
        </p:nvSpPr>
        <p:spPr bwMode="auto">
          <a:xfrm>
            <a:off x="1143000" y="44196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967" name="Text Box 31"/>
          <p:cNvSpPr txBox="1">
            <a:spLocks noChangeArrowheads="1"/>
          </p:cNvSpPr>
          <p:nvPr/>
        </p:nvSpPr>
        <p:spPr bwMode="auto">
          <a:xfrm>
            <a:off x="457200" y="2590800"/>
            <a:ext cx="6858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/>
              <a:t>User Mode</a:t>
            </a:r>
          </a:p>
        </p:txBody>
      </p:sp>
      <p:sp>
        <p:nvSpPr>
          <p:cNvPr id="423968" name="Text Box 32"/>
          <p:cNvSpPr txBox="1">
            <a:spLocks noChangeArrowheads="1"/>
          </p:cNvSpPr>
          <p:nvPr/>
        </p:nvSpPr>
        <p:spPr bwMode="auto">
          <a:xfrm>
            <a:off x="457200" y="4724400"/>
            <a:ext cx="762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/>
              <a:t>Kernel Mode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7C0849-2D86-4EF8-881B-A08234AA23E8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User Thread: </a:t>
            </a:r>
            <a:r>
              <a:rPr lang="en-US" altLang="en-US" sz="3800" b="1" dirty="0">
                <a:solidFill>
                  <a:srgbClr val="003300"/>
                </a:solidFill>
              </a:rPr>
              <a:t>Pros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Cons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3300"/>
                </a:solidFill>
              </a:rPr>
              <a:t>Advantages:</a:t>
            </a:r>
          </a:p>
          <a:p>
            <a:pPr lvl="1"/>
            <a:r>
              <a:rPr lang="en-US" altLang="en-US" dirty="0"/>
              <a:t>Can have multithreaded program on ANY OS</a:t>
            </a:r>
          </a:p>
          <a:p>
            <a:pPr lvl="1"/>
            <a:r>
              <a:rPr lang="en-US" altLang="en-US" dirty="0"/>
              <a:t>Thread operations are just library calls</a:t>
            </a:r>
          </a:p>
          <a:p>
            <a:pPr lvl="1"/>
            <a:r>
              <a:rPr lang="en-US" altLang="en-US" dirty="0"/>
              <a:t>Generally more configurable and flexible</a:t>
            </a:r>
          </a:p>
          <a:p>
            <a:pPr lvl="2"/>
            <a:r>
              <a:rPr lang="en-US" altLang="en-US" dirty="0"/>
              <a:t>e.g. Customized thread scheduling policy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Disadvantages:</a:t>
            </a:r>
          </a:p>
          <a:p>
            <a:pPr lvl="1"/>
            <a:r>
              <a:rPr lang="en-US" altLang="en-US" dirty="0"/>
              <a:t>OS is not aware of threads, scheduling is performed at process level</a:t>
            </a:r>
          </a:p>
          <a:p>
            <a:pPr lvl="2"/>
            <a:r>
              <a:rPr lang="en-US" altLang="en-US" dirty="0"/>
              <a:t>One thread blocked </a:t>
            </a:r>
            <a:r>
              <a:rPr lang="en-US" altLang="en-US" dirty="0">
                <a:sym typeface="Wingdings" panose="05000000000000000000" pitchFamily="2" charset="2"/>
              </a:rPr>
              <a:t> Process blocked  All threads blocked</a:t>
            </a:r>
          </a:p>
          <a:p>
            <a:pPr lvl="2"/>
            <a:r>
              <a:rPr lang="en-US" altLang="en-US" b="1" dirty="0">
                <a:solidFill>
                  <a:srgbClr val="660066"/>
                </a:solidFill>
              </a:rPr>
              <a:t>Cannot exploit multiple CPUs</a:t>
            </a:r>
            <a:r>
              <a:rPr lang="en-US" altLang="en-US" b="1" dirty="0">
                <a:solidFill>
                  <a:schemeClr val="tx2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32D23-7BAC-4A4F-B072-EA9494195854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Kernel Thread</a:t>
            </a:r>
            <a:r>
              <a:rPr lang="en-US" altLang="en-US" sz="3800" dirty="0"/>
              <a:t>: </a:t>
            </a:r>
            <a:r>
              <a:rPr lang="en-US" altLang="en-US" sz="3800" dirty="0">
                <a:solidFill>
                  <a:schemeClr val="tx1"/>
                </a:solidFill>
              </a:rPr>
              <a:t>Illustration</a:t>
            </a:r>
          </a:p>
        </p:txBody>
      </p:sp>
      <p:sp>
        <p:nvSpPr>
          <p:cNvPr id="428035" name="Rectangle 3"/>
          <p:cNvSpPr>
            <a:spLocks noChangeArrowheads="1"/>
          </p:cNvSpPr>
          <p:nvPr/>
        </p:nvSpPr>
        <p:spPr bwMode="auto">
          <a:xfrm>
            <a:off x="1752600" y="1371600"/>
            <a:ext cx="55626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36" name="Rectangle 4"/>
          <p:cNvSpPr>
            <a:spLocks noChangeArrowheads="1"/>
          </p:cNvSpPr>
          <p:nvPr/>
        </p:nvSpPr>
        <p:spPr bwMode="auto">
          <a:xfrm>
            <a:off x="1752600" y="4419600"/>
            <a:ext cx="5562600" cy="11430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37" name="Oval 5"/>
          <p:cNvSpPr>
            <a:spLocks noChangeArrowheads="1"/>
          </p:cNvSpPr>
          <p:nvPr/>
        </p:nvSpPr>
        <p:spPr bwMode="auto">
          <a:xfrm>
            <a:off x="2133600" y="1676400"/>
            <a:ext cx="2286000" cy="2286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8076" name="Group 44"/>
          <p:cNvGrpSpPr>
            <a:grpSpLocks/>
          </p:cNvGrpSpPr>
          <p:nvPr/>
        </p:nvGrpSpPr>
        <p:grpSpPr bwMode="auto">
          <a:xfrm>
            <a:off x="2667000" y="2133600"/>
            <a:ext cx="1219200" cy="838200"/>
            <a:chOff x="1536" y="1344"/>
            <a:chExt cx="768" cy="528"/>
          </a:xfrm>
        </p:grpSpPr>
        <p:sp>
          <p:nvSpPr>
            <p:cNvPr id="428038" name="Freeform 6"/>
            <p:cNvSpPr>
              <a:spLocks/>
            </p:cNvSpPr>
            <p:nvPr/>
          </p:nvSpPr>
          <p:spPr bwMode="auto">
            <a:xfrm>
              <a:off x="1536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0" name="Freeform 8"/>
            <p:cNvSpPr>
              <a:spLocks/>
            </p:cNvSpPr>
            <p:nvPr/>
          </p:nvSpPr>
          <p:spPr bwMode="auto">
            <a:xfrm>
              <a:off x="1864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1" name="Freeform 9"/>
            <p:cNvSpPr>
              <a:spLocks/>
            </p:cNvSpPr>
            <p:nvPr/>
          </p:nvSpPr>
          <p:spPr bwMode="auto">
            <a:xfrm>
              <a:off x="2200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8042" name="Oval 10"/>
          <p:cNvSpPr>
            <a:spLocks noChangeArrowheads="1"/>
          </p:cNvSpPr>
          <p:nvPr/>
        </p:nvSpPr>
        <p:spPr bwMode="auto">
          <a:xfrm>
            <a:off x="4572000" y="1676400"/>
            <a:ext cx="2286000" cy="22860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28077" name="Group 45"/>
          <p:cNvGrpSpPr>
            <a:grpSpLocks/>
          </p:cNvGrpSpPr>
          <p:nvPr/>
        </p:nvGrpSpPr>
        <p:grpSpPr bwMode="auto">
          <a:xfrm>
            <a:off x="5105400" y="2133600"/>
            <a:ext cx="1231900" cy="838200"/>
            <a:chOff x="3072" y="1344"/>
            <a:chExt cx="776" cy="528"/>
          </a:xfrm>
        </p:grpSpPr>
        <p:sp>
          <p:nvSpPr>
            <p:cNvPr id="428043" name="Freeform 11"/>
            <p:cNvSpPr>
              <a:spLocks/>
            </p:cNvSpPr>
            <p:nvPr/>
          </p:nvSpPr>
          <p:spPr bwMode="auto">
            <a:xfrm>
              <a:off x="307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5" name="Freeform 13"/>
            <p:cNvSpPr>
              <a:spLocks/>
            </p:cNvSpPr>
            <p:nvPr/>
          </p:nvSpPr>
          <p:spPr bwMode="auto">
            <a:xfrm>
              <a:off x="331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6" name="Freeform 14"/>
            <p:cNvSpPr>
              <a:spLocks/>
            </p:cNvSpPr>
            <p:nvPr/>
          </p:nvSpPr>
          <p:spPr bwMode="auto">
            <a:xfrm>
              <a:off x="3552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8047" name="Freeform 15"/>
            <p:cNvSpPr>
              <a:spLocks/>
            </p:cNvSpPr>
            <p:nvPr/>
          </p:nvSpPr>
          <p:spPr bwMode="auto">
            <a:xfrm>
              <a:off x="3744" y="1344"/>
              <a:ext cx="104" cy="528"/>
            </a:xfrm>
            <a:custGeom>
              <a:avLst/>
              <a:gdLst>
                <a:gd name="T0" fmla="*/ 56 w 104"/>
                <a:gd name="T1" fmla="*/ 0 h 528"/>
                <a:gd name="T2" fmla="*/ 8 w 104"/>
                <a:gd name="T3" fmla="*/ 48 h 528"/>
                <a:gd name="T4" fmla="*/ 104 w 104"/>
                <a:gd name="T5" fmla="*/ 144 h 528"/>
                <a:gd name="T6" fmla="*/ 8 w 104"/>
                <a:gd name="T7" fmla="*/ 192 h 528"/>
                <a:gd name="T8" fmla="*/ 104 w 104"/>
                <a:gd name="T9" fmla="*/ 288 h 528"/>
                <a:gd name="T10" fmla="*/ 8 w 104"/>
                <a:gd name="T11" fmla="*/ 384 h 528"/>
                <a:gd name="T12" fmla="*/ 104 w 104"/>
                <a:gd name="T13" fmla="*/ 432 h 528"/>
                <a:gd name="T14" fmla="*/ 8 w 104"/>
                <a:gd name="T1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528">
                  <a:moveTo>
                    <a:pt x="56" y="0"/>
                  </a:moveTo>
                  <a:cubicBezTo>
                    <a:pt x="28" y="12"/>
                    <a:pt x="0" y="24"/>
                    <a:pt x="8" y="48"/>
                  </a:cubicBezTo>
                  <a:cubicBezTo>
                    <a:pt x="16" y="72"/>
                    <a:pt x="104" y="120"/>
                    <a:pt x="104" y="144"/>
                  </a:cubicBezTo>
                  <a:cubicBezTo>
                    <a:pt x="104" y="168"/>
                    <a:pt x="8" y="168"/>
                    <a:pt x="8" y="192"/>
                  </a:cubicBezTo>
                  <a:cubicBezTo>
                    <a:pt x="8" y="216"/>
                    <a:pt x="104" y="256"/>
                    <a:pt x="104" y="288"/>
                  </a:cubicBezTo>
                  <a:cubicBezTo>
                    <a:pt x="104" y="320"/>
                    <a:pt x="8" y="360"/>
                    <a:pt x="8" y="384"/>
                  </a:cubicBezTo>
                  <a:cubicBezTo>
                    <a:pt x="8" y="408"/>
                    <a:pt x="104" y="408"/>
                    <a:pt x="104" y="432"/>
                  </a:cubicBezTo>
                  <a:cubicBezTo>
                    <a:pt x="104" y="456"/>
                    <a:pt x="56" y="492"/>
                    <a:pt x="8" y="528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8048" name="Group 16"/>
          <p:cNvGrpSpPr>
            <a:grpSpLocks/>
          </p:cNvGrpSpPr>
          <p:nvPr/>
        </p:nvGrpSpPr>
        <p:grpSpPr bwMode="auto">
          <a:xfrm>
            <a:off x="6172200" y="4648200"/>
            <a:ext cx="838200" cy="685800"/>
            <a:chOff x="4800" y="3072"/>
            <a:chExt cx="528" cy="432"/>
          </a:xfrm>
        </p:grpSpPr>
        <p:sp>
          <p:nvSpPr>
            <p:cNvPr id="428049" name="Rectangle 17"/>
            <p:cNvSpPr>
              <a:spLocks noChangeArrowheads="1"/>
            </p:cNvSpPr>
            <p:nvPr/>
          </p:nvSpPr>
          <p:spPr bwMode="auto">
            <a:xfrm>
              <a:off x="4800" y="3072"/>
              <a:ext cx="528" cy="144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8050" name="Rectangle 18"/>
            <p:cNvSpPr>
              <a:spLocks noChangeArrowheads="1"/>
            </p:cNvSpPr>
            <p:nvPr/>
          </p:nvSpPr>
          <p:spPr bwMode="auto">
            <a:xfrm>
              <a:off x="4800" y="3216"/>
              <a:ext cx="528" cy="144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8051" name="Rectangle 19"/>
            <p:cNvSpPr>
              <a:spLocks noChangeArrowheads="1"/>
            </p:cNvSpPr>
            <p:nvPr/>
          </p:nvSpPr>
          <p:spPr bwMode="auto">
            <a:xfrm>
              <a:off x="4800" y="3360"/>
              <a:ext cx="528" cy="144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8060" name="AutoShape 28"/>
          <p:cNvSpPr>
            <a:spLocks/>
          </p:cNvSpPr>
          <p:nvPr/>
        </p:nvSpPr>
        <p:spPr bwMode="auto">
          <a:xfrm>
            <a:off x="1219200" y="1371600"/>
            <a:ext cx="228600" cy="2971800"/>
          </a:xfrm>
          <a:prstGeom prst="leftBrace">
            <a:avLst>
              <a:gd name="adj1" fmla="val 10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1" name="AutoShape 29"/>
          <p:cNvSpPr>
            <a:spLocks/>
          </p:cNvSpPr>
          <p:nvPr/>
        </p:nvSpPr>
        <p:spPr bwMode="auto">
          <a:xfrm>
            <a:off x="1219200" y="44196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062" name="Text Box 30"/>
          <p:cNvSpPr txBox="1">
            <a:spLocks noChangeArrowheads="1"/>
          </p:cNvSpPr>
          <p:nvPr/>
        </p:nvSpPr>
        <p:spPr bwMode="auto">
          <a:xfrm>
            <a:off x="533400" y="2590800"/>
            <a:ext cx="6858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/>
              <a:t>User Mode</a:t>
            </a:r>
          </a:p>
        </p:txBody>
      </p:sp>
      <p:sp>
        <p:nvSpPr>
          <p:cNvPr id="428063" name="Text Box 31"/>
          <p:cNvSpPr txBox="1">
            <a:spLocks noChangeArrowheads="1"/>
          </p:cNvSpPr>
          <p:nvPr/>
        </p:nvSpPr>
        <p:spPr bwMode="auto">
          <a:xfrm>
            <a:off x="533400" y="4724400"/>
            <a:ext cx="762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/>
              <a:t>Kernel Mode</a:t>
            </a:r>
          </a:p>
        </p:txBody>
      </p:sp>
      <p:grpSp>
        <p:nvGrpSpPr>
          <p:cNvPr id="428074" name="Group 42"/>
          <p:cNvGrpSpPr>
            <a:grpSpLocks/>
          </p:cNvGrpSpPr>
          <p:nvPr/>
        </p:nvGrpSpPr>
        <p:grpSpPr bwMode="auto">
          <a:xfrm>
            <a:off x="4876800" y="4572000"/>
            <a:ext cx="990600" cy="914400"/>
            <a:chOff x="2208" y="2880"/>
            <a:chExt cx="624" cy="576"/>
          </a:xfrm>
        </p:grpSpPr>
        <p:grpSp>
          <p:nvGrpSpPr>
            <p:cNvPr id="428056" name="Group 24"/>
            <p:cNvGrpSpPr>
              <a:grpSpLocks/>
            </p:cNvGrpSpPr>
            <p:nvPr/>
          </p:nvGrpSpPr>
          <p:grpSpPr bwMode="auto">
            <a:xfrm>
              <a:off x="2208" y="2880"/>
              <a:ext cx="624" cy="288"/>
              <a:chOff x="4800" y="3072"/>
              <a:chExt cx="528" cy="432"/>
            </a:xfrm>
          </p:grpSpPr>
          <p:sp>
            <p:nvSpPr>
              <p:cNvPr id="428057" name="Rectangle 25"/>
              <p:cNvSpPr>
                <a:spLocks noChangeArrowheads="1"/>
              </p:cNvSpPr>
              <p:nvPr/>
            </p:nvSpPr>
            <p:spPr bwMode="auto">
              <a:xfrm>
                <a:off x="4800" y="3072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58" name="Rectangle 26"/>
              <p:cNvSpPr>
                <a:spLocks noChangeArrowheads="1"/>
              </p:cNvSpPr>
              <p:nvPr/>
            </p:nvSpPr>
            <p:spPr bwMode="auto">
              <a:xfrm>
                <a:off x="4800" y="3216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59" name="Rectangle 27"/>
              <p:cNvSpPr>
                <a:spLocks noChangeArrowheads="1"/>
              </p:cNvSpPr>
              <p:nvPr/>
            </p:nvSpPr>
            <p:spPr bwMode="auto">
              <a:xfrm>
                <a:off x="4800" y="3360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28070" name="Group 38"/>
            <p:cNvGrpSpPr>
              <a:grpSpLocks/>
            </p:cNvGrpSpPr>
            <p:nvPr/>
          </p:nvGrpSpPr>
          <p:grpSpPr bwMode="auto">
            <a:xfrm>
              <a:off x="2208" y="3168"/>
              <a:ext cx="624" cy="288"/>
              <a:chOff x="4800" y="3072"/>
              <a:chExt cx="528" cy="432"/>
            </a:xfrm>
          </p:grpSpPr>
          <p:sp>
            <p:nvSpPr>
              <p:cNvPr id="428071" name="Rectangle 39"/>
              <p:cNvSpPr>
                <a:spLocks noChangeArrowheads="1"/>
              </p:cNvSpPr>
              <p:nvPr/>
            </p:nvSpPr>
            <p:spPr bwMode="auto">
              <a:xfrm>
                <a:off x="4800" y="3072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72" name="Rectangle 40"/>
              <p:cNvSpPr>
                <a:spLocks noChangeArrowheads="1"/>
              </p:cNvSpPr>
              <p:nvPr/>
            </p:nvSpPr>
            <p:spPr bwMode="auto">
              <a:xfrm>
                <a:off x="4800" y="3216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073" name="Rectangle 41"/>
              <p:cNvSpPr>
                <a:spLocks noChangeArrowheads="1"/>
              </p:cNvSpPr>
              <p:nvPr/>
            </p:nvSpPr>
            <p:spPr bwMode="auto">
              <a:xfrm>
                <a:off x="4800" y="3360"/>
                <a:ext cx="528" cy="144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B0C149-2336-4244-A3DD-F01459096005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Kernel Threads: </a:t>
            </a:r>
            <a:r>
              <a:rPr lang="en-US" altLang="en-US" sz="3800" b="1" dirty="0">
                <a:solidFill>
                  <a:srgbClr val="003300"/>
                </a:solidFill>
              </a:rPr>
              <a:t>Pros</a:t>
            </a:r>
            <a:r>
              <a:rPr lang="en-US" altLang="en-US" sz="3800" dirty="0"/>
              <a:t> and </a:t>
            </a:r>
            <a:r>
              <a:rPr lang="en-US" altLang="en-US" sz="3800" b="1" dirty="0">
                <a:solidFill>
                  <a:srgbClr val="C00000"/>
                </a:solidFill>
              </a:rPr>
              <a:t>Cons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003300"/>
                </a:solidFill>
              </a:rPr>
              <a:t>Advantages:</a:t>
            </a:r>
          </a:p>
          <a:p>
            <a:pPr lvl="1"/>
            <a:r>
              <a:rPr lang="en-US" altLang="en-US" sz="2200" dirty="0"/>
              <a:t>Kernel can schedule on thread levels:</a:t>
            </a:r>
          </a:p>
          <a:p>
            <a:pPr lvl="2"/>
            <a:r>
              <a:rPr lang="en-US" altLang="en-US" sz="2000" dirty="0"/>
              <a:t>More than 1 thread in the same process can run simultaneously on multiple CPUs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sz="2000" dirty="0"/>
          </a:p>
          <a:p>
            <a:r>
              <a:rPr lang="en-US" altLang="en-US" sz="2600" b="1" dirty="0">
                <a:solidFill>
                  <a:srgbClr val="C00000"/>
                </a:solidFill>
              </a:rPr>
              <a:t>Disadvantages:</a:t>
            </a:r>
          </a:p>
          <a:p>
            <a:pPr lvl="1"/>
            <a:r>
              <a:rPr lang="en-US" altLang="en-US" sz="2200" dirty="0"/>
              <a:t>Thread operations is now a system call!</a:t>
            </a:r>
          </a:p>
          <a:p>
            <a:pPr lvl="2"/>
            <a:r>
              <a:rPr lang="en-US" altLang="en-US" sz="2000" dirty="0"/>
              <a:t>Slower and more resource intensive</a:t>
            </a:r>
          </a:p>
          <a:p>
            <a:pPr lvl="1"/>
            <a:r>
              <a:rPr lang="en-US" altLang="en-US" sz="2200" dirty="0"/>
              <a:t>Generally less flexible:</a:t>
            </a:r>
          </a:p>
          <a:p>
            <a:pPr lvl="2"/>
            <a:r>
              <a:rPr lang="en-US" altLang="en-US" sz="2000" dirty="0"/>
              <a:t>Used by all multithreaded programs</a:t>
            </a:r>
          </a:p>
          <a:p>
            <a:pPr lvl="2"/>
            <a:r>
              <a:rPr lang="en-US" altLang="en-US" sz="2000" dirty="0"/>
              <a:t>If implemented with many features:</a:t>
            </a:r>
          </a:p>
          <a:p>
            <a:pPr lvl="3"/>
            <a:r>
              <a:rPr lang="en-US" altLang="en-US" sz="1800" dirty="0"/>
              <a:t>Expensive, overkill for simple program</a:t>
            </a:r>
          </a:p>
          <a:p>
            <a:pPr lvl="2"/>
            <a:r>
              <a:rPr lang="en-US" altLang="en-US" sz="2000" dirty="0"/>
              <a:t>If implemented with few features:</a:t>
            </a:r>
          </a:p>
          <a:p>
            <a:pPr lvl="3"/>
            <a:r>
              <a:rPr lang="en-US" altLang="en-US" sz="1800" dirty="0"/>
              <a:t>Not flexible enough for some 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F212E-C3F8-4177-B2B0-1B96C6DA15C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Hybrid Thread Model</a:t>
            </a:r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both </a:t>
            </a:r>
            <a:r>
              <a:rPr lang="en-US" b="1" dirty="0">
                <a:solidFill>
                  <a:srgbClr val="660066"/>
                </a:solidFill>
              </a:rPr>
              <a:t>Kernel</a:t>
            </a:r>
            <a:r>
              <a:rPr lang="en-US" dirty="0"/>
              <a:t> and </a:t>
            </a:r>
            <a:r>
              <a:rPr lang="en-US" b="1" dirty="0">
                <a:solidFill>
                  <a:srgbClr val="006600"/>
                </a:solidFill>
              </a:rPr>
              <a:t>User </a:t>
            </a:r>
            <a:r>
              <a:rPr lang="en-US" dirty="0"/>
              <a:t>threads</a:t>
            </a:r>
          </a:p>
          <a:p>
            <a:pPr lvl="1"/>
            <a:r>
              <a:rPr lang="en-US" dirty="0"/>
              <a:t>OS schedule on </a:t>
            </a:r>
            <a:r>
              <a:rPr lang="en-US" b="1" dirty="0">
                <a:solidFill>
                  <a:srgbClr val="660066"/>
                </a:solidFill>
              </a:rPr>
              <a:t>kernel threads </a:t>
            </a:r>
            <a:r>
              <a:rPr lang="en-US" dirty="0"/>
              <a:t>only</a:t>
            </a:r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User thread </a:t>
            </a:r>
            <a:r>
              <a:rPr lang="en-US" altLang="en-US" dirty="0"/>
              <a:t>can binds to a </a:t>
            </a:r>
            <a:r>
              <a:rPr lang="en-US" altLang="en-US" b="1" dirty="0">
                <a:solidFill>
                  <a:srgbClr val="660066"/>
                </a:solidFill>
              </a:rPr>
              <a:t>kernel thread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Offer great flexibility</a:t>
            </a:r>
          </a:p>
          <a:p>
            <a:pPr lvl="1"/>
            <a:r>
              <a:rPr lang="en-US" altLang="en-US" dirty="0"/>
              <a:t>Can limit the </a:t>
            </a:r>
            <a:br>
              <a:rPr lang="en-US" altLang="en-US" dirty="0"/>
            </a:br>
            <a:r>
              <a:rPr lang="en-US" altLang="en-US" dirty="0"/>
              <a:t>concurrency </a:t>
            </a:r>
            <a:br>
              <a:rPr lang="en-US" altLang="en-US" dirty="0"/>
            </a:br>
            <a:r>
              <a:rPr lang="en-US" altLang="en-US" dirty="0"/>
              <a:t>of any process / user</a:t>
            </a:r>
          </a:p>
          <a:p>
            <a:pPr lvl="2"/>
            <a:endParaRPr lang="en-US" alt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" t="838" r="6912" b="838"/>
          <a:stretch>
            <a:fillRect/>
          </a:stretch>
        </p:blipFill>
        <p:spPr bwMode="auto">
          <a:xfrm>
            <a:off x="4761411" y="2909887"/>
            <a:ext cx="4038600" cy="34464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9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Model Example: </a:t>
            </a:r>
            <a:r>
              <a:rPr lang="en-US" b="1" dirty="0">
                <a:solidFill>
                  <a:srgbClr val="C00000"/>
                </a:solidFill>
              </a:rPr>
              <a:t>Solaris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ACB84-9161-4DAD-AD7E-55846045680E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71" y="990600"/>
            <a:ext cx="839372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36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Threads on </a:t>
            </a:r>
            <a:r>
              <a:rPr lang="en-US" b="1" dirty="0">
                <a:solidFill>
                  <a:srgbClr val="C00000"/>
                </a:solidFill>
              </a:rPr>
              <a:t>Modern Processor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Threads started off as a software mechanism</a:t>
            </a:r>
          </a:p>
          <a:p>
            <a:pPr lvl="1"/>
            <a:r>
              <a:rPr lang="en-US" dirty="0"/>
              <a:t>User space library </a:t>
            </a:r>
            <a:r>
              <a:rPr lang="en-US" dirty="0">
                <a:sym typeface="Wingdings" panose="05000000000000000000" pitchFamily="2" charset="2"/>
              </a:rPr>
              <a:t> OS aware mechanism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There are hardware support on modern processors: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Essentially supply multiple sets of registers (GPRs, and special registers) to allow threads to run natively and in parallel on the same core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known as </a:t>
            </a:r>
            <a:r>
              <a:rPr 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simultaneous multi-threading </a:t>
            </a:r>
            <a:r>
              <a:rPr lang="en-US" b="1" dirty="0">
                <a:sym typeface="Wingdings" panose="05000000000000000000" pitchFamily="2" charset="2"/>
              </a:rPr>
              <a:t>(SMT)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375EE6-C16E-43B9-AA08-B49A510C8A6D}" type="slidenum">
              <a:rPr lang="en-US" altLang="en-US" smtClean="0"/>
              <a:pPr/>
              <a:t>22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66800"/>
            <a:ext cx="6705600" cy="5428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18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POSIX</a:t>
            </a:r>
            <a:r>
              <a:rPr lang="en-US" altLang="en-US" dirty="0"/>
              <a:t> Threads</a:t>
            </a:r>
          </a:p>
        </p:txBody>
      </p:sp>
      <p:sp>
        <p:nvSpPr>
          <p:cNvPr id="42086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An example thread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10EF86-D824-40AC-8478-9AACA309212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POSIX Threads: </a:t>
            </a:r>
            <a:r>
              <a:rPr lang="en-US" altLang="en-US" sz="3800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pthread</a:t>
            </a:r>
            <a:endParaRPr lang="en-US" altLang="en-US" sz="38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Standard defined by the IEEE</a:t>
            </a:r>
          </a:p>
          <a:p>
            <a:pPr lvl="1"/>
            <a:r>
              <a:rPr lang="en-US" altLang="en-US" dirty="0"/>
              <a:t>Supported by most Unix variants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Defines the API as well as the behavior</a:t>
            </a:r>
          </a:p>
          <a:p>
            <a:pPr lvl="1"/>
            <a:r>
              <a:rPr lang="en-US" altLang="en-US" dirty="0"/>
              <a:t>However, </a:t>
            </a:r>
            <a:r>
              <a:rPr lang="en-US" altLang="en-US" b="1" dirty="0"/>
              <a:t>implementation</a:t>
            </a:r>
            <a:r>
              <a:rPr lang="en-US" altLang="en-US" dirty="0"/>
              <a:t> is not specified</a:t>
            </a:r>
          </a:p>
          <a:p>
            <a:pPr lvl="1"/>
            <a:r>
              <a:rPr lang="en-US" altLang="en-US" dirty="0"/>
              <a:t>So, </a:t>
            </a:r>
            <a:r>
              <a:rPr lang="en-US" altLang="en-US" b="1" i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pthread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/>
              <a:t>can be implemented as user / kernel thread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Will show a few example to highlight the differences between process and thread only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82E21-84D6-45DD-94D6-E9C2E87C2A69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Basics of Pthread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Header File:</a:t>
            </a:r>
          </a:p>
          <a:p>
            <a:pPr lvl="1"/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24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pthread.h</a:t>
            </a:r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&gt;</a:t>
            </a:r>
          </a:p>
          <a:p>
            <a:pPr lvl="1"/>
            <a:endParaRPr lang="en-US" altLang="en-US" sz="2400" b="1" dirty="0">
              <a:solidFill>
                <a:srgbClr val="0033CC"/>
              </a:solidFill>
              <a:latin typeface="Courier New" panose="02070309020205020404" pitchFamily="49" charset="0"/>
            </a:endParaRPr>
          </a:p>
          <a:p>
            <a:r>
              <a:rPr lang="en-US" altLang="en-US" dirty="0"/>
              <a:t>Compilation:</a:t>
            </a:r>
          </a:p>
          <a:p>
            <a:pPr lvl="1"/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gcc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XXXX.c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–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lpthread</a:t>
            </a:r>
            <a:endParaRPr lang="en-US" altLang="en-US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 lvl="1"/>
            <a:endParaRPr lang="en-US" altLang="en-US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en-US" altLang="en-US" dirty="0"/>
              <a:t>Useful datatypes:</a:t>
            </a:r>
          </a:p>
          <a:p>
            <a:pPr lvl="1"/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pthread_t</a:t>
            </a:r>
            <a:r>
              <a:rPr lang="en-US" altLang="en-US" dirty="0"/>
              <a:t> : Data type to represent a thread id (TID)</a:t>
            </a:r>
          </a:p>
          <a:p>
            <a:pPr lvl="1"/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pthread_attr</a:t>
            </a:r>
            <a:r>
              <a:rPr lang="en-US" altLang="en-US" dirty="0"/>
              <a:t>: Data type to represents attributes of a thread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B42788-7DC2-4B6E-9B54-2AB0F233024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 Creation</a:t>
            </a:r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/>
              <a:t>Thread creation syntax: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 int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  <a:r>
              <a:rPr lang="en-US" altLang="en-US" sz="2000" b="1">
                <a:solidFill>
                  <a:srgbClr val="0033CC"/>
                </a:solidFill>
                <a:latin typeface="Courier New" panose="02070309020205020404" pitchFamily="49" charset="0"/>
              </a:rPr>
              <a:t>pthread_create</a:t>
            </a:r>
            <a:r>
              <a:rPr lang="en-US" altLang="en-US" sz="2000">
                <a:latin typeface="Courier New" panose="02070309020205020404" pitchFamily="49" charset="0"/>
              </a:rPr>
              <a:t>(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pthread_t</a:t>
            </a:r>
            <a:r>
              <a:rPr lang="en-US" altLang="en-US" sz="2000">
                <a:latin typeface="Courier New" panose="02070309020205020404" pitchFamily="49" charset="0"/>
              </a:rPr>
              <a:t>   *tidCreated, 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</a:t>
            </a:r>
            <a:r>
              <a:rPr lang="en-US" altLang="en-US" sz="2000" b="1">
                <a:solidFill>
                  <a:srgbClr val="800080"/>
                </a:solidFill>
                <a:latin typeface="Courier New" panose="02070309020205020404" pitchFamily="49" charset="0"/>
              </a:rPr>
              <a:t>const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pthread_attr_t</a:t>
            </a:r>
            <a:r>
              <a:rPr lang="en-US" altLang="en-US" sz="2000">
                <a:latin typeface="Courier New" panose="02070309020205020404" pitchFamily="49" charset="0"/>
              </a:rPr>
              <a:t> *threadAttributes,       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>
                <a:latin typeface="Courier New" panose="02070309020205020404" pitchFamily="49" charset="0"/>
              </a:rPr>
              <a:t>* (*startRoutine) (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>
                <a:latin typeface="Courier New" panose="02070309020205020404" pitchFamily="49" charset="0"/>
              </a:rPr>
              <a:t>*),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</a:t>
            </a:r>
            <a:r>
              <a:rPr lang="en-US" altLang="en-US" sz="2000" b="1">
                <a:solidFill>
                  <a:srgbClr val="008000"/>
                </a:solidFill>
                <a:latin typeface="Courier New" panose="02070309020205020404" pitchFamily="49" charset="0"/>
              </a:rPr>
              <a:t>void </a:t>
            </a:r>
            <a:r>
              <a:rPr lang="en-US" altLang="en-US" sz="2000">
                <a:latin typeface="Courier New" panose="02070309020205020404" pitchFamily="49" charset="0"/>
              </a:rPr>
              <a:t>*argForStartRoutine  );</a:t>
            </a:r>
            <a:endParaRPr lang="en-US" altLang="en-US" sz="1800">
              <a:latin typeface="Courier New" panose="02070309020205020404" pitchFamily="49" charset="0"/>
            </a:endParaRPr>
          </a:p>
          <a:p>
            <a:r>
              <a:rPr lang="en-US" altLang="en-US" sz="2600"/>
              <a:t>Returns:</a:t>
            </a:r>
          </a:p>
          <a:p>
            <a:pPr lvl="1"/>
            <a:r>
              <a:rPr lang="en-US" altLang="en-US" sz="1800">
                <a:latin typeface="Courier New" panose="02070309020205020404" pitchFamily="49" charset="0"/>
              </a:rPr>
              <a:t>0 </a:t>
            </a:r>
            <a:r>
              <a:rPr lang="en-US" altLang="en-US" sz="1800"/>
              <a:t>to indicate success;</a:t>
            </a:r>
            <a:r>
              <a:rPr lang="en-US" altLang="en-US" sz="1800">
                <a:latin typeface="Courier New" panose="02070309020205020404" pitchFamily="49" charset="0"/>
              </a:rPr>
              <a:t> !0 </a:t>
            </a:r>
            <a:r>
              <a:rPr lang="en-US" altLang="en-US" sz="1800"/>
              <a:t>for errors</a:t>
            </a:r>
          </a:p>
          <a:p>
            <a:r>
              <a:rPr lang="en-US" altLang="en-US" sz="2600"/>
              <a:t>Parameters:</a:t>
            </a:r>
          </a:p>
          <a:p>
            <a:pPr lvl="1"/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</a:rPr>
              <a:t>tidCreated</a:t>
            </a:r>
            <a:r>
              <a:rPr lang="en-US" altLang="en-US" sz="1800">
                <a:latin typeface="Courier New" panose="02070309020205020404" pitchFamily="49" charset="0"/>
              </a:rPr>
              <a:t>: </a:t>
            </a:r>
            <a:r>
              <a:rPr lang="en-US" altLang="en-US" sz="1800"/>
              <a:t>Thread Id for the created thread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</a:rPr>
              <a:t>threadAttributes</a:t>
            </a:r>
            <a:r>
              <a:rPr lang="en-US" altLang="en-US" sz="1800">
                <a:latin typeface="Courier New" panose="02070309020205020404" pitchFamily="49" charset="0"/>
              </a:rPr>
              <a:t>: </a:t>
            </a:r>
            <a:r>
              <a:rPr lang="en-US" altLang="en-US" sz="1800"/>
              <a:t>Control the behavior of the new thread</a:t>
            </a:r>
          </a:p>
          <a:p>
            <a:pPr lvl="1"/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</a:rPr>
              <a:t>startRoutine</a:t>
            </a:r>
            <a:r>
              <a:rPr lang="en-US" altLang="en-US" sz="1800">
                <a:latin typeface="Courier New" panose="02070309020205020404" pitchFamily="49" charset="0"/>
              </a:rPr>
              <a:t>: </a:t>
            </a:r>
            <a:r>
              <a:rPr lang="en-US" altLang="en-US" sz="1800"/>
              <a:t>Function pointer to the function to be executed by thread</a:t>
            </a:r>
            <a:r>
              <a:rPr lang="en-US" altLang="en-US" sz="180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altLang="en-US" sz="1800" b="1">
                <a:solidFill>
                  <a:schemeClr val="tx2"/>
                </a:solidFill>
                <a:latin typeface="Courier New" panose="02070309020205020404" pitchFamily="49" charset="0"/>
              </a:rPr>
              <a:t>argForStartRoutine</a:t>
            </a:r>
            <a:r>
              <a:rPr lang="en-US" altLang="en-US" sz="1800">
                <a:latin typeface="Courier New" panose="02070309020205020404" pitchFamily="49" charset="0"/>
              </a:rPr>
              <a:t>: </a:t>
            </a:r>
            <a:r>
              <a:rPr lang="en-US" altLang="en-US" sz="1800"/>
              <a:t>Arguments for the</a:t>
            </a:r>
            <a:r>
              <a:rPr lang="en-US" altLang="en-US" sz="1800">
                <a:latin typeface="Courier New" panose="02070309020205020404" pitchFamily="49" charset="0"/>
              </a:rPr>
              <a:t> startRoutine </a:t>
            </a:r>
            <a:r>
              <a:rPr lang="en-US" altLang="en-US" sz="1800"/>
              <a:t>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1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E0741-B080-44C4-8271-5C13F10011D9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 Termination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Thread termination syntax: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8000"/>
                </a:solidFill>
              </a:rPr>
              <a:t> 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400">
                <a:latin typeface="Courier New" panose="02070309020205020404" pitchFamily="49" charset="0"/>
              </a:rPr>
              <a:t> 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</a:rPr>
              <a:t>pthread_exit</a:t>
            </a:r>
            <a:r>
              <a:rPr lang="en-US" altLang="en-US" sz="2400">
                <a:latin typeface="Courier New" panose="02070309020205020404" pitchFamily="49" charset="0"/>
              </a:rPr>
              <a:t>( 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400">
                <a:latin typeface="Courier New" panose="02070309020205020404" pitchFamily="49" charset="0"/>
              </a:rPr>
              <a:t>* exitValue  );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r>
              <a:rPr lang="en-US" altLang="en-US" sz="2400"/>
              <a:t>Parameters:</a:t>
            </a:r>
          </a:p>
          <a:p>
            <a:pPr lvl="1"/>
            <a:r>
              <a:rPr lang="en-US" altLang="en-US" sz="2000">
                <a:latin typeface="Courier New" panose="02070309020205020404" pitchFamily="49" charset="0"/>
              </a:rPr>
              <a:t>exitValue: </a:t>
            </a:r>
            <a:r>
              <a:rPr lang="en-US" altLang="en-US" sz="2000"/>
              <a:t>Value to be returned to whoever synchronize with this thread (more later)</a:t>
            </a:r>
          </a:p>
          <a:p>
            <a:endParaRPr lang="en-US" altLang="en-US" sz="2400"/>
          </a:p>
          <a:p>
            <a:r>
              <a:rPr lang="en-US" altLang="en-US" sz="2400"/>
              <a:t>If 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</a:rPr>
              <a:t>pthread_exit</a:t>
            </a:r>
            <a:r>
              <a:rPr lang="en-US" altLang="en-US" sz="2400">
                <a:latin typeface="Courier New" panose="02070309020205020404" pitchFamily="49" charset="0"/>
              </a:rPr>
              <a:t>() </a:t>
            </a:r>
            <a:r>
              <a:rPr lang="en-US" altLang="en-US" sz="2400"/>
              <a:t>is not used, a </a:t>
            </a:r>
            <a:r>
              <a:rPr lang="en-US" altLang="en-US" sz="2400" i="1"/>
              <a:t>pthread</a:t>
            </a:r>
            <a:r>
              <a:rPr lang="en-US" altLang="en-US" sz="2400"/>
              <a:t> will terminate automatically when the end of the</a:t>
            </a:r>
            <a:r>
              <a:rPr lang="en-US" altLang="en-US" sz="2400">
                <a:latin typeface="Courier New" panose="02070309020205020404" pitchFamily="49" charset="0"/>
              </a:rPr>
              <a:t> </a:t>
            </a:r>
            <a:r>
              <a:rPr lang="en-US" altLang="en-US" sz="2200" b="1">
                <a:latin typeface="Courier New" panose="02070309020205020404" pitchFamily="49" charset="0"/>
              </a:rPr>
              <a:t>startRoutine </a:t>
            </a:r>
            <a:r>
              <a:rPr lang="en-US" altLang="en-US" sz="2400"/>
              <a:t>is reached</a:t>
            </a:r>
          </a:p>
          <a:p>
            <a:pPr lvl="1"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en-US" sz="2400"/>
              <a:t>In this case, there is no way to return a exit value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263DDB-E00E-4B47-ADB0-07A908DBDFF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 Creation &amp; Termination: Example</a:t>
            </a:r>
          </a:p>
        </p:txBody>
      </p:sp>
      <p:sp>
        <p:nvSpPr>
          <p:cNvPr id="439300" name="Text Box 4"/>
          <p:cNvSpPr txBox="1">
            <a:spLocks noChangeArrowheads="1"/>
          </p:cNvSpPr>
          <p:nvPr/>
        </p:nvSpPr>
        <p:spPr bwMode="auto">
          <a:xfrm>
            <a:off x="609600" y="1066800"/>
            <a:ext cx="7924800" cy="52736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//header files not shown</a:t>
            </a:r>
          </a:p>
          <a:p>
            <a:pPr eaLnBrk="0" hangingPunct="0"/>
            <a:endParaRPr lang="en-US" altLang="en-US" sz="2000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void*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sayHello</a:t>
            </a:r>
            <a:r>
              <a:rPr lang="en-US" altLang="en-US" sz="2000" dirty="0">
                <a:latin typeface="Courier New" panose="02070309020205020404" pitchFamily="49" charset="0"/>
              </a:rPr>
              <a:t>( void* </a:t>
            </a:r>
            <a:r>
              <a:rPr lang="en-US" altLang="en-US" sz="2000" dirty="0" err="1">
                <a:latin typeface="Courier New" panose="02070309020205020404" pitchFamily="49" charset="0"/>
              </a:rPr>
              <a:t>arg</a:t>
            </a:r>
            <a:r>
              <a:rPr lang="en-US" altLang="en-US" sz="2000" dirty="0">
                <a:latin typeface="Courier New" panose="02070309020205020404" pitchFamily="49" charset="0"/>
              </a:rPr>
              <a:t> )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 </a:t>
            </a:r>
            <a:r>
              <a:rPr lang="en-US" altLang="en-US" sz="2000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dirty="0">
                <a:latin typeface="Courier New" panose="02070309020205020404" pitchFamily="49" charset="0"/>
              </a:rPr>
              <a:t>("Just to say hello!\n");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pthread_exit</a:t>
            </a:r>
            <a:r>
              <a:rPr lang="en-US" altLang="en-US" sz="2000" dirty="0">
                <a:latin typeface="Courier New" panose="02070309020205020404" pitchFamily="49" charset="0"/>
              </a:rPr>
              <a:t>( NULL );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eaLnBrk="0" hangingPunct="0"/>
            <a:endParaRPr lang="en-US" altLang="en-US" sz="2000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main()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pthread_t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</a:rPr>
              <a:t>tid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pthread_create</a:t>
            </a:r>
            <a:r>
              <a:rPr lang="en-US" altLang="en-US" sz="2000" dirty="0">
                <a:latin typeface="Courier New" panose="02070309020205020404" pitchFamily="49" charset="0"/>
              </a:rPr>
              <a:t>( &amp;</a:t>
            </a:r>
            <a:r>
              <a:rPr lang="en-US" altLang="en-US" sz="2000" dirty="0" err="1">
                <a:latin typeface="Courier New" panose="02070309020205020404" pitchFamily="49" charset="0"/>
              </a:rPr>
              <a:t>tid</a:t>
            </a:r>
            <a:r>
              <a:rPr lang="en-US" altLang="en-US" sz="2000" dirty="0">
                <a:latin typeface="Courier New" panose="02070309020205020404" pitchFamily="49" charset="0"/>
              </a:rPr>
              <a:t>, NULL, </a:t>
            </a:r>
            <a:r>
              <a:rPr lang="en-US" altLang="en-US" sz="2000" dirty="0" err="1">
                <a:latin typeface="Courier New" panose="02070309020205020404" pitchFamily="49" charset="0"/>
              </a:rPr>
              <a:t>sayHello</a:t>
            </a:r>
            <a:r>
              <a:rPr lang="en-US" altLang="en-US" sz="2000" dirty="0">
                <a:latin typeface="Courier New" panose="02070309020205020404" pitchFamily="49" charset="0"/>
              </a:rPr>
              <a:t>, NULL );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dirty="0">
                <a:latin typeface="Courier New" panose="02070309020205020404" pitchFamily="49" charset="0"/>
              </a:rPr>
              <a:t>("Thread created with </a:t>
            </a:r>
            <a:r>
              <a:rPr lang="en-US" altLang="en-US" sz="2000" dirty="0" err="1">
                <a:latin typeface="Courier New" panose="02070309020205020404" pitchFamily="49" charset="0"/>
              </a:rPr>
              <a:t>tid</a:t>
            </a:r>
            <a:r>
              <a:rPr lang="en-US" altLang="en-US" sz="2000" dirty="0">
                <a:latin typeface="Courier New" panose="02070309020205020404" pitchFamily="49" charset="0"/>
              </a:rPr>
              <a:t> %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</a:rPr>
              <a:t>\n", </a:t>
            </a:r>
            <a:r>
              <a:rPr lang="en-US" altLang="en-US" sz="2000" dirty="0" err="1">
                <a:latin typeface="Courier New" panose="02070309020205020404" pitchFamily="49" charset="0"/>
              </a:rPr>
              <a:t>tid</a:t>
            </a:r>
            <a:r>
              <a:rPr lang="en-US" altLang="en-US" sz="2000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EC7CF4-3C40-4B95-828E-34DD123576A3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Pthread: Sharing of memory space</a:t>
            </a:r>
          </a:p>
        </p:txBody>
      </p:sp>
      <p:sp>
        <p:nvSpPr>
          <p:cNvPr id="4403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5867400"/>
            <a:ext cx="8229600" cy="609600"/>
          </a:xfrm>
        </p:spPr>
        <p:txBody>
          <a:bodyPr/>
          <a:lstStyle/>
          <a:p>
            <a:r>
              <a:rPr lang="en-US" altLang="en-US"/>
              <a:t>What is the sum that we get (or should get)?</a:t>
            </a:r>
          </a:p>
        </p:txBody>
      </p:sp>
      <p:sp>
        <p:nvSpPr>
          <p:cNvPr id="440324" name="Text Box 4"/>
          <p:cNvSpPr txBox="1">
            <a:spLocks noChangeArrowheads="1"/>
          </p:cNvSpPr>
          <p:nvPr/>
        </p:nvSpPr>
        <p:spPr bwMode="auto">
          <a:xfrm>
            <a:off x="304800" y="990600"/>
            <a:ext cx="8382000" cy="4760913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//header files not shown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int </a:t>
            </a:r>
            <a:r>
              <a:rPr lang="en-US" altLang="en-US" b="1">
                <a:latin typeface="Courier New" panose="02070309020205020404" pitchFamily="49" charset="0"/>
              </a:rPr>
              <a:t>globalVar</a:t>
            </a:r>
            <a:r>
              <a:rPr lang="en-US" altLang="en-US">
                <a:latin typeface="Courier New" panose="02070309020205020404" pitchFamily="49" charset="0"/>
              </a:rPr>
              <a:t>;            </a:t>
            </a:r>
          </a:p>
          <a:p>
            <a:pPr eaLnBrk="0" hangingPunct="0"/>
            <a:endParaRPr lang="en-US" altLang="en-US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void* doSum( void* arg)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{    int i;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 for (i = 0; i &lt; 1000; i++)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     </a:t>
            </a:r>
            <a:r>
              <a:rPr lang="en-US" altLang="en-US" b="1">
                <a:latin typeface="Courier New" panose="02070309020205020404" pitchFamily="49" charset="0"/>
              </a:rPr>
              <a:t> globalVar</a:t>
            </a:r>
            <a:r>
              <a:rPr lang="en-US" altLang="en-US">
                <a:latin typeface="Courier New" panose="02070309020205020404" pitchFamily="49" charset="0"/>
              </a:rPr>
              <a:t>++;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}</a:t>
            </a:r>
          </a:p>
          <a:p>
            <a:pPr eaLnBrk="0" hangingPunct="0"/>
            <a:endParaRPr lang="en-US" altLang="en-US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int main()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</a:t>
            </a:r>
            <a:r>
              <a:rPr lang="en-US" altLang="en-US" b="1">
                <a:latin typeface="Courier New" panose="02070309020205020404" pitchFamily="49" charset="0"/>
              </a:rPr>
              <a:t> pthread_t</a:t>
            </a:r>
            <a:r>
              <a:rPr lang="en-US" altLang="en-US">
                <a:latin typeface="Courier New" panose="02070309020205020404" pitchFamily="49" charset="0"/>
              </a:rPr>
              <a:t> tid[5];    //5 threads id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int i;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for (i = 0; i &lt; 5; i++)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    </a:t>
            </a:r>
            <a:r>
              <a:rPr lang="en-US" altLang="en-US" b="1">
                <a:latin typeface="Courier New" panose="02070309020205020404" pitchFamily="49" charset="0"/>
              </a:rPr>
              <a:t>pthread_create</a:t>
            </a:r>
            <a:r>
              <a:rPr lang="en-US" altLang="en-US">
                <a:latin typeface="Courier New" panose="02070309020205020404" pitchFamily="49" charset="0"/>
              </a:rPr>
              <a:t>( &amp;tid[i], NULL, doSum, NULL );    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printf("Global variable is %i\n", globalVar);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3DDE1-1C67-430F-9713-77893FB2DD2E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Pthread: Simple Synchronization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To wait for the termination of another pthread: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	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>
                <a:latin typeface="Courier New" panose="02070309020205020404" pitchFamily="49" charset="0"/>
              </a:rPr>
              <a:t> </a:t>
            </a:r>
            <a:r>
              <a:rPr lang="en-US" altLang="en-US" sz="2400" b="1">
                <a:solidFill>
                  <a:srgbClr val="0033CC"/>
                </a:solidFill>
                <a:latin typeface="Courier New" panose="02070309020205020404" pitchFamily="49" charset="0"/>
              </a:rPr>
              <a:t>pthread_join</a:t>
            </a:r>
            <a:r>
              <a:rPr lang="en-US" altLang="en-US" sz="2400">
                <a:latin typeface="Courier New" panose="02070309020205020404" pitchFamily="49" charset="0"/>
              </a:rPr>
              <a:t>( 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pthread_t</a:t>
            </a:r>
            <a:r>
              <a:rPr lang="en-US" altLang="en-US" sz="2400">
                <a:latin typeface="Courier New" panose="02070309020205020404" pitchFamily="49" charset="0"/>
              </a:rPr>
              <a:t> threadID,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latin typeface="Courier New" panose="02070309020205020404" pitchFamily="49" charset="0"/>
              </a:rPr>
              <a:t>                    </a:t>
            </a:r>
            <a:r>
              <a:rPr lang="en-US" altLang="en-US" sz="2400" b="1">
                <a:solidFill>
                  <a:srgbClr val="0080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400">
                <a:latin typeface="Courier New" panose="02070309020205020404" pitchFamily="49" charset="0"/>
              </a:rPr>
              <a:t> ** status);</a:t>
            </a:r>
          </a:p>
          <a:p>
            <a:r>
              <a:rPr lang="en-US" altLang="en-US" sz="2400"/>
              <a:t>Returns:</a:t>
            </a:r>
          </a:p>
          <a:p>
            <a:pPr lvl="1"/>
            <a:r>
              <a:rPr lang="en-US" altLang="en-US" sz="2000">
                <a:latin typeface="Courier New" panose="02070309020205020404" pitchFamily="49" charset="0"/>
              </a:rPr>
              <a:t>0 </a:t>
            </a:r>
            <a:r>
              <a:rPr lang="en-US" altLang="en-US" sz="2000"/>
              <a:t>to indicate success;</a:t>
            </a:r>
            <a:r>
              <a:rPr lang="en-US" altLang="en-US" sz="2000">
                <a:latin typeface="Courier New" panose="02070309020205020404" pitchFamily="49" charset="0"/>
              </a:rPr>
              <a:t> !0 </a:t>
            </a:r>
            <a:r>
              <a:rPr lang="en-US" altLang="en-US" sz="2000"/>
              <a:t>for errors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z="2000"/>
          </a:p>
          <a:p>
            <a:r>
              <a:rPr lang="en-US" altLang="en-US" sz="2400"/>
              <a:t>Parameters:</a:t>
            </a:r>
          </a:p>
          <a:p>
            <a:pPr lvl="1"/>
            <a:r>
              <a:rPr lang="en-US" altLang="en-US" sz="2000">
                <a:latin typeface="Courier New" panose="02070309020205020404" pitchFamily="49" charset="0"/>
              </a:rPr>
              <a:t>threadID: </a:t>
            </a:r>
            <a:r>
              <a:rPr lang="en-US" altLang="en-US" sz="2000" b="1">
                <a:latin typeface="Courier New" panose="02070309020205020404" pitchFamily="49" charset="0"/>
              </a:rPr>
              <a:t>TID</a:t>
            </a:r>
            <a:r>
              <a:rPr lang="en-US" altLang="en-US" sz="2000">
                <a:latin typeface="Courier New" panose="02070309020205020404" pitchFamily="49" charset="0"/>
              </a:rPr>
              <a:t> </a:t>
            </a:r>
            <a:r>
              <a:rPr lang="en-US" altLang="en-US" sz="2000"/>
              <a:t>of the pthread to wait for</a:t>
            </a:r>
          </a:p>
          <a:p>
            <a:pPr lvl="1"/>
            <a:r>
              <a:rPr lang="en-US" altLang="en-US" sz="2000">
                <a:latin typeface="Courier New" panose="02070309020205020404" pitchFamily="49" charset="0"/>
              </a:rPr>
              <a:t>status: </a:t>
            </a:r>
            <a:r>
              <a:rPr lang="en-US" altLang="en-US" sz="2000"/>
              <a:t>Exit value returned by the target pthread</a:t>
            </a:r>
          </a:p>
          <a:p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9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771EA1-94EE-4744-BE43-59EFE1D3FE2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Pthread: Sharing of memory space V2.0</a:t>
            </a:r>
          </a:p>
        </p:txBody>
      </p:sp>
      <p:sp>
        <p:nvSpPr>
          <p:cNvPr id="445444" name="Text Box 4"/>
          <p:cNvSpPr txBox="1">
            <a:spLocks noChangeArrowheads="1"/>
          </p:cNvSpPr>
          <p:nvPr/>
        </p:nvSpPr>
        <p:spPr bwMode="auto">
          <a:xfrm>
            <a:off x="381000" y="990600"/>
            <a:ext cx="8382000" cy="5310188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//header files not shown</a:t>
            </a:r>
          </a:p>
          <a:p>
            <a:pPr eaLnBrk="0" hangingPunct="0"/>
            <a:r>
              <a:rPr lang="en-US" altLang="en-US" dirty="0" err="1"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globalVar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endParaRPr lang="en-US" altLang="en-US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void* </a:t>
            </a:r>
            <a:r>
              <a:rPr lang="en-US" altLang="en-US" dirty="0" err="1">
                <a:latin typeface="Courier New" panose="02070309020205020404" pitchFamily="49" charset="0"/>
              </a:rPr>
              <a:t>doSum</a:t>
            </a:r>
            <a:r>
              <a:rPr lang="en-US" altLang="en-US" dirty="0">
                <a:latin typeface="Courier New" panose="02070309020205020404" pitchFamily="49" charset="0"/>
              </a:rPr>
              <a:t>( void* </a:t>
            </a:r>
            <a:r>
              <a:rPr lang="en-US" altLang="en-US" dirty="0" err="1">
                <a:latin typeface="Courier New" panose="02070309020205020404" pitchFamily="49" charset="0"/>
              </a:rPr>
              <a:t>arg</a:t>
            </a:r>
            <a:r>
              <a:rPr lang="en-US" altLang="en-US" dirty="0">
                <a:latin typeface="Courier New" panose="02070309020205020404" pitchFamily="49" charset="0"/>
              </a:rPr>
              <a:t>)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{ //same as before }</a:t>
            </a:r>
          </a:p>
          <a:p>
            <a:pPr eaLnBrk="0" hangingPunct="0"/>
            <a:endParaRPr lang="en-US" altLang="en-US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dirty="0" err="1"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</a:rPr>
              <a:t> main()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pthread_t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tid</a:t>
            </a:r>
            <a:r>
              <a:rPr lang="en-US" altLang="en-US" dirty="0">
                <a:latin typeface="Courier New" panose="02070309020205020404" pitchFamily="49" charset="0"/>
              </a:rPr>
              <a:t>[5];    //5 threads id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for (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 &lt; 5;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++)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    </a:t>
            </a:r>
            <a:r>
              <a:rPr lang="en-US" altLang="en-US" dirty="0" err="1">
                <a:latin typeface="Courier New" panose="02070309020205020404" pitchFamily="49" charset="0"/>
              </a:rPr>
              <a:t>pthread_create</a:t>
            </a:r>
            <a:r>
              <a:rPr lang="en-US" altLang="en-US" dirty="0">
                <a:latin typeface="Courier New" panose="02070309020205020404" pitchFamily="49" charset="0"/>
              </a:rPr>
              <a:t>( &amp;</a:t>
            </a:r>
            <a:r>
              <a:rPr lang="en-US" altLang="en-US" dirty="0" err="1">
                <a:latin typeface="Courier New" panose="02070309020205020404" pitchFamily="49" charset="0"/>
              </a:rPr>
              <a:t>tid</a:t>
            </a:r>
            <a:r>
              <a:rPr lang="en-US" altLang="en-US" dirty="0">
                <a:latin typeface="Courier New" panose="02070309020205020404" pitchFamily="49" charset="0"/>
              </a:rPr>
              <a:t>[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], NULL, </a:t>
            </a:r>
            <a:r>
              <a:rPr lang="en-US" altLang="en-US" dirty="0" err="1">
                <a:latin typeface="Courier New" panose="02070309020205020404" pitchFamily="49" charset="0"/>
              </a:rPr>
              <a:t>doSum</a:t>
            </a:r>
            <a:r>
              <a:rPr lang="en-US" altLang="en-US" dirty="0">
                <a:latin typeface="Courier New" panose="02070309020205020404" pitchFamily="49" charset="0"/>
              </a:rPr>
              <a:t>, NULL );</a:t>
            </a:r>
          </a:p>
          <a:p>
            <a:pPr eaLnBrk="0" hangingPunct="0"/>
            <a:endParaRPr lang="en-US" altLang="en-US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b="1" dirty="0">
                <a:latin typeface="Courier New" panose="02070309020205020404" pitchFamily="49" charset="0"/>
              </a:rPr>
              <a:t>//Wait for all threads to finish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b="1" dirty="0">
                <a:latin typeface="Courier New" panose="02070309020205020404" pitchFamily="49" charset="0"/>
              </a:rPr>
              <a:t>for (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= 0;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&lt; 5;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++)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        </a:t>
            </a:r>
            <a:r>
              <a:rPr lang="en-US" altLang="en-US" b="1" dirty="0" err="1">
                <a:latin typeface="Courier New" panose="02070309020205020404" pitchFamily="49" charset="0"/>
              </a:rPr>
              <a:t>pthread_join</a:t>
            </a:r>
            <a:r>
              <a:rPr lang="en-US" altLang="en-US" b="1" dirty="0"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latin typeface="Courier New" panose="02070309020205020404" pitchFamily="49" charset="0"/>
              </a:rPr>
              <a:t>tid</a:t>
            </a:r>
            <a:r>
              <a:rPr lang="en-US" altLang="en-US" b="1" dirty="0">
                <a:latin typeface="Courier New" panose="02070309020205020404" pitchFamily="49" charset="0"/>
              </a:rPr>
              <a:t>[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], NULL );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       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</a:rPr>
              <a:t>printf</a:t>
            </a:r>
            <a:r>
              <a:rPr lang="en-US" altLang="en-US" dirty="0">
                <a:latin typeface="Courier New" panose="02070309020205020404" pitchFamily="49" charset="0"/>
              </a:rPr>
              <a:t>("Global variable is %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r>
              <a:rPr lang="en-US" altLang="en-US" dirty="0">
                <a:latin typeface="Courier New" panose="02070309020205020404" pitchFamily="49" charset="0"/>
              </a:rPr>
              <a:t>\n", </a:t>
            </a:r>
            <a:r>
              <a:rPr lang="en-US" altLang="en-US" dirty="0" err="1">
                <a:latin typeface="Courier New" panose="02070309020205020404" pitchFamily="49" charset="0"/>
              </a:rPr>
              <a:t>globalVar</a:t>
            </a:r>
            <a:r>
              <a:rPr lang="en-US" altLang="en-US" dirty="0">
                <a:latin typeface="Courier New" panose="02070309020205020404" pitchFamily="49" charset="0"/>
              </a:rPr>
              <a:t>);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    return 0;</a:t>
            </a:r>
          </a:p>
          <a:p>
            <a:pPr eaLnBrk="0" hangingPunct="0"/>
            <a:r>
              <a:rPr lang="en-US" altLang="en-US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53A6A-4B7F-4A16-AE80-F75BF60425A0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Pthread: A lot more!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There are more interesting stuff about </a:t>
            </a:r>
            <a:r>
              <a:rPr lang="en-US" altLang="en-US" b="1" i="1" dirty="0" err="1"/>
              <a:t>pthread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Yielding (giving up CPU voluntarily)</a:t>
            </a:r>
          </a:p>
          <a:p>
            <a:pPr lvl="1"/>
            <a:r>
              <a:rPr lang="en-US" altLang="en-US" dirty="0"/>
              <a:t>Advanced synchronization</a:t>
            </a:r>
          </a:p>
          <a:p>
            <a:pPr lvl="1"/>
            <a:r>
              <a:rPr lang="en-US" altLang="en-US" dirty="0"/>
              <a:t>Scheduling policies</a:t>
            </a:r>
          </a:p>
          <a:p>
            <a:pPr lvl="1"/>
            <a:r>
              <a:rPr lang="en-US" altLang="en-US" dirty="0"/>
              <a:t>Binding to kernel threads</a:t>
            </a:r>
          </a:p>
          <a:p>
            <a:pPr lvl="1"/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buNone/>
            </a:pPr>
            <a:endParaRPr lang="en-US" altLang="en-US" dirty="0"/>
          </a:p>
          <a:p>
            <a:r>
              <a:rPr lang="en-US" altLang="en-US" dirty="0"/>
              <a:t>As we cover new topics, you can explore the </a:t>
            </a:r>
            <a:r>
              <a:rPr lang="en-US" altLang="en-US" b="1" i="1" dirty="0" err="1"/>
              <a:t>pthread</a:t>
            </a:r>
            <a:r>
              <a:rPr lang="en-US" altLang="en-US" dirty="0"/>
              <a:t> library to see the application!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A414B4-C346-42AE-8C93-5865A165BE37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Thread: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Difference between thread and process</a:t>
            </a:r>
          </a:p>
          <a:p>
            <a:endParaRPr lang="en-US" altLang="en-US" dirty="0"/>
          </a:p>
          <a:p>
            <a:r>
              <a:rPr lang="en-US" altLang="en-US" dirty="0"/>
              <a:t>Thread Models:</a:t>
            </a:r>
          </a:p>
          <a:p>
            <a:pPr lvl="1"/>
            <a:r>
              <a:rPr lang="en-US" altLang="en-US" dirty="0"/>
              <a:t>User vs Kernel thread</a:t>
            </a:r>
          </a:p>
          <a:p>
            <a:endParaRPr lang="en-US" altLang="en-US" dirty="0"/>
          </a:p>
          <a:p>
            <a:r>
              <a:rPr lang="en-US" altLang="en-US" dirty="0"/>
              <a:t>Simple introduction to </a:t>
            </a:r>
            <a:r>
              <a:rPr lang="en-US" altLang="en-US" dirty="0" err="1"/>
              <a:t>pthread</a:t>
            </a:r>
            <a:r>
              <a:rPr lang="en-US" altLang="en-US" dirty="0"/>
              <a:t> library</a:t>
            </a:r>
          </a:p>
          <a:p>
            <a:pPr marL="344487" lvl="1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CB53C-953C-46D6-99CE-F049FE191E73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Chapter 2.2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</a:t>
            </a:r>
            <a:r>
              <a:rPr lang="en-US" altLang="en-US" i="1" dirty="0"/>
              <a:t> </a:t>
            </a:r>
            <a:r>
              <a:rPr lang="en-US" altLang="en-US" dirty="0"/>
              <a:t>(7</a:t>
            </a:r>
            <a:r>
              <a:rPr lang="en-US" altLang="en-US" baseline="30000" dirty="0"/>
              <a:t>th</a:t>
            </a:r>
            <a:r>
              <a:rPr lang="en-US" altLang="en-US" dirty="0"/>
              <a:t>  Edition)</a:t>
            </a:r>
          </a:p>
          <a:p>
            <a:pPr lvl="1"/>
            <a:r>
              <a:rPr lang="en-US" altLang="en-US" dirty="0"/>
              <a:t>Chapter 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Linux </a:t>
            </a:r>
            <a:r>
              <a:rPr lang="en-US" altLang="en-US" dirty="0" err="1"/>
              <a:t>Pthread</a:t>
            </a:r>
            <a:r>
              <a:rPr lang="en-US" altLang="en-US" dirty="0"/>
              <a:t> Man Pages</a:t>
            </a:r>
          </a:p>
          <a:p>
            <a:pPr lvl="1"/>
            <a:r>
              <a:rPr lang="en-US" altLang="en-US" dirty="0"/>
              <a:t>“man </a:t>
            </a:r>
            <a:r>
              <a:rPr lang="en-US" altLang="en-US" dirty="0" err="1"/>
              <a:t>pthread</a:t>
            </a:r>
            <a:r>
              <a:rPr lang="en-US" altLang="en-US" dirty="0"/>
              <a:t>……” for more 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99A47E-2C15-4DC1-A7FA-D9BB270E1C2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What can we </a:t>
            </a:r>
            <a:r>
              <a:rPr lang="en-US" altLang="en-US" sz="3800" b="1" dirty="0">
                <a:solidFill>
                  <a:srgbClr val="C00000"/>
                </a:solidFill>
              </a:rPr>
              <a:t>share</a:t>
            </a:r>
            <a:r>
              <a:rPr lang="en-US" altLang="en-US" sz="3800" b="1" dirty="0"/>
              <a:t>?</a:t>
            </a:r>
          </a:p>
        </p:txBody>
      </p:sp>
      <p:sp>
        <p:nvSpPr>
          <p:cNvPr id="455683" name="Rectangle 3"/>
          <p:cNvSpPr>
            <a:spLocks noChangeArrowheads="1"/>
          </p:cNvSpPr>
          <p:nvPr/>
        </p:nvSpPr>
        <p:spPr bwMode="auto">
          <a:xfrm>
            <a:off x="5029200" y="914400"/>
            <a:ext cx="3962400" cy="5105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Memory</a:t>
            </a:r>
          </a:p>
        </p:txBody>
      </p:sp>
      <p:sp>
        <p:nvSpPr>
          <p:cNvPr id="455684" name="Rectangle 4"/>
          <p:cNvSpPr>
            <a:spLocks noChangeArrowheads="1"/>
          </p:cNvSpPr>
          <p:nvPr/>
        </p:nvSpPr>
        <p:spPr bwMode="auto">
          <a:xfrm rot="16200000">
            <a:off x="2971800" y="1066800"/>
            <a:ext cx="685800" cy="2057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Fetch Unit</a:t>
            </a:r>
          </a:p>
        </p:txBody>
      </p:sp>
      <p:sp>
        <p:nvSpPr>
          <p:cNvPr id="455685" name="AutoShape 5"/>
          <p:cNvSpPr>
            <a:spLocks noChangeArrowheads="1"/>
          </p:cNvSpPr>
          <p:nvPr/>
        </p:nvSpPr>
        <p:spPr bwMode="auto">
          <a:xfrm>
            <a:off x="4267200" y="1905000"/>
            <a:ext cx="838200" cy="38100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33CC33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5686" name="Group 6"/>
          <p:cNvGrpSpPr>
            <a:grpSpLocks/>
          </p:cNvGrpSpPr>
          <p:nvPr/>
        </p:nvGrpSpPr>
        <p:grpSpPr bwMode="auto">
          <a:xfrm>
            <a:off x="2286000" y="2286000"/>
            <a:ext cx="2057400" cy="1447800"/>
            <a:chOff x="1488" y="1152"/>
            <a:chExt cx="1296" cy="912"/>
          </a:xfrm>
        </p:grpSpPr>
        <p:sp>
          <p:nvSpPr>
            <p:cNvPr id="455687" name="Rectangle 7"/>
            <p:cNvSpPr>
              <a:spLocks noChangeArrowheads="1"/>
            </p:cNvSpPr>
            <p:nvPr/>
          </p:nvSpPr>
          <p:spPr bwMode="auto">
            <a:xfrm rot="16200000">
              <a:off x="1920" y="1200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Dispatch Unit</a:t>
              </a:r>
            </a:p>
          </p:txBody>
        </p:sp>
        <p:sp>
          <p:nvSpPr>
            <p:cNvPr id="455688" name="Text Box 8"/>
            <p:cNvSpPr txBox="1">
              <a:spLocks noChangeArrowheads="1"/>
            </p:cNvSpPr>
            <p:nvPr/>
          </p:nvSpPr>
          <p:spPr bwMode="auto">
            <a:xfrm>
              <a:off x="1824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Courier New" panose="02070309020205020404" pitchFamily="49" charset="0"/>
                </a:rPr>
                <a:t>… … …</a:t>
              </a:r>
            </a:p>
          </p:txBody>
        </p:sp>
        <p:sp>
          <p:nvSpPr>
            <p:cNvPr id="455689" name="AutoShape 9"/>
            <p:cNvSpPr>
              <a:spLocks noChangeArrowheads="1"/>
            </p:cNvSpPr>
            <p:nvPr/>
          </p:nvSpPr>
          <p:spPr bwMode="auto">
            <a:xfrm rot="16200000">
              <a:off x="1872" y="1296"/>
              <a:ext cx="528" cy="24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5690" name="Rectangle 10"/>
          <p:cNvSpPr>
            <a:spLocks noChangeArrowheads="1"/>
          </p:cNvSpPr>
          <p:nvPr/>
        </p:nvSpPr>
        <p:spPr bwMode="auto">
          <a:xfrm rot="16200000">
            <a:off x="2705100" y="3771900"/>
            <a:ext cx="1295400" cy="2133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Functional Units</a:t>
            </a:r>
          </a:p>
        </p:txBody>
      </p:sp>
      <p:sp>
        <p:nvSpPr>
          <p:cNvPr id="455691" name="AutoShape 11"/>
          <p:cNvSpPr>
            <a:spLocks noChangeArrowheads="1"/>
          </p:cNvSpPr>
          <p:nvPr/>
        </p:nvSpPr>
        <p:spPr bwMode="auto">
          <a:xfrm rot="16200000">
            <a:off x="3048000" y="3733800"/>
            <a:ext cx="533400" cy="381000"/>
          </a:xfrm>
          <a:prstGeom prst="leftArrow">
            <a:avLst>
              <a:gd name="adj1" fmla="val 50000"/>
              <a:gd name="adj2" fmla="val 35000"/>
            </a:avLst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5692" name="Rectangle 12"/>
          <p:cNvSpPr>
            <a:spLocks noChangeArrowheads="1"/>
          </p:cNvSpPr>
          <p:nvPr/>
        </p:nvSpPr>
        <p:spPr bwMode="auto">
          <a:xfrm rot="16200000">
            <a:off x="3009900" y="3695700"/>
            <a:ext cx="685800" cy="1828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……</a:t>
            </a:r>
          </a:p>
        </p:txBody>
      </p:sp>
      <p:sp>
        <p:nvSpPr>
          <p:cNvPr id="455695" name="AutoShape 15"/>
          <p:cNvSpPr>
            <a:spLocks noChangeArrowheads="1"/>
          </p:cNvSpPr>
          <p:nvPr/>
        </p:nvSpPr>
        <p:spPr bwMode="auto">
          <a:xfrm>
            <a:off x="44196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5696" name="AutoShape 1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455697" name="Text Box 17"/>
          <p:cNvSpPr txBox="1">
            <a:spLocks noChangeArrowheads="1"/>
          </p:cNvSpPr>
          <p:nvPr/>
        </p:nvSpPr>
        <p:spPr bwMode="auto">
          <a:xfrm>
            <a:off x="5181600" y="1022879"/>
            <a:ext cx="3657600" cy="17399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0001 | ...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Text</a:t>
            </a:r>
            <a:r>
              <a:rPr lang="en-US" altLang="en-US" b="1" dirty="0">
                <a:latin typeface="Courier New" panose="02070309020205020404" pitchFamily="49" charset="0"/>
              </a:rPr>
              <a:t>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....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....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....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.... ...</a:t>
            </a:r>
          </a:p>
          <a:p>
            <a:pPr eaLnBrk="0" hangingPunct="0"/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455698" name="Text Box 18"/>
          <p:cNvSpPr txBox="1">
            <a:spLocks noChangeArrowheads="1"/>
          </p:cNvSpPr>
          <p:nvPr/>
        </p:nvSpPr>
        <p:spPr bwMode="auto">
          <a:xfrm>
            <a:off x="5181600" y="2851679"/>
            <a:ext cx="3657600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Data</a:t>
            </a:r>
            <a:r>
              <a:rPr lang="en-US" altLang="en-US" b="1" dirty="0">
                <a:latin typeface="Courier New" panose="02070309020205020404" pitchFamily="49" charset="0"/>
              </a:rPr>
              <a:t>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4096 |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  <p:sp>
        <p:nvSpPr>
          <p:cNvPr id="455705" name="Text Box 25"/>
          <p:cNvSpPr txBox="1">
            <a:spLocks noChangeArrowheads="1"/>
          </p:cNvSpPr>
          <p:nvPr/>
        </p:nvSpPr>
        <p:spPr bwMode="auto">
          <a:xfrm>
            <a:off x="5156200" y="4953000"/>
            <a:ext cx="3657600" cy="9159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XXXX | ...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Stack</a:t>
            </a:r>
            <a:r>
              <a:rPr lang="en-US" altLang="en-US" b="1" dirty="0">
                <a:latin typeface="Courier New" panose="02070309020205020404" pitchFamily="49" charset="0"/>
              </a:rPr>
              <a:t>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XXXX |</a:t>
            </a:r>
          </a:p>
        </p:txBody>
      </p:sp>
      <p:grpSp>
        <p:nvGrpSpPr>
          <p:cNvPr id="455716" name="Group 36"/>
          <p:cNvGrpSpPr>
            <a:grpSpLocks/>
          </p:cNvGrpSpPr>
          <p:nvPr/>
        </p:nvGrpSpPr>
        <p:grpSpPr bwMode="auto">
          <a:xfrm>
            <a:off x="228600" y="2514600"/>
            <a:ext cx="1524000" cy="3200400"/>
            <a:chOff x="144" y="2064"/>
            <a:chExt cx="960" cy="2016"/>
          </a:xfrm>
        </p:grpSpPr>
        <p:sp>
          <p:nvSpPr>
            <p:cNvPr id="455693" name="Rectangle 13"/>
            <p:cNvSpPr>
              <a:spLocks noChangeArrowheads="1"/>
            </p:cNvSpPr>
            <p:nvPr/>
          </p:nvSpPr>
          <p:spPr bwMode="auto">
            <a:xfrm rot="16200000">
              <a:off x="-384" y="2592"/>
              <a:ext cx="2016" cy="96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r>
                <a:rPr lang="en-US" altLang="en-US"/>
                <a:t>Registers</a:t>
              </a:r>
            </a:p>
          </p:txBody>
        </p:sp>
        <p:grpSp>
          <p:nvGrpSpPr>
            <p:cNvPr id="455699" name="Group 19"/>
            <p:cNvGrpSpPr>
              <a:grpSpLocks/>
            </p:cNvGrpSpPr>
            <p:nvPr/>
          </p:nvGrpSpPr>
          <p:grpSpPr bwMode="auto">
            <a:xfrm>
              <a:off x="240" y="2304"/>
              <a:ext cx="768" cy="240"/>
              <a:chOff x="144" y="1152"/>
              <a:chExt cx="768" cy="240"/>
            </a:xfrm>
          </p:grpSpPr>
          <p:sp>
            <p:nvSpPr>
              <p:cNvPr id="455700" name="Rectangle 20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5701" name="Text Box 21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r1</a:t>
                </a:r>
              </a:p>
            </p:txBody>
          </p:sp>
        </p:grpSp>
        <p:grpSp>
          <p:nvGrpSpPr>
            <p:cNvPr id="455702" name="Group 22"/>
            <p:cNvGrpSpPr>
              <a:grpSpLocks/>
            </p:cNvGrpSpPr>
            <p:nvPr/>
          </p:nvGrpSpPr>
          <p:grpSpPr bwMode="auto">
            <a:xfrm>
              <a:off x="240" y="3600"/>
              <a:ext cx="768" cy="240"/>
              <a:chOff x="144" y="1152"/>
              <a:chExt cx="768" cy="240"/>
            </a:xfrm>
          </p:grpSpPr>
          <p:sp>
            <p:nvSpPr>
              <p:cNvPr id="455703" name="Rectangle 23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5704" name="Text Box 24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PC</a:t>
                </a:r>
              </a:p>
            </p:txBody>
          </p:sp>
        </p:grpSp>
        <p:grpSp>
          <p:nvGrpSpPr>
            <p:cNvPr id="455706" name="Group 26"/>
            <p:cNvGrpSpPr>
              <a:grpSpLocks/>
            </p:cNvGrpSpPr>
            <p:nvPr/>
          </p:nvGrpSpPr>
          <p:grpSpPr bwMode="auto">
            <a:xfrm>
              <a:off x="240" y="3312"/>
              <a:ext cx="768" cy="240"/>
              <a:chOff x="144" y="1152"/>
              <a:chExt cx="768" cy="240"/>
            </a:xfrm>
          </p:grpSpPr>
          <p:sp>
            <p:nvSpPr>
              <p:cNvPr id="455707" name="Rectangle 27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5708" name="Text Box 28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FP</a:t>
                </a:r>
              </a:p>
            </p:txBody>
          </p:sp>
        </p:grpSp>
        <p:grpSp>
          <p:nvGrpSpPr>
            <p:cNvPr id="455709" name="Group 29"/>
            <p:cNvGrpSpPr>
              <a:grpSpLocks/>
            </p:cNvGrpSpPr>
            <p:nvPr/>
          </p:nvGrpSpPr>
          <p:grpSpPr bwMode="auto">
            <a:xfrm>
              <a:off x="240" y="3024"/>
              <a:ext cx="768" cy="240"/>
              <a:chOff x="144" y="1152"/>
              <a:chExt cx="768" cy="240"/>
            </a:xfrm>
          </p:grpSpPr>
          <p:sp>
            <p:nvSpPr>
              <p:cNvPr id="455710" name="Rectangle 30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5711" name="Text Box 31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SP</a:t>
                </a:r>
              </a:p>
            </p:txBody>
          </p:sp>
        </p:grpSp>
        <p:grpSp>
          <p:nvGrpSpPr>
            <p:cNvPr id="455712" name="Group 32"/>
            <p:cNvGrpSpPr>
              <a:grpSpLocks/>
            </p:cNvGrpSpPr>
            <p:nvPr/>
          </p:nvGrpSpPr>
          <p:grpSpPr bwMode="auto">
            <a:xfrm>
              <a:off x="240" y="2544"/>
              <a:ext cx="768" cy="240"/>
              <a:chOff x="144" y="1152"/>
              <a:chExt cx="768" cy="240"/>
            </a:xfrm>
          </p:grpSpPr>
          <p:sp>
            <p:nvSpPr>
              <p:cNvPr id="455713" name="Rectangle 33"/>
              <p:cNvSpPr>
                <a:spLocks noChangeArrowheads="1"/>
              </p:cNvSpPr>
              <p:nvPr/>
            </p:nvSpPr>
            <p:spPr bwMode="auto">
              <a:xfrm>
                <a:off x="480" y="115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……</a:t>
                </a:r>
              </a:p>
            </p:txBody>
          </p:sp>
          <p:sp>
            <p:nvSpPr>
              <p:cNvPr id="455714" name="Text Box 34"/>
              <p:cNvSpPr txBox="1">
                <a:spLocks noChangeArrowheads="1"/>
              </p:cNvSpPr>
              <p:nvPr/>
            </p:nvSpPr>
            <p:spPr bwMode="auto">
              <a:xfrm>
                <a:off x="144" y="11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b="1">
                    <a:latin typeface="Courier New" panose="02070309020205020404" pitchFamily="49" charset="0"/>
                  </a:rPr>
                  <a:t>..</a:t>
                </a:r>
              </a:p>
            </p:txBody>
          </p:sp>
        </p:grpSp>
      </p:grpSp>
      <p:sp>
        <p:nvSpPr>
          <p:cNvPr id="455694" name="AutoShape 14"/>
          <p:cNvSpPr>
            <a:spLocks noChangeArrowheads="1"/>
          </p:cNvSpPr>
          <p:nvPr/>
        </p:nvSpPr>
        <p:spPr bwMode="auto">
          <a:xfrm>
            <a:off x="16764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5717" name="AutoShape 37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2000" y="6096000"/>
            <a:ext cx="762000" cy="762001"/>
          </a:xfrm>
          <a:prstGeom prst="actionButtonReturn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5181600" y="3884612"/>
            <a:ext cx="3657600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 ...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Heap</a:t>
            </a:r>
            <a:r>
              <a:rPr lang="en-US" altLang="en-US" b="1" dirty="0">
                <a:latin typeface="Courier New" panose="02070309020205020404" pitchFamily="49" charset="0"/>
              </a:rPr>
              <a:t> ...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8000 |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1938C-6D73-4B3E-8CA8-7FBA0861FDBE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98259-D660-4C21-96BC-887852CCAFDB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Disclaimer: I cheated a little </a:t>
            </a:r>
            <a:r>
              <a:rPr lang="en-US" altLang="en-US" sz="3800">
                <a:sym typeface="Wingdings" panose="05000000000000000000" pitchFamily="2" charset="2"/>
              </a:rPr>
              <a:t></a:t>
            </a:r>
            <a:endParaRPr lang="en-US" altLang="en-US" sz="3800"/>
          </a:p>
        </p:txBody>
      </p:sp>
      <p:sp>
        <p:nvSpPr>
          <p:cNvPr id="458789" name="Rectangle 3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dirty="0"/>
              <a:t>Accessing shared variable is </a:t>
            </a:r>
            <a:r>
              <a:rPr lang="en-US" altLang="en-US" b="1" dirty="0">
                <a:solidFill>
                  <a:schemeClr val="tx2"/>
                </a:solidFill>
              </a:rPr>
              <a:t>much more trickier </a:t>
            </a:r>
            <a:r>
              <a:rPr lang="en-US" altLang="en-US" dirty="0">
                <a:solidFill>
                  <a:schemeClr val="tx2"/>
                </a:solidFill>
              </a:rPr>
              <a:t>than shown!</a:t>
            </a:r>
          </a:p>
          <a:p>
            <a:pPr marL="571500" indent="-571500"/>
            <a:r>
              <a:rPr lang="en-US" altLang="en-US" dirty="0"/>
              <a:t>The "</a:t>
            </a:r>
            <a:r>
              <a:rPr lang="en-US" altLang="en-US" sz="2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globalVar</a:t>
            </a:r>
            <a:r>
              <a:rPr lang="en-US" altLang="en-US" sz="2800" b="1" dirty="0">
                <a:solidFill>
                  <a:srgbClr val="008000"/>
                </a:solidFill>
                <a:latin typeface="Courier New" panose="02070309020205020404" pitchFamily="49" charset="0"/>
              </a:rPr>
              <a:t>++</a:t>
            </a:r>
            <a:r>
              <a:rPr lang="en-US" altLang="en-US" sz="2800" b="1" dirty="0">
                <a:latin typeface="Courier New" panose="02070309020205020404" pitchFamily="49" charset="0"/>
              </a:rPr>
              <a:t>"</a:t>
            </a:r>
            <a:r>
              <a:rPr lang="en-US" altLang="en-US" dirty="0"/>
              <a:t> is NOT a single machine operation: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Read 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globalVar</a:t>
            </a:r>
            <a:r>
              <a:rPr lang="en-US" altLang="en-US" dirty="0"/>
              <a:t> from memory</a:t>
            </a: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Increase 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globalVar</a:t>
            </a:r>
            <a:endParaRPr lang="en-US" altLang="en-US" sz="24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marL="839788" lvl="1" indent="-495300">
              <a:buFont typeface="Wingdings" panose="05000000000000000000" pitchFamily="2" charset="2"/>
              <a:buAutoNum type="arabicPeriod"/>
            </a:pPr>
            <a:r>
              <a:rPr lang="en-US" altLang="en-US" dirty="0"/>
              <a:t>Store </a:t>
            </a:r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globalVar</a:t>
            </a:r>
            <a:r>
              <a:rPr lang="en-US" altLang="en-US" dirty="0"/>
              <a:t> back to memory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altLang="en-US" dirty="0"/>
              <a:t>What if a thread is switched out in step 2?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altLang="en-US" dirty="0"/>
              <a:t>So, a small number of iterations is chosen to avoid thread switching in middle </a:t>
            </a:r>
            <a:r>
              <a:rPr lang="en-US" altLang="en-US" dirty="0">
                <a:sym typeface="Wingdings" panose="05000000000000000000" pitchFamily="2" charset="2"/>
              </a:rPr>
              <a:t></a:t>
            </a:r>
            <a:endParaRPr lang="en-US" altLang="en-US" dirty="0"/>
          </a:p>
        </p:txBody>
      </p:sp>
      <p:sp>
        <p:nvSpPr>
          <p:cNvPr id="458766" name="AutoShape 1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8437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8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3325E-2C99-4ED9-AA38-4726EB41FFB0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C00000"/>
                </a:solidFill>
              </a:rPr>
              <a:t>Process Context Switch </a:t>
            </a:r>
            <a:r>
              <a:rPr lang="en-US" altLang="en-US" sz="3800" dirty="0"/>
              <a:t>VS </a:t>
            </a:r>
            <a:r>
              <a:rPr lang="en-US" altLang="en-US" sz="3800" dirty="0">
                <a:solidFill>
                  <a:srgbClr val="660066"/>
                </a:solidFill>
              </a:rPr>
              <a:t>Thread Switch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Process context switch </a:t>
            </a:r>
            <a:r>
              <a:rPr lang="en-US" altLang="en-US" dirty="0"/>
              <a:t>involves: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OS Context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Context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Memory Context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Thread switch </a:t>
            </a:r>
            <a:r>
              <a:rPr lang="en-US" altLang="en-US" dirty="0"/>
              <a:t>within the same process involves: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Registers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"Stack" (actually just changing FP and SP registers)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Thread is much “lighter” than process: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a.k.a. </a:t>
            </a:r>
            <a:r>
              <a:rPr lang="en-US" altLang="en-US" b="1" i="1" dirty="0"/>
              <a:t>lightweight process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21774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6626</TotalTime>
  <Words>2140</Words>
  <Application>Microsoft Macintosh PowerPoint</Application>
  <PresentationFormat>On-screen Show (4:3)</PresentationFormat>
  <Paragraphs>489</Paragraphs>
  <Slides>38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  <vt:variant>
        <vt:lpstr>Custom Shows</vt:lpstr>
      </vt:variant>
      <vt:variant>
        <vt:i4>1</vt:i4>
      </vt:variant>
    </vt:vector>
  </HeadingPairs>
  <TitlesOfParts>
    <vt:vector size="45" baseType="lpstr">
      <vt:lpstr>Arial</vt:lpstr>
      <vt:lpstr>Courier New</vt:lpstr>
      <vt:lpstr>Garamond</vt:lpstr>
      <vt:lpstr>Times New Roman</vt:lpstr>
      <vt:lpstr>Wingdings</vt:lpstr>
      <vt:lpstr>Edge</vt:lpstr>
      <vt:lpstr>Process Management Process Alternative - Threads</vt:lpstr>
      <vt:lpstr>Overview</vt:lpstr>
      <vt:lpstr>Motivation for Thread</vt:lpstr>
      <vt:lpstr>Motivation for Thread (cont)</vt:lpstr>
      <vt:lpstr>Threads of control: Illustration</vt:lpstr>
      <vt:lpstr>Threads of control: Illustration (cont)</vt:lpstr>
      <vt:lpstr>Multiple "threads of control" with fork( )</vt:lpstr>
      <vt:lpstr>New approach: Multi-Threading</vt:lpstr>
      <vt:lpstr>Process and Thread</vt:lpstr>
      <vt:lpstr>Process and Thread: Illustration</vt:lpstr>
      <vt:lpstr>Process Context Switch VS Thread Switch</vt:lpstr>
      <vt:lpstr>Threads: Benefits</vt:lpstr>
      <vt:lpstr>Thread: Problems</vt:lpstr>
      <vt:lpstr>Thread Models</vt:lpstr>
      <vt:lpstr>Two Major Thread Implementations</vt:lpstr>
      <vt:lpstr>User Thread: Illustration</vt:lpstr>
      <vt:lpstr>User Thread: Pros and Cons</vt:lpstr>
      <vt:lpstr>Kernel Thread: Illustration</vt:lpstr>
      <vt:lpstr>Kernel Threads: Pros and Cons</vt:lpstr>
      <vt:lpstr>Hybrid Thread Model</vt:lpstr>
      <vt:lpstr>Hybrid Model Example: Solaris</vt:lpstr>
      <vt:lpstr>Threads on Modern Processor</vt:lpstr>
      <vt:lpstr>POSIX Threads</vt:lpstr>
      <vt:lpstr>POSIX Threads: pthread</vt:lpstr>
      <vt:lpstr>Basics of Pthread</vt:lpstr>
      <vt:lpstr>Pthread Creation</vt:lpstr>
      <vt:lpstr>Pthread Termination</vt:lpstr>
      <vt:lpstr>Pthread Creation &amp; Termination: Example</vt:lpstr>
      <vt:lpstr>Pthread: Sharing of memory space</vt:lpstr>
      <vt:lpstr>Pthread: Simple Synchronization</vt:lpstr>
      <vt:lpstr>Pthread: Sharing of memory space V2.0</vt:lpstr>
      <vt:lpstr>Pthread: A lot more!</vt:lpstr>
      <vt:lpstr>Summary</vt:lpstr>
      <vt:lpstr>Reference</vt:lpstr>
      <vt:lpstr>What can we share?</vt:lpstr>
      <vt:lpstr>PowerPoint Presentation</vt:lpstr>
      <vt:lpstr>Disclaimer: I cheated a little </vt:lpstr>
      <vt:lpstr>Process Context Switch VS Thread Switch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yuenjien soo</dc:creator>
  <cp:lastModifiedBy>Tan Keng Yan, Colin</cp:lastModifiedBy>
  <cp:revision>390</cp:revision>
  <cp:lastPrinted>1601-01-01T00:00:00Z</cp:lastPrinted>
  <dcterms:created xsi:type="dcterms:W3CDTF">1601-01-01T00:00:00Z</dcterms:created>
  <dcterms:modified xsi:type="dcterms:W3CDTF">2025-09-10T12:29:20Z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