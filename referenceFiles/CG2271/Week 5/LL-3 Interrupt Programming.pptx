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707" r:id="rId2"/>
    <p:sldMasterId id="2147483720" r:id="rId3"/>
  </p:sldMasterIdLst>
  <p:notesMasterIdLst>
    <p:notesMasterId r:id="rId36"/>
  </p:notesMasterIdLst>
  <p:sldIdLst>
    <p:sldId id="256" r:id="rId4"/>
    <p:sldId id="269" r:id="rId5"/>
    <p:sldId id="258" r:id="rId6"/>
    <p:sldId id="270" r:id="rId7"/>
    <p:sldId id="259" r:id="rId8"/>
    <p:sldId id="260" r:id="rId9"/>
    <p:sldId id="261" r:id="rId10"/>
    <p:sldId id="262" r:id="rId11"/>
    <p:sldId id="271" r:id="rId12"/>
    <p:sldId id="257" r:id="rId13"/>
    <p:sldId id="263" r:id="rId14"/>
    <p:sldId id="272" r:id="rId15"/>
    <p:sldId id="264" r:id="rId16"/>
    <p:sldId id="265" r:id="rId17"/>
    <p:sldId id="266" r:id="rId18"/>
    <p:sldId id="267" r:id="rId19"/>
    <p:sldId id="268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6" r:id="rId29"/>
    <p:sldId id="281" r:id="rId30"/>
    <p:sldId id="282" r:id="rId31"/>
    <p:sldId id="283" r:id="rId32"/>
    <p:sldId id="284" r:id="rId33"/>
    <p:sldId id="285" r:id="rId34"/>
    <p:sldId id="287" r:id="rId35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8" autoAdjust="0"/>
    <p:restoredTop sz="94280"/>
  </p:normalViewPr>
  <p:slideViewPr>
    <p:cSldViewPr>
      <p:cViewPr varScale="1">
        <p:scale>
          <a:sx n="75" d="100"/>
          <a:sy n="75" d="100"/>
        </p:scale>
        <p:origin x="728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77077CC8-28D7-419B-AFB3-DD18205363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340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77CC8-28D7-419B-AFB3-DD18205363D6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6996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C4F5C-22C6-FE01-7FC8-67D2DCFDA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7A03AE-B58D-B4EE-9FDC-B611DE7E2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54CD7-F9F9-8F7F-18BF-BA3FD48BE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8447C-8B85-B69C-6574-4D302272F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77CC8-28D7-419B-AFB3-DD18205363D6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4556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77CC8-28D7-419B-AFB3-DD18205363D6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1285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6868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6869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F0D8D79-08E0-48CA-9203-A37DB9B01E0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206683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40D621-3521-4C00-9508-D1BF9CF0F09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1934130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80D4CE2-6DBC-47F2-BC92-D26F595DC39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339420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094941A-1381-426D-8678-8110645A465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170380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584971-4E7E-49CD-A58B-4D6798B16E9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408241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31B1802-8301-4F2A-8DDB-CE880733FF8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679104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C0C41C-3BFF-4F00-9103-6A74971BCA1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326312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13FA90-484E-4DE3-B424-C392F04A17A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4213621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53736A7-1CF8-489E-892E-251703C596F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48039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8DB63F7-3E41-4A34-957B-2A3C4747AE5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1632308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95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4B16682-6FB4-4344-B037-3C8A3CEB850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SG" altLang="en-US"/>
              <a:t>CG2271 Lab Lecture 3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9151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6DC585-B3F4-4B1B-8C67-9C227CDAE85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3324474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688B9D5-0321-4243-8ED9-54D29AAF37EC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3390961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A48AF77-D65C-4E9E-B478-17E3FD86D810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1046275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78A42F-32DF-4555-A3D9-B208AC03E8B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8936322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C2D7119-D0B9-434A-965E-B7C4A460BE32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3458946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D56026C-F7A5-4BDA-898E-B00A800C5FF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2713829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A67EED0-2586-40FE-805F-5628AC864DAF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3696722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97E0452-540F-4E7F-8F1B-B48A49509A51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11744609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ED2E85-14B5-41B8-BB68-5CCA814DB1A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40834945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9D4C96A0-4412-4C95-B2BA-559D798589E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13253950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011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358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320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124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8877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28841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9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840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88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634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53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78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5844" name="Freeform 4"/>
          <p:cNvSpPr>
            <a:spLocks noChangeArrowheads="1"/>
          </p:cNvSpPr>
          <p:nvPr/>
        </p:nvSpPr>
        <p:spPr bwMode="auto">
          <a:xfrm>
            <a:off x="381000" y="1524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86800" y="6629400"/>
            <a:ext cx="457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50000"/>
              </a:lnSpc>
              <a:defRPr sz="1400"/>
            </a:lvl1pPr>
          </a:lstStyle>
          <a:p>
            <a:fld id="{340BAAAD-52D6-4FB3-AB55-71C64A1E2A0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553200"/>
            <a:ext cx="19050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2"/>
                </a:solidFill>
                <a:latin typeface="Arial Black" pitchFamily="34" charset="0"/>
              </a:defRPr>
            </a:lvl1pPr>
          </a:lstStyle>
          <a:p>
            <a:r>
              <a:rPr lang="en-US" altLang="en-US"/>
              <a:t>CG2271 Lab Lecture 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340BAAAD-52D6-4FB3-AB55-71C64A1E2A0A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CG2271 Lab Lecture 3</a:t>
            </a:r>
          </a:p>
        </p:txBody>
      </p:sp>
    </p:spTree>
    <p:extLst>
      <p:ext uri="{BB962C8B-B14F-4D97-AF65-F5344CB8AC3E}">
        <p14:creationId xmlns:p14="http://schemas.microsoft.com/office/powerpoint/2010/main" val="344398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CG2271 Lab Lecture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1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CG2271 Real Time Operating Systems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altLang="en-US" b="1" dirty="0">
                <a:solidFill>
                  <a:srgbClr val="660066"/>
                </a:solidFill>
              </a:rPr>
              <a:t>Lab Lecture 3</a:t>
            </a:r>
          </a:p>
          <a:p>
            <a:pPr algn="ctr"/>
            <a:r>
              <a:rPr lang="en-US" altLang="en-US" b="1" dirty="0">
                <a:solidFill>
                  <a:srgbClr val="660066"/>
                </a:solidFill>
              </a:rPr>
              <a:t>Interrupt Programming</a:t>
            </a:r>
          </a:p>
          <a:p>
            <a:pPr algn="ctr"/>
            <a:r>
              <a:rPr lang="en-US" altLang="en-US" b="1" dirty="0">
                <a:solidFill>
                  <a:srgbClr val="660066"/>
                </a:solidFill>
              </a:rPr>
              <a:t>(Reference Guide Section 3.2)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16860A-B2FE-88A4-5442-000AD1C2D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Introduction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D06690-20D4-5527-26DD-E2A0FB321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Lab Lecture 3 –  Interrupt Programming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31E71-4AE7-D35A-572E-190C3CA3C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17075B-D6AB-B8FA-82DB-7642AC3F5A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6DC585-B3F4-4B1B-8C67-9C227CDAE85B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4347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1BDC-9BEE-0AA4-E017-7F81F7AA8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CE305-604A-71FE-9369-EBBB7B4BE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 MCXC444 uses a priority interrupt system centred around a Nested Vector Interrupt Controller (NVIC).	</a:t>
            </a:r>
          </a:p>
          <a:p>
            <a:pPr lvl="1"/>
            <a:r>
              <a:rPr lang="en-SG" dirty="0"/>
              <a:t>All interrupts generated by devices on the MCU pass through the NVIC: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83289-5693-B463-4CBE-5FB9F5812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6F37A4-E1DC-ACA6-6F50-E126074E7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465442"/>
            <a:ext cx="6272394" cy="293535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0CE26-7DEE-3636-3299-BF9F0B5480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991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7F0DA-A459-3CB5-EF41-0B22A6107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FCC760-1336-EE00-3994-5F335E2A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Nested vectored interrupt controller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37F812F-4EA8-33D0-68B6-E6FC51F88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Lab Lecture 3 –  Interrupt Programming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AF5A5-6A35-0F56-05E9-2D4A68F2B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1FEC5E-22B1-460F-897A-A46EEE0500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6DC585-B3F4-4B1B-8C67-9C227CDAE85B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0404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6341B-5A6E-85A6-92BC-775424C01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Nested Vectored Interrupt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C2AD2-42AA-F857-A4AD-5189EE50A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sz="2800" dirty="0"/>
              <a:t>The NVIC is:</a:t>
            </a:r>
          </a:p>
          <a:p>
            <a:pPr lvl="1"/>
            <a:r>
              <a:rPr lang="en-SG" sz="2400" dirty="0"/>
              <a:t>Nested:</a:t>
            </a:r>
          </a:p>
          <a:p>
            <a:pPr lvl="2"/>
            <a:r>
              <a:rPr lang="en-SG" sz="2000" dirty="0"/>
              <a:t>Meaning that higher priority interrupts can interrupt ongoing lower priority interrupts.</a:t>
            </a:r>
          </a:p>
          <a:p>
            <a:pPr lvl="2"/>
            <a:r>
              <a:rPr lang="en-SG" sz="2000" dirty="0"/>
              <a:t>Alternatively, lower priority interrupts are delayed until higher priority interrupts are completed.</a:t>
            </a:r>
          </a:p>
          <a:p>
            <a:pPr lvl="1"/>
            <a:r>
              <a:rPr lang="en-SG" sz="2400" dirty="0"/>
              <a:t>Vectored:</a:t>
            </a:r>
          </a:p>
          <a:p>
            <a:pPr lvl="2"/>
            <a:r>
              <a:rPr lang="en-SG" sz="2000" dirty="0"/>
              <a:t>When an interrupt is triggered, execution is “vectored” to a particular interrupt service routine (ISR) to handle the interrupt.</a:t>
            </a:r>
          </a:p>
          <a:p>
            <a:pPr lvl="2"/>
            <a:r>
              <a:rPr lang="en-SG" sz="2000" dirty="0"/>
              <a:t>To facilitate this, every interrupt is assigned a number – “vector”.</a:t>
            </a:r>
          </a:p>
          <a:p>
            <a:pPr lvl="2"/>
            <a:r>
              <a:rPr lang="en-SG" sz="2000" dirty="0"/>
              <a:t>Interrupt numbers 0 to 15 are reserved for the MCU core.</a:t>
            </a:r>
          </a:p>
          <a:p>
            <a:pPr lvl="3"/>
            <a:r>
              <a:rPr lang="en-SG" sz="1800" dirty="0"/>
              <a:t>System errors, non-maskable interrupt, RESET, etc.</a:t>
            </a:r>
          </a:p>
          <a:p>
            <a:pPr lvl="2"/>
            <a:r>
              <a:rPr lang="en-SG" sz="2000" dirty="0"/>
              <a:t>Interrupts 16 and above are for various hardware units.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668CE-E0E5-1A6F-B899-BBC22C0C2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EE17D-DC82-C7DD-D059-62C2A98C99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4258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F27EB-B064-2752-14CA-F0558AA14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NVIC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236FC-0582-6E8B-5B1F-54785DEA2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Core Vectors (0 to 15)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C34D0-BF73-025A-6DF3-A9AD7B9F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05BA21-6414-F8D1-296D-7E948C76D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96824"/>
            <a:ext cx="7001437" cy="449383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03D76-97F9-9264-9D3A-2D4294140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4480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3BFA5-36F8-3493-19D6-7E530FCA3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NVIC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81283A-1F81-4018-0AC1-8C6A91ED7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SG" dirty="0"/>
                  <a:t>Non-core Vectors (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≥16)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81283A-1F81-4018-0AC1-8C6A91ED7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3" t="-144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684E5-E050-4FD1-D397-609754E8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A9AF33-F10D-557F-68B4-97D6B1BC5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94" y="1742797"/>
            <a:ext cx="8106906" cy="398200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9CC11-FC85-CF00-07FF-2BD7961C21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3908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C38DC-20CF-9B90-7BF8-C67192EF2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F7795-12E8-0370-0602-120752B3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NVIC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E29681-D231-3BF4-56F0-B2E76B5D86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SG" dirty="0"/>
                  <a:t>Non-core Vectors (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≥16)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E29681-D231-3BF4-56F0-B2E76B5D86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3" t="-144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8CB85-BB47-BFD9-AC6A-25D21C7FD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ED9C18-B253-39A5-F9FB-FA4773E8B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1987"/>
            <a:ext cx="7611601" cy="479881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E8E6C-7F65-6F0F-7A01-13A0D82FE5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4720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A1E59-0FA7-C9A2-F333-CC13F806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D9B9C68-7B3D-D22E-FEA1-58C67325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External interrupts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BBA61AD-0726-2AEA-5650-EA067F17C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Lab Lecture 3 –  Interrupt Programming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901B1-AA1E-BC00-E044-C88442B0C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12813A-5A3B-AE49-EE24-99C4F32265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6DC585-B3F4-4B1B-8C67-9C227CDAE85B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1151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01726-C4A5-28A6-1DFE-37F58050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Interrupts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CE74E-CB03-5FE6-7232-DA69013EF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Like the ATMega328P on the Arduino, GPIO pins on the MCXC444 can be configured to generate interrupts</a:t>
            </a:r>
          </a:p>
          <a:p>
            <a:pPr lvl="1"/>
            <a:r>
              <a:rPr lang="en-SG" dirty="0"/>
              <a:t>Divided into two groups:</a:t>
            </a:r>
          </a:p>
          <a:p>
            <a:pPr lvl="2"/>
            <a:r>
              <a:rPr lang="en-SG" dirty="0"/>
              <a:t>Port A</a:t>
            </a:r>
          </a:p>
          <a:p>
            <a:pPr lvl="2"/>
            <a:r>
              <a:rPr lang="en-SG" dirty="0"/>
              <a:t>Ports C and D are combined into one group.</a:t>
            </a:r>
          </a:p>
          <a:p>
            <a:pPr lvl="1"/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B5427-075A-01F4-668D-912BCB9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AF445-2563-D254-A561-5BEC3929CC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7850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14BC1-0FFA-3A69-68C5-373BDB268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62940-EC96-3636-3619-8F401CA04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Interrupts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0C7DB-9ED1-8237-AADD-0E6733486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Every port (A, C, and D) has an Interrupt Status Flag Register (ISFR), e.g. PORTA_ISFR.</a:t>
            </a:r>
          </a:p>
          <a:p>
            <a:pPr lvl="1"/>
            <a:r>
              <a:rPr lang="en-SG" dirty="0"/>
              <a:t>If an interrupt is trigged on a pin (e.g. PTA4), bit 4 in PORTA-&gt;ISFR would be set.</a:t>
            </a:r>
          </a:p>
          <a:p>
            <a:pPr lvl="1"/>
            <a:endParaRPr lang="en-SG" dirty="0"/>
          </a:p>
          <a:p>
            <a:pPr lvl="1"/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FC259-9613-01F7-3B76-7AF69D72F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2DB99B-4299-83C8-B13B-C54C51C90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29000"/>
            <a:ext cx="6344865" cy="294335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10BBA-C8BA-428E-972B-0985BF4A4B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7562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0EA24-BBBE-F5ED-B097-510886BDD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776C02-BC89-061A-F8F3-0E2FC1C75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Configuring external interrupts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3D8AF8-E851-B181-C415-2C382D8A9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Lab Lecture 3 –  Interrupt Programming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6BC32-9907-E079-FBB6-CD9BE6BF3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97136F-F742-2B91-0487-F989D3F627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6DC585-B3F4-4B1B-8C67-9C227CDAE85B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055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DDA0E-1065-3FC7-41A2-AD0D6C32B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External Interrupts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C0E23-BBA6-D386-5D8A-05EB3CE2F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now look at an example of how to configure an external interrupt.</a:t>
            </a:r>
          </a:p>
          <a:p>
            <a:pPr lvl="1"/>
            <a:r>
              <a:rPr lang="en-US" dirty="0"/>
              <a:t>We choose SW2 on the FRDM-MCXC444 board, which is connected to PTC3.</a:t>
            </a:r>
          </a:p>
          <a:p>
            <a:pPr lvl="1"/>
            <a:r>
              <a:rPr lang="en-US" dirty="0"/>
              <a:t>Gives us a chance to see how to use the combined PORTC_PORTD interrupt vector.</a:t>
            </a:r>
          </a:p>
          <a:p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DAA17-4618-944A-939F-289F1F24E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B13CFF-957F-3B46-97B2-678B87220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04" y="4191000"/>
            <a:ext cx="3875882" cy="20839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418524-0DE7-E6A5-5417-E949DF639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088786"/>
            <a:ext cx="3875882" cy="2312014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759DED-ED4B-A72E-22E8-0FF35150EF86}"/>
              </a:ext>
            </a:extLst>
          </p:cNvPr>
          <p:cNvSpPr/>
          <p:nvPr/>
        </p:nvSpPr>
        <p:spPr>
          <a:xfrm>
            <a:off x="7696200" y="4088786"/>
            <a:ext cx="533400" cy="48321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D86785-65CB-724B-7BE3-BD16AA1F33D9}"/>
              </a:ext>
            </a:extLst>
          </p:cNvPr>
          <p:cNvCxnSpPr/>
          <p:nvPr/>
        </p:nvCxnSpPr>
        <p:spPr>
          <a:xfrm flipH="1">
            <a:off x="3505200" y="4343400"/>
            <a:ext cx="4191000" cy="68580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76F8F-B16B-34D5-C4B6-B9B824DCB7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7974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21095-BFBC-D2CF-2857-42DCEE97C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Steps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DCAB1-04BA-A9F3-D899-4BA461F92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0: Define SWITCH_PIN: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Step 1: Disable the PORTC_PORTD interrupt.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Step 2: Turn on clocking to Port C using SIM_SCGC5: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B8F49-F4AE-B5BF-2A45-5F3AA2FC7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D7BE3E-8D68-7B89-C476-409D6BE90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78229"/>
            <a:ext cx="5601482" cy="771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624D52-17BB-0098-77F2-977760D6D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17" y="5786825"/>
            <a:ext cx="6096851" cy="4572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053E3B-863B-3A86-C15F-E09FE9C54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1888981"/>
            <a:ext cx="5792008" cy="41915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813B9-4E05-5739-A590-201267A59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1933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CA039-8C20-2F57-F3BB-80AD9EFF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Pull-up/down Resistors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1C3A3-FC42-9AFB-AF29-D448D4CF6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3: Enable internal pull-up resistor.</a:t>
            </a:r>
          </a:p>
          <a:p>
            <a:pPr lvl="1"/>
            <a:r>
              <a:rPr lang="en-US" dirty="0"/>
              <a:t>The MCXC444 has built-in pull-up or pull-down resistors.</a:t>
            </a:r>
          </a:p>
          <a:p>
            <a:pPr lvl="2"/>
            <a:r>
              <a:rPr lang="en-US" dirty="0"/>
              <a:t>Pull-up resistors: weakly drives a line high until an event (e.g. closing a switch) drives it low.</a:t>
            </a:r>
          </a:p>
          <a:p>
            <a:pPr lvl="2"/>
            <a:r>
              <a:rPr lang="en-US" dirty="0"/>
              <a:t>Pull-down resistor: Weakly drives a line low until an event drives it high.</a:t>
            </a:r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5B5C2-5647-BCDA-0132-739AC6399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46D1B6-1F20-27A5-743C-299F377BD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733800"/>
            <a:ext cx="2966329" cy="207444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7810B-E9CD-8A0D-4A1D-931DF444DE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0025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EB48D-3450-4B50-3629-F9236AF83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Pull-up/down Resistors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8B75D-638F-12C1-5124-56D6B58E5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SG" dirty="0"/>
              <a:t>SW2 on the FRDM-MCXC444 is already pulled high:</a:t>
            </a:r>
          </a:p>
          <a:p>
            <a:pPr lvl="1"/>
            <a:endParaRPr lang="en-SG" dirty="0"/>
          </a:p>
          <a:p>
            <a:pPr lvl="1"/>
            <a:endParaRPr lang="en-SG" dirty="0"/>
          </a:p>
          <a:p>
            <a:pPr lvl="1"/>
            <a:endParaRPr lang="en-SG" dirty="0"/>
          </a:p>
          <a:p>
            <a:pPr lvl="1"/>
            <a:endParaRPr lang="en-SG" dirty="0"/>
          </a:p>
          <a:p>
            <a:pPr lvl="1"/>
            <a:endParaRPr lang="en-SG" dirty="0"/>
          </a:p>
          <a:p>
            <a:pPr lvl="1"/>
            <a:endParaRPr lang="en-SG" dirty="0"/>
          </a:p>
          <a:p>
            <a:pPr lvl="1"/>
            <a:r>
              <a:rPr lang="en-SG" dirty="0"/>
              <a:t>However just for learning purposes we will activate the internal pull-up resistor on the MCXC444.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56608-1155-9B85-4F24-36BEDB19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2CE06D-14B3-E147-D889-57F819390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248" y="2286000"/>
            <a:ext cx="3875882" cy="208390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2E2D9-EBAD-72EE-CB78-B7A09C6164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1168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26CF0-22EF-5140-12DE-342A91D8F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Pull-up/down Resistors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E9706-BB33-BBA7-2997-FE4B285E2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 pull-up/pull-down resistors are configured using the PE and PS bits in the </a:t>
            </a:r>
            <a:r>
              <a:rPr lang="en-SG" dirty="0" err="1"/>
              <a:t>PORTx_PCRy</a:t>
            </a:r>
            <a:r>
              <a:rPr lang="en-SG" dirty="0"/>
              <a:t> pin configuration register.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FF676-A837-469B-A908-9C61344F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8D9CBB-0B0D-2204-D96A-E0EB1B1B7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" y="3213213"/>
            <a:ext cx="8202170" cy="242921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5C0AAF-D2EB-17F4-B0B5-3189CFBA7209}"/>
              </a:ext>
            </a:extLst>
          </p:cNvPr>
          <p:cNvSpPr/>
          <p:nvPr/>
        </p:nvSpPr>
        <p:spPr>
          <a:xfrm>
            <a:off x="7543800" y="4648200"/>
            <a:ext cx="1219200" cy="9144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90FD-E5D1-8A39-B42E-2B6C8FEF3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4653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8D6CC-D9E2-EA4D-457B-B78EDADA4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Pull-up/down Resistors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BA297-9E25-B604-F32D-01E1D38CD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SG" dirty="0"/>
              <a:t>PE (Pull enable):</a:t>
            </a:r>
          </a:p>
          <a:p>
            <a:pPr lvl="2"/>
            <a:r>
              <a:rPr lang="en-SG" dirty="0"/>
              <a:t>0 - Disable pull-up/down resistor, 1 – Enable</a:t>
            </a:r>
          </a:p>
          <a:p>
            <a:pPr lvl="1"/>
            <a:r>
              <a:rPr lang="en-SG" dirty="0"/>
              <a:t>PS (Pull select):</a:t>
            </a:r>
          </a:p>
          <a:p>
            <a:pPr lvl="2"/>
            <a:r>
              <a:rPr lang="en-SG" dirty="0"/>
              <a:t>0 – Enable pull-down resistor if PE = 1. </a:t>
            </a:r>
          </a:p>
          <a:p>
            <a:pPr lvl="2"/>
            <a:r>
              <a:rPr lang="en-SG" dirty="0"/>
              <a:t>1 – Enable pull-up resistor if PE = 1</a:t>
            </a:r>
          </a:p>
          <a:p>
            <a:r>
              <a:rPr lang="en-SG" dirty="0"/>
              <a:t>We are going to enable the pull-up resistor and so PS = PE = 1.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DC5AD-1093-098B-5E82-12D3A8082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4E98B2-D17E-7ABB-D9B9-C0B972615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91000"/>
            <a:ext cx="7573432" cy="186716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57133-F341-F403-3888-AF6513DAD5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1788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7951D-B532-0AE4-DEB6-DFE689F10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Configure Pin as GPIO and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F4744-226D-2036-37BD-383F981DB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Step 4: We configure PTC3 as GPIO and as an input pin (configuring as input is optional):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72CF9-1E05-A85E-9456-8AAC46F47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A68D6F-9420-3F40-7294-B7FD3E8D56B6}"/>
              </a:ext>
            </a:extLst>
          </p:cNvPr>
          <p:cNvGrpSpPr/>
          <p:nvPr/>
        </p:nvGrpSpPr>
        <p:grpSpPr>
          <a:xfrm>
            <a:off x="560852" y="2057400"/>
            <a:ext cx="8049748" cy="1187610"/>
            <a:chOff x="560852" y="1993812"/>
            <a:chExt cx="8049748" cy="118761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5DBE800-5DC0-FA9D-EE67-C104BACB7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3752" y="2667000"/>
              <a:ext cx="8040222" cy="51442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F506EAC-727E-970F-B7AC-266D5BD35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0852" y="1993812"/>
              <a:ext cx="8049748" cy="628738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69830-B9C7-EAFC-F8E0-9DEFAE2AF7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19</a:t>
            </a:fld>
            <a:endParaRPr lang="en-US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D3F1E7-892B-E223-1118-B83DEDF74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" y="3694686"/>
            <a:ext cx="6978650" cy="217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011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D2251-DBFB-848E-40F8-CD904698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Configure Interrupt Triggering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B4CB2-063F-CCA0-345A-0B7C706BF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Step 5: Configure Triggering Type.</a:t>
            </a:r>
          </a:p>
          <a:p>
            <a:pPr lvl="1"/>
            <a:r>
              <a:rPr lang="en-SG" dirty="0"/>
              <a:t>Like the ATMega328P, the MCXC444’s interrupts can be triggered in several ways:</a:t>
            </a:r>
          </a:p>
          <a:p>
            <a:pPr lvl="1"/>
            <a:r>
              <a:rPr lang="en-SG" dirty="0"/>
              <a:t>Controlled using the IRQC (Interrupt Configuration) bits of </a:t>
            </a:r>
            <a:r>
              <a:rPr lang="en-SG" dirty="0" err="1"/>
              <a:t>PORTx_PCRy</a:t>
            </a:r>
            <a:r>
              <a:rPr lang="en-SG" dirty="0"/>
              <a:t>: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EDED-4180-2B64-4EA8-974C0EAE4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254DD-24BF-B395-EBBC-F23B86FEF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73" y="3806979"/>
            <a:ext cx="8268854" cy="1371791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1DE5EA5-596C-0E27-807B-2EB3D83DBECA}"/>
              </a:ext>
            </a:extLst>
          </p:cNvPr>
          <p:cNvSpPr/>
          <p:nvPr/>
        </p:nvSpPr>
        <p:spPr>
          <a:xfrm>
            <a:off x="6576391" y="4032215"/>
            <a:ext cx="2057400" cy="1219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EEC0D-504F-BFF6-71C9-34E8F8C42A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8184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8E4D-A010-55E5-A292-841D90D3D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Configure Interrupt Triggering Type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123D3-F0E6-F1ED-B4FF-9D4F8A9C6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22502C-8F0D-7CE9-BA93-9E79A483D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26" y="1195075"/>
            <a:ext cx="8049748" cy="446784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D66C2D-A268-5D76-76DA-ADFF322D2483}"/>
              </a:ext>
            </a:extLst>
          </p:cNvPr>
          <p:cNvSpPr/>
          <p:nvPr/>
        </p:nvSpPr>
        <p:spPr>
          <a:xfrm>
            <a:off x="1752600" y="3886200"/>
            <a:ext cx="3124200" cy="1143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F53AA-9B38-8AB4-D2CD-BCF25EF9C7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1570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38CAD-76B6-70A8-E82A-ABE4D759E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Configure Interrupt Triggering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E4B9D-8710-AF9E-CB70-6CA48EFB7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Since our switch is active low (i.e. pulls PTC3 low when pressed), we will trigger on the falling edge (0b1010)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6A707-1430-6EF1-F9C1-80F458C74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B8F01C-523A-673C-AD28-BFAAAE324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2727503"/>
            <a:ext cx="4529664" cy="14029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11E1EE-88B2-E9EA-3479-575A7D0C7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52" y="4572000"/>
            <a:ext cx="8030696" cy="104789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E100E-8696-8EAC-A632-CB71E519C0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6396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3EB1A-6A11-BF99-A0BD-21E703EB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Setting IRQ Priority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73B39-29EC-92EB-5F7C-4F616FA2D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Step 6: Set the Interrupt Priority Level.</a:t>
            </a:r>
          </a:p>
          <a:p>
            <a:pPr lvl="1"/>
            <a:r>
              <a:rPr lang="en-SG" dirty="0"/>
              <a:t>The NVIC stores priority levels for each interrupt in a set of 8 interrupt priority registers (IPRs) in this format.</a:t>
            </a:r>
          </a:p>
          <a:p>
            <a:pPr lvl="1"/>
            <a:endParaRPr lang="en-SG" dirty="0"/>
          </a:p>
          <a:p>
            <a:pPr lvl="1"/>
            <a:endParaRPr lang="en-SG" dirty="0"/>
          </a:p>
          <a:p>
            <a:pPr lvl="1"/>
            <a:endParaRPr lang="en-SG" dirty="0"/>
          </a:p>
          <a:p>
            <a:pPr lvl="1"/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A004D-43F7-1D3F-4945-D38A069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539804-560F-4644-3C20-602F90F59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256" y="2842771"/>
            <a:ext cx="7159344" cy="355802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7E12EBE-7DE0-9AF6-048C-76694CD8DD1F}"/>
              </a:ext>
            </a:extLst>
          </p:cNvPr>
          <p:cNvSpPr/>
          <p:nvPr/>
        </p:nvSpPr>
        <p:spPr>
          <a:xfrm>
            <a:off x="3886200" y="2842771"/>
            <a:ext cx="914400" cy="355802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55EAD1-B48F-1372-6943-EBDD6AE13FFB}"/>
              </a:ext>
            </a:extLst>
          </p:cNvPr>
          <p:cNvSpPr txBox="1"/>
          <p:nvPr/>
        </p:nvSpPr>
        <p:spPr>
          <a:xfrm>
            <a:off x="3619500" y="243840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IPR Number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0DC86-5A4B-0966-44A9-F3F966389A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5783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D66E6-EAA0-1E99-857A-8317E9AAB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B3C49-EF48-0294-6BF0-9475ECBD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Setting IRQ Priority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85650-A7D9-7FF9-8289-210BD7EC3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SG" dirty="0"/>
              <a:t>Each IPR stores the priority number for four interrupts.</a:t>
            </a:r>
          </a:p>
          <a:p>
            <a:pPr lvl="2"/>
            <a:r>
              <a:rPr lang="en-SG" dirty="0"/>
              <a:t>Each priority is represented by a 2 bit number + 6 0’s.</a:t>
            </a:r>
          </a:p>
          <a:p>
            <a:pPr lvl="1"/>
            <a:endParaRPr lang="en-SG" dirty="0"/>
          </a:p>
          <a:p>
            <a:pPr marL="344487" lvl="1" indent="0">
              <a:buNone/>
            </a:pPr>
            <a:endParaRPr lang="en-SG" dirty="0"/>
          </a:p>
          <a:p>
            <a:pPr lvl="1"/>
            <a:r>
              <a:rPr lang="en-SG" dirty="0"/>
              <a:t>The priority levels are therefore:</a:t>
            </a:r>
          </a:p>
          <a:p>
            <a:pPr lvl="2"/>
            <a:r>
              <a:rPr lang="en-SG" dirty="0"/>
              <a:t>00|000000 = 0 (highest)</a:t>
            </a:r>
          </a:p>
          <a:p>
            <a:pPr lvl="2"/>
            <a:r>
              <a:rPr lang="en-SG" dirty="0"/>
              <a:t>01|000000 = 64</a:t>
            </a:r>
          </a:p>
          <a:p>
            <a:pPr lvl="2"/>
            <a:r>
              <a:rPr lang="en-SG" dirty="0"/>
              <a:t>10|000000 = 128</a:t>
            </a:r>
          </a:p>
          <a:p>
            <a:pPr lvl="2"/>
            <a:r>
              <a:rPr lang="en-SG" dirty="0"/>
              <a:t>11|000000 = 192 (lowest)</a:t>
            </a:r>
          </a:p>
          <a:p>
            <a:pPr lvl="1"/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8D743-9DB6-E570-35BE-A20587BA1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F768BF-9E29-893B-F992-BEF6E7745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65" y="2333430"/>
            <a:ext cx="8268854" cy="93358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DB455-E728-C40B-66B8-7E9E8CF720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73074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32010-180A-061D-6260-A73A71FF9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Setting IRQ Priority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DED63-8E28-6670-37E6-8852722EC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We set our SW2 button as the lowest priority: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Step 7: Clear existing interrupts and re-enable.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C5C61-B40B-1E97-546B-D12E1CC5B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862512-74AA-F987-28B3-1D09D26BE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703387"/>
            <a:ext cx="6115904" cy="1076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6FADFF-4483-FFC8-557E-772F39F6A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958" y="4343400"/>
            <a:ext cx="6363588" cy="111458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F824C-6EDC-0AC1-8018-003C8C2DB7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5375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A4A86-2B5E-3416-E590-62B7F3509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Full Setup Code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5AA6A-8E69-B3FA-E211-EE1281B87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02C883-38E3-AE84-6A0C-1DF6A0E0AA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26</a:t>
            </a:fld>
            <a:endParaRPr lang="en-US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C5880F-854B-2571-6014-C4F1D7CB0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373033" cy="611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430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71863-C47F-6BB7-8122-5532BCB74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3ECEABF-694C-1C81-A921-49F7E7498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Writing the ISR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ADF8A99-5D9C-A171-CCB3-FE6D97D72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Lab Lecture 3 –  Interrupt Programming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C4F43-667F-9BA9-624D-7D900D3FE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8B9225-5E23-454F-AFC8-773B763B1A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6DC585-B3F4-4B1B-8C67-9C227CDAE85B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4632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261F02-3AD0-178A-ED24-96FCF630D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the ISR</a:t>
            </a:r>
            <a:endParaRPr lang="en-SG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A30D6E-F336-14E0-6E91-F30DF1F4E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write the ISR, we need to capture the </a:t>
            </a:r>
            <a:r>
              <a:rPr lang="en-US" dirty="0" err="1"/>
              <a:t>PORTC_PORTD_IRQn</a:t>
            </a:r>
            <a:r>
              <a:rPr lang="en-US" dirty="0"/>
              <a:t> interrupt vector. </a:t>
            </a:r>
          </a:p>
          <a:p>
            <a:pPr lvl="1"/>
            <a:r>
              <a:rPr lang="en-US" dirty="0"/>
              <a:t>This vector invokes the </a:t>
            </a:r>
            <a:r>
              <a:rPr lang="en-US" dirty="0" err="1"/>
              <a:t>PORTC_PORTD_IRQHandler</a:t>
            </a:r>
            <a:r>
              <a:rPr lang="en-US" dirty="0"/>
              <a:t> function.</a:t>
            </a:r>
          </a:p>
          <a:p>
            <a:r>
              <a:rPr lang="en-US" dirty="0"/>
              <a:t>Steps in your ISR:</a:t>
            </a:r>
          </a:p>
          <a:p>
            <a:pPr lvl="1"/>
            <a:r>
              <a:rPr lang="en-US" dirty="0"/>
              <a:t>Clear the pending IRQ.</a:t>
            </a:r>
          </a:p>
          <a:p>
            <a:pPr lvl="1"/>
            <a:r>
              <a:rPr lang="en-US" dirty="0"/>
              <a:t>Use the ISFR register of the relevant port (in this case port C or port D) to see if the interrupt we are interested in is triggered.</a:t>
            </a:r>
          </a:p>
          <a:p>
            <a:pPr lvl="1"/>
            <a:r>
              <a:rPr lang="en-US" dirty="0"/>
              <a:t>Write a “1” to the corresponding ISFR bit to reset it back to 0.</a:t>
            </a:r>
          </a:p>
          <a:p>
            <a:r>
              <a:rPr lang="en-US" dirty="0"/>
              <a:t>Code is shown on next page.</a:t>
            </a:r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CD385-F35D-29E1-D769-FBEF7E18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Lab Lecture 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3AC110-8E76-AEE9-0832-D3B1000FEE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8796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C898-B8B7-3987-52D8-0D1CBA892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the ISR</a:t>
            </a:r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503ED-9EA5-9A66-05BF-D9A274F89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9522A9-3BEB-8B25-E87D-89FB3039F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990600"/>
            <a:ext cx="6735115" cy="517279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91D174-98DC-4A14-18EB-D138C75479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58814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64A44-F14A-1A1E-38B3-90AC2C7B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Useful Functions and Macros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2311D-4887-5DF5-38BA-6304D57E8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sz="2800" dirty="0"/>
              <a:t>Some useful functions and macros:</a:t>
            </a:r>
          </a:p>
          <a:p>
            <a:pPr lvl="1"/>
            <a:r>
              <a:rPr lang="en-SG" sz="2400" dirty="0"/>
              <a:t>Interrupt vectors for the ports:</a:t>
            </a:r>
          </a:p>
          <a:p>
            <a:pPr lvl="2"/>
            <a:r>
              <a:rPr lang="en-SG" sz="2000" dirty="0" err="1"/>
              <a:t>PORTA_IRQn</a:t>
            </a:r>
            <a:r>
              <a:rPr lang="en-SG" sz="2000" dirty="0"/>
              <a:t>, </a:t>
            </a:r>
            <a:r>
              <a:rPr lang="en-SG" sz="2000" dirty="0" err="1"/>
              <a:t>PORTC_PORTD_IRQn</a:t>
            </a:r>
            <a:endParaRPr lang="en-SG" sz="2000" dirty="0"/>
          </a:p>
          <a:p>
            <a:pPr lvl="1"/>
            <a:r>
              <a:rPr lang="en-SG" sz="2400" dirty="0"/>
              <a:t>NVIC Functions:</a:t>
            </a:r>
          </a:p>
          <a:p>
            <a:pPr lvl="2"/>
            <a:r>
              <a:rPr lang="en-SG" sz="2000" dirty="0" err="1"/>
              <a:t>NVIC_DisableIRQ</a:t>
            </a:r>
            <a:r>
              <a:rPr lang="en-SG" sz="2000" dirty="0"/>
              <a:t>(vector): Disables interrupt </a:t>
            </a:r>
            <a:r>
              <a:rPr lang="en-SG" sz="2000" i="1" dirty="0"/>
              <a:t>vector</a:t>
            </a:r>
          </a:p>
          <a:p>
            <a:pPr lvl="3"/>
            <a:r>
              <a:rPr lang="en-SG" sz="1800" i="1" dirty="0" err="1"/>
              <a:t>NVIC_DisableIRQ</a:t>
            </a:r>
            <a:r>
              <a:rPr lang="en-SG" sz="1800" i="1" dirty="0"/>
              <a:t>(</a:t>
            </a:r>
            <a:r>
              <a:rPr lang="en-SG" sz="1800" i="1" dirty="0" err="1"/>
              <a:t>PORTA_IRQn</a:t>
            </a:r>
            <a:r>
              <a:rPr lang="en-SG" sz="1800" i="1" dirty="0"/>
              <a:t>);</a:t>
            </a:r>
            <a:endParaRPr lang="en-SG" sz="1800" dirty="0"/>
          </a:p>
          <a:p>
            <a:pPr lvl="2"/>
            <a:r>
              <a:rPr lang="en-SG" sz="2000" dirty="0" err="1"/>
              <a:t>NVIC_EnableIRQ</a:t>
            </a:r>
            <a:r>
              <a:rPr lang="en-SG" sz="2000" dirty="0"/>
              <a:t>(vector): Enables interrupt </a:t>
            </a:r>
            <a:r>
              <a:rPr lang="en-SG" sz="2000" i="1" dirty="0"/>
              <a:t>vector</a:t>
            </a:r>
          </a:p>
          <a:p>
            <a:pPr lvl="3"/>
            <a:r>
              <a:rPr lang="en-SG" sz="1800" i="1" dirty="0" err="1"/>
              <a:t>NVIC_EnableIRQ</a:t>
            </a:r>
            <a:r>
              <a:rPr lang="en-SG" sz="1800" i="1" dirty="0"/>
              <a:t>(</a:t>
            </a:r>
            <a:r>
              <a:rPr lang="en-SG" sz="1800" i="1" dirty="0" err="1"/>
              <a:t>PORTA_IRQn</a:t>
            </a:r>
            <a:r>
              <a:rPr lang="en-SG" sz="1800" i="1" dirty="0"/>
              <a:t>);</a:t>
            </a:r>
            <a:endParaRPr lang="en-SG" sz="1800" dirty="0"/>
          </a:p>
          <a:p>
            <a:pPr lvl="2"/>
            <a:r>
              <a:rPr lang="en-SG" sz="2000" dirty="0" err="1"/>
              <a:t>NVIC_SetPriority</a:t>
            </a:r>
            <a:r>
              <a:rPr lang="en-SG" sz="2000" dirty="0"/>
              <a:t>(vector, priority): Sets the priority level of the interrupt</a:t>
            </a:r>
            <a:endParaRPr lang="en-SG" sz="2000" i="1" dirty="0"/>
          </a:p>
          <a:p>
            <a:pPr lvl="3"/>
            <a:r>
              <a:rPr lang="en-SG" sz="1800" i="1" dirty="0" err="1"/>
              <a:t>NVIC_SetPriority</a:t>
            </a:r>
            <a:r>
              <a:rPr lang="en-SG" sz="1800" i="1" dirty="0"/>
              <a:t>(</a:t>
            </a:r>
            <a:r>
              <a:rPr lang="en-SG" sz="1800" i="1" dirty="0" err="1"/>
              <a:t>PORTA_IRQn</a:t>
            </a:r>
            <a:r>
              <a:rPr lang="en-SG" sz="1800" i="1" dirty="0"/>
              <a:t>, 64);</a:t>
            </a:r>
          </a:p>
          <a:p>
            <a:pPr lvl="2"/>
            <a:r>
              <a:rPr lang="en-SG" sz="2000" i="1" dirty="0" err="1"/>
              <a:t>NVIC_ClearPendingIRQ</a:t>
            </a:r>
            <a:r>
              <a:rPr lang="en-SG" sz="2000" i="1" dirty="0"/>
              <a:t>(vector): Clears pending interrupt requests.	</a:t>
            </a:r>
          </a:p>
          <a:p>
            <a:pPr lvl="3"/>
            <a:r>
              <a:rPr lang="en-SG" sz="1800" i="1" dirty="0" err="1"/>
              <a:t>NVIC_ClearPendingIRQ</a:t>
            </a:r>
            <a:r>
              <a:rPr lang="en-SG" sz="1800" i="1" dirty="0"/>
              <a:t>(</a:t>
            </a:r>
            <a:r>
              <a:rPr lang="en-SG" sz="1800" i="1" dirty="0" err="1"/>
              <a:t>PORTA_IRQn</a:t>
            </a:r>
            <a:r>
              <a:rPr lang="en-SG" sz="1800" i="1" dirty="0"/>
              <a:t>);</a:t>
            </a:r>
          </a:p>
          <a:p>
            <a:pPr lvl="2"/>
            <a:endParaRPr lang="en-SG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96477-DA71-B39A-41B2-19EA42E09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55B6D-3C01-7340-230B-436A6FEE2D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26834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5655E-4803-04F1-93B5-29491F441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Useful Functions and Macros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561F0-09A3-E0CF-670B-736938A09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IRQ Handler Names:</a:t>
            </a:r>
          </a:p>
          <a:p>
            <a:pPr marL="344487" lvl="1" indent="0">
              <a:buNone/>
            </a:pPr>
            <a:r>
              <a:rPr lang="en-SG" dirty="0"/>
              <a:t>void </a:t>
            </a:r>
            <a:r>
              <a:rPr lang="en-SG" dirty="0" err="1"/>
              <a:t>PORTA_IRQHandler</a:t>
            </a:r>
            <a:r>
              <a:rPr lang="en-SG" dirty="0"/>
              <a:t>() {</a:t>
            </a:r>
          </a:p>
          <a:p>
            <a:pPr marL="344487" lvl="1" indent="0">
              <a:buNone/>
            </a:pPr>
            <a:r>
              <a:rPr lang="en-SG" dirty="0"/>
              <a:t>}; // For Port A</a:t>
            </a:r>
          </a:p>
          <a:p>
            <a:pPr marL="344487" lvl="1" indent="0">
              <a:buNone/>
            </a:pPr>
            <a:endParaRPr lang="en-SG" dirty="0"/>
          </a:p>
          <a:p>
            <a:pPr marL="344487" lvl="1" indent="0">
              <a:buNone/>
            </a:pPr>
            <a:endParaRPr lang="en-SG" dirty="0"/>
          </a:p>
          <a:p>
            <a:pPr marL="344487" lvl="1" indent="0">
              <a:buNone/>
            </a:pPr>
            <a:r>
              <a:rPr lang="en-SG" dirty="0"/>
              <a:t>void </a:t>
            </a:r>
            <a:r>
              <a:rPr lang="en-SG" dirty="0" err="1"/>
              <a:t>PORTC_PORTD_IRQHandler</a:t>
            </a:r>
            <a:r>
              <a:rPr lang="en-SG" dirty="0"/>
              <a:t>() {</a:t>
            </a:r>
          </a:p>
          <a:p>
            <a:pPr marL="344487" lvl="1" indent="0">
              <a:buNone/>
            </a:pPr>
            <a:r>
              <a:rPr lang="en-SG" dirty="0"/>
              <a:t>}; // for Ports C and 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C3788-60C5-A620-1CA8-8209F63D8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1DCAF-6A5A-9A5A-24FA-7BE0F53626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4018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FBBDE-4BF7-B5CE-708D-DF3055FB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656F8-D653-8F9B-54AB-AAA551329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In this lecture we looked at how to configure external interrupts on Ports A, C and D.</a:t>
            </a:r>
          </a:p>
          <a:p>
            <a:r>
              <a:rPr lang="en-SG" dirty="0"/>
              <a:t>In the next lecture we will see interrupts again as we learn how to program </a:t>
            </a:r>
            <a:r>
              <a:rPr lang="en-SG"/>
              <a:t>the Timer/PWM Modules (TPMs) </a:t>
            </a:r>
            <a:r>
              <a:rPr lang="en-SG" dirty="0"/>
              <a:t>on the MCXC444.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20CD6-8AFD-3095-A014-008CF3731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3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0C9BC-F9A2-15C8-5B89-4979991C5F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0451667"/>
      </p:ext>
    </p:extLst>
  </p:cSld>
  <p:clrMapOvr>
    <a:masterClrMapping/>
  </p:clrMapOvr>
</p:sld>
</file>

<file path=ppt/theme/theme1.xml><?xml version="1.0" encoding="utf-8"?>
<a:theme xmlns:a="http://schemas.openxmlformats.org/drawingml/2006/main" name="L1 - Basic of C++">
  <a:themeElements>
    <a:clrScheme name="L1 - Basic of C++ 9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C6D4E"/>
      </a:accent2>
      <a:accent3>
        <a:srgbClr val="FFFFFF"/>
      </a:accent3>
      <a:accent4>
        <a:srgbClr val="000000"/>
      </a:accent4>
      <a:accent5>
        <a:srgbClr val="AACACA"/>
      </a:accent5>
      <a:accent6>
        <a:srgbClr val="446246"/>
      </a:accent6>
      <a:hlink>
        <a:srgbClr val="4C6D80"/>
      </a:hlink>
      <a:folHlink>
        <a:srgbClr val="B2B2B2"/>
      </a:folHlink>
    </a:clrScheme>
    <a:fontScheme name="L1 - Basic of C++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1 - Basic of C++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C0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5498</TotalTime>
  <Words>1231</Words>
  <Application>Microsoft Macintosh PowerPoint</Application>
  <PresentationFormat>On-screen Show (4:3)</PresentationFormat>
  <Paragraphs>209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Arial</vt:lpstr>
      <vt:lpstr>Arial Black</vt:lpstr>
      <vt:lpstr>Calibri</vt:lpstr>
      <vt:lpstr>Calibri Light</vt:lpstr>
      <vt:lpstr>Cambria Math</vt:lpstr>
      <vt:lpstr>Garamond</vt:lpstr>
      <vt:lpstr>Wingdings</vt:lpstr>
      <vt:lpstr>Wingdings 2</vt:lpstr>
      <vt:lpstr>L1 - Basic of C++</vt:lpstr>
      <vt:lpstr>Edge</vt:lpstr>
      <vt:lpstr>HDOfficeLightV0</vt:lpstr>
      <vt:lpstr>CG2271 Real Time Operating Systems</vt:lpstr>
      <vt:lpstr>Introduction</vt:lpstr>
      <vt:lpstr>Introduction</vt:lpstr>
      <vt:lpstr>Nested vectored interrupt controller</vt:lpstr>
      <vt:lpstr>Nested Vectored Interrupt Controller</vt:lpstr>
      <vt:lpstr>NVIC Vectors</vt:lpstr>
      <vt:lpstr>NVIC Vectors</vt:lpstr>
      <vt:lpstr>NVIC Vectors</vt:lpstr>
      <vt:lpstr>External interrupts</vt:lpstr>
      <vt:lpstr>External Interrupts</vt:lpstr>
      <vt:lpstr>External Interrupts</vt:lpstr>
      <vt:lpstr>Configuring external interrupts</vt:lpstr>
      <vt:lpstr>Configuring External Interrupts</vt:lpstr>
      <vt:lpstr>Initial Steps</vt:lpstr>
      <vt:lpstr>Pull-up/down Resistors</vt:lpstr>
      <vt:lpstr>Pull-up/down Resistors</vt:lpstr>
      <vt:lpstr>Pull-up/down Resistors</vt:lpstr>
      <vt:lpstr>Pull-up/down Resistors</vt:lpstr>
      <vt:lpstr>Configure Pin as GPIO and Input</vt:lpstr>
      <vt:lpstr>Configure Interrupt Triggering Type</vt:lpstr>
      <vt:lpstr>Configure Interrupt Triggering Type</vt:lpstr>
      <vt:lpstr>Configure Interrupt Triggering Type</vt:lpstr>
      <vt:lpstr>Setting IRQ Priority</vt:lpstr>
      <vt:lpstr>Setting IRQ Priority</vt:lpstr>
      <vt:lpstr>Setting IRQ Priority</vt:lpstr>
      <vt:lpstr>Full Setup Code</vt:lpstr>
      <vt:lpstr>Writing the ISR</vt:lpstr>
      <vt:lpstr>Writing the ISR</vt:lpstr>
      <vt:lpstr>Writing the ISR</vt:lpstr>
      <vt:lpstr>Useful Functions and Macros</vt:lpstr>
      <vt:lpstr>Useful Functions and Macros</vt:lpstr>
      <vt:lpstr>Conclusion</vt:lpstr>
    </vt:vector>
  </TitlesOfParts>
  <Company>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Soo Yuen Jien</dc:creator>
  <cp:lastModifiedBy>Tan Keng Yan, Colin</cp:lastModifiedBy>
  <cp:revision>159</cp:revision>
  <dcterms:created xsi:type="dcterms:W3CDTF">2009-01-07T10:53:41Z</dcterms:created>
  <dcterms:modified xsi:type="dcterms:W3CDTF">2025-09-07T23:57:19Z</dcterms:modified>
</cp:coreProperties>
</file>