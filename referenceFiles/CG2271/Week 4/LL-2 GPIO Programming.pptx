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707" r:id="rId2"/>
    <p:sldMasterId id="2147483720" r:id="rId3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56" autoAdjust="0"/>
    <p:restoredTop sz="94467"/>
  </p:normalViewPr>
  <p:slideViewPr>
    <p:cSldViewPr>
      <p:cViewPr varScale="1">
        <p:scale>
          <a:sx n="77" d="100"/>
          <a:sy n="77" d="100"/>
        </p:scale>
        <p:origin x="199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7077CC8-28D7-419B-AFB3-DD18205363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40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77CC8-28D7-419B-AFB3-DD18205363D6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277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6095-382C-2F1F-9284-5C2DD47A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72AF6-D2C4-B5AD-CA24-A737F9F7D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A4462-642C-8599-F3ED-299874088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AED31-4148-828D-6CB8-544D28921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77CC8-28D7-419B-AFB3-DD18205363D6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74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206683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193413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339420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170380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584971-4E7E-49CD-A58B-4D6798B16E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40824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6791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32631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4213621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48039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163230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95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B16682-6FB4-4344-B037-3C8A3CEB85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SG" altLang="en-US"/>
              <a:t>CG2271 Lab Lecture 2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151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6DC585-B3F4-4B1B-8C67-9C227CDAE85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332447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88B9D5-0321-4243-8ED9-54D29AAF37E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3390961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48AF77-D65C-4E9E-B478-17E3FD86D81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1046275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78A42F-32DF-4555-A3D9-B208AC03E8B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893632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2D7119-D0B9-434A-965E-B7C4A460BE3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3458946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56026C-F7A5-4BDA-898E-B00A800C5FF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2713829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A67EED0-2586-40FE-805F-5628AC864DA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3696722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7E0452-540F-4E7F-8F1B-B48A49509A5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1174460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ED2E85-14B5-41B8-BB68-5CCA814DB1A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4083494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9D4C96A0-4412-4C95-B2BA-559D798589E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1325395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1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2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7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2884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381000" y="1524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629400"/>
            <a:ext cx="457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553200"/>
            <a:ext cx="1905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r>
              <a:rPr lang="en-US" altLang="en-US"/>
              <a:t>CG2271 Lab Lecture 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40BAAAD-52D6-4FB3-AB55-71C64A1E2A0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CG2271 Lab Lecture 2</a:t>
            </a:r>
          </a:p>
        </p:txBody>
      </p:sp>
    </p:spTree>
    <p:extLst>
      <p:ext uri="{BB962C8B-B14F-4D97-AF65-F5344CB8AC3E}">
        <p14:creationId xmlns:p14="http://schemas.microsoft.com/office/powerpoint/2010/main" val="344398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CG2271 Lab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CG2271 Real Time Operating Systems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Lab Lecture 2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GPIO Programming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(Reference Guide Chapter 41)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1726-C4A5-28A6-1DFE-37F58050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General Purpose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CE74E-CB03-5FE6-7232-DA69013EF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General Purpose I/O or GPIO pins provide binary input and output.</a:t>
            </a:r>
          </a:p>
          <a:p>
            <a:pPr lvl="1"/>
            <a:r>
              <a:rPr lang="en-SG" dirty="0"/>
              <a:t>Ideal for reading switches and driving LEDs.</a:t>
            </a:r>
          </a:p>
          <a:p>
            <a:pPr lvl="1"/>
            <a:r>
              <a:rPr lang="en-SG" dirty="0"/>
              <a:t>Input and output voltages on the MCXC444 chip is 3.3 volts, NOT 5 volts!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462C6-8793-9FE9-F75B-E0519537A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B5427-075A-01F4-668D-912BCB9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D8E57258-FD07-AD1B-EECA-CABF31651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8" t="29584" r="27748" b="53098"/>
          <a:stretch>
            <a:fillRect/>
          </a:stretch>
        </p:blipFill>
        <p:spPr bwMode="auto">
          <a:xfrm>
            <a:off x="2057400" y="3581400"/>
            <a:ext cx="5715000" cy="222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7850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D1CF-6C3A-C908-6815-AEB4739F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GPIO on the MCXC444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11877-BA67-99BB-8B74-6261EEF472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GPIO pins on the MCXC444 are splits across 5 ports, GPIOA to GPIOE.</a:t>
                </a:r>
              </a:p>
              <a:p>
                <a:pPr lvl="1"/>
                <a:r>
                  <a:rPr lang="en-SG" dirty="0"/>
                  <a:t>In theory this will give us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32×5= </m:t>
                    </m:r>
                  </m:oMath>
                </a14:m>
                <a:r>
                  <a:rPr lang="en-SG" dirty="0"/>
                  <a:t>160 GPIO pins, but in practice not all pins are available.</a:t>
                </a:r>
              </a:p>
              <a:p>
                <a:pPr lvl="1"/>
                <a:r>
                  <a:rPr lang="en-SG" dirty="0"/>
                  <a:t>Easiest to just check the pinouts on the underside of the FRDM-MCXC444 board to see what can be used.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411877-BA67-99BB-8B74-6261EEF47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444" r="-21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9FC74-90B1-8820-A6EE-A1B0954DA0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F1C3B-E9D3-F8EC-4A52-1C40670A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D8F457-3F84-D494-E5FB-52C78C223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813887"/>
            <a:ext cx="4854361" cy="276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4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8779-D29E-F330-855F-573B4AB4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Power Management on the MCXC444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14973-6CCF-6C38-22E2-B426C1FEE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Almost all hardware on the MCXC444 is switched off by default, to save power.</a:t>
            </a:r>
          </a:p>
          <a:p>
            <a:pPr lvl="1"/>
            <a:r>
              <a:rPr lang="en-SG" dirty="0"/>
              <a:t>I2C, SPI, UART, ADC, timers, GPIO, DMA, etc.</a:t>
            </a:r>
          </a:p>
          <a:p>
            <a:r>
              <a:rPr lang="en-SG" dirty="0"/>
              <a:t>Before using these devices, you need to set the corresponding bit in the correct System Clock Gating Control Register (SCGC).</a:t>
            </a:r>
          </a:p>
          <a:p>
            <a:pPr lvl="1"/>
            <a:r>
              <a:rPr lang="en-SG" dirty="0"/>
              <a:t>Part of the System Integration Module (SIM).</a:t>
            </a:r>
          </a:p>
          <a:p>
            <a:pPr lvl="1"/>
            <a:r>
              <a:rPr lang="en-SG" dirty="0"/>
              <a:t>Reference Guide: Sections 12.3.8 to 12.3.11</a:t>
            </a:r>
          </a:p>
          <a:p>
            <a:r>
              <a:rPr lang="en-SG" dirty="0"/>
              <a:t>For GPIO, the clock gating control bits are in the SIM_SCGC5 register.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84A1D-662B-5494-808B-9DD1EF9B5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4DE79-E681-A1E1-E510-AD7F4FCA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6473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4873-0436-3CC3-87E2-3220E0047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Power Management on the MCXC444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BA56-250C-948A-F36C-69B515E46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To turn on the clock for </a:t>
            </a:r>
            <a:r>
              <a:rPr lang="en-SG" dirty="0" err="1"/>
              <a:t>GPIOx</a:t>
            </a:r>
            <a:r>
              <a:rPr lang="en-SG" dirty="0"/>
              <a:t> (Replace x with A, B, C, D or E. E.g. GPIOE)</a:t>
            </a:r>
          </a:p>
          <a:p>
            <a:pPr marL="344487" lvl="1" indent="0">
              <a:buNone/>
            </a:pPr>
            <a:endParaRPr lang="en-SG" dirty="0"/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SIM-&gt;SCGC5 |= SIM_SCGC5_PORTx_MASK;</a:t>
            </a:r>
          </a:p>
          <a:p>
            <a:pPr marL="344487" lvl="1" indent="0">
              <a:buNone/>
            </a:pPr>
            <a:endParaRPr lang="en-SG" dirty="0"/>
          </a:p>
          <a:p>
            <a:pPr marL="344487" lvl="1" indent="0">
              <a:buNone/>
            </a:pPr>
            <a:r>
              <a:rPr lang="en-SG" dirty="0"/>
              <a:t>E.g. to turn on GPIOE</a:t>
            </a:r>
          </a:p>
          <a:p>
            <a:pPr marL="344487" lvl="1" indent="0">
              <a:buNone/>
            </a:pPr>
            <a:endParaRPr lang="en-SG" dirty="0"/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SIM-&gt;SCGC5 |= SIM_SCGC5_PORTE_MASK;</a:t>
            </a:r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SG" dirty="0"/>
              <a:t>To turn off:</a:t>
            </a:r>
          </a:p>
          <a:p>
            <a:pPr marL="344487" lvl="1" indent="0">
              <a:buNone/>
            </a:pPr>
            <a:endParaRPr lang="en-SG" dirty="0"/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SIM-&gt;SCGC5 &amp;= ~SIM_SCGC5_PORTx_MASK;</a:t>
            </a:r>
          </a:p>
          <a:p>
            <a:pPr marL="344487" lvl="1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9488B-2A33-ABEA-A021-614BB9B56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270E7-5CF9-FE55-060C-C8574AC4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41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3AC58-9DC9-0994-0190-4691F7C31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Pin Multiplexing on the MCXC444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C2116-D4A5-8AD8-13A4-8A17C9493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4572000" cy="5486400"/>
          </a:xfrm>
        </p:spPr>
        <p:txBody>
          <a:bodyPr/>
          <a:lstStyle/>
          <a:p>
            <a:r>
              <a:rPr lang="en-SG" dirty="0"/>
              <a:t>Like all microcontrollers, the MCXC444 uses each pin for multiple purposes:</a:t>
            </a:r>
          </a:p>
          <a:p>
            <a:pPr lvl="1"/>
            <a:r>
              <a:rPr lang="en-SG" dirty="0"/>
              <a:t>E.g. PTA1 (Port A pin 1) is shared with the receive pin of low power UART 0 (LPUART0), and channel 0 of timer 2 (TPM2)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4FE40-FD45-2EB6-830D-A16B6B7CD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78629-45E6-D1A5-D232-9285A3A0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7C0E23-6043-5680-72B7-DE71A0D2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192" y="845003"/>
            <a:ext cx="3322608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2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017C-408B-1831-224A-A77676C9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Pin Multiplexing on the MCXC444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1A45-C7C2-57F9-DE5A-76A82BE6B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make use of the Pin Control Register (PCR) of each pin to choose the function we want, along with other configurations:</a:t>
            </a:r>
          </a:p>
          <a:p>
            <a:pPr lvl="1"/>
            <a:r>
              <a:rPr lang="en-SG" dirty="0"/>
              <a:t>E.g. PORTA_PCR5 configures pin 5 of port A. (See Section 11.7.1 for details)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DE064-2F0C-C14A-D9F4-699F7ADB4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9C206-6FA4-7862-33DF-98B826B6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C36DC1-EB83-036E-FE6D-F6F94EF98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11" y="3451651"/>
            <a:ext cx="8131245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68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AE27-86AF-61A2-9863-50339A14A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Pin Multiplexing on the MCXC444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59430-8A17-92DA-E718-2A3DC0120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66C2F-AD91-8F3D-FECB-DBE8C905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6FE36D-E5D7-BC14-F40B-A6714B99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74" y="962247"/>
            <a:ext cx="8131245" cy="225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18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AF3A-7AD3-D06A-ACDA-2AC4A953C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Pin Multiplexing on the MCXC444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8F9DD-FBCD-1437-96AD-3565BEF2E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81504-6FE8-F486-8998-D57D20233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7B52B5-F756-1774-8E28-8101BBF5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254642"/>
            <a:ext cx="3934754" cy="4993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96A4F9-5DF1-7BF2-94A2-82A81B5E0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747" y="1254642"/>
            <a:ext cx="4473325" cy="491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74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96CDC-4995-45A0-7916-7708A531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Choosing the Pin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B880D-C1A2-BA10-F3E9-B7A1F3386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make use of the MUX bits in the </a:t>
            </a:r>
            <a:r>
              <a:rPr lang="en-SG" dirty="0" err="1"/>
              <a:t>PORTx_PCRy</a:t>
            </a:r>
            <a:r>
              <a:rPr lang="en-SG" dirty="0"/>
              <a:t> register (pin y of port x).</a:t>
            </a:r>
          </a:p>
          <a:p>
            <a:pPr lvl="1"/>
            <a:r>
              <a:rPr lang="en-SG" dirty="0"/>
              <a:t>The tables in Section 10.3.1 show us which number to use for each function.</a:t>
            </a:r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r>
              <a:rPr lang="en-SG" dirty="0"/>
              <a:t>For example, if we wanted to use GPIO on PTE1, the correct function is ALT1.</a:t>
            </a:r>
          </a:p>
          <a:p>
            <a:pPr lvl="1"/>
            <a:endParaRPr lang="en-SG" dirty="0"/>
          </a:p>
          <a:p>
            <a:pPr lvl="1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3A6E2-921B-D216-A069-E17C4A66C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2497-11D7-4902-746A-74AB50BC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8A86B9-51E6-EE7C-C37E-E09EABEF7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819400"/>
            <a:ext cx="8138865" cy="146316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6AC698-28DE-3334-0EBA-EA2E6303148F}"/>
              </a:ext>
            </a:extLst>
          </p:cNvPr>
          <p:cNvSpPr/>
          <p:nvPr/>
        </p:nvSpPr>
        <p:spPr>
          <a:xfrm>
            <a:off x="3124200" y="3886200"/>
            <a:ext cx="1143000" cy="39636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9050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90A0-EF73-0FF3-6417-A6C9216DB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AA1B-2255-2A70-CE7A-E67AA314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Choosing the Pin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E2B9-22E0-599B-01BB-259974B05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access </a:t>
            </a:r>
            <a:r>
              <a:rPr lang="en-SG" dirty="0" err="1"/>
              <a:t>PORTx_PCRy</a:t>
            </a:r>
            <a:r>
              <a:rPr lang="en-SG" dirty="0"/>
              <a:t> using:</a:t>
            </a:r>
          </a:p>
          <a:p>
            <a:endParaRPr lang="en-SG" dirty="0"/>
          </a:p>
          <a:p>
            <a:pPr marL="344487" lvl="1" indent="0">
              <a:buNone/>
            </a:pP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PORTx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-&gt;PCR[y]</a:t>
            </a:r>
          </a:p>
          <a:p>
            <a:pPr lvl="1"/>
            <a:endParaRPr lang="en-SG" dirty="0"/>
          </a:p>
          <a:p>
            <a:r>
              <a:rPr lang="en-SG" dirty="0"/>
              <a:t>Example to choose GPIO for pin PTE1:</a:t>
            </a:r>
          </a:p>
          <a:p>
            <a:pPr marL="0" indent="0">
              <a:buNone/>
            </a:pPr>
            <a:endParaRPr lang="en-SG" dirty="0"/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Zero all the MUX bits</a:t>
            </a:r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PORTE-&gt;PCR[1]  &amp;= ~PORT_PCR_MUX_MASK; </a:t>
            </a:r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Choose ALT1 for PTE1</a:t>
            </a:r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PORTE-&gt;PCR[1] |= PORT_PCR_MUX(1); 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DF3D1-9523-C6EE-4922-B49853473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BE334-5BEB-6287-FB6D-D0BC725F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386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4F8D-5700-11DB-169D-8F2747247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the Pin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C1EF9-B93D-C08B-F9A2-FEF16B2A2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Pins can be input or output. To set the direction, we set the corresponding bit in the </a:t>
            </a:r>
            <a:r>
              <a:rPr lang="en-SG" dirty="0" err="1"/>
              <a:t>GPIOx_PDDR</a:t>
            </a:r>
            <a:r>
              <a:rPr lang="en-SG" dirty="0"/>
              <a:t> (pin data direction register):</a:t>
            </a:r>
          </a:p>
          <a:p>
            <a:pPr lvl="1"/>
            <a:r>
              <a:rPr lang="en-SG" dirty="0"/>
              <a:t>0 – Pin is input, 1 – pin is output</a:t>
            </a:r>
          </a:p>
          <a:p>
            <a:pPr marL="344487" lvl="1" indent="0">
              <a:buNone/>
            </a:pPr>
            <a:endParaRPr lang="en-SG" dirty="0"/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Set pin 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pinnum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on port x as input </a:t>
            </a:r>
          </a:p>
          <a:p>
            <a:pPr marL="344487" lvl="1" indent="0">
              <a:buNone/>
            </a:pP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GPIOx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-&gt;PDDR &amp;= ~(1 &lt;&lt; 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pinnum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Set pin 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pinnum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on port x as output</a:t>
            </a:r>
          </a:p>
          <a:p>
            <a:pPr marL="344487" lvl="1" indent="0">
              <a:buNone/>
            </a:pP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GPIOx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-&gt;PDDR |= (1 &lt;&lt; </a:t>
            </a:r>
            <a:r>
              <a:rPr lang="en-SG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pinnum</a:t>
            </a: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Set PTE1 as input</a:t>
            </a:r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GPIOE-&gt;PDDR &amp;= ~(1 &lt;&lt; 1);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E3155-9176-1811-1FD7-29245F6534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05ED2-DCD3-3354-DC60-AA669C69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959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59933-526B-D0CA-9111-EF5A1B70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Writing to the GPIO 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5E642-34C5-3706-72DA-E783DE9A4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To write to a GPIO pin we must first set it as output. Here we use PTE1 as an example:</a:t>
            </a:r>
          </a:p>
          <a:p>
            <a:pPr marL="344487" lvl="1" indent="0">
              <a:buNone/>
            </a:pPr>
            <a:endParaRPr lang="en-SG" dirty="0"/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Set PTE1 as output</a:t>
            </a:r>
          </a:p>
          <a:p>
            <a:pPr marL="344487" lvl="1" indent="0">
              <a:buNone/>
            </a:pPr>
            <a:r>
              <a:rPr lang="en-SG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GPIOE-&gt;PDDR |= (1 &lt;&lt; 1); </a:t>
            </a:r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2"/>
            <a:r>
              <a:rPr lang="en-SG" dirty="0"/>
              <a:t>We now have several choices on how to set/clear/toggle the GPIO pin:</a:t>
            </a:r>
          </a:p>
          <a:p>
            <a:pPr marL="687387" lvl="1"/>
            <a:r>
              <a:rPr lang="en-SG" dirty="0" err="1"/>
              <a:t>GPIOx_PCOR</a:t>
            </a:r>
            <a:r>
              <a:rPr lang="en-SG" dirty="0"/>
              <a:t>: Write a 1 to clear the pin</a:t>
            </a:r>
          </a:p>
          <a:p>
            <a:pPr marL="687387" lvl="1"/>
            <a:r>
              <a:rPr lang="en-SG" dirty="0" err="1"/>
              <a:t>GPIOx_PSOR</a:t>
            </a:r>
            <a:r>
              <a:rPr lang="en-SG" dirty="0"/>
              <a:t>: Write a 1 to set the pin</a:t>
            </a:r>
          </a:p>
          <a:p>
            <a:pPr marL="687387" lvl="1"/>
            <a:r>
              <a:rPr lang="en-SG" dirty="0" err="1"/>
              <a:t>GPIOx_PDOR</a:t>
            </a:r>
            <a:r>
              <a:rPr lang="en-SG" dirty="0"/>
              <a:t>: Write a 1 to set and a 0 to clear</a:t>
            </a:r>
          </a:p>
          <a:p>
            <a:pPr marL="687387" lvl="1"/>
            <a:r>
              <a:rPr lang="en-SG" dirty="0" err="1"/>
              <a:t>GPIOx_PTOR</a:t>
            </a:r>
            <a:r>
              <a:rPr lang="en-SG" dirty="0"/>
              <a:t>: Write a 1 to toggle the pin</a:t>
            </a:r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DC367-EF11-77ED-A421-68922F108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0ADD6-E361-8297-AA26-D48CE00D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04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E54C-BDBC-77CE-3B3C-D004A71A1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Writing to the GPIO pin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6E7CA-00AC-9C81-F92D-A0A4D86E9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to clear PTE1:</a:t>
            </a: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PIN1	1</a:t>
            </a:r>
          </a:p>
          <a:p>
            <a:pPr marL="344487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Set PTE1 to output</a:t>
            </a: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GPIOE-&gt;PDDR |= (1 &lt;&lt; PIN1);</a:t>
            </a:r>
          </a:p>
          <a:p>
            <a:pPr marL="344487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Clear PTE1</a:t>
            </a: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GPIOE-&gt;PCOR |= (1 &lt;&lt; PIN1);</a:t>
            </a:r>
          </a:p>
          <a:p>
            <a:pPr marL="344487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Set PTE1:</a:t>
            </a: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GPIOE-&gt;PSOR |= (1 &lt;&lt; PIN1);</a:t>
            </a:r>
          </a:p>
          <a:p>
            <a:pPr marL="344487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Toggle PTE1:</a:t>
            </a: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GPIOE-&gt;PTOR |= (1 &lt;&lt; PIN1);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8B184-6322-0E04-8C72-E8357C0AE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B281E-1DE3-62E7-E592-E5722D46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6974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ED4E-0BAB-F738-5FC1-7C7EC3B5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 GPIO 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53947-BE78-C535-D49F-084CDBBE1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read a GPIO pin, we set the pin as input and then use the </a:t>
            </a:r>
            <a:r>
              <a:rPr lang="en-US" dirty="0" err="1"/>
              <a:t>GPIOx_PDIR</a:t>
            </a:r>
            <a:r>
              <a:rPr lang="en-US" dirty="0"/>
              <a:t> register. We take PTB2 as an example.</a:t>
            </a:r>
          </a:p>
          <a:p>
            <a:pPr marL="344487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PIN2	2</a:t>
            </a:r>
          </a:p>
          <a:p>
            <a:pPr marL="344487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Set PTB2 as input</a:t>
            </a: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GPIOB-&gt;PDDR &amp;= ~(1 &lt;&lt; PIN2)</a:t>
            </a:r>
          </a:p>
          <a:p>
            <a:pPr marL="344487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If PTB2 is 1 do something</a:t>
            </a: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if(GPIOB-&gt;PDIR &amp; (1 &lt;&lt; PIN2)) {</a:t>
            </a: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.. Do something ..</a:t>
            </a:r>
          </a:p>
          <a:p>
            <a:pPr marL="344487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0A315-9DC9-996E-F57E-170270CC1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15C7D-3301-E105-DF65-13211A89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9970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538E-9B3A-BED7-8846-E950171E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880E5-3C0E-5419-390C-3C55971E1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now study an example where we use a switch on the FRDM-MCXC444 board to toggle an LED.</a:t>
            </a:r>
          </a:p>
          <a:p>
            <a:pPr lvl="1"/>
            <a:r>
              <a:rPr lang="en-US" dirty="0"/>
              <a:t>We will use switch SW3 on the bottom right of the board, which is connected to PTA4:</a:t>
            </a:r>
          </a:p>
          <a:p>
            <a:pPr lvl="2"/>
            <a:r>
              <a:rPr lang="en-US" dirty="0"/>
              <a:t>Note that the switch is active-low.</a:t>
            </a:r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957FD-1BA8-B9E3-72BE-12F2D5F44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9464-410E-48A9-FDD8-30B136DD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93A5AC-DB6E-3611-9FCF-A60E021B8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45" y="3633725"/>
            <a:ext cx="4357602" cy="2946462"/>
          </a:xfrm>
          <a:prstGeom prst="rect">
            <a:avLst/>
          </a:prstGeom>
        </p:spPr>
      </p:pic>
      <p:pic>
        <p:nvPicPr>
          <p:cNvPr id="1026" name="Picture 2" descr="Frdm-MCXC444">
            <a:extLst>
              <a:ext uri="{FF2B5EF4-FFF2-40B4-BE49-F238E27FC236}">
                <a16:creationId xmlns:a16="http://schemas.microsoft.com/office/drawing/2014/main" id="{9D031E45-E038-9324-DCF8-2C115B3F5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547" y="4134643"/>
            <a:ext cx="4133314" cy="244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2ACC93-0C75-6F32-0648-2A54E7943883}"/>
              </a:ext>
            </a:extLst>
          </p:cNvPr>
          <p:cNvSpPr/>
          <p:nvPr/>
        </p:nvSpPr>
        <p:spPr>
          <a:xfrm>
            <a:off x="7848600" y="5715000"/>
            <a:ext cx="7620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4EB867-EA96-E0A8-FC59-1AD2AC65CE50}"/>
              </a:ext>
            </a:extLst>
          </p:cNvPr>
          <p:cNvCxnSpPr/>
          <p:nvPr/>
        </p:nvCxnSpPr>
        <p:spPr>
          <a:xfrm flipH="1" flipV="1">
            <a:off x="2667000" y="5029200"/>
            <a:ext cx="5181600" cy="91440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030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32680-C8B2-6176-C0E2-359ABAB5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53DEE-D64A-15A7-646D-D0DE07776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FRDM-MCXC444 board comes with an RGB LED configured in active-low configuration (i.e. we write a 0 to turn on the LED and a 1 to turn it off).</a:t>
            </a:r>
          </a:p>
          <a:p>
            <a:pPr lvl="1"/>
            <a:r>
              <a:rPr lang="en-US" dirty="0"/>
              <a:t>We will use the red LED, connected to PTE31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E67CF-8DA8-2B4B-4C62-D826A514C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5DCD7-1A03-1EF2-7E08-7F2C8B2A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DA86A-BFED-4689-0578-2FF21AD67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86200"/>
            <a:ext cx="3041073" cy="1299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2CFF91-C046-FB2F-AE3A-F2F7D3768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847" y="3886200"/>
            <a:ext cx="4973426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85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B164-7741-3C4A-1B9A-8D94126A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983DB-38C1-D559-49E8-8F86FB99A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pPr lvl="1"/>
            <a:r>
              <a:rPr lang="en-US" dirty="0"/>
              <a:t>Define our pin numbers:</a:t>
            </a:r>
          </a:p>
          <a:p>
            <a:pPr lvl="1"/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lvl="1"/>
            <a:r>
              <a:rPr lang="en-US" dirty="0"/>
              <a:t>Turn on the clocking to Ports A and E:</a:t>
            </a:r>
          </a:p>
          <a:p>
            <a:pPr lvl="1"/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9209B-1C52-63AC-95AA-30AED2C96D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6763D-13D9-4120-6DDC-A82AC756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4BB65F-D223-D344-2784-13628DD5B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505200"/>
            <a:ext cx="6664266" cy="1219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DAD398-AC7E-282A-1AE4-D279BA272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048516"/>
            <a:ext cx="2772162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54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8048E-035A-24B8-2DDD-40F392C5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7CD88-6A0E-E7B4-718A-F116378D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45C8A-3DF3-0B10-7AC6-2FDDE0C4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pPr lvl="1"/>
            <a:r>
              <a:rPr lang="en-US" dirty="0"/>
              <a:t>Select the correct pin function for PTA4 and PTE31:</a:t>
            </a:r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marL="344487" lvl="1" indent="0">
              <a:buNone/>
            </a:pPr>
            <a:endParaRPr lang="en-US" sz="2000" dirty="0"/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endParaRPr lang="en-SG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D70CD-022D-CB25-B0B5-8C8887B041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99CD3-767E-A8DD-0B6E-427822A56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37239C-C02C-51AE-8802-EE0A1CADB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76500"/>
            <a:ext cx="7748956" cy="121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E67520-7477-345A-B964-C4F29BCB0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52" y="3766930"/>
            <a:ext cx="7306695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05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5715-5EBC-1130-F231-36354002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57D7D-ED2C-EC5F-9991-86DB11267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the switch at PTA4 and the LED at PTE31 as input and output respectively.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Switch off the LED.</a:t>
            </a:r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78E2C-7850-7FE4-F286-7D250297A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0B382-DE27-CEB7-74F8-ECD4B7C3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EE05E4-4B48-C444-15D9-72BC89C92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133600"/>
            <a:ext cx="4782217" cy="1819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F5E43D-D79A-8C64-71FF-E52BC70C7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57" y="4953000"/>
            <a:ext cx="7773485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1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EE24-3BC8-147B-756A-BE5475049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586A8-050E-7B36-E35A-3801A0B31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Finally poll the switch at PTA4 and toggle the LED at PTE31 whenever it is pressed.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95A9F-CC81-DC81-F646-0837B5576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87493-1F1B-00B4-D872-1D8DEE25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194CA-49A2-04DA-37A8-B1113C0FA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469" y="2219156"/>
            <a:ext cx="5811061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13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DF64-8E4B-649C-A8B9-10930FAB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F5A57-683C-029A-BFA3-7DA9AB462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lecture we’ve looked at how to configure, read and write GPIO pins on the MCXC444.</a:t>
            </a:r>
          </a:p>
          <a:p>
            <a:r>
              <a:rPr lang="en-US" dirty="0"/>
              <a:t>In the next lecture we will look at the interrupt architecture on this chip, and how to program the GPIO interrupts.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D9FCB-636F-ED91-058A-B9D5DADE9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FE065-7CDC-879D-6847-DAEFDBD01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2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4863378"/>
      </p:ext>
    </p:extLst>
  </p:cSld>
  <p:clrMapOvr>
    <a:masterClrMapping/>
  </p:clrMapOvr>
</p:sld>
</file>

<file path=ppt/theme/theme1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2799</TotalTime>
  <Words>1202</Words>
  <Application>Microsoft Office PowerPoint</Application>
  <PresentationFormat>On-screen Show (4:3)</PresentationFormat>
  <Paragraphs>188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Arial Black</vt:lpstr>
      <vt:lpstr>Calibri</vt:lpstr>
      <vt:lpstr>Calibri Light</vt:lpstr>
      <vt:lpstr>Cambria Math</vt:lpstr>
      <vt:lpstr>Courier New</vt:lpstr>
      <vt:lpstr>Garamond</vt:lpstr>
      <vt:lpstr>Wingdings</vt:lpstr>
      <vt:lpstr>Wingdings 2</vt:lpstr>
      <vt:lpstr>L1 - Basic of C++</vt:lpstr>
      <vt:lpstr>Edge</vt:lpstr>
      <vt:lpstr>HDOfficeLightV0</vt:lpstr>
      <vt:lpstr>CG2271 Real Time Operating Systems</vt:lpstr>
      <vt:lpstr>General Purpose I/O</vt:lpstr>
      <vt:lpstr>GPIO on the MCXC444</vt:lpstr>
      <vt:lpstr>Power Management on the MCXC444</vt:lpstr>
      <vt:lpstr>Power Management on the MCXC444</vt:lpstr>
      <vt:lpstr>Pin Multiplexing on the MCXC444</vt:lpstr>
      <vt:lpstr>Pin Multiplexing on the MCXC444</vt:lpstr>
      <vt:lpstr>Pin Multiplexing on the MCXC444</vt:lpstr>
      <vt:lpstr>Pin Multiplexing on the MCXC444</vt:lpstr>
      <vt:lpstr>Choosing the Pin Function</vt:lpstr>
      <vt:lpstr>Choosing the Pin Function</vt:lpstr>
      <vt:lpstr>Setting the Pin Direction</vt:lpstr>
      <vt:lpstr>Writing to the GPIO pin</vt:lpstr>
      <vt:lpstr>Writing to the GPIO pin</vt:lpstr>
      <vt:lpstr>Reading a GPIO Pin</vt:lpstr>
      <vt:lpstr>Putting it All Together</vt:lpstr>
      <vt:lpstr>Putting it All Together</vt:lpstr>
      <vt:lpstr>Putting it All Together</vt:lpstr>
      <vt:lpstr>Putting it All Together</vt:lpstr>
      <vt:lpstr>Putting it All Together</vt:lpstr>
      <vt:lpstr>Putting it All Together</vt:lpstr>
      <vt:lpstr>Conclusion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Soo Yuen Jien</dc:creator>
  <cp:lastModifiedBy>Colin Tan</cp:lastModifiedBy>
  <cp:revision>108</cp:revision>
  <dcterms:created xsi:type="dcterms:W3CDTF">2009-01-07T10:53:41Z</dcterms:created>
  <dcterms:modified xsi:type="dcterms:W3CDTF">2025-06-16T02:54:38Z</dcterms:modified>
</cp:coreProperties>
</file>