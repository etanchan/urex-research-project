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1"/>
  </p:notesMasterIdLst>
  <p:sldIdLst>
    <p:sldId id="256" r:id="rId2"/>
    <p:sldId id="257" r:id="rId3"/>
    <p:sldId id="347" r:id="rId4"/>
    <p:sldId id="348" r:id="rId5"/>
    <p:sldId id="358" r:id="rId6"/>
    <p:sldId id="350" r:id="rId7"/>
    <p:sldId id="313" r:id="rId8"/>
    <p:sldId id="261" r:id="rId9"/>
    <p:sldId id="315" r:id="rId10"/>
    <p:sldId id="316" r:id="rId11"/>
    <p:sldId id="322" r:id="rId12"/>
    <p:sldId id="324" r:id="rId13"/>
    <p:sldId id="326" r:id="rId14"/>
    <p:sldId id="321" r:id="rId15"/>
    <p:sldId id="359" r:id="rId16"/>
    <p:sldId id="351" r:id="rId17"/>
    <p:sldId id="360" r:id="rId18"/>
    <p:sldId id="363" r:id="rId19"/>
    <p:sldId id="289" r:id="rId20"/>
    <p:sldId id="335" r:id="rId21"/>
    <p:sldId id="336" r:id="rId22"/>
    <p:sldId id="290" r:id="rId23"/>
    <p:sldId id="337" r:id="rId24"/>
    <p:sldId id="338" r:id="rId25"/>
    <p:sldId id="366" r:id="rId26"/>
    <p:sldId id="367" r:id="rId27"/>
    <p:sldId id="368" r:id="rId28"/>
    <p:sldId id="369" r:id="rId29"/>
    <p:sldId id="371" r:id="rId30"/>
    <p:sldId id="372" r:id="rId31"/>
    <p:sldId id="373" r:id="rId32"/>
    <p:sldId id="374" r:id="rId33"/>
    <p:sldId id="375" r:id="rId34"/>
    <p:sldId id="376" r:id="rId35"/>
    <p:sldId id="370" r:id="rId36"/>
    <p:sldId id="377" r:id="rId37"/>
    <p:sldId id="378" r:id="rId38"/>
    <p:sldId id="380" r:id="rId39"/>
    <p:sldId id="379" r:id="rId40"/>
    <p:sldId id="381" r:id="rId41"/>
    <p:sldId id="382" r:id="rId42"/>
    <p:sldId id="383" r:id="rId43"/>
    <p:sldId id="384" r:id="rId44"/>
    <p:sldId id="385" r:id="rId45"/>
    <p:sldId id="386" r:id="rId46"/>
    <p:sldId id="387" r:id="rId47"/>
    <p:sldId id="388" r:id="rId48"/>
    <p:sldId id="258" r:id="rId49"/>
    <p:sldId id="343" r:id="rId50"/>
  </p:sldIdLst>
  <p:sldSz cx="9144000" cy="6858000" type="screen4x3"/>
  <p:notesSz cx="7099300" cy="10234613"/>
  <p:custShowLst>
    <p:custShow name="Live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  <p:sld r:id="rId20"/>
        <p:sld r:id="rId22"/>
        <p:sld r:id="rId21"/>
        <p:sld r:id="rId23"/>
        <p:sld r:id="rId24"/>
        <p:sld r:id="rId25"/>
        <p:sld r:id="rId49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660066"/>
    <a:srgbClr val="0033CC"/>
    <a:srgbClr val="003300"/>
    <a:srgbClr val="F8F8F8"/>
    <a:srgbClr val="F3EADE"/>
    <a:srgbClr val="FFFFFF"/>
    <a:srgbClr val="008000"/>
    <a:srgbClr val="0000CC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87" autoAdjust="0"/>
    <p:restoredTop sz="92990" autoAdjust="0"/>
  </p:normalViewPr>
  <p:slideViewPr>
    <p:cSldViewPr>
      <p:cViewPr varScale="1">
        <p:scale>
          <a:sx n="76" d="100"/>
          <a:sy n="76" d="100"/>
        </p:scale>
        <p:origin x="5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Sheet1!$B$62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4E8542">
                <a:lumMod val="60000"/>
                <a:lumOff val="40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Sheet1!$C$62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B2-432B-B3DA-B9AACDA15FAC}"/>
            </c:ext>
          </c:extLst>
        </c:ser>
        <c:ser>
          <c:idx val="1"/>
          <c:order val="1"/>
          <c:tx>
            <c:strRef>
              <c:f>Sheet1!$B$63</c:f>
              <c:strCache>
                <c:ptCount val="1"/>
                <c:pt idx="0">
                  <c:v>B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Sheet1!$C$63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B2-432B-B3DA-B9AACDA15FAC}"/>
            </c:ext>
          </c:extLst>
        </c:ser>
        <c:ser>
          <c:idx val="2"/>
          <c:order val="2"/>
          <c:tx>
            <c:strRef>
              <c:f>Sheet1!$B$64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Sheet1!$C$64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B2-432B-B3DA-B9AACDA15FAC}"/>
            </c:ext>
          </c:extLst>
        </c:ser>
        <c:ser>
          <c:idx val="3"/>
          <c:order val="3"/>
          <c:tx>
            <c:strRef>
              <c:f>Sheet1!$B$65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4E8542">
                <a:lumMod val="60000"/>
                <a:lumOff val="40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Sheet1!$C$65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5B2-432B-B3DA-B9AACDA15FA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4410240"/>
        <c:axId val="204420224"/>
      </c:barChart>
      <c:catAx>
        <c:axId val="204410240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204420224"/>
        <c:crosses val="autoZero"/>
        <c:auto val="1"/>
        <c:lblAlgn val="ctr"/>
        <c:lblOffset val="100"/>
        <c:noMultiLvlLbl val="0"/>
      </c:catAx>
      <c:valAx>
        <c:axId val="204420224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SG"/>
                  <a:t>Time (ms)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04410240"/>
        <c:crosses val="autoZero"/>
        <c:crossBetween val="between"/>
        <c:majorUnit val="10"/>
      </c:valAx>
    </c:plotArea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Sheet1!$B$74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Sheet1!$C$74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69-4D28-ADF3-205FC54F93AD}"/>
            </c:ext>
          </c:extLst>
        </c:ser>
        <c:ser>
          <c:idx val="1"/>
          <c:order val="1"/>
          <c:tx>
            <c:strRef>
              <c:f>Sheet1!$B$75</c:f>
              <c:strCache>
                <c:ptCount val="1"/>
                <c:pt idx="0">
                  <c:v>B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Sheet1!$C$75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69-4D28-ADF3-205FC54F93A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4516352"/>
        <c:axId val="204522240"/>
      </c:barChart>
      <c:catAx>
        <c:axId val="204516352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204522240"/>
        <c:crosses val="autoZero"/>
        <c:auto val="1"/>
        <c:lblAlgn val="ctr"/>
        <c:lblOffset val="100"/>
        <c:noMultiLvlLbl val="0"/>
      </c:catAx>
      <c:valAx>
        <c:axId val="20452224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SG"/>
                  <a:t>Time (ms)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04516352"/>
        <c:crosses val="autoZero"/>
        <c:crossBetween val="between"/>
        <c:majorUnit val="10"/>
      </c:valAx>
    </c:plotArea>
    <c:plotVisOnly val="1"/>
    <c:dispBlanksAs val="gap"/>
    <c:showDLblsOverMax val="0"/>
  </c:chart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Sheet1!$B$45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1B587C">
                <a:lumMod val="60000"/>
                <a:lumOff val="40000"/>
              </a:srgbClr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Sheet1!$C$45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15-4E25-AD97-23D727F4C6B9}"/>
            </c:ext>
          </c:extLst>
        </c:ser>
        <c:ser>
          <c:idx val="1"/>
          <c:order val="1"/>
          <c:tx>
            <c:strRef>
              <c:f>Sheet1!$B$46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4E8542">
                <a:lumMod val="60000"/>
                <a:lumOff val="40000"/>
              </a:srgbClr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Sheet1!$C$46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15-4E25-AD97-23D727F4C6B9}"/>
            </c:ext>
          </c:extLst>
        </c:ser>
        <c:ser>
          <c:idx val="2"/>
          <c:order val="2"/>
          <c:tx>
            <c:strRef>
              <c:f>Sheet1!$B$47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1B587C">
                <a:lumMod val="60000"/>
                <a:lumOff val="40000"/>
              </a:srgbClr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Sheet1!$C$47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15-4E25-AD97-23D727F4C6B9}"/>
            </c:ext>
          </c:extLst>
        </c:ser>
        <c:ser>
          <c:idx val="3"/>
          <c:order val="3"/>
          <c:tx>
            <c:strRef>
              <c:f>Sheet1!$B$48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9F2936">
                <a:lumMod val="40000"/>
                <a:lumOff val="60000"/>
              </a:srgbClr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Sheet1!$C$48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415-4E25-AD97-23D727F4C6B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6983552"/>
        <c:axId val="206985088"/>
      </c:barChart>
      <c:catAx>
        <c:axId val="206983552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206985088"/>
        <c:crosses val="autoZero"/>
        <c:auto val="1"/>
        <c:lblAlgn val="ctr"/>
        <c:lblOffset val="100"/>
        <c:noMultiLvlLbl val="0"/>
      </c:catAx>
      <c:valAx>
        <c:axId val="206985088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SG"/>
                  <a:t>Schedule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06983552"/>
        <c:crosses val="autoZero"/>
        <c:crossBetween val="between"/>
        <c:majorUnit val="1"/>
      </c:valAx>
    </c:plotArea>
    <c:plotVisOnly val="1"/>
    <c:dispBlanksAs val="gap"/>
    <c:showDLblsOverMax val="0"/>
  </c:chart>
  <c:externalData r:id="rId2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B69FEB-B4B7-4759-9BB2-632A3861959D}" type="doc">
      <dgm:prSet loTypeId="urn:microsoft.com/office/officeart/2005/8/layout/chevron2" loCatId="process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SG"/>
        </a:p>
      </dgm:t>
    </dgm:pt>
    <dgm:pt modelId="{31E726B3-D908-48EF-A113-74B41AB7A994}">
      <dgm:prSet phldrT="[Text]"/>
      <dgm:spPr/>
      <dgm:t>
        <a:bodyPr/>
        <a:lstStyle/>
        <a:p>
          <a:r>
            <a:rPr lang="en-US" altLang="en-US" dirty="0"/>
            <a:t>1</a:t>
          </a:r>
          <a:endParaRPr lang="en-SG" dirty="0"/>
        </a:p>
      </dgm:t>
    </dgm:pt>
    <dgm:pt modelId="{90E80B72-77B9-4E9D-8624-475F99AAF99B}" type="parTrans" cxnId="{212F2E63-8811-4258-A1F3-10C1A77DDB55}">
      <dgm:prSet/>
      <dgm:spPr/>
      <dgm:t>
        <a:bodyPr/>
        <a:lstStyle/>
        <a:p>
          <a:endParaRPr lang="en-SG"/>
        </a:p>
      </dgm:t>
    </dgm:pt>
    <dgm:pt modelId="{70DE8373-AFDF-4E60-A979-3539503893FF}" type="sibTrans" cxnId="{212F2E63-8811-4258-A1F3-10C1A77DDB55}">
      <dgm:prSet/>
      <dgm:spPr/>
      <dgm:t>
        <a:bodyPr/>
        <a:lstStyle/>
        <a:p>
          <a:endParaRPr lang="en-SG"/>
        </a:p>
      </dgm:t>
    </dgm:pt>
    <dgm:pt modelId="{CF60BF4E-9A9E-4E4D-A55C-3082E605BA39}">
      <dgm:prSet/>
      <dgm:spPr/>
      <dgm:t>
        <a:bodyPr/>
        <a:lstStyle/>
        <a:p>
          <a:r>
            <a:rPr lang="en-US" altLang="en-US" dirty="0">
              <a:sym typeface="Wingdings" pitchFamily="2" charset="2"/>
            </a:rPr>
            <a:t>2</a:t>
          </a:r>
        </a:p>
      </dgm:t>
    </dgm:pt>
    <dgm:pt modelId="{64C0B470-406D-4AC8-9F43-405BC3BA22A5}" type="parTrans" cxnId="{AA23F4DC-80B3-452C-80BE-2D1A889350EC}">
      <dgm:prSet/>
      <dgm:spPr/>
      <dgm:t>
        <a:bodyPr/>
        <a:lstStyle/>
        <a:p>
          <a:endParaRPr lang="en-SG"/>
        </a:p>
      </dgm:t>
    </dgm:pt>
    <dgm:pt modelId="{AA42448C-1ED4-4A92-B8D9-AE4171521395}" type="sibTrans" cxnId="{AA23F4DC-80B3-452C-80BE-2D1A889350EC}">
      <dgm:prSet/>
      <dgm:spPr/>
      <dgm:t>
        <a:bodyPr/>
        <a:lstStyle/>
        <a:p>
          <a:endParaRPr lang="en-SG"/>
        </a:p>
      </dgm:t>
    </dgm:pt>
    <dgm:pt modelId="{84E5D1AF-49E3-451F-940A-557F0F71203E}">
      <dgm:prSet/>
      <dgm:spPr/>
      <dgm:t>
        <a:bodyPr/>
        <a:lstStyle/>
        <a:p>
          <a:r>
            <a:rPr lang="en-US" altLang="en-US" dirty="0">
              <a:sym typeface="Wingdings" pitchFamily="2" charset="2"/>
            </a:rPr>
            <a:t>3</a:t>
          </a:r>
        </a:p>
      </dgm:t>
    </dgm:pt>
    <dgm:pt modelId="{38A33A30-2581-47D8-9F64-511E12BD10D7}" type="parTrans" cxnId="{559419E2-4036-452B-A805-F6D71387BDA0}">
      <dgm:prSet/>
      <dgm:spPr/>
      <dgm:t>
        <a:bodyPr/>
        <a:lstStyle/>
        <a:p>
          <a:endParaRPr lang="en-SG"/>
        </a:p>
      </dgm:t>
    </dgm:pt>
    <dgm:pt modelId="{21730723-1563-48B7-984C-EF97D544F0FE}" type="sibTrans" cxnId="{559419E2-4036-452B-A805-F6D71387BDA0}">
      <dgm:prSet/>
      <dgm:spPr/>
      <dgm:t>
        <a:bodyPr/>
        <a:lstStyle/>
        <a:p>
          <a:endParaRPr lang="en-SG"/>
        </a:p>
      </dgm:t>
    </dgm:pt>
    <dgm:pt modelId="{C95A335A-6154-4271-9374-9682937A1FF3}">
      <dgm:prSet/>
      <dgm:spPr/>
      <dgm:t>
        <a:bodyPr/>
        <a:lstStyle/>
        <a:p>
          <a:r>
            <a:rPr lang="en-US" altLang="en-US" dirty="0">
              <a:sym typeface="Wingdings" pitchFamily="2" charset="2"/>
            </a:rPr>
            <a:t>4</a:t>
          </a:r>
          <a:endParaRPr lang="en-US" altLang="en-US" b="1" dirty="0">
            <a:sym typeface="Wingdings" pitchFamily="2" charset="2"/>
          </a:endParaRPr>
        </a:p>
      </dgm:t>
    </dgm:pt>
    <dgm:pt modelId="{346C60C0-6AB6-4C8C-8823-8D0C8306525F}" type="parTrans" cxnId="{70A2C42F-2532-4796-95D6-6EF433C0E95D}">
      <dgm:prSet/>
      <dgm:spPr/>
      <dgm:t>
        <a:bodyPr/>
        <a:lstStyle/>
        <a:p>
          <a:endParaRPr lang="en-SG"/>
        </a:p>
      </dgm:t>
    </dgm:pt>
    <dgm:pt modelId="{95C5B6AB-7265-440C-B16A-0CD2761B445B}" type="sibTrans" cxnId="{70A2C42F-2532-4796-95D6-6EF433C0E95D}">
      <dgm:prSet/>
      <dgm:spPr/>
      <dgm:t>
        <a:bodyPr/>
        <a:lstStyle/>
        <a:p>
          <a:endParaRPr lang="en-SG"/>
        </a:p>
      </dgm:t>
    </dgm:pt>
    <dgm:pt modelId="{D8F79CAF-C221-4EB7-BB4E-12B1D387E6CB}">
      <dgm:prSet/>
      <dgm:spPr/>
      <dgm:t>
        <a:bodyPr/>
        <a:lstStyle/>
        <a:p>
          <a:r>
            <a:rPr lang="en-US" altLang="en-US" dirty="0">
              <a:sym typeface="Wingdings" pitchFamily="2" charset="2"/>
            </a:rPr>
            <a:t>5</a:t>
          </a:r>
        </a:p>
      </dgm:t>
    </dgm:pt>
    <dgm:pt modelId="{60EF2B27-42E3-4AED-A280-3F4B5DBCA9D9}" type="parTrans" cxnId="{8B53A4D1-AC2F-4588-BD2B-48F7E0D3878B}">
      <dgm:prSet/>
      <dgm:spPr/>
      <dgm:t>
        <a:bodyPr/>
        <a:lstStyle/>
        <a:p>
          <a:endParaRPr lang="en-SG"/>
        </a:p>
      </dgm:t>
    </dgm:pt>
    <dgm:pt modelId="{4E08C8DF-8D5D-4489-A412-9427A5901EC9}" type="sibTrans" cxnId="{8B53A4D1-AC2F-4588-BD2B-48F7E0D3878B}">
      <dgm:prSet/>
      <dgm:spPr/>
      <dgm:t>
        <a:bodyPr/>
        <a:lstStyle/>
        <a:p>
          <a:endParaRPr lang="en-SG"/>
        </a:p>
      </dgm:t>
    </dgm:pt>
    <dgm:pt modelId="{7C4B9C32-E424-42FA-8337-695162D5D61A}">
      <dgm:prSet/>
      <dgm:spPr/>
      <dgm:t>
        <a:bodyPr/>
        <a:lstStyle/>
        <a:p>
          <a:r>
            <a:rPr lang="en-US" altLang="en-US" b="1" dirty="0">
              <a:sym typeface="Wingdings" pitchFamily="2" charset="2"/>
            </a:rPr>
            <a:t>If Context switch is needed:</a:t>
          </a:r>
        </a:p>
      </dgm:t>
    </dgm:pt>
    <dgm:pt modelId="{BF32ADEE-E0CF-4A49-AC61-01282CBCC54B}" type="parTrans" cxnId="{2ADFC4EC-1DF9-4F53-8A1C-B4A12E46A034}">
      <dgm:prSet/>
      <dgm:spPr/>
      <dgm:t>
        <a:bodyPr/>
        <a:lstStyle/>
        <a:p>
          <a:endParaRPr lang="en-SG"/>
        </a:p>
      </dgm:t>
    </dgm:pt>
    <dgm:pt modelId="{5491B440-D8C0-43E5-A824-29D28188D03E}" type="sibTrans" cxnId="{2ADFC4EC-1DF9-4F53-8A1C-B4A12E46A034}">
      <dgm:prSet/>
      <dgm:spPr/>
      <dgm:t>
        <a:bodyPr/>
        <a:lstStyle/>
        <a:p>
          <a:endParaRPr lang="en-SG"/>
        </a:p>
      </dgm:t>
    </dgm:pt>
    <dgm:pt modelId="{DF9A2B0A-222B-4565-B31B-6398CA89469E}">
      <dgm:prSet custT="1"/>
      <dgm:spPr/>
      <dgm:t>
        <a:bodyPr/>
        <a:lstStyle/>
        <a:p>
          <a:r>
            <a:rPr lang="en-US" altLang="en-US" sz="2000" dirty="0">
              <a:sym typeface="Wingdings" pitchFamily="2" charset="2"/>
            </a:rPr>
            <a:t>Pick a suitable process </a:t>
          </a:r>
          <a:r>
            <a:rPr lang="en-US" altLang="en-US" sz="2000" b="1" dirty="0">
              <a:solidFill>
                <a:srgbClr val="660066"/>
              </a:solidFill>
              <a:sym typeface="Wingdings" pitchFamily="2" charset="2"/>
            </a:rPr>
            <a:t>P</a:t>
          </a:r>
          <a:r>
            <a:rPr lang="en-US" altLang="en-US" sz="2000" dirty="0">
              <a:sym typeface="Wingdings" pitchFamily="2" charset="2"/>
            </a:rPr>
            <a:t> to run base on scheduling algorithm</a:t>
          </a:r>
        </a:p>
      </dgm:t>
    </dgm:pt>
    <dgm:pt modelId="{5705E12C-C15F-4872-A8D2-D1FC68BBB88A}" type="parTrans" cxnId="{E1758552-B47C-40DD-8805-4B2ACD886763}">
      <dgm:prSet/>
      <dgm:spPr/>
      <dgm:t>
        <a:bodyPr/>
        <a:lstStyle/>
        <a:p>
          <a:endParaRPr lang="en-SG"/>
        </a:p>
      </dgm:t>
    </dgm:pt>
    <dgm:pt modelId="{200095E9-C7D2-4A44-936F-DF4B0651C044}" type="sibTrans" cxnId="{E1758552-B47C-40DD-8805-4B2ACD886763}">
      <dgm:prSet/>
      <dgm:spPr/>
      <dgm:t>
        <a:bodyPr/>
        <a:lstStyle/>
        <a:p>
          <a:endParaRPr lang="en-SG"/>
        </a:p>
      </dgm:t>
    </dgm:pt>
    <dgm:pt modelId="{D48FFB96-61A0-4B40-90D7-17DD134A9869}">
      <dgm:prSet custT="1"/>
      <dgm:spPr/>
      <dgm:t>
        <a:bodyPr/>
        <a:lstStyle/>
        <a:p>
          <a:r>
            <a:rPr lang="en-US" altLang="en-US" sz="2400" dirty="0">
              <a:sym typeface="Wingdings" pitchFamily="2" charset="2"/>
            </a:rPr>
            <a:t>Setup the context for </a:t>
          </a:r>
          <a:r>
            <a:rPr lang="en-US" altLang="en-US" sz="2400" b="1" dirty="0">
              <a:solidFill>
                <a:srgbClr val="660066"/>
              </a:solidFill>
              <a:sym typeface="Wingdings" pitchFamily="2" charset="2"/>
            </a:rPr>
            <a:t>P</a:t>
          </a:r>
        </a:p>
      </dgm:t>
    </dgm:pt>
    <dgm:pt modelId="{96E05592-6327-4728-90AA-AF02D8D57134}" type="parTrans" cxnId="{6B5399FC-6724-4619-8249-0E66D452EBC9}">
      <dgm:prSet/>
      <dgm:spPr/>
      <dgm:t>
        <a:bodyPr/>
        <a:lstStyle/>
        <a:p>
          <a:endParaRPr lang="en-SG"/>
        </a:p>
      </dgm:t>
    </dgm:pt>
    <dgm:pt modelId="{1DFB175D-A46F-41B8-A0D1-6616C335C7EB}" type="sibTrans" cxnId="{6B5399FC-6724-4619-8249-0E66D452EBC9}">
      <dgm:prSet/>
      <dgm:spPr/>
      <dgm:t>
        <a:bodyPr/>
        <a:lstStyle/>
        <a:p>
          <a:endParaRPr lang="en-SG"/>
        </a:p>
      </dgm:t>
    </dgm:pt>
    <dgm:pt modelId="{2F5E4E5A-A71A-44E5-927D-A5076B9629F1}">
      <dgm:prSet custT="1"/>
      <dgm:spPr/>
      <dgm:t>
        <a:bodyPr/>
        <a:lstStyle/>
        <a:p>
          <a:r>
            <a:rPr lang="en-US" altLang="en-US" sz="2400" dirty="0">
              <a:sym typeface="Wingdings" pitchFamily="2" charset="2"/>
            </a:rPr>
            <a:t>Let process </a:t>
          </a:r>
          <a:r>
            <a:rPr lang="en-US" altLang="en-US" sz="2400" b="1" dirty="0">
              <a:solidFill>
                <a:srgbClr val="660066"/>
              </a:solidFill>
              <a:sym typeface="Wingdings" pitchFamily="2" charset="2"/>
            </a:rPr>
            <a:t>P</a:t>
          </a:r>
          <a:r>
            <a:rPr lang="en-US" altLang="en-US" sz="2400" b="1" dirty="0">
              <a:sym typeface="Wingdings" pitchFamily="2" charset="2"/>
            </a:rPr>
            <a:t> </a:t>
          </a:r>
          <a:r>
            <a:rPr lang="en-US" altLang="en-US" sz="2400" dirty="0">
              <a:sym typeface="Wingdings" pitchFamily="2" charset="2"/>
            </a:rPr>
            <a:t>run</a:t>
          </a:r>
        </a:p>
      </dgm:t>
    </dgm:pt>
    <dgm:pt modelId="{53E3E38B-CACD-4169-B87B-0B600CA267A5}" type="parTrans" cxnId="{5333BC0F-0611-4E43-AFCC-ADFBDD5F3E78}">
      <dgm:prSet/>
      <dgm:spPr/>
      <dgm:t>
        <a:bodyPr/>
        <a:lstStyle/>
        <a:p>
          <a:endParaRPr lang="en-SG"/>
        </a:p>
      </dgm:t>
    </dgm:pt>
    <dgm:pt modelId="{6C1F35A6-10A7-4D55-B7AE-D4BF5D2C2EE0}" type="sibTrans" cxnId="{5333BC0F-0611-4E43-AFCC-ADFBDD5F3E78}">
      <dgm:prSet/>
      <dgm:spPr/>
      <dgm:t>
        <a:bodyPr/>
        <a:lstStyle/>
        <a:p>
          <a:endParaRPr lang="en-SG"/>
        </a:p>
      </dgm:t>
    </dgm:pt>
    <dgm:pt modelId="{F62FC495-DA61-4213-AD4B-FF13D3CE5161}">
      <dgm:prSet phldrT="[Text]" custT="1"/>
      <dgm:spPr/>
      <dgm:t>
        <a:bodyPr/>
        <a:lstStyle/>
        <a:p>
          <a:r>
            <a:rPr lang="en-US" altLang="en-US" sz="2400" dirty="0"/>
            <a:t>Scheduler is triggered ( </a:t>
          </a:r>
          <a:r>
            <a:rPr lang="en-US" altLang="en-US" sz="2400" b="1" dirty="0">
              <a:solidFill>
                <a:srgbClr val="C00000"/>
              </a:solidFill>
            </a:rPr>
            <a:t>OS takes over </a:t>
          </a:r>
          <a:r>
            <a:rPr lang="en-US" altLang="en-US" sz="2400" dirty="0">
              <a:sym typeface="Wingdings" panose="05000000000000000000" pitchFamily="2" charset="2"/>
            </a:rPr>
            <a:t>)</a:t>
          </a:r>
          <a:endParaRPr lang="en-SG" sz="2400" dirty="0"/>
        </a:p>
      </dgm:t>
    </dgm:pt>
    <dgm:pt modelId="{BAB1BDBC-17BA-4FD7-A250-4DB1DAB50CB8}" type="parTrans" cxnId="{97FB8D24-111C-4777-A361-50077B41F1D5}">
      <dgm:prSet/>
      <dgm:spPr/>
      <dgm:t>
        <a:bodyPr/>
        <a:lstStyle/>
        <a:p>
          <a:endParaRPr lang="en-SG"/>
        </a:p>
      </dgm:t>
    </dgm:pt>
    <dgm:pt modelId="{C565E20D-6B40-4FC9-B1E7-0BF9D7724D01}" type="sibTrans" cxnId="{97FB8D24-111C-4777-A361-50077B41F1D5}">
      <dgm:prSet/>
      <dgm:spPr/>
      <dgm:t>
        <a:bodyPr/>
        <a:lstStyle/>
        <a:p>
          <a:endParaRPr lang="en-SG"/>
        </a:p>
      </dgm:t>
    </dgm:pt>
    <dgm:pt modelId="{6535C7F3-ACB2-490C-AB5A-9B2B853931E5}">
      <dgm:prSet/>
      <dgm:spPr/>
      <dgm:t>
        <a:bodyPr/>
        <a:lstStyle/>
        <a:p>
          <a:r>
            <a:rPr lang="en-US" altLang="en-US" dirty="0">
              <a:sym typeface="Wingdings" pitchFamily="2" charset="2"/>
            </a:rPr>
            <a:t>Context of current running process is saved and placed on blocked queue / ready queue</a:t>
          </a:r>
        </a:p>
      </dgm:t>
    </dgm:pt>
    <dgm:pt modelId="{A63D9A26-F50E-47DC-9781-761B58F4E925}" type="parTrans" cxnId="{17076266-BE5C-48FB-94F8-345AB36C7484}">
      <dgm:prSet/>
      <dgm:spPr/>
      <dgm:t>
        <a:bodyPr/>
        <a:lstStyle/>
        <a:p>
          <a:endParaRPr lang="en-SG"/>
        </a:p>
      </dgm:t>
    </dgm:pt>
    <dgm:pt modelId="{B019A5B7-B289-4E0B-B27E-4159754ABFFB}" type="sibTrans" cxnId="{17076266-BE5C-48FB-94F8-345AB36C7484}">
      <dgm:prSet/>
      <dgm:spPr/>
      <dgm:t>
        <a:bodyPr/>
        <a:lstStyle/>
        <a:p>
          <a:endParaRPr lang="en-SG"/>
        </a:p>
      </dgm:t>
    </dgm:pt>
    <dgm:pt modelId="{21B3F93C-0824-40E8-8AEA-46C98BD5DA49}" type="pres">
      <dgm:prSet presAssocID="{07B69FEB-B4B7-4759-9BB2-632A3861959D}" presName="linearFlow" presStyleCnt="0">
        <dgm:presLayoutVars>
          <dgm:dir/>
          <dgm:animLvl val="lvl"/>
          <dgm:resizeHandles val="exact"/>
        </dgm:presLayoutVars>
      </dgm:prSet>
      <dgm:spPr/>
    </dgm:pt>
    <dgm:pt modelId="{3FEED265-3774-44A8-91BA-8112C34DF167}" type="pres">
      <dgm:prSet presAssocID="{31E726B3-D908-48EF-A113-74B41AB7A994}" presName="composite" presStyleCnt="0"/>
      <dgm:spPr/>
    </dgm:pt>
    <dgm:pt modelId="{E24D2508-0843-4F6F-8E50-281D29392400}" type="pres">
      <dgm:prSet presAssocID="{31E726B3-D908-48EF-A113-74B41AB7A994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2A0305F2-0CF6-4154-89B4-2FAD27DA6C06}" type="pres">
      <dgm:prSet presAssocID="{31E726B3-D908-48EF-A113-74B41AB7A994}" presName="descendantText" presStyleLbl="alignAcc1" presStyleIdx="0" presStyleCnt="5">
        <dgm:presLayoutVars>
          <dgm:bulletEnabled val="1"/>
        </dgm:presLayoutVars>
      </dgm:prSet>
      <dgm:spPr/>
    </dgm:pt>
    <dgm:pt modelId="{AF0968AB-28BE-4CF9-B683-0A6B123D8567}" type="pres">
      <dgm:prSet presAssocID="{70DE8373-AFDF-4E60-A979-3539503893FF}" presName="sp" presStyleCnt="0"/>
      <dgm:spPr/>
    </dgm:pt>
    <dgm:pt modelId="{1D6C3919-B277-4AEA-8873-E2AA68E88F9C}" type="pres">
      <dgm:prSet presAssocID="{CF60BF4E-9A9E-4E4D-A55C-3082E605BA39}" presName="composite" presStyleCnt="0"/>
      <dgm:spPr/>
    </dgm:pt>
    <dgm:pt modelId="{7F7E5D0A-DFD6-4260-A0D3-982F40C1CF2F}" type="pres">
      <dgm:prSet presAssocID="{CF60BF4E-9A9E-4E4D-A55C-3082E605BA39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1F039C24-089E-45F3-92C0-260398CA0D09}" type="pres">
      <dgm:prSet presAssocID="{CF60BF4E-9A9E-4E4D-A55C-3082E605BA39}" presName="descendantText" presStyleLbl="alignAcc1" presStyleIdx="1" presStyleCnt="5">
        <dgm:presLayoutVars>
          <dgm:bulletEnabled val="1"/>
        </dgm:presLayoutVars>
      </dgm:prSet>
      <dgm:spPr/>
    </dgm:pt>
    <dgm:pt modelId="{60877175-ABF2-45A0-8D23-994D8EC4BB87}" type="pres">
      <dgm:prSet presAssocID="{AA42448C-1ED4-4A92-B8D9-AE4171521395}" presName="sp" presStyleCnt="0"/>
      <dgm:spPr/>
    </dgm:pt>
    <dgm:pt modelId="{0679D44F-A416-4B7D-B615-FA90E3573F94}" type="pres">
      <dgm:prSet presAssocID="{84E5D1AF-49E3-451F-940A-557F0F71203E}" presName="composite" presStyleCnt="0"/>
      <dgm:spPr/>
    </dgm:pt>
    <dgm:pt modelId="{826DFFC3-AA30-4C19-916E-D0F23929DF20}" type="pres">
      <dgm:prSet presAssocID="{84E5D1AF-49E3-451F-940A-557F0F71203E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A8AEE6E4-6A91-40A7-AAF7-9F783D6D03C0}" type="pres">
      <dgm:prSet presAssocID="{84E5D1AF-49E3-451F-940A-557F0F71203E}" presName="descendantText" presStyleLbl="alignAcc1" presStyleIdx="2" presStyleCnt="5">
        <dgm:presLayoutVars>
          <dgm:bulletEnabled val="1"/>
        </dgm:presLayoutVars>
      </dgm:prSet>
      <dgm:spPr/>
    </dgm:pt>
    <dgm:pt modelId="{B452279C-BD70-474F-AA40-5D34C241C583}" type="pres">
      <dgm:prSet presAssocID="{21730723-1563-48B7-984C-EF97D544F0FE}" presName="sp" presStyleCnt="0"/>
      <dgm:spPr/>
    </dgm:pt>
    <dgm:pt modelId="{381FDDDA-DF74-400A-9D13-1EA812CC49FF}" type="pres">
      <dgm:prSet presAssocID="{C95A335A-6154-4271-9374-9682937A1FF3}" presName="composite" presStyleCnt="0"/>
      <dgm:spPr/>
    </dgm:pt>
    <dgm:pt modelId="{5FD37A4F-EBBD-4D57-A8DD-391271D268F7}" type="pres">
      <dgm:prSet presAssocID="{C95A335A-6154-4271-9374-9682937A1FF3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DE77D09F-212E-4843-90DC-D691FED68580}" type="pres">
      <dgm:prSet presAssocID="{C95A335A-6154-4271-9374-9682937A1FF3}" presName="descendantText" presStyleLbl="alignAcc1" presStyleIdx="3" presStyleCnt="5">
        <dgm:presLayoutVars>
          <dgm:bulletEnabled val="1"/>
        </dgm:presLayoutVars>
      </dgm:prSet>
      <dgm:spPr/>
    </dgm:pt>
    <dgm:pt modelId="{BD99BA09-C43D-45E2-968A-37513BE7EA94}" type="pres">
      <dgm:prSet presAssocID="{95C5B6AB-7265-440C-B16A-0CD2761B445B}" presName="sp" presStyleCnt="0"/>
      <dgm:spPr/>
    </dgm:pt>
    <dgm:pt modelId="{072B4079-C0B3-4502-B84B-1A82D04CD26D}" type="pres">
      <dgm:prSet presAssocID="{D8F79CAF-C221-4EB7-BB4E-12B1D387E6CB}" presName="composite" presStyleCnt="0"/>
      <dgm:spPr/>
    </dgm:pt>
    <dgm:pt modelId="{E98A0E73-526A-4976-B79E-2E8B3CEDDB93}" type="pres">
      <dgm:prSet presAssocID="{D8F79CAF-C221-4EB7-BB4E-12B1D387E6CB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5D2363E7-72D6-4AE8-955B-5702EE2974A7}" type="pres">
      <dgm:prSet presAssocID="{D8F79CAF-C221-4EB7-BB4E-12B1D387E6CB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5333BC0F-0611-4E43-AFCC-ADFBDD5F3E78}" srcId="{D8F79CAF-C221-4EB7-BB4E-12B1D387E6CB}" destId="{2F5E4E5A-A71A-44E5-927D-A5076B9629F1}" srcOrd="0" destOrd="0" parTransId="{53E3E38B-CACD-4169-B87B-0B600CA267A5}" sibTransId="{6C1F35A6-10A7-4D55-B7AE-D4BF5D2C2EE0}"/>
    <dgm:cxn modelId="{97FB8D24-111C-4777-A361-50077B41F1D5}" srcId="{31E726B3-D908-48EF-A113-74B41AB7A994}" destId="{F62FC495-DA61-4213-AD4B-FF13D3CE5161}" srcOrd="0" destOrd="0" parTransId="{BAB1BDBC-17BA-4FD7-A250-4DB1DAB50CB8}" sibTransId="{C565E20D-6B40-4FC9-B1E7-0BF9D7724D01}"/>
    <dgm:cxn modelId="{70A2C42F-2532-4796-95D6-6EF433C0E95D}" srcId="{07B69FEB-B4B7-4759-9BB2-632A3861959D}" destId="{C95A335A-6154-4271-9374-9682937A1FF3}" srcOrd="3" destOrd="0" parTransId="{346C60C0-6AB6-4C8C-8823-8D0C8306525F}" sibTransId="{95C5B6AB-7265-440C-B16A-0CD2761B445B}"/>
    <dgm:cxn modelId="{A990CA3F-24E3-43D5-878B-49273166C9C1}" type="presOf" srcId="{6535C7F3-ACB2-490C-AB5A-9B2B853931E5}" destId="{1F039C24-089E-45F3-92C0-260398CA0D09}" srcOrd="0" destOrd="1" presId="urn:microsoft.com/office/officeart/2005/8/layout/chevron2"/>
    <dgm:cxn modelId="{E1758552-B47C-40DD-8805-4B2ACD886763}" srcId="{84E5D1AF-49E3-451F-940A-557F0F71203E}" destId="{DF9A2B0A-222B-4565-B31B-6398CA89469E}" srcOrd="0" destOrd="0" parTransId="{5705E12C-C15F-4872-A8D2-D1FC68BBB88A}" sibTransId="{200095E9-C7D2-4A44-936F-DF4B0651C044}"/>
    <dgm:cxn modelId="{CCBEA555-8617-4075-BA5F-B92EF30F3732}" type="presOf" srcId="{07B69FEB-B4B7-4759-9BB2-632A3861959D}" destId="{21B3F93C-0824-40E8-8AEA-46C98BD5DA49}" srcOrd="0" destOrd="0" presId="urn:microsoft.com/office/officeart/2005/8/layout/chevron2"/>
    <dgm:cxn modelId="{212F2E63-8811-4258-A1F3-10C1A77DDB55}" srcId="{07B69FEB-B4B7-4759-9BB2-632A3861959D}" destId="{31E726B3-D908-48EF-A113-74B41AB7A994}" srcOrd="0" destOrd="0" parTransId="{90E80B72-77B9-4E9D-8624-475F99AAF99B}" sibTransId="{70DE8373-AFDF-4E60-A979-3539503893FF}"/>
    <dgm:cxn modelId="{17076266-BE5C-48FB-94F8-345AB36C7484}" srcId="{7C4B9C32-E424-42FA-8337-695162D5D61A}" destId="{6535C7F3-ACB2-490C-AB5A-9B2B853931E5}" srcOrd="0" destOrd="0" parTransId="{A63D9A26-F50E-47DC-9781-761B58F4E925}" sibTransId="{B019A5B7-B289-4E0B-B27E-4159754ABFFB}"/>
    <dgm:cxn modelId="{5364A568-1D3D-452E-BE1A-F6A4D5B7C3F9}" type="presOf" srcId="{CF60BF4E-9A9E-4E4D-A55C-3082E605BA39}" destId="{7F7E5D0A-DFD6-4260-A0D3-982F40C1CF2F}" srcOrd="0" destOrd="0" presId="urn:microsoft.com/office/officeart/2005/8/layout/chevron2"/>
    <dgm:cxn modelId="{44EAFB94-B5F6-4381-8CAE-80E3A4181FD5}" type="presOf" srcId="{7C4B9C32-E424-42FA-8337-695162D5D61A}" destId="{1F039C24-089E-45F3-92C0-260398CA0D09}" srcOrd="0" destOrd="0" presId="urn:microsoft.com/office/officeart/2005/8/layout/chevron2"/>
    <dgm:cxn modelId="{0CBA4CB9-DF80-4412-A99A-6F6E4A42CC9B}" type="presOf" srcId="{DF9A2B0A-222B-4565-B31B-6398CA89469E}" destId="{A8AEE6E4-6A91-40A7-AAF7-9F783D6D03C0}" srcOrd="0" destOrd="0" presId="urn:microsoft.com/office/officeart/2005/8/layout/chevron2"/>
    <dgm:cxn modelId="{31C6E8BC-6724-43F4-BDC4-D2FC9960F167}" type="presOf" srcId="{F62FC495-DA61-4213-AD4B-FF13D3CE5161}" destId="{2A0305F2-0CF6-4154-89B4-2FAD27DA6C06}" srcOrd="0" destOrd="0" presId="urn:microsoft.com/office/officeart/2005/8/layout/chevron2"/>
    <dgm:cxn modelId="{3EE131BD-8687-490F-9F97-6B02D76BA255}" type="presOf" srcId="{31E726B3-D908-48EF-A113-74B41AB7A994}" destId="{E24D2508-0843-4F6F-8E50-281D29392400}" srcOrd="0" destOrd="0" presId="urn:microsoft.com/office/officeart/2005/8/layout/chevron2"/>
    <dgm:cxn modelId="{B3B289C2-F059-4795-B6F8-BF1EBFFFAC4E}" type="presOf" srcId="{C95A335A-6154-4271-9374-9682937A1FF3}" destId="{5FD37A4F-EBBD-4D57-A8DD-391271D268F7}" srcOrd="0" destOrd="0" presId="urn:microsoft.com/office/officeart/2005/8/layout/chevron2"/>
    <dgm:cxn modelId="{5BC2E8CA-44B6-4C25-8231-1BDB4574069D}" type="presOf" srcId="{2F5E4E5A-A71A-44E5-927D-A5076B9629F1}" destId="{5D2363E7-72D6-4AE8-955B-5702EE2974A7}" srcOrd="0" destOrd="0" presId="urn:microsoft.com/office/officeart/2005/8/layout/chevron2"/>
    <dgm:cxn modelId="{8B53A4D1-AC2F-4588-BD2B-48F7E0D3878B}" srcId="{07B69FEB-B4B7-4759-9BB2-632A3861959D}" destId="{D8F79CAF-C221-4EB7-BB4E-12B1D387E6CB}" srcOrd="4" destOrd="0" parTransId="{60EF2B27-42E3-4AED-A280-3F4B5DBCA9D9}" sibTransId="{4E08C8DF-8D5D-4489-A412-9427A5901EC9}"/>
    <dgm:cxn modelId="{4687E9D8-35EB-4605-BC34-509C1ABEC2C1}" type="presOf" srcId="{D48FFB96-61A0-4B40-90D7-17DD134A9869}" destId="{DE77D09F-212E-4843-90DC-D691FED68580}" srcOrd="0" destOrd="0" presId="urn:microsoft.com/office/officeart/2005/8/layout/chevron2"/>
    <dgm:cxn modelId="{AA23F4DC-80B3-452C-80BE-2D1A889350EC}" srcId="{07B69FEB-B4B7-4759-9BB2-632A3861959D}" destId="{CF60BF4E-9A9E-4E4D-A55C-3082E605BA39}" srcOrd="1" destOrd="0" parTransId="{64C0B470-406D-4AC8-9F43-405BC3BA22A5}" sibTransId="{AA42448C-1ED4-4A92-B8D9-AE4171521395}"/>
    <dgm:cxn modelId="{559419E2-4036-452B-A805-F6D71387BDA0}" srcId="{07B69FEB-B4B7-4759-9BB2-632A3861959D}" destId="{84E5D1AF-49E3-451F-940A-557F0F71203E}" srcOrd="2" destOrd="0" parTransId="{38A33A30-2581-47D8-9F64-511E12BD10D7}" sibTransId="{21730723-1563-48B7-984C-EF97D544F0FE}"/>
    <dgm:cxn modelId="{2ADFC4EC-1DF9-4F53-8A1C-B4A12E46A034}" srcId="{CF60BF4E-9A9E-4E4D-A55C-3082E605BA39}" destId="{7C4B9C32-E424-42FA-8337-695162D5D61A}" srcOrd="0" destOrd="0" parTransId="{BF32ADEE-E0CF-4A49-AC61-01282CBCC54B}" sibTransId="{5491B440-D8C0-43E5-A824-29D28188D03E}"/>
    <dgm:cxn modelId="{A31F74F3-6924-4533-815F-DA11D0D9A09F}" type="presOf" srcId="{84E5D1AF-49E3-451F-940A-557F0F71203E}" destId="{826DFFC3-AA30-4C19-916E-D0F23929DF20}" srcOrd="0" destOrd="0" presId="urn:microsoft.com/office/officeart/2005/8/layout/chevron2"/>
    <dgm:cxn modelId="{6B5399FC-6724-4619-8249-0E66D452EBC9}" srcId="{C95A335A-6154-4271-9374-9682937A1FF3}" destId="{D48FFB96-61A0-4B40-90D7-17DD134A9869}" srcOrd="0" destOrd="0" parTransId="{96E05592-6327-4728-90AA-AF02D8D57134}" sibTransId="{1DFB175D-A46F-41B8-A0D1-6616C335C7EB}"/>
    <dgm:cxn modelId="{D9A3F0FC-AE02-4085-B16F-1D86CCCB2420}" type="presOf" srcId="{D8F79CAF-C221-4EB7-BB4E-12B1D387E6CB}" destId="{E98A0E73-526A-4976-B79E-2E8B3CEDDB93}" srcOrd="0" destOrd="0" presId="urn:microsoft.com/office/officeart/2005/8/layout/chevron2"/>
    <dgm:cxn modelId="{006607FC-0C62-4133-AA57-2E5F197D51B9}" type="presParOf" srcId="{21B3F93C-0824-40E8-8AEA-46C98BD5DA49}" destId="{3FEED265-3774-44A8-91BA-8112C34DF167}" srcOrd="0" destOrd="0" presId="urn:microsoft.com/office/officeart/2005/8/layout/chevron2"/>
    <dgm:cxn modelId="{A2958E12-C760-4B45-8A4F-656A2C2120F9}" type="presParOf" srcId="{3FEED265-3774-44A8-91BA-8112C34DF167}" destId="{E24D2508-0843-4F6F-8E50-281D29392400}" srcOrd="0" destOrd="0" presId="urn:microsoft.com/office/officeart/2005/8/layout/chevron2"/>
    <dgm:cxn modelId="{6745C8F0-B513-4A7E-A75A-D350055379A1}" type="presParOf" srcId="{3FEED265-3774-44A8-91BA-8112C34DF167}" destId="{2A0305F2-0CF6-4154-89B4-2FAD27DA6C06}" srcOrd="1" destOrd="0" presId="urn:microsoft.com/office/officeart/2005/8/layout/chevron2"/>
    <dgm:cxn modelId="{4E523806-B40C-4035-ACD9-09DB781E65AC}" type="presParOf" srcId="{21B3F93C-0824-40E8-8AEA-46C98BD5DA49}" destId="{AF0968AB-28BE-4CF9-B683-0A6B123D8567}" srcOrd="1" destOrd="0" presId="urn:microsoft.com/office/officeart/2005/8/layout/chevron2"/>
    <dgm:cxn modelId="{D76EE2B0-F32C-466D-B995-33820C9F69B6}" type="presParOf" srcId="{21B3F93C-0824-40E8-8AEA-46C98BD5DA49}" destId="{1D6C3919-B277-4AEA-8873-E2AA68E88F9C}" srcOrd="2" destOrd="0" presId="urn:microsoft.com/office/officeart/2005/8/layout/chevron2"/>
    <dgm:cxn modelId="{C8AD81B3-FE8A-43C4-95F6-1C44C23244EE}" type="presParOf" srcId="{1D6C3919-B277-4AEA-8873-E2AA68E88F9C}" destId="{7F7E5D0A-DFD6-4260-A0D3-982F40C1CF2F}" srcOrd="0" destOrd="0" presId="urn:microsoft.com/office/officeart/2005/8/layout/chevron2"/>
    <dgm:cxn modelId="{6D5443E4-1452-49A3-ADE5-9082D0876C70}" type="presParOf" srcId="{1D6C3919-B277-4AEA-8873-E2AA68E88F9C}" destId="{1F039C24-089E-45F3-92C0-260398CA0D09}" srcOrd="1" destOrd="0" presId="urn:microsoft.com/office/officeart/2005/8/layout/chevron2"/>
    <dgm:cxn modelId="{6F33BDC8-8F88-4B64-80BA-06654C550B86}" type="presParOf" srcId="{21B3F93C-0824-40E8-8AEA-46C98BD5DA49}" destId="{60877175-ABF2-45A0-8D23-994D8EC4BB87}" srcOrd="3" destOrd="0" presId="urn:microsoft.com/office/officeart/2005/8/layout/chevron2"/>
    <dgm:cxn modelId="{7B9FF363-9D81-43C4-AB5A-C3D06DAB2C50}" type="presParOf" srcId="{21B3F93C-0824-40E8-8AEA-46C98BD5DA49}" destId="{0679D44F-A416-4B7D-B615-FA90E3573F94}" srcOrd="4" destOrd="0" presId="urn:microsoft.com/office/officeart/2005/8/layout/chevron2"/>
    <dgm:cxn modelId="{F9661C4B-0617-4B60-9D13-9294243BE2CF}" type="presParOf" srcId="{0679D44F-A416-4B7D-B615-FA90E3573F94}" destId="{826DFFC3-AA30-4C19-916E-D0F23929DF20}" srcOrd="0" destOrd="0" presId="urn:microsoft.com/office/officeart/2005/8/layout/chevron2"/>
    <dgm:cxn modelId="{92516458-4789-4A21-A04A-A83BBD10152F}" type="presParOf" srcId="{0679D44F-A416-4B7D-B615-FA90E3573F94}" destId="{A8AEE6E4-6A91-40A7-AAF7-9F783D6D03C0}" srcOrd="1" destOrd="0" presId="urn:microsoft.com/office/officeart/2005/8/layout/chevron2"/>
    <dgm:cxn modelId="{7B5E104A-B28D-487C-A7D7-EF0003E8CB9F}" type="presParOf" srcId="{21B3F93C-0824-40E8-8AEA-46C98BD5DA49}" destId="{B452279C-BD70-474F-AA40-5D34C241C583}" srcOrd="5" destOrd="0" presId="urn:microsoft.com/office/officeart/2005/8/layout/chevron2"/>
    <dgm:cxn modelId="{B3E47542-C72C-4F9F-94E8-75BDE43A4CA1}" type="presParOf" srcId="{21B3F93C-0824-40E8-8AEA-46C98BD5DA49}" destId="{381FDDDA-DF74-400A-9D13-1EA812CC49FF}" srcOrd="6" destOrd="0" presId="urn:microsoft.com/office/officeart/2005/8/layout/chevron2"/>
    <dgm:cxn modelId="{53B0B710-E625-423E-9641-A95A9FE0D8DE}" type="presParOf" srcId="{381FDDDA-DF74-400A-9D13-1EA812CC49FF}" destId="{5FD37A4F-EBBD-4D57-A8DD-391271D268F7}" srcOrd="0" destOrd="0" presId="urn:microsoft.com/office/officeart/2005/8/layout/chevron2"/>
    <dgm:cxn modelId="{F06D0EE5-B4E7-4AB9-9A20-F12508F51516}" type="presParOf" srcId="{381FDDDA-DF74-400A-9D13-1EA812CC49FF}" destId="{DE77D09F-212E-4843-90DC-D691FED68580}" srcOrd="1" destOrd="0" presId="urn:microsoft.com/office/officeart/2005/8/layout/chevron2"/>
    <dgm:cxn modelId="{5E685E5D-20F9-4A4E-8316-BCC17E056E15}" type="presParOf" srcId="{21B3F93C-0824-40E8-8AEA-46C98BD5DA49}" destId="{BD99BA09-C43D-45E2-968A-37513BE7EA94}" srcOrd="7" destOrd="0" presId="urn:microsoft.com/office/officeart/2005/8/layout/chevron2"/>
    <dgm:cxn modelId="{C5F6676E-AEA0-454B-A6A5-9708A882B847}" type="presParOf" srcId="{21B3F93C-0824-40E8-8AEA-46C98BD5DA49}" destId="{072B4079-C0B3-4502-B84B-1A82D04CD26D}" srcOrd="8" destOrd="0" presId="urn:microsoft.com/office/officeart/2005/8/layout/chevron2"/>
    <dgm:cxn modelId="{5CC579E7-1812-491B-A9F6-C98E70389EAC}" type="presParOf" srcId="{072B4079-C0B3-4502-B84B-1A82D04CD26D}" destId="{E98A0E73-526A-4976-B79E-2E8B3CEDDB93}" srcOrd="0" destOrd="0" presId="urn:microsoft.com/office/officeart/2005/8/layout/chevron2"/>
    <dgm:cxn modelId="{53698F48-9BB9-4995-9C1C-754A380391D0}" type="presParOf" srcId="{072B4079-C0B3-4502-B84B-1A82D04CD26D}" destId="{5D2363E7-72D6-4AE8-955B-5702EE2974A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4D2508-0843-4F6F-8E50-281D29392400}">
      <dsp:nvSpPr>
        <dsp:cNvPr id="0" name=""/>
        <dsp:cNvSpPr/>
      </dsp:nvSpPr>
      <dsp:spPr>
        <a:xfrm rot="5400000">
          <a:off x="-176135" y="178176"/>
          <a:ext cx="1174235" cy="821964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/>
            <a:t>1</a:t>
          </a:r>
          <a:endParaRPr lang="en-SG" sz="2400" kern="1200" dirty="0"/>
        </a:p>
      </dsp:txBody>
      <dsp:txXfrm rot="-5400000">
        <a:off x="1" y="413022"/>
        <a:ext cx="821964" cy="352271"/>
      </dsp:txXfrm>
    </dsp:sp>
    <dsp:sp modelId="{2A0305F2-0CF6-4154-89B4-2FAD27DA6C06}">
      <dsp:nvSpPr>
        <dsp:cNvPr id="0" name=""/>
        <dsp:cNvSpPr/>
      </dsp:nvSpPr>
      <dsp:spPr>
        <a:xfrm rot="5400000">
          <a:off x="3953655" y="-3129650"/>
          <a:ext cx="763252" cy="70266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/>
            <a:t>Scheduler is triggered ( </a:t>
          </a:r>
          <a:r>
            <a:rPr lang="en-US" altLang="en-US" sz="2400" b="1" kern="1200" dirty="0">
              <a:solidFill>
                <a:srgbClr val="C00000"/>
              </a:solidFill>
            </a:rPr>
            <a:t>OS takes over </a:t>
          </a:r>
          <a:r>
            <a:rPr lang="en-US" altLang="en-US" sz="2400" kern="1200" dirty="0">
              <a:sym typeface="Wingdings" panose="05000000000000000000" pitchFamily="2" charset="2"/>
            </a:rPr>
            <a:t>)</a:t>
          </a:r>
          <a:endParaRPr lang="en-SG" sz="2400" kern="1200" dirty="0"/>
        </a:p>
      </dsp:txBody>
      <dsp:txXfrm rot="-5400000">
        <a:off x="821964" y="39300"/>
        <a:ext cx="6989376" cy="688734"/>
      </dsp:txXfrm>
    </dsp:sp>
    <dsp:sp modelId="{7F7E5D0A-DFD6-4260-A0D3-982F40C1CF2F}">
      <dsp:nvSpPr>
        <dsp:cNvPr id="0" name=""/>
        <dsp:cNvSpPr/>
      </dsp:nvSpPr>
      <dsp:spPr>
        <a:xfrm rot="5400000">
          <a:off x="-176135" y="1236146"/>
          <a:ext cx="1174235" cy="821964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sym typeface="Wingdings" pitchFamily="2" charset="2"/>
            </a:rPr>
            <a:t>2</a:t>
          </a:r>
        </a:p>
      </dsp:txBody>
      <dsp:txXfrm rot="-5400000">
        <a:off x="1" y="1470992"/>
        <a:ext cx="821964" cy="352271"/>
      </dsp:txXfrm>
    </dsp:sp>
    <dsp:sp modelId="{1F039C24-089E-45F3-92C0-260398CA0D09}">
      <dsp:nvSpPr>
        <dsp:cNvPr id="0" name=""/>
        <dsp:cNvSpPr/>
      </dsp:nvSpPr>
      <dsp:spPr>
        <a:xfrm rot="5400000">
          <a:off x="3953655" y="-2071679"/>
          <a:ext cx="763252" cy="70266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b="1" kern="1200" dirty="0">
              <a:sym typeface="Wingdings" pitchFamily="2" charset="2"/>
            </a:rPr>
            <a:t>If Context switch is needed: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 dirty="0">
              <a:sym typeface="Wingdings" pitchFamily="2" charset="2"/>
            </a:rPr>
            <a:t>Context of current running process is saved and placed on blocked queue / ready queue</a:t>
          </a:r>
        </a:p>
      </dsp:txBody>
      <dsp:txXfrm rot="-5400000">
        <a:off x="821964" y="1097271"/>
        <a:ext cx="6989376" cy="688734"/>
      </dsp:txXfrm>
    </dsp:sp>
    <dsp:sp modelId="{826DFFC3-AA30-4C19-916E-D0F23929DF20}">
      <dsp:nvSpPr>
        <dsp:cNvPr id="0" name=""/>
        <dsp:cNvSpPr/>
      </dsp:nvSpPr>
      <dsp:spPr>
        <a:xfrm rot="5400000">
          <a:off x="-176135" y="2294117"/>
          <a:ext cx="1174235" cy="821964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sym typeface="Wingdings" pitchFamily="2" charset="2"/>
            </a:rPr>
            <a:t>3</a:t>
          </a:r>
        </a:p>
      </dsp:txBody>
      <dsp:txXfrm rot="-5400000">
        <a:off x="1" y="2528963"/>
        <a:ext cx="821964" cy="352271"/>
      </dsp:txXfrm>
    </dsp:sp>
    <dsp:sp modelId="{A8AEE6E4-6A91-40A7-AAF7-9F783D6D03C0}">
      <dsp:nvSpPr>
        <dsp:cNvPr id="0" name=""/>
        <dsp:cNvSpPr/>
      </dsp:nvSpPr>
      <dsp:spPr>
        <a:xfrm rot="5400000">
          <a:off x="3953655" y="-1013708"/>
          <a:ext cx="763252" cy="70266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 dirty="0">
              <a:sym typeface="Wingdings" pitchFamily="2" charset="2"/>
            </a:rPr>
            <a:t>Pick a suitable process </a:t>
          </a:r>
          <a:r>
            <a:rPr lang="en-US" altLang="en-US" sz="2000" b="1" kern="1200" dirty="0">
              <a:solidFill>
                <a:srgbClr val="660066"/>
              </a:solidFill>
              <a:sym typeface="Wingdings" pitchFamily="2" charset="2"/>
            </a:rPr>
            <a:t>P</a:t>
          </a:r>
          <a:r>
            <a:rPr lang="en-US" altLang="en-US" sz="2000" kern="1200" dirty="0">
              <a:sym typeface="Wingdings" pitchFamily="2" charset="2"/>
            </a:rPr>
            <a:t> to run base on scheduling algorithm</a:t>
          </a:r>
        </a:p>
      </dsp:txBody>
      <dsp:txXfrm rot="-5400000">
        <a:off x="821964" y="2155242"/>
        <a:ext cx="6989376" cy="688734"/>
      </dsp:txXfrm>
    </dsp:sp>
    <dsp:sp modelId="{5FD37A4F-EBBD-4D57-A8DD-391271D268F7}">
      <dsp:nvSpPr>
        <dsp:cNvPr id="0" name=""/>
        <dsp:cNvSpPr/>
      </dsp:nvSpPr>
      <dsp:spPr>
        <a:xfrm rot="5400000">
          <a:off x="-176135" y="3352088"/>
          <a:ext cx="1174235" cy="821964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sym typeface="Wingdings" pitchFamily="2" charset="2"/>
            </a:rPr>
            <a:t>4</a:t>
          </a:r>
          <a:endParaRPr lang="en-US" altLang="en-US" sz="2400" b="1" kern="1200" dirty="0">
            <a:sym typeface="Wingdings" pitchFamily="2" charset="2"/>
          </a:endParaRPr>
        </a:p>
      </dsp:txBody>
      <dsp:txXfrm rot="-5400000">
        <a:off x="1" y="3586934"/>
        <a:ext cx="821964" cy="352271"/>
      </dsp:txXfrm>
    </dsp:sp>
    <dsp:sp modelId="{DE77D09F-212E-4843-90DC-D691FED68580}">
      <dsp:nvSpPr>
        <dsp:cNvPr id="0" name=""/>
        <dsp:cNvSpPr/>
      </dsp:nvSpPr>
      <dsp:spPr>
        <a:xfrm rot="5400000">
          <a:off x="3953655" y="44261"/>
          <a:ext cx="763252" cy="70266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>
              <a:sym typeface="Wingdings" pitchFamily="2" charset="2"/>
            </a:rPr>
            <a:t>Setup the context for </a:t>
          </a:r>
          <a:r>
            <a:rPr lang="en-US" altLang="en-US" sz="2400" b="1" kern="1200" dirty="0">
              <a:solidFill>
                <a:srgbClr val="660066"/>
              </a:solidFill>
              <a:sym typeface="Wingdings" pitchFamily="2" charset="2"/>
            </a:rPr>
            <a:t>P</a:t>
          </a:r>
        </a:p>
      </dsp:txBody>
      <dsp:txXfrm rot="-5400000">
        <a:off x="821964" y="3213212"/>
        <a:ext cx="6989376" cy="688734"/>
      </dsp:txXfrm>
    </dsp:sp>
    <dsp:sp modelId="{E98A0E73-526A-4976-B79E-2E8B3CEDDB93}">
      <dsp:nvSpPr>
        <dsp:cNvPr id="0" name=""/>
        <dsp:cNvSpPr/>
      </dsp:nvSpPr>
      <dsp:spPr>
        <a:xfrm rot="5400000">
          <a:off x="-176135" y="4410059"/>
          <a:ext cx="1174235" cy="821964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sym typeface="Wingdings" pitchFamily="2" charset="2"/>
            </a:rPr>
            <a:t>5</a:t>
          </a:r>
        </a:p>
      </dsp:txBody>
      <dsp:txXfrm rot="-5400000">
        <a:off x="1" y="4644905"/>
        <a:ext cx="821964" cy="352271"/>
      </dsp:txXfrm>
    </dsp:sp>
    <dsp:sp modelId="{5D2363E7-72D6-4AE8-955B-5702EE2974A7}">
      <dsp:nvSpPr>
        <dsp:cNvPr id="0" name=""/>
        <dsp:cNvSpPr/>
      </dsp:nvSpPr>
      <dsp:spPr>
        <a:xfrm rot="5400000">
          <a:off x="3953655" y="1102232"/>
          <a:ext cx="763252" cy="70266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>
              <a:sym typeface="Wingdings" pitchFamily="2" charset="2"/>
            </a:rPr>
            <a:t>Let process </a:t>
          </a:r>
          <a:r>
            <a:rPr lang="en-US" altLang="en-US" sz="2400" b="1" kern="1200" dirty="0">
              <a:solidFill>
                <a:srgbClr val="660066"/>
              </a:solidFill>
              <a:sym typeface="Wingdings" pitchFamily="2" charset="2"/>
            </a:rPr>
            <a:t>P</a:t>
          </a:r>
          <a:r>
            <a:rPr lang="en-US" altLang="en-US" sz="2400" b="1" kern="1200" dirty="0">
              <a:sym typeface="Wingdings" pitchFamily="2" charset="2"/>
            </a:rPr>
            <a:t> </a:t>
          </a:r>
          <a:r>
            <a:rPr lang="en-US" altLang="en-US" sz="2400" kern="1200" dirty="0">
              <a:sym typeface="Wingdings" pitchFamily="2" charset="2"/>
            </a:rPr>
            <a:t>run</a:t>
          </a:r>
        </a:p>
      </dsp:txBody>
      <dsp:txXfrm rot="-5400000">
        <a:off x="821964" y="4271183"/>
        <a:ext cx="6989376" cy="688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653310C5-C0B5-4DD0-8621-9B3809770F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88426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8C8366-7DD3-4E41-91D6-6049CA23624A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1917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57924D-1DDC-45FB-B25B-64F16B3678BF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r>
              <a:rPr lang="en-US" altLang="en-US" dirty="0"/>
              <a:t>Mention</a:t>
            </a:r>
            <a:r>
              <a:rPr lang="en-US" altLang="en-US" baseline="0" dirty="0"/>
              <a:t> OS here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79891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57924D-1DDC-45FB-B25B-64F16B3678BF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r>
              <a:rPr lang="en-US" altLang="en-US"/>
              <a:t>Tux pic</a:t>
            </a:r>
          </a:p>
        </p:txBody>
      </p:sp>
    </p:spTree>
    <p:extLst>
      <p:ext uri="{BB962C8B-B14F-4D97-AF65-F5344CB8AC3E}">
        <p14:creationId xmlns:p14="http://schemas.microsoft.com/office/powerpoint/2010/main" val="1411620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512B65-3ACC-45E2-A499-2DBFAE8E8E7B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981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F217B9-6819-4DAA-96CD-5EF395CE11D3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5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1731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3310C5-C0B5-4DD0-8621-9B3809770FE2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975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1C46D8-9939-4158-8D26-6FD5949EE4CE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499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56929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1FA91B-8DE3-454D-91FB-EAD3E35BC277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16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516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4473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6D6048-C397-4BF8-B785-A3357CA76D7B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596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804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6767FC-CD35-4D52-9C8C-BA50E0E86DFB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18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518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0629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6C146-5381-3F83-4CC1-4BAB18D6E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27E7427-DB6D-EDB9-1623-BE695DFE8B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1C46D8-9939-4158-8D26-6FD5949EE4CE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499714" name="Rectangle 2">
            <a:extLst>
              <a:ext uri="{FF2B5EF4-FFF2-40B4-BE49-F238E27FC236}">
                <a16:creationId xmlns:a16="http://schemas.microsoft.com/office/drawing/2014/main" id="{68C5FF54-A7CB-F4E8-ED09-BED7F7587A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499715" name="Rectangle 3">
            <a:extLst>
              <a:ext uri="{FF2B5EF4-FFF2-40B4-BE49-F238E27FC236}">
                <a16:creationId xmlns:a16="http://schemas.microsoft.com/office/drawing/2014/main" id="{E79AD068-4E31-E218-ECA0-B42D1573F3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3542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F6FC8-63ED-02C8-7E35-4A8C18F8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DAB80E6-F766-6C9A-94BC-7FC021C4EE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6D6048-C397-4BF8-B785-A3357CA76D7B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596994" name="Rectangle 2">
            <a:extLst>
              <a:ext uri="{FF2B5EF4-FFF2-40B4-BE49-F238E27FC236}">
                <a16:creationId xmlns:a16="http://schemas.microsoft.com/office/drawing/2014/main" id="{2D25DDF2-CD4A-EDEE-ED91-CE0CB5B613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596995" name="Rectangle 3">
            <a:extLst>
              <a:ext uri="{FF2B5EF4-FFF2-40B4-BE49-F238E27FC236}">
                <a16:creationId xmlns:a16="http://schemas.microsoft.com/office/drawing/2014/main" id="{025324EE-6490-EEFF-278E-83B47FD1D4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30846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DD243-4FA0-CB11-605A-966CA424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BC5A317-0855-7280-AE35-817276E7E1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6D6048-C397-4BF8-B785-A3357CA76D7B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596994" name="Rectangle 2">
            <a:extLst>
              <a:ext uri="{FF2B5EF4-FFF2-40B4-BE49-F238E27FC236}">
                <a16:creationId xmlns:a16="http://schemas.microsoft.com/office/drawing/2014/main" id="{22BAB273-ABF5-950B-684C-2FEE4664EC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596995" name="Rectangle 3">
            <a:extLst>
              <a:ext uri="{FF2B5EF4-FFF2-40B4-BE49-F238E27FC236}">
                <a16:creationId xmlns:a16="http://schemas.microsoft.com/office/drawing/2014/main" id="{55D95973-3F44-3A14-6AC1-B881410379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5948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683CB8A-1DC7-449C-A2BB-F0554F24670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5794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C9F8A55-3AFC-4F89-BFA5-45FA70D316E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525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8C448C4-E32E-4548-B847-14433980800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882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350820-700D-4C13-B832-F47A9F9F42A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9883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E6E335-6E7B-4FE3-8519-5FE2480CC4C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938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1C72B69-236A-4F84-B11B-1A76BFFE262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325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D49CB95-779F-412D-ABBB-E5CFB1157F8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1851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7B5592-CD24-460D-BBBE-FAFF0275FCA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4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226C1FB-B143-477A-AB53-29F6DAA3F36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161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66CFF45-D9B5-4E12-A089-E37859A1A21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11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E35BD546-DDC3-4CF7-958F-6006AAFF96D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17526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58C10-D311-8613-4C06-A60B01469AA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8874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## NUS Restricted ##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://pages.cs.wisc.edu/~remzi/OSTE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prstClr val="black"/>
                </a:solidFill>
              </a:rPr>
              <a:t>Process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Process Scheduling</a:t>
            </a:r>
            <a:endParaRPr lang="en-US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3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889CD-B98F-4200-AA63-1BC51350A550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/>
              <a:t>Concurrent Execution</a:t>
            </a:r>
          </a:p>
          <a:p>
            <a:r>
              <a:rPr lang="en-US" altLang="en-US" b="1" dirty="0"/>
              <a:t>Process Scheduling</a:t>
            </a:r>
          </a:p>
          <a:p>
            <a:pPr lvl="1"/>
            <a:r>
              <a:rPr lang="en-US" altLang="en-US" dirty="0"/>
              <a:t>Definition</a:t>
            </a:r>
          </a:p>
          <a:p>
            <a:pPr lvl="1"/>
            <a:r>
              <a:rPr lang="en-US" altLang="en-US" dirty="0"/>
              <a:t>Process behavior</a:t>
            </a:r>
          </a:p>
          <a:p>
            <a:pPr lvl="1"/>
            <a:r>
              <a:rPr lang="en-US" altLang="en-US" dirty="0"/>
              <a:t>Processing environment</a:t>
            </a:r>
          </a:p>
          <a:p>
            <a:pPr lvl="1"/>
            <a:r>
              <a:rPr lang="en-US" altLang="en-US" dirty="0"/>
              <a:t>Criteria for good scheduling</a:t>
            </a:r>
          </a:p>
          <a:p>
            <a:pPr lvl="1"/>
            <a:r>
              <a:rPr lang="en-US" altLang="en-US" dirty="0"/>
              <a:t>Procedure of process scheduling </a:t>
            </a:r>
          </a:p>
          <a:p>
            <a:r>
              <a:rPr lang="en-US" altLang="en-US" b="1" dirty="0"/>
              <a:t>Scheduling Algorithms</a:t>
            </a:r>
          </a:p>
          <a:p>
            <a:pPr lvl="1"/>
            <a:r>
              <a:rPr lang="en-US" altLang="en-US" dirty="0"/>
              <a:t>For interactive System</a:t>
            </a:r>
          </a:p>
          <a:p>
            <a:pPr lvl="1"/>
            <a:r>
              <a:rPr lang="en-US" altLang="en-US" dirty="0"/>
              <a:t>For real-time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Concurrent Execution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Concurrent processes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Logical concept to cover multitasked processes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Could be </a:t>
            </a:r>
            <a:r>
              <a:rPr lang="en-US" altLang="en-US" b="1" dirty="0">
                <a:solidFill>
                  <a:srgbClr val="C00000"/>
                </a:solidFill>
              </a:rPr>
              <a:t>virtual parallelism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Could be </a:t>
            </a:r>
            <a:r>
              <a:rPr lang="en-US" altLang="en-US" b="1" dirty="0">
                <a:solidFill>
                  <a:srgbClr val="006600"/>
                </a:solidFill>
              </a:rPr>
              <a:t>physical parallelism</a:t>
            </a:r>
          </a:p>
          <a:p>
            <a:endParaRPr lang="en-US" altLang="en-US" dirty="0"/>
          </a:p>
          <a:p>
            <a:r>
              <a:rPr lang="en-US" altLang="en-US" dirty="0"/>
              <a:t>You can assume the two forms of parallelisms are not distinguished in the following discussion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482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3368675" y="3999138"/>
            <a:ext cx="780208" cy="4175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" name="Rectangle 38"/>
          <p:cNvSpPr/>
          <p:nvPr/>
        </p:nvSpPr>
        <p:spPr>
          <a:xfrm>
            <a:off x="1876517" y="4003517"/>
            <a:ext cx="1150891" cy="4175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" name="Rectangle 37"/>
          <p:cNvSpPr/>
          <p:nvPr/>
        </p:nvSpPr>
        <p:spPr>
          <a:xfrm>
            <a:off x="4148883" y="2917998"/>
            <a:ext cx="1196322" cy="387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Rectangle 35"/>
          <p:cNvSpPr/>
          <p:nvPr/>
        </p:nvSpPr>
        <p:spPr>
          <a:xfrm>
            <a:off x="3040063" y="2897961"/>
            <a:ext cx="328612" cy="387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" name="Rectangle 34"/>
          <p:cNvSpPr/>
          <p:nvPr/>
        </p:nvSpPr>
        <p:spPr>
          <a:xfrm>
            <a:off x="1024391" y="2892135"/>
            <a:ext cx="804410" cy="387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Concurrency Example (Simplistic)</a:t>
            </a:r>
          </a:p>
        </p:txBody>
      </p:sp>
      <p:sp>
        <p:nvSpPr>
          <p:cNvPr id="135171" name="Line 3"/>
          <p:cNvSpPr>
            <a:spLocks noChangeShapeType="1"/>
          </p:cNvSpPr>
          <p:nvPr/>
        </p:nvSpPr>
        <p:spPr bwMode="auto">
          <a:xfrm>
            <a:off x="1003300" y="2330292"/>
            <a:ext cx="0" cy="2787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2" name="Line 4"/>
          <p:cNvSpPr>
            <a:spLocks noChangeShapeType="1"/>
          </p:cNvSpPr>
          <p:nvPr/>
        </p:nvSpPr>
        <p:spPr bwMode="auto">
          <a:xfrm>
            <a:off x="1003300" y="5117942"/>
            <a:ext cx="492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3" name="Line 5"/>
          <p:cNvSpPr>
            <a:spLocks noChangeShapeType="1"/>
          </p:cNvSpPr>
          <p:nvPr/>
        </p:nvSpPr>
        <p:spPr bwMode="auto">
          <a:xfrm>
            <a:off x="1003300" y="3306604"/>
            <a:ext cx="44672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4" name="Line 6"/>
          <p:cNvSpPr>
            <a:spLocks noChangeShapeType="1"/>
          </p:cNvSpPr>
          <p:nvPr/>
        </p:nvSpPr>
        <p:spPr bwMode="auto">
          <a:xfrm>
            <a:off x="1003300" y="4421029"/>
            <a:ext cx="44672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7" name="Group 6"/>
          <p:cNvGrpSpPr/>
          <p:nvPr/>
        </p:nvGrpSpPr>
        <p:grpSpPr>
          <a:xfrm>
            <a:off x="381000" y="1752600"/>
            <a:ext cx="1060890" cy="609601"/>
            <a:chOff x="304744" y="1208502"/>
            <a:chExt cx="1060890" cy="609601"/>
          </a:xfrm>
        </p:grpSpPr>
        <p:pic>
          <p:nvPicPr>
            <p:cNvPr id="628738" name="Picture 2" descr="C:\Users\dcssooyj\AppData\Local\Microsoft\Windows\Temporary Internet Files\Content.IE5\4PFYX3WB\primary-002-text-document[1]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578" y="1208502"/>
              <a:ext cx="609601" cy="609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5176" name="Text Box 8"/>
            <p:cNvSpPr txBox="1">
              <a:spLocks noChangeArrowheads="1"/>
            </p:cNvSpPr>
            <p:nvPr/>
          </p:nvSpPr>
          <p:spPr bwMode="auto">
            <a:xfrm>
              <a:off x="304744" y="1322645"/>
              <a:ext cx="1060890" cy="35860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noFill/>
            </a:ln>
            <a:effectLst/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Process</a:t>
              </a:r>
            </a:p>
          </p:txBody>
        </p:sp>
      </p:grpSp>
      <p:sp>
        <p:nvSpPr>
          <p:cNvPr id="135177" name="Text Box 9"/>
          <p:cNvSpPr txBox="1">
            <a:spLocks noChangeArrowheads="1"/>
          </p:cNvSpPr>
          <p:nvPr/>
        </p:nvSpPr>
        <p:spPr bwMode="auto">
          <a:xfrm>
            <a:off x="682789" y="2854960"/>
            <a:ext cx="306387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/>
              <a:t>A</a:t>
            </a:r>
          </a:p>
        </p:txBody>
      </p:sp>
      <p:sp>
        <p:nvSpPr>
          <p:cNvPr id="135178" name="Text Box 10"/>
          <p:cNvSpPr txBox="1">
            <a:spLocks noChangeArrowheads="1"/>
          </p:cNvSpPr>
          <p:nvPr/>
        </p:nvSpPr>
        <p:spPr bwMode="auto">
          <a:xfrm rot="10717972" flipV="1">
            <a:off x="676275" y="4211479"/>
            <a:ext cx="3048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/>
              <a:t>B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676400" y="2330292"/>
            <a:ext cx="368393" cy="3221037"/>
            <a:chOff x="1676400" y="2330292"/>
            <a:chExt cx="368393" cy="3221037"/>
          </a:xfrm>
        </p:grpSpPr>
        <p:grpSp>
          <p:nvGrpSpPr>
            <p:cNvPr id="4" name="Group 3"/>
            <p:cNvGrpSpPr/>
            <p:nvPr/>
          </p:nvGrpSpPr>
          <p:grpSpPr>
            <a:xfrm>
              <a:off x="1792288" y="2330292"/>
              <a:ext cx="158750" cy="3221037"/>
              <a:chOff x="1944688" y="1687513"/>
              <a:chExt cx="158750" cy="3221037"/>
            </a:xfrm>
          </p:grpSpPr>
          <p:sp>
            <p:nvSpPr>
              <p:cNvPr id="135179" name="Line 11"/>
              <p:cNvSpPr>
                <a:spLocks noChangeShapeType="1"/>
              </p:cNvSpPr>
              <p:nvPr/>
            </p:nvSpPr>
            <p:spPr bwMode="auto">
              <a:xfrm>
                <a:off x="2009775" y="1687513"/>
                <a:ext cx="0" cy="27876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35183" name="Text Box 15"/>
              <p:cNvSpPr txBox="1">
                <a:spLocks noChangeArrowheads="1"/>
              </p:cNvSpPr>
              <p:nvPr/>
            </p:nvSpPr>
            <p:spPr bwMode="auto">
              <a:xfrm>
                <a:off x="1944688" y="4545013"/>
                <a:ext cx="158750" cy="3635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>
                <a:spAutoFit/>
              </a:bodyPr>
              <a:lstStyle>
                <a:lvl1pPr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404813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808038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212850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1616075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0732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5304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29876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4448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35184" name="Text Box 16"/>
            <p:cNvSpPr txBox="1">
              <a:spLocks noChangeArrowheads="1"/>
            </p:cNvSpPr>
            <p:nvPr/>
          </p:nvSpPr>
          <p:spPr bwMode="auto">
            <a:xfrm>
              <a:off x="1676400" y="5117942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t1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843213" y="2330292"/>
            <a:ext cx="368393" cy="3146252"/>
            <a:chOff x="2995613" y="1687513"/>
            <a:chExt cx="368393" cy="3146252"/>
          </a:xfrm>
        </p:grpSpPr>
        <p:sp>
          <p:nvSpPr>
            <p:cNvPr id="135180" name="Line 12"/>
            <p:cNvSpPr>
              <a:spLocks noChangeShapeType="1"/>
            </p:cNvSpPr>
            <p:nvPr/>
          </p:nvSpPr>
          <p:spPr bwMode="auto">
            <a:xfrm>
              <a:off x="3192463" y="1687513"/>
              <a:ext cx="0" cy="278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35185" name="Text Box 17"/>
            <p:cNvSpPr txBox="1">
              <a:spLocks noChangeArrowheads="1"/>
            </p:cNvSpPr>
            <p:nvPr/>
          </p:nvSpPr>
          <p:spPr bwMode="auto">
            <a:xfrm>
              <a:off x="2995613" y="4475163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t2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025900" y="2330292"/>
            <a:ext cx="368393" cy="3146252"/>
            <a:chOff x="4178300" y="1687513"/>
            <a:chExt cx="368393" cy="3146252"/>
          </a:xfrm>
        </p:grpSpPr>
        <p:sp>
          <p:nvSpPr>
            <p:cNvPr id="135181" name="Line 13"/>
            <p:cNvSpPr>
              <a:spLocks noChangeShapeType="1"/>
            </p:cNvSpPr>
            <p:nvPr/>
          </p:nvSpPr>
          <p:spPr bwMode="auto">
            <a:xfrm>
              <a:off x="4308475" y="1687513"/>
              <a:ext cx="0" cy="278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35186" name="Text Box 18"/>
            <p:cNvSpPr txBox="1">
              <a:spLocks noChangeArrowheads="1"/>
            </p:cNvSpPr>
            <p:nvPr/>
          </p:nvSpPr>
          <p:spPr bwMode="auto">
            <a:xfrm>
              <a:off x="4178300" y="4475163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t3</a:t>
              </a:r>
            </a:p>
          </p:txBody>
        </p:sp>
      </p:grpSp>
      <p:sp>
        <p:nvSpPr>
          <p:cNvPr id="135188" name="Text Box 20"/>
          <p:cNvSpPr txBox="1">
            <a:spLocks noChangeArrowheads="1"/>
          </p:cNvSpPr>
          <p:nvPr/>
        </p:nvSpPr>
        <p:spPr bwMode="auto">
          <a:xfrm>
            <a:off x="1024390" y="2917998"/>
            <a:ext cx="804410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 dirty="0">
                <a:solidFill>
                  <a:srgbClr val="C00000"/>
                </a:solidFill>
              </a:rPr>
              <a:t>a1  a2</a:t>
            </a:r>
          </a:p>
        </p:txBody>
      </p:sp>
      <p:sp>
        <p:nvSpPr>
          <p:cNvPr id="135189" name="Text Box 21"/>
          <p:cNvSpPr txBox="1">
            <a:spLocks noChangeArrowheads="1"/>
          </p:cNvSpPr>
          <p:nvPr/>
        </p:nvSpPr>
        <p:spPr bwMode="auto">
          <a:xfrm>
            <a:off x="1844675" y="4038600"/>
            <a:ext cx="1227602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 dirty="0">
                <a:solidFill>
                  <a:srgbClr val="006600"/>
                </a:solidFill>
              </a:rPr>
              <a:t>b1  b2  b3</a:t>
            </a:r>
          </a:p>
        </p:txBody>
      </p:sp>
      <p:sp>
        <p:nvSpPr>
          <p:cNvPr id="135190" name="Text Box 22"/>
          <p:cNvSpPr txBox="1">
            <a:spLocks noChangeArrowheads="1"/>
          </p:cNvSpPr>
          <p:nvPr/>
        </p:nvSpPr>
        <p:spPr bwMode="auto">
          <a:xfrm>
            <a:off x="3005984" y="2887504"/>
            <a:ext cx="419689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>
                <a:solidFill>
                  <a:srgbClr val="C00000"/>
                </a:solidFill>
              </a:rPr>
              <a:t>a3</a:t>
            </a:r>
          </a:p>
        </p:txBody>
      </p:sp>
      <p:sp>
        <p:nvSpPr>
          <p:cNvPr id="135191" name="Text Box 23"/>
          <p:cNvSpPr txBox="1">
            <a:spLocks noChangeArrowheads="1"/>
          </p:cNvSpPr>
          <p:nvPr/>
        </p:nvSpPr>
        <p:spPr bwMode="auto">
          <a:xfrm>
            <a:off x="3352800" y="4060998"/>
            <a:ext cx="830058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>
                <a:solidFill>
                  <a:srgbClr val="006600"/>
                </a:solidFill>
              </a:rPr>
              <a:t>b4  b5</a:t>
            </a:r>
          </a:p>
        </p:txBody>
      </p:sp>
      <p:sp>
        <p:nvSpPr>
          <p:cNvPr id="135192" name="Text Box 24"/>
          <p:cNvSpPr txBox="1">
            <a:spLocks noChangeArrowheads="1"/>
          </p:cNvSpPr>
          <p:nvPr/>
        </p:nvSpPr>
        <p:spPr bwMode="auto">
          <a:xfrm>
            <a:off x="4156075" y="2887504"/>
            <a:ext cx="1189130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>
                <a:solidFill>
                  <a:srgbClr val="C00000"/>
                </a:solidFill>
              </a:rPr>
              <a:t>a4  a5  a6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4</a:t>
            </a:fld>
            <a:endParaRPr lang="en-US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5982947" y="4735355"/>
            <a:ext cx="851451" cy="815974"/>
            <a:chOff x="6135348" y="4318794"/>
            <a:chExt cx="851451" cy="815974"/>
          </a:xfrm>
        </p:grpSpPr>
        <p:pic>
          <p:nvPicPr>
            <p:cNvPr id="628739" name="Picture 3" descr="C:\Users\dcssooyj\AppData\Local\Microsoft\Windows\Temporary Internet Files\Content.IE5\GM342E1K\Swatching the Clock[1]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35348" y="4318794"/>
              <a:ext cx="851451" cy="8159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5175" name="Text Box 7"/>
            <p:cNvSpPr txBox="1">
              <a:spLocks noChangeArrowheads="1"/>
            </p:cNvSpPr>
            <p:nvPr/>
          </p:nvSpPr>
          <p:spPr bwMode="auto">
            <a:xfrm>
              <a:off x="6212248" y="4547480"/>
              <a:ext cx="697650" cy="358602"/>
            </a:xfrm>
            <a:prstGeom prst="rect">
              <a:avLst/>
            </a:prstGeom>
            <a:solidFill>
              <a:srgbClr val="FFFFFF">
                <a:alpha val="94902"/>
              </a:srgbClr>
            </a:solidFill>
            <a:ln>
              <a:noFill/>
            </a:ln>
            <a:effectLst/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/>
                <a:t>Time</a:t>
              </a:r>
            </a:p>
          </p:txBody>
        </p:sp>
      </p:grpSp>
      <p:sp>
        <p:nvSpPr>
          <p:cNvPr id="135182" name="Text Box 14"/>
          <p:cNvSpPr txBox="1">
            <a:spLocks noChangeArrowheads="1"/>
          </p:cNvSpPr>
          <p:nvPr/>
        </p:nvSpPr>
        <p:spPr bwMode="auto">
          <a:xfrm>
            <a:off x="2800213" y="1162937"/>
            <a:ext cx="3259634" cy="758712"/>
          </a:xfrm>
          <a:prstGeom prst="rect">
            <a:avLst/>
          </a:prstGeom>
          <a:solidFill>
            <a:srgbClr val="F3EADE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4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Timeslicing</a:t>
            </a:r>
            <a:endParaRPr lang="en-US" altLang="en-US" sz="4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3615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39" grpId="0" animBg="1"/>
      <p:bldP spid="38" grpId="0" animBg="1"/>
      <p:bldP spid="36" grpId="0" animBg="1"/>
      <p:bldP spid="35" grpId="0" animBg="1"/>
      <p:bldP spid="135188" grpId="0"/>
      <p:bldP spid="135189" grpId="0"/>
      <p:bldP spid="135190" grpId="0"/>
      <p:bldP spid="135191" grpId="0"/>
      <p:bldP spid="135192" grpId="0"/>
      <p:bldP spid="13518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1024391" y="2892135"/>
            <a:ext cx="804410" cy="387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Interleaved Execution (context switch)</a:t>
            </a:r>
          </a:p>
        </p:txBody>
      </p:sp>
      <p:sp>
        <p:nvSpPr>
          <p:cNvPr id="135171" name="Line 3"/>
          <p:cNvSpPr>
            <a:spLocks noChangeShapeType="1"/>
          </p:cNvSpPr>
          <p:nvPr/>
        </p:nvSpPr>
        <p:spPr bwMode="auto">
          <a:xfrm flipH="1">
            <a:off x="989176" y="2330291"/>
            <a:ext cx="14124" cy="34847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2" name="Line 4"/>
          <p:cNvSpPr>
            <a:spLocks noChangeShapeType="1"/>
          </p:cNvSpPr>
          <p:nvPr/>
        </p:nvSpPr>
        <p:spPr bwMode="auto">
          <a:xfrm>
            <a:off x="1003300" y="5815013"/>
            <a:ext cx="6311900" cy="886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3" name="Line 5"/>
          <p:cNvSpPr>
            <a:spLocks noChangeShapeType="1"/>
          </p:cNvSpPr>
          <p:nvPr/>
        </p:nvSpPr>
        <p:spPr bwMode="auto">
          <a:xfrm flipV="1">
            <a:off x="1003300" y="3303329"/>
            <a:ext cx="6235700" cy="32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4" name="Line 6"/>
          <p:cNvSpPr>
            <a:spLocks noChangeShapeType="1"/>
          </p:cNvSpPr>
          <p:nvPr/>
        </p:nvSpPr>
        <p:spPr bwMode="auto">
          <a:xfrm flipV="1">
            <a:off x="1003300" y="4388811"/>
            <a:ext cx="6235700" cy="3221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7" name="Group 6"/>
          <p:cNvGrpSpPr/>
          <p:nvPr/>
        </p:nvGrpSpPr>
        <p:grpSpPr>
          <a:xfrm>
            <a:off x="381000" y="1752600"/>
            <a:ext cx="1060890" cy="609601"/>
            <a:chOff x="304744" y="1208502"/>
            <a:chExt cx="1060890" cy="609601"/>
          </a:xfrm>
        </p:grpSpPr>
        <p:pic>
          <p:nvPicPr>
            <p:cNvPr id="628738" name="Picture 2" descr="C:\Users\dcssooyj\AppData\Local\Microsoft\Windows\Temporary Internet Files\Content.IE5\4PFYX3WB\primary-002-text-document[1]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578" y="1208502"/>
              <a:ext cx="609601" cy="609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5176" name="Text Box 8"/>
            <p:cNvSpPr txBox="1">
              <a:spLocks noChangeArrowheads="1"/>
            </p:cNvSpPr>
            <p:nvPr/>
          </p:nvSpPr>
          <p:spPr bwMode="auto">
            <a:xfrm>
              <a:off x="304744" y="1322645"/>
              <a:ext cx="1060890" cy="35860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noFill/>
            </a:ln>
            <a:effectLst/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Process</a:t>
              </a:r>
            </a:p>
          </p:txBody>
        </p:sp>
      </p:grpSp>
      <p:sp>
        <p:nvSpPr>
          <p:cNvPr id="135177" name="Text Box 9"/>
          <p:cNvSpPr txBox="1">
            <a:spLocks noChangeArrowheads="1"/>
          </p:cNvSpPr>
          <p:nvPr/>
        </p:nvSpPr>
        <p:spPr bwMode="auto">
          <a:xfrm>
            <a:off x="682789" y="2854960"/>
            <a:ext cx="306387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/>
              <a:t>A</a:t>
            </a:r>
          </a:p>
        </p:txBody>
      </p:sp>
      <p:sp>
        <p:nvSpPr>
          <p:cNvPr id="135178" name="Text Box 10"/>
          <p:cNvSpPr txBox="1">
            <a:spLocks noChangeArrowheads="1"/>
          </p:cNvSpPr>
          <p:nvPr/>
        </p:nvSpPr>
        <p:spPr bwMode="auto">
          <a:xfrm rot="10717972" flipV="1">
            <a:off x="676275" y="4211479"/>
            <a:ext cx="3048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/>
              <a:t>B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676400" y="2330292"/>
            <a:ext cx="368393" cy="3994308"/>
            <a:chOff x="1676400" y="2330292"/>
            <a:chExt cx="368393" cy="3221037"/>
          </a:xfrm>
        </p:grpSpPr>
        <p:grpSp>
          <p:nvGrpSpPr>
            <p:cNvPr id="4" name="Group 3"/>
            <p:cNvGrpSpPr/>
            <p:nvPr/>
          </p:nvGrpSpPr>
          <p:grpSpPr>
            <a:xfrm>
              <a:off x="1792288" y="2330292"/>
              <a:ext cx="158750" cy="3221037"/>
              <a:chOff x="1944688" y="1687513"/>
              <a:chExt cx="158750" cy="3221037"/>
            </a:xfrm>
          </p:grpSpPr>
          <p:sp>
            <p:nvSpPr>
              <p:cNvPr id="135179" name="Line 11"/>
              <p:cNvSpPr>
                <a:spLocks noChangeShapeType="1"/>
              </p:cNvSpPr>
              <p:nvPr/>
            </p:nvSpPr>
            <p:spPr bwMode="auto">
              <a:xfrm>
                <a:off x="2009775" y="1687513"/>
                <a:ext cx="0" cy="27876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35183" name="Text Box 15"/>
              <p:cNvSpPr txBox="1">
                <a:spLocks noChangeArrowheads="1"/>
              </p:cNvSpPr>
              <p:nvPr/>
            </p:nvSpPr>
            <p:spPr bwMode="auto">
              <a:xfrm>
                <a:off x="1944688" y="4545013"/>
                <a:ext cx="158750" cy="3635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>
                <a:spAutoFit/>
              </a:bodyPr>
              <a:lstStyle>
                <a:lvl1pPr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404813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808038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212850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1616075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0732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5304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29876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4448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35184" name="Text Box 16"/>
            <p:cNvSpPr txBox="1">
              <a:spLocks noChangeArrowheads="1"/>
            </p:cNvSpPr>
            <p:nvPr/>
          </p:nvSpPr>
          <p:spPr bwMode="auto">
            <a:xfrm>
              <a:off x="1676400" y="5117942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t1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289207" y="2330292"/>
            <a:ext cx="368393" cy="3918108"/>
            <a:chOff x="2995613" y="1687513"/>
            <a:chExt cx="368393" cy="3146252"/>
          </a:xfrm>
        </p:grpSpPr>
        <p:sp>
          <p:nvSpPr>
            <p:cNvPr id="135180" name="Line 12"/>
            <p:cNvSpPr>
              <a:spLocks noChangeShapeType="1"/>
            </p:cNvSpPr>
            <p:nvPr/>
          </p:nvSpPr>
          <p:spPr bwMode="auto">
            <a:xfrm>
              <a:off x="3192463" y="1687513"/>
              <a:ext cx="0" cy="278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35185" name="Text Box 17"/>
            <p:cNvSpPr txBox="1">
              <a:spLocks noChangeArrowheads="1"/>
            </p:cNvSpPr>
            <p:nvPr/>
          </p:nvSpPr>
          <p:spPr bwMode="auto">
            <a:xfrm>
              <a:off x="2995613" y="4475163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t2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5157695" y="2330291"/>
            <a:ext cx="368393" cy="3901569"/>
            <a:chOff x="4178300" y="1687513"/>
            <a:chExt cx="368393" cy="3146252"/>
          </a:xfrm>
        </p:grpSpPr>
        <p:sp>
          <p:nvSpPr>
            <p:cNvPr id="135181" name="Line 13"/>
            <p:cNvSpPr>
              <a:spLocks noChangeShapeType="1"/>
            </p:cNvSpPr>
            <p:nvPr/>
          </p:nvSpPr>
          <p:spPr bwMode="auto">
            <a:xfrm>
              <a:off x="4308475" y="1687513"/>
              <a:ext cx="0" cy="278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35186" name="Text Box 18"/>
            <p:cNvSpPr txBox="1">
              <a:spLocks noChangeArrowheads="1"/>
            </p:cNvSpPr>
            <p:nvPr/>
          </p:nvSpPr>
          <p:spPr bwMode="auto">
            <a:xfrm>
              <a:off x="4178300" y="4475163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t3</a:t>
              </a:r>
            </a:p>
          </p:txBody>
        </p:sp>
      </p:grpSp>
      <p:sp>
        <p:nvSpPr>
          <p:cNvPr id="135188" name="Text Box 20"/>
          <p:cNvSpPr txBox="1">
            <a:spLocks noChangeArrowheads="1"/>
          </p:cNvSpPr>
          <p:nvPr/>
        </p:nvSpPr>
        <p:spPr bwMode="auto">
          <a:xfrm>
            <a:off x="1024390" y="2917998"/>
            <a:ext cx="804410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 dirty="0">
                <a:solidFill>
                  <a:srgbClr val="C00000"/>
                </a:solidFill>
              </a:rPr>
              <a:t>a1  a2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133600" y="4003517"/>
            <a:ext cx="1227602" cy="417512"/>
            <a:chOff x="2133600" y="4003517"/>
            <a:chExt cx="1227602" cy="417512"/>
          </a:xfrm>
        </p:grpSpPr>
        <p:sp>
          <p:nvSpPr>
            <p:cNvPr id="39" name="Rectangle 38"/>
            <p:cNvSpPr/>
            <p:nvPr/>
          </p:nvSpPr>
          <p:spPr>
            <a:xfrm>
              <a:off x="2165442" y="4003517"/>
              <a:ext cx="1150891" cy="41751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189" name="Text Box 21"/>
            <p:cNvSpPr txBox="1">
              <a:spLocks noChangeArrowheads="1"/>
            </p:cNvSpPr>
            <p:nvPr/>
          </p:nvSpPr>
          <p:spPr bwMode="auto">
            <a:xfrm>
              <a:off x="2133600" y="4038600"/>
              <a:ext cx="1227602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>
                  <a:solidFill>
                    <a:srgbClr val="006600"/>
                  </a:solidFill>
                </a:rPr>
                <a:t>b1  b2  b3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580474" y="2887504"/>
            <a:ext cx="419689" cy="397978"/>
            <a:chOff x="3580474" y="2887504"/>
            <a:chExt cx="419689" cy="397978"/>
          </a:xfrm>
        </p:grpSpPr>
        <p:sp>
          <p:nvSpPr>
            <p:cNvPr id="36" name="Rectangle 35"/>
            <p:cNvSpPr/>
            <p:nvPr/>
          </p:nvSpPr>
          <p:spPr>
            <a:xfrm>
              <a:off x="3614553" y="2897961"/>
              <a:ext cx="328612" cy="3875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190" name="Text Box 22"/>
            <p:cNvSpPr txBox="1">
              <a:spLocks noChangeArrowheads="1"/>
            </p:cNvSpPr>
            <p:nvPr/>
          </p:nvSpPr>
          <p:spPr bwMode="auto">
            <a:xfrm>
              <a:off x="3580474" y="2887504"/>
              <a:ext cx="419689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>
                  <a:solidFill>
                    <a:srgbClr val="C00000"/>
                  </a:solidFill>
                </a:rPr>
                <a:t>a3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217627" y="3981038"/>
            <a:ext cx="830058" cy="420462"/>
            <a:chOff x="3927290" y="3999138"/>
            <a:chExt cx="830058" cy="420462"/>
          </a:xfrm>
        </p:grpSpPr>
        <p:sp>
          <p:nvSpPr>
            <p:cNvPr id="40" name="Rectangle 39"/>
            <p:cNvSpPr/>
            <p:nvPr/>
          </p:nvSpPr>
          <p:spPr>
            <a:xfrm>
              <a:off x="3943165" y="3999138"/>
              <a:ext cx="780208" cy="41751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191" name="Text Box 23"/>
            <p:cNvSpPr txBox="1">
              <a:spLocks noChangeArrowheads="1"/>
            </p:cNvSpPr>
            <p:nvPr/>
          </p:nvSpPr>
          <p:spPr bwMode="auto">
            <a:xfrm>
              <a:off x="3927290" y="4060998"/>
              <a:ext cx="830058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>
                  <a:solidFill>
                    <a:srgbClr val="006600"/>
                  </a:solidFill>
                </a:rPr>
                <a:t>b4  b5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280678" y="2887504"/>
            <a:ext cx="1196322" cy="418015"/>
            <a:chOff x="5280678" y="2887504"/>
            <a:chExt cx="1196322" cy="418015"/>
          </a:xfrm>
        </p:grpSpPr>
        <p:sp>
          <p:nvSpPr>
            <p:cNvPr id="38" name="Rectangle 37"/>
            <p:cNvSpPr/>
            <p:nvPr/>
          </p:nvSpPr>
          <p:spPr>
            <a:xfrm>
              <a:off x="5280678" y="2917998"/>
              <a:ext cx="1196322" cy="3875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192" name="Text Box 24"/>
            <p:cNvSpPr txBox="1">
              <a:spLocks noChangeArrowheads="1"/>
            </p:cNvSpPr>
            <p:nvPr/>
          </p:nvSpPr>
          <p:spPr bwMode="auto">
            <a:xfrm>
              <a:off x="5287870" y="2887504"/>
              <a:ext cx="1189130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>
                  <a:solidFill>
                    <a:srgbClr val="C00000"/>
                  </a:solidFill>
                </a:rPr>
                <a:t>a4  a5  a6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5</a:t>
            </a:fld>
            <a:endParaRPr lang="en-US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7315200" y="5415886"/>
            <a:ext cx="851451" cy="815974"/>
            <a:chOff x="6135348" y="4318794"/>
            <a:chExt cx="851451" cy="815974"/>
          </a:xfrm>
        </p:grpSpPr>
        <p:pic>
          <p:nvPicPr>
            <p:cNvPr id="628739" name="Picture 3" descr="C:\Users\dcssooyj\AppData\Local\Microsoft\Windows\Temporary Internet Files\Content.IE5\GM342E1K\Swatching the Clock[1]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35348" y="4318794"/>
              <a:ext cx="851451" cy="8159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5175" name="Text Box 7"/>
            <p:cNvSpPr txBox="1">
              <a:spLocks noChangeArrowheads="1"/>
            </p:cNvSpPr>
            <p:nvPr/>
          </p:nvSpPr>
          <p:spPr bwMode="auto">
            <a:xfrm>
              <a:off x="6212248" y="4547480"/>
              <a:ext cx="697650" cy="358602"/>
            </a:xfrm>
            <a:prstGeom prst="rect">
              <a:avLst/>
            </a:prstGeom>
            <a:solidFill>
              <a:srgbClr val="FFFFFF">
                <a:alpha val="94902"/>
              </a:srgbClr>
            </a:solidFill>
            <a:ln>
              <a:noFill/>
            </a:ln>
            <a:effectLst/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/>
                <a:t>Time</a:t>
              </a:r>
            </a:p>
          </p:txBody>
        </p:sp>
      </p:grpSp>
      <p:sp>
        <p:nvSpPr>
          <p:cNvPr id="135182" name="Text Box 14"/>
          <p:cNvSpPr txBox="1">
            <a:spLocks noChangeArrowheads="1"/>
          </p:cNvSpPr>
          <p:nvPr/>
        </p:nvSpPr>
        <p:spPr bwMode="auto">
          <a:xfrm>
            <a:off x="2177269" y="993888"/>
            <a:ext cx="4239645" cy="758712"/>
          </a:xfrm>
          <a:prstGeom prst="rect">
            <a:avLst/>
          </a:prstGeom>
          <a:solidFill>
            <a:srgbClr val="F3EADE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 Switch</a:t>
            </a:r>
          </a:p>
        </p:txBody>
      </p:sp>
      <p:sp>
        <p:nvSpPr>
          <p:cNvPr id="41" name="Text Box 21"/>
          <p:cNvSpPr txBox="1">
            <a:spLocks noChangeArrowheads="1"/>
          </p:cNvSpPr>
          <p:nvPr/>
        </p:nvSpPr>
        <p:spPr bwMode="auto">
          <a:xfrm>
            <a:off x="245546" y="5045809"/>
            <a:ext cx="680979" cy="5124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 sz="2800" b="1"/>
              <a:t>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57375" y="5108293"/>
            <a:ext cx="319894" cy="3875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Line 17"/>
          <p:cNvSpPr>
            <a:spLocks noChangeShapeType="1"/>
          </p:cNvSpPr>
          <p:nvPr/>
        </p:nvSpPr>
        <p:spPr bwMode="auto">
          <a:xfrm>
            <a:off x="1885559" y="3306605"/>
            <a:ext cx="263525" cy="696912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" name="Rectangle 44"/>
          <p:cNvSpPr/>
          <p:nvPr/>
        </p:nvSpPr>
        <p:spPr>
          <a:xfrm>
            <a:off x="3316334" y="5108293"/>
            <a:ext cx="264140" cy="3875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" name="Line 17"/>
          <p:cNvSpPr>
            <a:spLocks noChangeShapeType="1"/>
          </p:cNvSpPr>
          <p:nvPr/>
        </p:nvSpPr>
        <p:spPr bwMode="auto">
          <a:xfrm flipV="1">
            <a:off x="3361201" y="3305520"/>
            <a:ext cx="253351" cy="693618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8" name="Line 17"/>
          <p:cNvSpPr>
            <a:spLocks noChangeShapeType="1"/>
          </p:cNvSpPr>
          <p:nvPr/>
        </p:nvSpPr>
        <p:spPr bwMode="auto">
          <a:xfrm>
            <a:off x="3943164" y="3305519"/>
            <a:ext cx="274462" cy="675519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9" name="Rectangle 48"/>
          <p:cNvSpPr/>
          <p:nvPr/>
        </p:nvSpPr>
        <p:spPr>
          <a:xfrm>
            <a:off x="4000163" y="5105400"/>
            <a:ext cx="217463" cy="3875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" name="Line 17"/>
          <p:cNvSpPr>
            <a:spLocks noChangeShapeType="1"/>
          </p:cNvSpPr>
          <p:nvPr/>
        </p:nvSpPr>
        <p:spPr bwMode="auto">
          <a:xfrm flipV="1">
            <a:off x="5013710" y="3305519"/>
            <a:ext cx="266968" cy="675519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1" name="Rectangle 50"/>
          <p:cNvSpPr/>
          <p:nvPr/>
        </p:nvSpPr>
        <p:spPr>
          <a:xfrm>
            <a:off x="5029200" y="5121216"/>
            <a:ext cx="251478" cy="3875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549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82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Multitasking OS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98488"/>
          </a:xfrm>
        </p:spPr>
        <p:txBody>
          <a:bodyPr/>
          <a:lstStyle/>
          <a:p>
            <a:r>
              <a:rPr lang="en-US" altLang="en-US" sz="2700" dirty="0"/>
              <a:t>1 CPU: </a:t>
            </a:r>
            <a:r>
              <a:rPr lang="en-US" altLang="en-US" sz="2700" dirty="0" err="1"/>
              <a:t>timesliced</a:t>
            </a:r>
            <a:r>
              <a:rPr lang="en-US" altLang="en-US" sz="2700" dirty="0"/>
              <a:t> execution of tasks</a:t>
            </a:r>
          </a:p>
          <a:p>
            <a:pPr>
              <a:buFont typeface="Wingdings" pitchFamily="2" charset="2"/>
              <a:buNone/>
            </a:pPr>
            <a:endParaRPr lang="en-US" altLang="en-US" sz="2700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139268" name="Rectangle 4"/>
          <p:cNvSpPr>
            <a:spLocks noChangeArrowheads="1"/>
          </p:cNvSpPr>
          <p:nvPr/>
        </p:nvSpPr>
        <p:spPr bwMode="auto">
          <a:xfrm>
            <a:off x="1681163" y="1897063"/>
            <a:ext cx="920750" cy="6270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80815" tIns="40407" rIns="80815" bIns="40407" anchor="ctr"/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/>
              <a:t>CPU</a:t>
            </a:r>
          </a:p>
        </p:txBody>
      </p:sp>
      <p:sp>
        <p:nvSpPr>
          <p:cNvPr id="139269" name="Line 5"/>
          <p:cNvSpPr>
            <a:spLocks noChangeShapeType="1"/>
          </p:cNvSpPr>
          <p:nvPr/>
        </p:nvSpPr>
        <p:spPr bwMode="auto">
          <a:xfrm flipH="1">
            <a:off x="2824956" y="2190631"/>
            <a:ext cx="3036887" cy="111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4" name="Snip and Round Single Corner Rectangle 3"/>
          <p:cNvSpPr/>
          <p:nvPr/>
        </p:nvSpPr>
        <p:spPr>
          <a:xfrm>
            <a:off x="3087309" y="1752601"/>
            <a:ext cx="610478" cy="371475"/>
          </a:xfrm>
          <a:prstGeom prst="snipRoundRect">
            <a:avLst/>
          </a:prstGeom>
          <a:solidFill>
            <a:srgbClr val="006600">
              <a:alpha val="20000"/>
            </a:srgb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p1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17" name="Snip and Round Single Corner Rectangle 16"/>
          <p:cNvSpPr/>
          <p:nvPr/>
        </p:nvSpPr>
        <p:spPr>
          <a:xfrm>
            <a:off x="3850187" y="1752601"/>
            <a:ext cx="610478" cy="371475"/>
          </a:xfrm>
          <a:prstGeom prst="snipRoundRect">
            <a:avLst/>
          </a:prstGeom>
          <a:solidFill>
            <a:srgbClr val="006600">
              <a:alpha val="20000"/>
            </a:srgb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p2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18" name="Snip and Round Single Corner Rectangle 17"/>
          <p:cNvSpPr/>
          <p:nvPr/>
        </p:nvSpPr>
        <p:spPr>
          <a:xfrm>
            <a:off x="4613065" y="1752600"/>
            <a:ext cx="610478" cy="371475"/>
          </a:xfrm>
          <a:prstGeom prst="snipRoundRect">
            <a:avLst/>
          </a:prstGeom>
          <a:solidFill>
            <a:srgbClr val="006600">
              <a:alpha val="20000"/>
            </a:srgb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p3</a:t>
            </a:r>
            <a:endParaRPr lang="en-SG" b="1" dirty="0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57200" y="2971800"/>
            <a:ext cx="7772400" cy="2771775"/>
            <a:chOff x="457200" y="2971800"/>
            <a:chExt cx="7772400" cy="2771775"/>
          </a:xfrm>
        </p:grpSpPr>
        <p:sp>
          <p:nvSpPr>
            <p:cNvPr id="139271" name="Rectangle 7"/>
            <p:cNvSpPr>
              <a:spLocks noChangeArrowheads="1"/>
            </p:cNvSpPr>
            <p:nvPr/>
          </p:nvSpPr>
          <p:spPr bwMode="auto">
            <a:xfrm>
              <a:off x="457200" y="2971800"/>
              <a:ext cx="7772400" cy="627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513" tIns="45256" rIns="90513" bIns="45256"/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charset="0"/>
                </a:defRPr>
              </a:lvl1pPr>
              <a:lvl2pPr marL="669925" indent="-325438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charset="0"/>
                </a:defRPr>
              </a:lvl2pPr>
              <a:lvl3pPr marL="1022350" indent="-350838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339850" indent="-315913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1681163" indent="-339725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138363" indent="-339725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595563" indent="-339725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052763" indent="-339725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509963" indent="-339725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80000"/>
                </a:lnSpc>
                <a:buFont typeface="Wingdings" pitchFamily="2" charset="2"/>
                <a:buNone/>
              </a:pPr>
              <a:endParaRPr lang="en-US" altLang="en-US" sz="1100" dirty="0"/>
            </a:p>
            <a:p>
              <a:pPr>
                <a:lnSpc>
                  <a:spcPct val="80000"/>
                </a:lnSpc>
              </a:pPr>
              <a:r>
                <a:rPr lang="en-US" altLang="en-US" sz="2700" dirty="0"/>
                <a:t>Multiprocessor: </a:t>
              </a:r>
              <a:r>
                <a:rPr lang="en-US" altLang="en-US" sz="2700" dirty="0" err="1"/>
                <a:t>timeslicing</a:t>
              </a:r>
              <a:r>
                <a:rPr lang="en-US" altLang="en-US" sz="2700" dirty="0"/>
                <a:t> on </a:t>
              </a:r>
              <a:r>
                <a:rPr lang="en-US" altLang="en-US" sz="2700" b="1" i="1" dirty="0"/>
                <a:t>n</a:t>
              </a:r>
              <a:r>
                <a:rPr lang="en-US" altLang="en-US" sz="2700" dirty="0"/>
                <a:t> CPUs</a:t>
              </a:r>
            </a:p>
          </p:txBody>
        </p:sp>
        <p:sp>
          <p:nvSpPr>
            <p:cNvPr id="139272" name="Rectangle 8"/>
            <p:cNvSpPr>
              <a:spLocks noChangeArrowheads="1"/>
            </p:cNvSpPr>
            <p:nvPr/>
          </p:nvSpPr>
          <p:spPr bwMode="auto">
            <a:xfrm>
              <a:off x="1701800" y="4070350"/>
              <a:ext cx="920750" cy="6270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/>
                <a:t>CPU 1</a:t>
              </a:r>
            </a:p>
          </p:txBody>
        </p:sp>
        <p:sp>
          <p:nvSpPr>
            <p:cNvPr id="139273" name="Line 9"/>
            <p:cNvSpPr>
              <a:spLocks noChangeShapeType="1"/>
            </p:cNvSpPr>
            <p:nvPr/>
          </p:nvSpPr>
          <p:spPr bwMode="auto">
            <a:xfrm flipH="1">
              <a:off x="2819400" y="4419600"/>
              <a:ext cx="22336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39274" name="Rectangle 10"/>
            <p:cNvSpPr>
              <a:spLocks noChangeArrowheads="1"/>
            </p:cNvSpPr>
            <p:nvPr/>
          </p:nvSpPr>
          <p:spPr bwMode="auto">
            <a:xfrm>
              <a:off x="1701800" y="5116513"/>
              <a:ext cx="920750" cy="62706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/>
                <a:t>CPU 2</a:t>
              </a:r>
            </a:p>
          </p:txBody>
        </p:sp>
        <p:sp>
          <p:nvSpPr>
            <p:cNvPr id="139275" name="Line 11"/>
            <p:cNvSpPr>
              <a:spLocks noChangeShapeType="1"/>
            </p:cNvSpPr>
            <p:nvPr/>
          </p:nvSpPr>
          <p:spPr bwMode="auto">
            <a:xfrm flipH="1">
              <a:off x="2819400" y="5464175"/>
              <a:ext cx="22336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Snip and Round Single Corner Rectangle 18"/>
            <p:cNvSpPr/>
            <p:nvPr/>
          </p:nvSpPr>
          <p:spPr>
            <a:xfrm>
              <a:off x="3173328" y="4012406"/>
              <a:ext cx="610478" cy="371475"/>
            </a:xfrm>
            <a:prstGeom prst="snipRoundRect">
              <a:avLst/>
            </a:prstGeom>
            <a:solidFill>
              <a:srgbClr val="006600">
                <a:alpha val="20000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p1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Snip and Round Single Corner Rectangle 19"/>
            <p:cNvSpPr/>
            <p:nvPr/>
          </p:nvSpPr>
          <p:spPr>
            <a:xfrm>
              <a:off x="3936206" y="4012406"/>
              <a:ext cx="610478" cy="371475"/>
            </a:xfrm>
            <a:prstGeom prst="snipRoundRect">
              <a:avLst/>
            </a:prstGeom>
            <a:solidFill>
              <a:srgbClr val="006600">
                <a:alpha val="20000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p3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Snip and Round Single Corner Rectangle 21"/>
            <p:cNvSpPr/>
            <p:nvPr/>
          </p:nvSpPr>
          <p:spPr>
            <a:xfrm>
              <a:off x="3199287" y="5057033"/>
              <a:ext cx="610478" cy="371475"/>
            </a:xfrm>
            <a:prstGeom prst="snipRoundRect">
              <a:avLst/>
            </a:prstGeom>
            <a:solidFill>
              <a:srgbClr val="006600">
                <a:alpha val="20000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p2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Snip and Round Single Corner Rectangle 22"/>
            <p:cNvSpPr/>
            <p:nvPr/>
          </p:nvSpPr>
          <p:spPr>
            <a:xfrm>
              <a:off x="3962165" y="5057033"/>
              <a:ext cx="610478" cy="371475"/>
            </a:xfrm>
            <a:prstGeom prst="snipRoundRect">
              <a:avLst/>
            </a:prstGeom>
            <a:solidFill>
              <a:srgbClr val="006600">
                <a:alpha val="20000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p4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205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5EECFC-AD69-4047-BE22-07BEF10D6DD3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Scheduling in OS</a:t>
            </a:r>
            <a:r>
              <a:rPr lang="en-US" altLang="en-US" sz="3800" dirty="0"/>
              <a:t>: A definition </a:t>
            </a:r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Problems with having multiple processes:</a:t>
            </a:r>
          </a:p>
          <a:p>
            <a:pPr lvl="1"/>
            <a:r>
              <a:rPr lang="en-US" altLang="en-US" dirty="0"/>
              <a:t>If [</a:t>
            </a:r>
            <a:r>
              <a:rPr lang="en-US" altLang="en-US" b="1" i="1" dirty="0">
                <a:solidFill>
                  <a:srgbClr val="006600"/>
                </a:solidFill>
              </a:rPr>
              <a:t>ready-to-run processes</a:t>
            </a:r>
            <a:r>
              <a:rPr lang="en-US" altLang="en-US" dirty="0"/>
              <a:t>] &gt; [</a:t>
            </a:r>
            <a:r>
              <a:rPr lang="en-US" altLang="en-US" b="1" i="1" dirty="0">
                <a:solidFill>
                  <a:srgbClr val="660066"/>
                </a:solidFill>
              </a:rPr>
              <a:t>CPUs</a:t>
            </a:r>
            <a:r>
              <a:rPr lang="en-US" altLang="en-US" dirty="0"/>
              <a:t>], which should be chosen?</a:t>
            </a:r>
          </a:p>
          <a:p>
            <a:pPr lvl="2"/>
            <a:r>
              <a:rPr lang="en-US" altLang="en-US" dirty="0"/>
              <a:t>Similar idea in </a:t>
            </a:r>
            <a:r>
              <a:rPr lang="en-US" altLang="en-US" b="1" i="1" dirty="0">
                <a:solidFill>
                  <a:srgbClr val="C00000"/>
                </a:solidFill>
              </a:rPr>
              <a:t>thread-level scheduling</a:t>
            </a:r>
          </a:p>
          <a:p>
            <a:pPr lvl="1"/>
            <a:r>
              <a:rPr lang="en-US" altLang="en-US" dirty="0"/>
              <a:t>Known as the </a:t>
            </a:r>
            <a:r>
              <a:rPr lang="en-US" altLang="en-US" b="1" dirty="0"/>
              <a:t>scheduling problem</a:t>
            </a:r>
          </a:p>
          <a:p>
            <a:pPr lvl="1">
              <a:buFont typeface="Wingdings" pitchFamily="2" charset="2"/>
              <a:buNone/>
            </a:pPr>
            <a:endParaRPr lang="en-US" altLang="en-US" b="1" dirty="0"/>
          </a:p>
          <a:p>
            <a:r>
              <a:rPr lang="en-US" altLang="en-US" dirty="0"/>
              <a:t>Terminology: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Scheduler</a:t>
            </a:r>
          </a:p>
          <a:p>
            <a:pPr lvl="2"/>
            <a:r>
              <a:rPr lang="en-US" altLang="en-US" dirty="0"/>
              <a:t>Part of the OS that makes scheduling decision</a:t>
            </a:r>
          </a:p>
          <a:p>
            <a:pPr lvl="1"/>
            <a:r>
              <a:rPr lang="en-US" altLang="en-US" b="1" dirty="0">
                <a:solidFill>
                  <a:srgbClr val="006600"/>
                </a:solidFill>
              </a:rPr>
              <a:t>Scheduling algorithm</a:t>
            </a:r>
          </a:p>
          <a:p>
            <a:pPr lvl="2"/>
            <a:r>
              <a:rPr lang="en-US" altLang="en-US" dirty="0"/>
              <a:t>The algorithm used by scheduler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65C93-5B99-44C8-8FBD-4A2083A97896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Scheduling</a:t>
            </a:r>
            <a:r>
              <a:rPr lang="en-US" altLang="en-US" dirty="0"/>
              <a:t>: Illustration</a:t>
            </a:r>
          </a:p>
        </p:txBody>
      </p:sp>
      <p:sp>
        <p:nvSpPr>
          <p:cNvPr id="457746" name="Rectangle 18"/>
          <p:cNvSpPr>
            <a:spLocks noGrp="1" noChangeArrowheads="1"/>
          </p:cNvSpPr>
          <p:nvPr>
            <p:ph type="body" idx="1"/>
          </p:nvPr>
        </p:nvSpPr>
        <p:spPr>
          <a:xfrm>
            <a:off x="457200" y="3733800"/>
            <a:ext cx="8229600" cy="2590800"/>
          </a:xfrm>
        </p:spPr>
        <p:txBody>
          <a:bodyPr/>
          <a:lstStyle/>
          <a:p>
            <a:r>
              <a:rPr lang="en-US" altLang="en-US" sz="2600" dirty="0"/>
              <a:t>Each process has different requirement of CPU time</a:t>
            </a:r>
          </a:p>
          <a:p>
            <a:pPr lvl="1"/>
            <a:r>
              <a:rPr lang="en-US" altLang="en-US" sz="2200" b="1" dirty="0">
                <a:solidFill>
                  <a:srgbClr val="C00000"/>
                </a:solidFill>
              </a:rPr>
              <a:t>Process behavior</a:t>
            </a:r>
          </a:p>
          <a:p>
            <a:r>
              <a:rPr lang="en-US" altLang="en-US" sz="2600" dirty="0"/>
              <a:t>Multiple ways to allocate</a:t>
            </a:r>
          </a:p>
          <a:p>
            <a:pPr lvl="1"/>
            <a:r>
              <a:rPr lang="en-US" altLang="en-US" sz="2200" dirty="0"/>
              <a:t>Influenced by the </a:t>
            </a:r>
            <a:r>
              <a:rPr lang="en-US" altLang="en-US" sz="2200" b="1" dirty="0">
                <a:solidFill>
                  <a:srgbClr val="660066"/>
                </a:solidFill>
              </a:rPr>
              <a:t>process environment 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002060"/>
                </a:solidFill>
              </a:rPr>
              <a:t>scheduling algorithms</a:t>
            </a:r>
          </a:p>
          <a:p>
            <a:r>
              <a:rPr lang="en-US" altLang="en-US" sz="2600" dirty="0"/>
              <a:t>A number of </a:t>
            </a:r>
            <a:r>
              <a:rPr lang="en-US" altLang="en-US" sz="2600" b="1" dirty="0">
                <a:solidFill>
                  <a:schemeClr val="accent1">
                    <a:lumMod val="50000"/>
                  </a:schemeClr>
                </a:solidFill>
              </a:rPr>
              <a:t>criteria to evaluate the scheduler</a:t>
            </a:r>
          </a:p>
        </p:txBody>
      </p:sp>
      <p:pic>
        <p:nvPicPr>
          <p:cNvPr id="36" name="Picture 20" descr="http://cdn-www.xda-developers.com/wp-content/uploads/2012/06/CPU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276460"/>
            <a:ext cx="2014223" cy="1510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0" descr="http://cdn-www.xda-developers.com/wp-content/uploads/2012/06/CPU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799622"/>
            <a:ext cx="2014223" cy="1510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3"/>
          <p:cNvSpPr>
            <a:spLocks noChangeArrowheads="1"/>
          </p:cNvSpPr>
          <p:nvPr/>
        </p:nvSpPr>
        <p:spPr bwMode="auto">
          <a:xfrm>
            <a:off x="838200" y="1524000"/>
            <a:ext cx="609600" cy="228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2">
                  <a:lumMod val="40000"/>
                  <a:lumOff val="6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838200" y="1905000"/>
            <a:ext cx="990600" cy="228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2">
                  <a:lumMod val="40000"/>
                  <a:lumOff val="6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 bwMode="auto">
          <a:xfrm>
            <a:off x="838200" y="2286000"/>
            <a:ext cx="304800" cy="228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2">
                  <a:lumMod val="40000"/>
                  <a:lumOff val="6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41" name="Rectangle 6"/>
          <p:cNvSpPr>
            <a:spLocks noChangeArrowheads="1"/>
          </p:cNvSpPr>
          <p:nvPr/>
        </p:nvSpPr>
        <p:spPr bwMode="auto">
          <a:xfrm>
            <a:off x="838200" y="2667000"/>
            <a:ext cx="838200" cy="228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2">
                  <a:lumMod val="40000"/>
                  <a:lumOff val="6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516721" y="2961614"/>
            <a:ext cx="1540679" cy="64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34" tIns="45717" rIns="91434" bIns="45717">
            <a:spAutoFit/>
          </a:bodyPr>
          <a:lstStyle/>
          <a:p>
            <a:pPr algn="ctr"/>
            <a:r>
              <a:rPr lang="en-US" altLang="en-US" dirty="0"/>
              <a:t>Processes ready to run</a:t>
            </a:r>
          </a:p>
        </p:txBody>
      </p:sp>
      <p:sp>
        <p:nvSpPr>
          <p:cNvPr id="43" name="Text Box 8"/>
          <p:cNvSpPr txBox="1">
            <a:spLocks noChangeArrowheads="1"/>
          </p:cNvSpPr>
          <p:nvPr/>
        </p:nvSpPr>
        <p:spPr bwMode="auto">
          <a:xfrm>
            <a:off x="3411691" y="1840521"/>
            <a:ext cx="1922309" cy="523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sz="28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Scheduler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716487" y="1157287"/>
            <a:ext cx="1980017" cy="1585913"/>
            <a:chOff x="1716487" y="1157287"/>
            <a:chExt cx="1980017" cy="1585913"/>
          </a:xfrm>
        </p:grpSpPr>
        <p:grpSp>
          <p:nvGrpSpPr>
            <p:cNvPr id="2" name="Group 1"/>
            <p:cNvGrpSpPr/>
            <p:nvPr/>
          </p:nvGrpSpPr>
          <p:grpSpPr>
            <a:xfrm>
              <a:off x="1905000" y="1676400"/>
              <a:ext cx="1600200" cy="1066800"/>
              <a:chOff x="1905000" y="1676400"/>
              <a:chExt cx="1600200" cy="1066800"/>
            </a:xfrm>
          </p:grpSpPr>
          <p:sp>
            <p:nvSpPr>
              <p:cNvPr id="44" name="Line 9"/>
              <p:cNvSpPr>
                <a:spLocks noChangeShapeType="1"/>
              </p:cNvSpPr>
              <p:nvPr/>
            </p:nvSpPr>
            <p:spPr bwMode="auto">
              <a:xfrm>
                <a:off x="1981200" y="1676400"/>
                <a:ext cx="1524000" cy="30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5" name="Line 10"/>
              <p:cNvSpPr>
                <a:spLocks noChangeShapeType="1"/>
              </p:cNvSpPr>
              <p:nvPr/>
            </p:nvSpPr>
            <p:spPr bwMode="auto">
              <a:xfrm flipV="1">
                <a:off x="1905000" y="2209800"/>
                <a:ext cx="1524000" cy="5334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1716487" y="1157287"/>
              <a:ext cx="1980017" cy="369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b="1" dirty="0">
                  <a:solidFill>
                    <a:srgbClr val="008000"/>
                  </a:solidFill>
                </a:rPr>
                <a:t>selects process</a:t>
              </a:r>
              <a:r>
                <a:rPr lang="en-US" altLang="en-US" b="1" dirty="0"/>
                <a:t> 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779475" y="1554956"/>
            <a:ext cx="2230925" cy="1471513"/>
            <a:chOff x="4779475" y="1554956"/>
            <a:chExt cx="2230925" cy="1471513"/>
          </a:xfrm>
        </p:grpSpPr>
        <p:sp>
          <p:nvSpPr>
            <p:cNvPr id="46" name="Line 13"/>
            <p:cNvSpPr>
              <a:spLocks noChangeShapeType="1"/>
            </p:cNvSpPr>
            <p:nvPr/>
          </p:nvSpPr>
          <p:spPr bwMode="auto">
            <a:xfrm flipV="1">
              <a:off x="5334000" y="1554956"/>
              <a:ext cx="1676400" cy="42624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47" name="Line 14"/>
            <p:cNvSpPr>
              <a:spLocks noChangeShapeType="1"/>
            </p:cNvSpPr>
            <p:nvPr/>
          </p:nvSpPr>
          <p:spPr bwMode="auto">
            <a:xfrm>
              <a:off x="5334000" y="2276460"/>
              <a:ext cx="1600200" cy="61914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49" name="Text Box 16"/>
            <p:cNvSpPr txBox="1">
              <a:spLocks noChangeArrowheads="1"/>
            </p:cNvSpPr>
            <p:nvPr/>
          </p:nvSpPr>
          <p:spPr bwMode="auto">
            <a:xfrm>
              <a:off x="4779475" y="2657143"/>
              <a:ext cx="1710713" cy="369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b="1" dirty="0">
                  <a:solidFill>
                    <a:srgbClr val="008000"/>
                  </a:solidFill>
                </a:rPr>
                <a:t>allocates </a:t>
              </a:r>
              <a:r>
                <a:rPr lang="en-US" altLang="en-US" b="1" dirty="0" err="1">
                  <a:solidFill>
                    <a:srgbClr val="008000"/>
                  </a:solidFill>
                </a:rPr>
                <a:t>cpu</a:t>
              </a:r>
              <a:r>
                <a:rPr lang="en-US" altLang="en-US" b="1" dirty="0"/>
                <a:t> </a:t>
              </a:r>
            </a:p>
          </p:txBody>
        </p:sp>
      </p:grpSp>
      <p:sp>
        <p:nvSpPr>
          <p:cNvPr id="5" name="Isosceles Triangle 4"/>
          <p:cNvSpPr/>
          <p:nvPr/>
        </p:nvSpPr>
        <p:spPr>
          <a:xfrm>
            <a:off x="8534400" y="6629400"/>
            <a:ext cx="185423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B0300-B814-447B-9FC8-E29397342D85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567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3 Types of </a:t>
            </a:r>
            <a:r>
              <a:rPr lang="en-US" altLang="en-US" sz="3800" b="1" dirty="0">
                <a:solidFill>
                  <a:srgbClr val="660066"/>
                </a:solidFill>
              </a:rPr>
              <a:t>Processing Environment</a:t>
            </a:r>
          </a:p>
        </p:txBody>
      </p:sp>
      <p:sp>
        <p:nvSpPr>
          <p:cNvPr id="567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229600" cy="5486400"/>
          </a:xfrm>
        </p:spPr>
        <p:txBody>
          <a:bodyPr/>
          <a:lstStyle/>
          <a:p>
            <a:pPr marL="531812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C00000"/>
                </a:solidFill>
              </a:rPr>
              <a:t>Batch Processing:</a:t>
            </a:r>
          </a:p>
          <a:p>
            <a:pPr lvl="1"/>
            <a:r>
              <a:rPr lang="en-US" altLang="en-US" dirty="0"/>
              <a:t>No user: No interaction required, No need to be responsive</a:t>
            </a:r>
          </a:p>
          <a:p>
            <a:pPr lvl="1"/>
            <a:r>
              <a:rPr lang="en-US" altLang="en-US" dirty="0"/>
              <a:t>Not considered here.</a:t>
            </a:r>
          </a:p>
          <a:p>
            <a:pPr marL="531812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660066"/>
                </a:solidFill>
              </a:rPr>
              <a:t>Interactive</a:t>
            </a:r>
            <a:r>
              <a:rPr lang="en-US" altLang="en-US" dirty="0"/>
              <a:t> (or Multiprogramming):</a:t>
            </a:r>
          </a:p>
          <a:p>
            <a:pPr lvl="1"/>
            <a:r>
              <a:rPr lang="en-US" altLang="en-US" dirty="0"/>
              <a:t>With active user interacting with system</a:t>
            </a:r>
          </a:p>
          <a:p>
            <a:pPr lvl="1"/>
            <a:r>
              <a:rPr lang="en-US" altLang="en-US" dirty="0"/>
              <a:t>Should be responsive, consistent in response time</a:t>
            </a:r>
          </a:p>
          <a:p>
            <a:pPr marL="319087" lvl="1" indent="0">
              <a:buNone/>
            </a:pPr>
            <a:endParaRPr lang="en-US" altLang="en-US" dirty="0"/>
          </a:p>
          <a:p>
            <a:pPr marL="531812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006600"/>
                </a:solidFill>
              </a:rPr>
              <a:t>Real time processing</a:t>
            </a:r>
            <a:r>
              <a:rPr lang="en-US" altLang="en-US" dirty="0">
                <a:solidFill>
                  <a:srgbClr val="006600"/>
                </a:solidFill>
              </a:rPr>
              <a:t>:</a:t>
            </a:r>
          </a:p>
          <a:p>
            <a:pPr lvl="1"/>
            <a:r>
              <a:rPr lang="en-US" altLang="en-US" dirty="0"/>
              <a:t>Have deadline to meet</a:t>
            </a:r>
          </a:p>
          <a:p>
            <a:pPr lvl="1"/>
            <a:r>
              <a:rPr lang="en-US" altLang="en-US" dirty="0"/>
              <a:t>Usually periodic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299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7D7A1-DC49-4F55-9C0E-0E7416BDD265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568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Criteria for Scheduling Algorithms</a:t>
            </a:r>
          </a:p>
        </p:txBody>
      </p:sp>
      <p:sp>
        <p:nvSpPr>
          <p:cNvPr id="568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Many criteria </a:t>
            </a:r>
            <a:r>
              <a:rPr lang="en-US" altLang="en-US" dirty="0"/>
              <a:t>to evaluate an scheduling algorithm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/>
              <a:t>Criteria for </a:t>
            </a:r>
            <a:r>
              <a:rPr lang="en-US" altLang="en-US" b="1" dirty="0"/>
              <a:t>all processing environments</a:t>
            </a:r>
            <a:r>
              <a:rPr lang="en-US" altLang="en-US" dirty="0"/>
              <a:t>: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solidFill>
                  <a:srgbClr val="660066"/>
                </a:solidFill>
              </a:rPr>
              <a:t>Fairness</a:t>
            </a:r>
            <a:r>
              <a:rPr lang="en-US" altLang="en-US" sz="2800" dirty="0">
                <a:solidFill>
                  <a:srgbClr val="660066"/>
                </a:solidFill>
              </a:rPr>
              <a:t>: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Should get a fair share of CPU time</a:t>
            </a:r>
            <a:endParaRPr lang="en-US" altLang="en-US" sz="2500" dirty="0">
              <a:solidFill>
                <a:srgbClr val="008000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altLang="en-US" dirty="0"/>
              <a:t>per process basis OR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per user basis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Also mean </a:t>
            </a:r>
            <a:r>
              <a:rPr lang="en-US" altLang="en-US" sz="2400" b="1" dirty="0">
                <a:solidFill>
                  <a:srgbClr val="C00000"/>
                </a:solidFill>
              </a:rPr>
              <a:t>no starvation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400" b="1" dirty="0"/>
          </a:p>
          <a:p>
            <a:pPr>
              <a:lnSpc>
                <a:spcPct val="90000"/>
              </a:lnSpc>
            </a:pPr>
            <a:r>
              <a:rPr lang="en-US" altLang="en-US" sz="2700" b="1" dirty="0">
                <a:solidFill>
                  <a:srgbClr val="660066"/>
                </a:solidFill>
              </a:rPr>
              <a:t>Balance:</a:t>
            </a:r>
          </a:p>
          <a:p>
            <a:pPr lvl="1">
              <a:lnSpc>
                <a:spcPct val="90000"/>
              </a:lnSpc>
            </a:pPr>
            <a:r>
              <a:rPr lang="en-US" altLang="en-US" sz="2500" dirty="0"/>
              <a:t>All parts of the computing system should be utilized</a:t>
            </a:r>
            <a:r>
              <a:rPr lang="en-US" altLang="en-US" sz="2500" dirty="0">
                <a:solidFill>
                  <a:srgbClr val="008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2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F3F85D-83AD-41DC-86FC-7D40255F8198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574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When</a:t>
            </a:r>
            <a:r>
              <a:rPr lang="en-US" altLang="en-US" sz="3800" b="1" dirty="0"/>
              <a:t> to perform scheduling?</a:t>
            </a:r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Two types of scheduling policies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sz="2600" b="1" dirty="0">
                <a:solidFill>
                  <a:srgbClr val="660066"/>
                </a:solidFill>
              </a:rPr>
              <a:t>Non-preemptive (Cooperative)</a:t>
            </a:r>
          </a:p>
          <a:p>
            <a:pPr lvl="1"/>
            <a:r>
              <a:rPr lang="en-US" altLang="en-US" sz="2200" dirty="0"/>
              <a:t>A process stayed scheduled until: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altLang="en-US" sz="2200" dirty="0"/>
              <a:t>it blocks OR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altLang="en-US" sz="2200" dirty="0"/>
              <a:t>give up the CPU voluntarily </a:t>
            </a:r>
          </a:p>
          <a:p>
            <a:pPr marL="344487" lvl="1" indent="0">
              <a:buNone/>
            </a:pPr>
            <a:endParaRPr lang="en-US" altLang="en-US" sz="2200" dirty="0"/>
          </a:p>
          <a:p>
            <a:r>
              <a:rPr lang="en-US" altLang="en-US" sz="2600" b="1" dirty="0">
                <a:solidFill>
                  <a:srgbClr val="C00000"/>
                </a:solidFill>
              </a:rPr>
              <a:t>Preemptive</a:t>
            </a:r>
          </a:p>
          <a:p>
            <a:pPr lvl="1"/>
            <a:r>
              <a:rPr lang="en-US" altLang="en-US" sz="2200" dirty="0"/>
              <a:t>A process is given a fixed time quota to run</a:t>
            </a:r>
          </a:p>
          <a:p>
            <a:pPr lvl="2"/>
            <a:r>
              <a:rPr lang="en-US" altLang="en-US" sz="2000" dirty="0"/>
              <a:t>Possible to block or give up early</a:t>
            </a:r>
          </a:p>
          <a:p>
            <a:pPr lvl="1"/>
            <a:r>
              <a:rPr lang="en-US" altLang="en-US" sz="2200" dirty="0"/>
              <a:t>At the end of the time quota:</a:t>
            </a:r>
          </a:p>
          <a:p>
            <a:pPr lvl="2"/>
            <a:r>
              <a:rPr lang="en-US" altLang="en-US" sz="2000" dirty="0"/>
              <a:t>Another process get picked if available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945762-0245-499F-A94E-07F92F34F52D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Scheduling a Process</a:t>
            </a:r>
            <a:r>
              <a:rPr lang="en-US" altLang="en-US" sz="3800" dirty="0"/>
              <a:t>: Step-by-Step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57692106"/>
              </p:ext>
            </p:extLst>
          </p:nvPr>
        </p:nvGraphicFramePr>
        <p:xfrm>
          <a:off x="685800" y="990600"/>
          <a:ext cx="78486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24D2508-0843-4F6F-8E50-281D293924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A0305F2-0CF6-4154-89B4-2FAD27DA6C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F7E5D0A-DFD6-4260-A0D3-982F40C1CF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F039C24-089E-45F3-92C0-260398CA0D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26DFFC3-AA30-4C19-916E-D0F23929DF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8AEE6E4-6A91-40A7-AAF7-9F783D6D03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FD37A4F-EBBD-4D57-A8DD-391271D268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E77D09F-212E-4843-90DC-D691FED685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98A0E73-526A-4976-B79E-2E8B3CEDDB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D2363E7-72D6-4AE8-955B-5702EE2974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Scheduling for </a:t>
            </a:r>
            <a:br>
              <a:rPr lang="en-US" altLang="en-US" dirty="0"/>
            </a:br>
            <a:r>
              <a:rPr lang="en-US" altLang="en-US" dirty="0">
                <a:solidFill>
                  <a:srgbClr val="C00000"/>
                </a:solidFill>
              </a:rPr>
              <a:t>Interactive Systems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F8A55-3AFC-4F89-BFA5-45FA70D316E5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AEC8C-F344-4D7D-8142-EE4332444F4A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573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4000" b="1" dirty="0"/>
              <a:t>Criteria for </a:t>
            </a:r>
            <a:r>
              <a:rPr lang="en-US" altLang="en-US" sz="4000" b="1" dirty="0">
                <a:solidFill>
                  <a:srgbClr val="C00000"/>
                </a:solidFill>
              </a:rPr>
              <a:t>interactive environment</a:t>
            </a:r>
          </a:p>
        </p:txBody>
      </p:sp>
      <p:sp>
        <p:nvSpPr>
          <p:cNvPr id="573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b="1" dirty="0">
                <a:solidFill>
                  <a:srgbClr val="660066"/>
                </a:solidFill>
              </a:rPr>
              <a:t>Response time</a:t>
            </a:r>
            <a:r>
              <a:rPr lang="en-US" altLang="en-US" sz="2800" dirty="0">
                <a:solidFill>
                  <a:srgbClr val="660066"/>
                </a:solidFill>
              </a:rPr>
              <a:t>: </a:t>
            </a:r>
          </a:p>
          <a:p>
            <a:pPr lvl="1"/>
            <a:r>
              <a:rPr lang="en-US" altLang="en-US" sz="2400" dirty="0"/>
              <a:t>Time between request and response by system</a:t>
            </a:r>
          </a:p>
          <a:p>
            <a:pPr marL="344487" lvl="1" indent="0">
              <a:buNone/>
            </a:pPr>
            <a:endParaRPr lang="en-US" altLang="en-US" sz="2400" dirty="0"/>
          </a:p>
          <a:p>
            <a:r>
              <a:rPr lang="en-US" altLang="en-US" sz="2800" b="1" dirty="0">
                <a:solidFill>
                  <a:srgbClr val="660066"/>
                </a:solidFill>
              </a:rPr>
              <a:t>Predictability</a:t>
            </a:r>
            <a:r>
              <a:rPr lang="en-US" altLang="en-US" sz="2800" dirty="0">
                <a:solidFill>
                  <a:srgbClr val="660066"/>
                </a:solidFill>
              </a:rPr>
              <a:t>: </a:t>
            </a:r>
          </a:p>
          <a:p>
            <a:pPr lvl="1"/>
            <a:r>
              <a:rPr lang="en-US" altLang="en-US" sz="2400" dirty="0"/>
              <a:t>Variation in response time, lesser variation == more predictable</a:t>
            </a:r>
          </a:p>
          <a:p>
            <a:pPr lvl="1"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589844" y="4191000"/>
            <a:ext cx="7848600" cy="1828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20000"/>
              </a:spcBef>
              <a:buClr>
                <a:srgbClr val="F07F09"/>
              </a:buClr>
              <a:buSzPct val="65000"/>
            </a:pPr>
            <a:r>
              <a:rPr lang="en-US" altLang="en-US" sz="3000" b="1" kern="0" dirty="0">
                <a:solidFill>
                  <a:prstClr val="black"/>
                </a:solidFill>
              </a:rPr>
              <a:t>Preemptive</a:t>
            </a:r>
            <a:r>
              <a:rPr lang="en-US" altLang="en-US" sz="3000" kern="0" dirty="0">
                <a:solidFill>
                  <a:prstClr val="black"/>
                </a:solidFill>
              </a:rPr>
              <a:t> scheduling algorithms are used to ensure good response time</a:t>
            </a:r>
          </a:p>
          <a:p>
            <a:pPr marL="344487" lvl="1">
              <a:spcBef>
                <a:spcPct val="20000"/>
              </a:spcBef>
              <a:buClr>
                <a:srgbClr val="9F2936"/>
              </a:buClr>
              <a:buSzPct val="60000"/>
            </a:pPr>
            <a:r>
              <a:rPr lang="en-US" altLang="en-US" sz="2600" kern="0" dirty="0">
                <a:solidFill>
                  <a:prstClr val="black"/>
                </a:solidFill>
                <a:sym typeface="Wingdings" panose="05000000000000000000" pitchFamily="2" charset="2"/>
              </a:rPr>
              <a:t> Scheduler needs to run </a:t>
            </a:r>
            <a:r>
              <a:rPr lang="en-US" altLang="en-US" sz="2600" b="1" kern="0" dirty="0">
                <a:solidFill>
                  <a:prstClr val="black"/>
                </a:solidFill>
                <a:sym typeface="Wingdings" panose="05000000000000000000" pitchFamily="2" charset="2"/>
              </a:rPr>
              <a:t>periodically </a:t>
            </a:r>
            <a:endParaRPr lang="en-US" altLang="en-US" sz="2600" kern="0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43" grpId="0" uiExpand="1" build="p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Ensuring </a:t>
            </a:r>
            <a:r>
              <a:rPr lang="en-US" b="1" dirty="0">
                <a:solidFill>
                  <a:srgbClr val="C00000"/>
                </a:solidFill>
              </a:rPr>
              <a:t>Periodic Scheduler</a:t>
            </a: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660066"/>
                </a:solidFill>
              </a:rPr>
              <a:t>Questions:</a:t>
            </a:r>
          </a:p>
          <a:p>
            <a:pPr lvl="1"/>
            <a:r>
              <a:rPr lang="en-US" dirty="0"/>
              <a:t>How can the scheduler "take over" the CPU periodically?</a:t>
            </a:r>
          </a:p>
          <a:p>
            <a:pPr lvl="1"/>
            <a:r>
              <a:rPr lang="en-US" dirty="0"/>
              <a:t>How can we ensure the user program can never stop the scheduler from executing?</a:t>
            </a:r>
          </a:p>
          <a:p>
            <a:pPr lvl="1"/>
            <a:endParaRPr lang="en-US" dirty="0"/>
          </a:p>
          <a:p>
            <a:r>
              <a:rPr lang="en-US" dirty="0"/>
              <a:t>Ingredients for answer: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Timer interrupt </a:t>
            </a:r>
            <a:r>
              <a:rPr lang="en-US" dirty="0"/>
              <a:t>= Interrupt that goes off periodically (based on hardware clock)</a:t>
            </a:r>
          </a:p>
          <a:p>
            <a:pPr lvl="1"/>
            <a:r>
              <a:rPr lang="en-US" dirty="0"/>
              <a:t>OS ensure timer interrupt cannot be intercepted by any other program</a:t>
            </a:r>
          </a:p>
          <a:p>
            <a:pPr marL="344487" lvl="1" indent="0">
              <a:buNone/>
            </a:pPr>
            <a:r>
              <a:rPr lang="en-US" dirty="0">
                <a:sym typeface="Wingdings" panose="05000000000000000000" pitchFamily="2" charset="2"/>
              </a:rPr>
              <a:t> Timer interrupt handler </a:t>
            </a:r>
            <a:r>
              <a:rPr lang="en-US" b="1" dirty="0">
                <a:sym typeface="Wingdings" panose="05000000000000000000" pitchFamily="2" charset="2"/>
              </a:rPr>
              <a:t>invokes scheduler</a:t>
            </a:r>
            <a:endParaRPr lang="en-S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6" name="Isosceles Triangle 5"/>
          <p:cNvSpPr/>
          <p:nvPr/>
        </p:nvSpPr>
        <p:spPr>
          <a:xfrm>
            <a:off x="8534400" y="6629400"/>
            <a:ext cx="185423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158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Terminology: </a:t>
            </a:r>
            <a:r>
              <a:rPr lang="en-US" dirty="0">
                <a:solidFill>
                  <a:srgbClr val="C00000"/>
                </a:solidFill>
              </a:rPr>
              <a:t>Timer</a:t>
            </a:r>
            <a:r>
              <a:rPr lang="en-US" dirty="0"/>
              <a:t> &amp; </a:t>
            </a:r>
            <a:r>
              <a:rPr lang="en-US" dirty="0">
                <a:solidFill>
                  <a:srgbClr val="660066"/>
                </a:solidFill>
              </a:rPr>
              <a:t>Time Quantum</a:t>
            </a:r>
            <a:endParaRPr lang="en-SG" dirty="0">
              <a:solidFill>
                <a:srgbClr val="66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660066"/>
                </a:solidFill>
              </a:rPr>
              <a:t>Interval of Timer Interrupt:</a:t>
            </a:r>
          </a:p>
          <a:p>
            <a:pPr lvl="1"/>
            <a:r>
              <a:rPr lang="en-US" dirty="0"/>
              <a:t>OS scheduler is triggered every timer interrupt</a:t>
            </a:r>
          </a:p>
          <a:p>
            <a:pPr lvl="1"/>
            <a:r>
              <a:rPr lang="en-US" dirty="0"/>
              <a:t>Typical values (</a:t>
            </a:r>
            <a:r>
              <a:rPr lang="en-US" b="1" dirty="0">
                <a:solidFill>
                  <a:srgbClr val="C00000"/>
                </a:solidFill>
              </a:rPr>
              <a:t>1ms</a:t>
            </a:r>
            <a:r>
              <a:rPr lang="en-US" b="1" dirty="0"/>
              <a:t> to </a:t>
            </a:r>
            <a:r>
              <a:rPr lang="en-US" b="1" dirty="0">
                <a:solidFill>
                  <a:srgbClr val="C00000"/>
                </a:solidFill>
              </a:rPr>
              <a:t>10ms</a:t>
            </a:r>
            <a:r>
              <a:rPr lang="en-US" b="1" dirty="0"/>
              <a:t> 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006600"/>
                </a:solidFill>
              </a:rPr>
              <a:t>Time Quantum:</a:t>
            </a:r>
          </a:p>
          <a:p>
            <a:pPr lvl="1"/>
            <a:r>
              <a:rPr lang="en-US" dirty="0"/>
              <a:t>Execution duration given to a process</a:t>
            </a:r>
          </a:p>
          <a:p>
            <a:pPr lvl="1"/>
            <a:r>
              <a:rPr lang="en-US" dirty="0"/>
              <a:t>Could be </a:t>
            </a:r>
            <a:r>
              <a:rPr lang="en-US" b="1" i="1" dirty="0"/>
              <a:t>constant</a:t>
            </a:r>
            <a:r>
              <a:rPr lang="en-US" dirty="0"/>
              <a:t> or </a:t>
            </a:r>
            <a:r>
              <a:rPr lang="en-US" b="1" i="1" dirty="0"/>
              <a:t>variable </a:t>
            </a:r>
            <a:r>
              <a:rPr lang="en-US" dirty="0"/>
              <a:t>among the processes</a:t>
            </a:r>
          </a:p>
          <a:p>
            <a:pPr lvl="1"/>
            <a:r>
              <a:rPr lang="en-US" dirty="0"/>
              <a:t>Must be multiples of interval of timer interrupt</a:t>
            </a:r>
          </a:p>
          <a:p>
            <a:pPr lvl="1"/>
            <a:r>
              <a:rPr lang="en-US" dirty="0"/>
              <a:t>Large range of values (commonly </a:t>
            </a:r>
            <a:r>
              <a:rPr lang="en-US" b="1" dirty="0">
                <a:solidFill>
                  <a:srgbClr val="C00000"/>
                </a:solidFill>
              </a:rPr>
              <a:t>5ms</a:t>
            </a:r>
            <a:r>
              <a:rPr lang="en-US" b="1" dirty="0"/>
              <a:t> to </a:t>
            </a:r>
            <a:r>
              <a:rPr lang="en-US" b="1" dirty="0">
                <a:solidFill>
                  <a:srgbClr val="C00000"/>
                </a:solidFill>
              </a:rPr>
              <a:t>100ms</a:t>
            </a:r>
            <a:r>
              <a:rPr lang="en-US" dirty="0"/>
              <a:t>)</a:t>
            </a:r>
          </a:p>
          <a:p>
            <a:pPr lvl="1"/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185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Illustration: </a:t>
            </a:r>
            <a:r>
              <a:rPr lang="en-US" b="1" dirty="0">
                <a:solidFill>
                  <a:srgbClr val="002060"/>
                </a:solidFill>
              </a:rPr>
              <a:t>ITI</a:t>
            </a:r>
            <a:r>
              <a:rPr lang="en-US" dirty="0"/>
              <a:t> vs </a:t>
            </a:r>
            <a:r>
              <a:rPr lang="en-US" b="1" dirty="0">
                <a:solidFill>
                  <a:srgbClr val="C00000"/>
                </a:solidFill>
              </a:rPr>
              <a:t>Time Quantum</a:t>
            </a: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17</a:t>
            </a:fld>
            <a:endParaRPr lang="en-US" altLang="en-US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502119"/>
              </p:ext>
            </p:extLst>
          </p:nvPr>
        </p:nvGraphicFramePr>
        <p:xfrm>
          <a:off x="533400" y="1143000"/>
          <a:ext cx="7896226" cy="22193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Down Arrow 9"/>
          <p:cNvSpPr/>
          <p:nvPr/>
        </p:nvSpPr>
        <p:spPr>
          <a:xfrm>
            <a:off x="1421166" y="1394532"/>
            <a:ext cx="228600" cy="3048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Down Arrow 11"/>
          <p:cNvSpPr/>
          <p:nvPr/>
        </p:nvSpPr>
        <p:spPr>
          <a:xfrm>
            <a:off x="2263068" y="1389356"/>
            <a:ext cx="228600" cy="3048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Down Arrow 12"/>
          <p:cNvSpPr/>
          <p:nvPr/>
        </p:nvSpPr>
        <p:spPr>
          <a:xfrm>
            <a:off x="3097566" y="1398234"/>
            <a:ext cx="228600" cy="3048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Down Arrow 13"/>
          <p:cNvSpPr/>
          <p:nvPr/>
        </p:nvSpPr>
        <p:spPr>
          <a:xfrm>
            <a:off x="3935766" y="1405632"/>
            <a:ext cx="228600" cy="3048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Down Arrow 14"/>
          <p:cNvSpPr/>
          <p:nvPr/>
        </p:nvSpPr>
        <p:spPr>
          <a:xfrm>
            <a:off x="4765088" y="1405632"/>
            <a:ext cx="228600" cy="3048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Down Arrow 15"/>
          <p:cNvSpPr/>
          <p:nvPr/>
        </p:nvSpPr>
        <p:spPr>
          <a:xfrm>
            <a:off x="5603288" y="1398234"/>
            <a:ext cx="228600" cy="3048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Down Arrow 16"/>
          <p:cNvSpPr/>
          <p:nvPr/>
        </p:nvSpPr>
        <p:spPr>
          <a:xfrm>
            <a:off x="6450366" y="1405632"/>
            <a:ext cx="228600" cy="3048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Down Arrow 17"/>
          <p:cNvSpPr/>
          <p:nvPr/>
        </p:nvSpPr>
        <p:spPr>
          <a:xfrm>
            <a:off x="7279688" y="1405632"/>
            <a:ext cx="228600" cy="3048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" name="Down Arrow 30"/>
          <p:cNvSpPr/>
          <p:nvPr/>
        </p:nvSpPr>
        <p:spPr>
          <a:xfrm flipV="1">
            <a:off x="2259366" y="2397712"/>
            <a:ext cx="228600" cy="2818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Down Arrow 32"/>
          <p:cNvSpPr/>
          <p:nvPr/>
        </p:nvSpPr>
        <p:spPr>
          <a:xfrm flipV="1">
            <a:off x="3934292" y="2392536"/>
            <a:ext cx="228600" cy="2818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" name="Down Arrow 34"/>
          <p:cNvSpPr/>
          <p:nvPr/>
        </p:nvSpPr>
        <p:spPr>
          <a:xfrm flipV="1">
            <a:off x="5604762" y="2406590"/>
            <a:ext cx="228600" cy="2818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" name="Down Arrow 36"/>
          <p:cNvSpPr/>
          <p:nvPr/>
        </p:nvSpPr>
        <p:spPr>
          <a:xfrm flipV="1">
            <a:off x="7279688" y="2401414"/>
            <a:ext cx="228600" cy="28186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41" name="Group 40"/>
          <p:cNvGrpSpPr/>
          <p:nvPr/>
        </p:nvGrpSpPr>
        <p:grpSpPr>
          <a:xfrm>
            <a:off x="533400" y="3952877"/>
            <a:ext cx="7896226" cy="2219323"/>
            <a:chOff x="533400" y="3810000"/>
            <a:chExt cx="7896226" cy="2219323"/>
          </a:xfrm>
        </p:grpSpPr>
        <p:graphicFrame>
          <p:nvGraphicFramePr>
            <p:cNvPr id="9" name="Chart 8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08019906"/>
                </p:ext>
              </p:extLst>
            </p:nvPr>
          </p:nvGraphicFramePr>
          <p:xfrm>
            <a:off x="533400" y="3810000"/>
            <a:ext cx="7896226" cy="221932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9" name="Down Arrow 18"/>
            <p:cNvSpPr/>
            <p:nvPr/>
          </p:nvSpPr>
          <p:spPr>
            <a:xfrm>
              <a:off x="1421166" y="4063012"/>
              <a:ext cx="228600" cy="30480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" name="Down Arrow 20"/>
            <p:cNvSpPr/>
            <p:nvPr/>
          </p:nvSpPr>
          <p:spPr>
            <a:xfrm>
              <a:off x="2263068" y="4057836"/>
              <a:ext cx="228600" cy="30480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Down Arrow 21"/>
            <p:cNvSpPr/>
            <p:nvPr/>
          </p:nvSpPr>
          <p:spPr>
            <a:xfrm>
              <a:off x="3097566" y="4066714"/>
              <a:ext cx="228600" cy="30480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3" name="Down Arrow 22"/>
            <p:cNvSpPr/>
            <p:nvPr/>
          </p:nvSpPr>
          <p:spPr>
            <a:xfrm>
              <a:off x="3935766" y="4074112"/>
              <a:ext cx="228600" cy="30480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4" name="Down Arrow 23"/>
            <p:cNvSpPr/>
            <p:nvPr/>
          </p:nvSpPr>
          <p:spPr>
            <a:xfrm>
              <a:off x="4765088" y="4074112"/>
              <a:ext cx="228600" cy="30480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5" name="Down Arrow 24"/>
            <p:cNvSpPr/>
            <p:nvPr/>
          </p:nvSpPr>
          <p:spPr>
            <a:xfrm>
              <a:off x="5603288" y="4066714"/>
              <a:ext cx="228600" cy="30480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6" name="Down Arrow 25"/>
            <p:cNvSpPr/>
            <p:nvPr/>
          </p:nvSpPr>
          <p:spPr>
            <a:xfrm>
              <a:off x="6450366" y="4074112"/>
              <a:ext cx="228600" cy="30480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Down Arrow 26"/>
            <p:cNvSpPr/>
            <p:nvPr/>
          </p:nvSpPr>
          <p:spPr>
            <a:xfrm>
              <a:off x="7279688" y="4074112"/>
              <a:ext cx="228600" cy="30480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9" name="Down Arrow 38"/>
            <p:cNvSpPr/>
            <p:nvPr/>
          </p:nvSpPr>
          <p:spPr>
            <a:xfrm flipV="1">
              <a:off x="3925414" y="5061010"/>
              <a:ext cx="228600" cy="281868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0" name="Down Arrow 39"/>
            <p:cNvSpPr/>
            <p:nvPr/>
          </p:nvSpPr>
          <p:spPr>
            <a:xfrm flipV="1">
              <a:off x="7270810" y="5069888"/>
              <a:ext cx="228600" cy="281868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646226" y="3124200"/>
            <a:ext cx="4347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Interval of Timer Interrupt = </a:t>
            </a:r>
            <a:r>
              <a:rPr lang="en-US" b="1" dirty="0">
                <a:solidFill>
                  <a:srgbClr val="002060"/>
                </a:solidFill>
              </a:rPr>
              <a:t>10ms</a:t>
            </a:r>
          </a:p>
          <a:p>
            <a:r>
              <a:rPr lang="en-US" dirty="0"/>
              <a:t>Time Quantum = </a:t>
            </a:r>
            <a:r>
              <a:rPr lang="en-US" b="1" dirty="0">
                <a:solidFill>
                  <a:srgbClr val="C00000"/>
                </a:solidFill>
              </a:rPr>
              <a:t>20ms</a:t>
            </a: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6226" y="5867400"/>
            <a:ext cx="4347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Interval of Timer Interrupt = </a:t>
            </a:r>
            <a:r>
              <a:rPr lang="en-US" b="1" dirty="0">
                <a:solidFill>
                  <a:srgbClr val="0033CC"/>
                </a:solidFill>
              </a:rPr>
              <a:t>10ms</a:t>
            </a:r>
          </a:p>
          <a:p>
            <a:r>
              <a:rPr lang="en-US" dirty="0"/>
              <a:t>Time Quantum = </a:t>
            </a:r>
            <a:r>
              <a:rPr lang="en-US" b="1" dirty="0">
                <a:solidFill>
                  <a:srgbClr val="C00000"/>
                </a:solidFill>
              </a:rPr>
              <a:t>40ms</a:t>
            </a:r>
            <a:endParaRPr lang="en-SG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03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2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3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Chart bld="seriesEl"/>
        </p:bldSub>
      </p:bldGraphic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31" grpId="0" animBg="1"/>
      <p:bldP spid="33" grpId="0" animBg="1"/>
      <p:bldP spid="35" grpId="0" animBg="1"/>
      <p:bldP spid="37" grpId="0" animBg="1"/>
      <p:bldP spid="4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EB3CA-ED35-4EE3-8875-D4913D1D8678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Scheduling Algorithms:</a:t>
            </a:r>
          </a:p>
        </p:txBody>
      </p:sp>
      <p:sp>
        <p:nvSpPr>
          <p:cNvPr id="498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/>
          </a:bodyPr>
          <a:lstStyle/>
          <a:p>
            <a:r>
              <a:rPr lang="en-US" altLang="en-US" dirty="0"/>
              <a:t>Algorithms covered: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sz="2800" b="1" dirty="0">
                <a:solidFill>
                  <a:srgbClr val="660066"/>
                </a:solidFill>
              </a:rPr>
              <a:t>R</a:t>
            </a:r>
            <a:r>
              <a:rPr lang="en-US" altLang="en-US" sz="2800" dirty="0"/>
              <a:t>ound </a:t>
            </a:r>
            <a:r>
              <a:rPr lang="en-US" altLang="en-US" sz="2800" b="1" dirty="0">
                <a:solidFill>
                  <a:srgbClr val="660066"/>
                </a:solidFill>
              </a:rPr>
              <a:t>R</a:t>
            </a:r>
            <a:r>
              <a:rPr lang="en-US" altLang="en-US" sz="2800" dirty="0"/>
              <a:t>obin (</a:t>
            </a:r>
            <a:r>
              <a:rPr lang="en-US" altLang="en-US" sz="2800" b="1" dirty="0">
                <a:solidFill>
                  <a:srgbClr val="660066"/>
                </a:solidFill>
              </a:rPr>
              <a:t>RR</a:t>
            </a:r>
            <a:r>
              <a:rPr lang="en-US" altLang="en-US" sz="2800" dirty="0"/>
              <a:t>)</a:t>
            </a:r>
          </a:p>
          <a:p>
            <a:pPr marL="858837" lvl="1" indent="-514350">
              <a:buFont typeface="+mj-lt"/>
              <a:buAutoNum type="arabicPeriod"/>
            </a:pPr>
            <a:endParaRPr lang="en-US" altLang="en-US" sz="2800" dirty="0"/>
          </a:p>
          <a:p>
            <a:pPr marL="858837" lvl="1" indent="-514350">
              <a:buFont typeface="+mj-lt"/>
              <a:buAutoNum type="arabicPeriod"/>
            </a:pPr>
            <a:r>
              <a:rPr lang="en-US" altLang="en-US" sz="2800" dirty="0"/>
              <a:t>Priority Based</a:t>
            </a:r>
          </a:p>
          <a:p>
            <a:pPr marL="858837" lvl="1" indent="-514350">
              <a:buFont typeface="+mj-lt"/>
              <a:buAutoNum type="arabicPeriod"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9434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1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A4AA17-0B53-472B-B466-E9E36F27ED75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Round Robin: </a:t>
            </a:r>
            <a:r>
              <a:rPr lang="en-US" altLang="en-US" b="1" dirty="0">
                <a:solidFill>
                  <a:srgbClr val="C00000"/>
                </a:solidFill>
              </a:rPr>
              <a:t>RR</a:t>
            </a:r>
            <a:endParaRPr lang="en-US" altLang="en-US" dirty="0">
              <a:solidFill>
                <a:srgbClr val="C00000"/>
              </a:solidFill>
            </a:endParaRPr>
          </a:p>
        </p:txBody>
      </p:sp>
      <p:sp>
        <p:nvSpPr>
          <p:cNvPr id="515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900" dirty="0"/>
              <a:t>General Idea:</a:t>
            </a:r>
          </a:p>
          <a:p>
            <a:pPr lvl="1"/>
            <a:r>
              <a:rPr lang="en-US" altLang="en-US" sz="2200" dirty="0"/>
              <a:t>Tasks are stored in a </a:t>
            </a:r>
            <a:r>
              <a:rPr lang="en-US" altLang="en-US" sz="2200" b="1" dirty="0"/>
              <a:t>FIFO queue</a:t>
            </a:r>
          </a:p>
          <a:p>
            <a:pPr lvl="1"/>
            <a:r>
              <a:rPr lang="en-US" altLang="en-US" sz="2200" dirty="0"/>
              <a:t>Pick the </a:t>
            </a:r>
            <a:r>
              <a:rPr lang="en-US" altLang="en-US" sz="2200" b="1" dirty="0"/>
              <a:t>first task from queue </a:t>
            </a:r>
            <a:r>
              <a:rPr lang="en-US" altLang="en-US" sz="2200" dirty="0"/>
              <a:t>front to run until:</a:t>
            </a:r>
          </a:p>
          <a:p>
            <a:pPr lvl="2"/>
            <a:r>
              <a:rPr lang="en-US" altLang="en-US" sz="2000" dirty="0"/>
              <a:t>A fixed </a:t>
            </a:r>
            <a:r>
              <a:rPr lang="en-US" altLang="en-US" sz="2000" b="1" dirty="0">
                <a:solidFill>
                  <a:srgbClr val="006600"/>
                </a:solidFill>
              </a:rPr>
              <a:t>time slice</a:t>
            </a:r>
            <a:r>
              <a:rPr lang="en-US" altLang="en-US" sz="2000" dirty="0">
                <a:solidFill>
                  <a:srgbClr val="006600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660066"/>
                </a:solidFill>
              </a:rPr>
              <a:t>quantum</a:t>
            </a:r>
            <a:r>
              <a:rPr lang="en-US" altLang="en-US" sz="2000" dirty="0"/>
              <a:t>) elapsed</a:t>
            </a:r>
          </a:p>
          <a:p>
            <a:pPr lvl="2"/>
            <a:r>
              <a:rPr lang="en-US" altLang="en-US" sz="2000" dirty="0"/>
              <a:t>The task gives up the CPU voluntarily</a:t>
            </a:r>
          </a:p>
          <a:p>
            <a:pPr lvl="2"/>
            <a:r>
              <a:rPr lang="en-US" altLang="en-US" sz="2000" dirty="0"/>
              <a:t>The task blocks</a:t>
            </a:r>
          </a:p>
          <a:p>
            <a:pPr lvl="1"/>
            <a:r>
              <a:rPr lang="en-US" altLang="en-US" sz="2200" dirty="0"/>
              <a:t>The task is then </a:t>
            </a:r>
            <a:r>
              <a:rPr lang="en-US" altLang="en-US" sz="2200" b="1" dirty="0"/>
              <a:t>placed at the end of queue </a:t>
            </a:r>
            <a:r>
              <a:rPr lang="en-US" altLang="en-US" sz="2200" dirty="0"/>
              <a:t>to wait for another turn</a:t>
            </a:r>
          </a:p>
          <a:p>
            <a:pPr lvl="2"/>
            <a:r>
              <a:rPr lang="en-US" altLang="en-US" sz="2000" dirty="0"/>
              <a:t>Blocked task will be moved to other queue to wait for its request</a:t>
            </a:r>
          </a:p>
          <a:p>
            <a:pPr lvl="1"/>
            <a:r>
              <a:rPr lang="en-US" altLang="en-US" sz="2200" dirty="0"/>
              <a:t>When blocked task is ready again, it is placed at the end of queue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075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8E28F-D53B-44A1-A573-95061D79B417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Round Robin: </a:t>
            </a:r>
            <a:r>
              <a:rPr lang="en-US" altLang="en-US" b="1" dirty="0">
                <a:solidFill>
                  <a:srgbClr val="C00000"/>
                </a:solidFill>
              </a:rPr>
              <a:t>RR </a:t>
            </a:r>
            <a:r>
              <a:rPr lang="en-US" altLang="en-US" b="1" dirty="0"/>
              <a:t>                  </a:t>
            </a:r>
            <a:r>
              <a:rPr lang="en-US" altLang="en-US" dirty="0"/>
              <a:t>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900" dirty="0"/>
              <a:t>Notes:</a:t>
            </a:r>
          </a:p>
          <a:p>
            <a:pPr lvl="1"/>
            <a:r>
              <a:rPr lang="en-US" altLang="en-US" sz="2200" dirty="0"/>
              <a:t>Basically a preemptive version of FCFS</a:t>
            </a:r>
            <a:endParaRPr lang="en-US" altLang="en-US" sz="2500" dirty="0"/>
          </a:p>
          <a:p>
            <a:pPr lvl="1"/>
            <a:r>
              <a:rPr lang="en-US" altLang="en-US" sz="2500" b="1" dirty="0">
                <a:solidFill>
                  <a:srgbClr val="C00000"/>
                </a:solidFill>
              </a:rPr>
              <a:t>Response time guarantee</a:t>
            </a:r>
            <a:r>
              <a:rPr lang="en-US" altLang="en-US" sz="2500" dirty="0">
                <a:solidFill>
                  <a:srgbClr val="C00000"/>
                </a:solidFill>
              </a:rPr>
              <a:t>: </a:t>
            </a:r>
          </a:p>
          <a:p>
            <a:pPr lvl="2"/>
            <a:r>
              <a:rPr lang="en-US" altLang="en-US" sz="2100" dirty="0"/>
              <a:t>Given </a:t>
            </a:r>
            <a:r>
              <a:rPr lang="en-US" altLang="en-US" sz="2100" i="1" dirty="0"/>
              <a:t>n</a:t>
            </a:r>
            <a:r>
              <a:rPr lang="en-US" altLang="en-US" sz="2100" dirty="0"/>
              <a:t> tasks and quantum </a:t>
            </a:r>
            <a:r>
              <a:rPr lang="en-US" altLang="en-US" sz="2100" i="1" dirty="0"/>
              <a:t>q</a:t>
            </a:r>
          </a:p>
          <a:p>
            <a:pPr lvl="2"/>
            <a:r>
              <a:rPr lang="en-US" altLang="en-US" sz="2100" dirty="0"/>
              <a:t>Time before a task get CPU is bounded by </a:t>
            </a:r>
            <a:r>
              <a:rPr lang="en-US" altLang="en-US" sz="2100" b="1" i="1" dirty="0">
                <a:solidFill>
                  <a:srgbClr val="660066"/>
                </a:solidFill>
                <a:latin typeface="Courier New" pitchFamily="49" charset="0"/>
                <a:cs typeface="Arial" charset="0"/>
              </a:rPr>
              <a:t>(n-1)q </a:t>
            </a:r>
          </a:p>
          <a:p>
            <a:pPr lvl="1"/>
            <a:r>
              <a:rPr lang="en-US" altLang="en-US" sz="2500" b="1" dirty="0">
                <a:solidFill>
                  <a:srgbClr val="006600"/>
                </a:solidFill>
              </a:rPr>
              <a:t>Timer interrupt needed:</a:t>
            </a:r>
          </a:p>
          <a:p>
            <a:pPr lvl="2"/>
            <a:r>
              <a:rPr lang="en-US" altLang="en-US" sz="2100" dirty="0"/>
              <a:t>For scheduler to check on quantum expiry</a:t>
            </a:r>
          </a:p>
          <a:p>
            <a:pPr lvl="1"/>
            <a:r>
              <a:rPr lang="en-US" altLang="en-US" sz="2500" dirty="0"/>
              <a:t>The </a:t>
            </a:r>
            <a:r>
              <a:rPr lang="en-US" altLang="en-US" sz="2500" b="1" dirty="0">
                <a:solidFill>
                  <a:srgbClr val="660066"/>
                </a:solidFill>
              </a:rPr>
              <a:t>choice of time quantum </a:t>
            </a:r>
            <a:r>
              <a:rPr lang="en-US" altLang="en-US" sz="2500" dirty="0"/>
              <a:t>duration is important:</a:t>
            </a:r>
          </a:p>
          <a:p>
            <a:pPr lvl="2"/>
            <a:r>
              <a:rPr lang="en-US" altLang="en-US" sz="2100" b="1" dirty="0"/>
              <a:t>Big quantum:</a:t>
            </a:r>
            <a:r>
              <a:rPr lang="en-US" altLang="en-US" sz="2100" dirty="0"/>
              <a:t> Better CPU utilization but longer waiting time</a:t>
            </a:r>
          </a:p>
          <a:p>
            <a:pPr lvl="2"/>
            <a:r>
              <a:rPr lang="en-US" altLang="en-US" sz="2100" b="1" dirty="0"/>
              <a:t>Small quantum:</a:t>
            </a:r>
            <a:r>
              <a:rPr lang="en-US" altLang="en-US" sz="2100" dirty="0"/>
              <a:t> Bigger overhead (worse CPU utilization) but shorter waiting time</a:t>
            </a:r>
          </a:p>
          <a:p>
            <a:pPr lvl="2"/>
            <a:endParaRPr lang="en-US" alt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71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90AFFC-9A0B-4FF3-A913-44ED67274273}" type="slidenum">
              <a:rPr lang="en-US" altLang="en-US"/>
              <a:pPr/>
              <a:t>21</a:t>
            </a:fld>
            <a:endParaRPr lang="en-US" altLang="en-US" dirty="0"/>
          </a:p>
        </p:txBody>
      </p:sp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Round Robin: </a:t>
            </a:r>
            <a:r>
              <a:rPr lang="en-US" altLang="en-US" sz="3800" b="1" dirty="0"/>
              <a:t>Illustration</a:t>
            </a:r>
          </a:p>
        </p:txBody>
      </p:sp>
      <p:sp>
        <p:nvSpPr>
          <p:cNvPr id="598019" name="Rectangle 3"/>
          <p:cNvSpPr>
            <a:spLocks noChangeArrowheads="1"/>
          </p:cNvSpPr>
          <p:nvPr/>
        </p:nvSpPr>
        <p:spPr bwMode="auto">
          <a:xfrm>
            <a:off x="1600200" y="1752600"/>
            <a:ext cx="1066800" cy="6096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solidFill>
                  <a:srgbClr val="9900CC"/>
                </a:solidFill>
              </a:rPr>
              <a:t>A</a:t>
            </a:r>
            <a:r>
              <a:rPr lang="en-US" altLang="en-US" sz="2000" b="1"/>
              <a:t>: </a:t>
            </a:r>
            <a:r>
              <a:rPr lang="en-US" altLang="en-US" sz="2000" b="1">
                <a:solidFill>
                  <a:srgbClr val="0033CC"/>
                </a:solidFill>
              </a:rPr>
              <a:t>2</a:t>
            </a:r>
            <a:r>
              <a:rPr lang="en-US" altLang="en-US" sz="2000" b="1"/>
              <a:t> TUs</a:t>
            </a:r>
          </a:p>
        </p:txBody>
      </p:sp>
      <p:sp>
        <p:nvSpPr>
          <p:cNvPr id="598020" name="Rectangle 4"/>
          <p:cNvSpPr>
            <a:spLocks noChangeArrowheads="1"/>
          </p:cNvSpPr>
          <p:nvPr/>
        </p:nvSpPr>
        <p:spPr bwMode="auto">
          <a:xfrm>
            <a:off x="2667000" y="2362200"/>
            <a:ext cx="1066800" cy="6096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solidFill>
                  <a:srgbClr val="9900CC"/>
                </a:solidFill>
              </a:rPr>
              <a:t>B</a:t>
            </a:r>
            <a:r>
              <a:rPr lang="en-US" altLang="en-US" sz="2000" b="1"/>
              <a:t>: </a:t>
            </a:r>
            <a:r>
              <a:rPr lang="en-US" altLang="en-US" sz="2000" b="1">
                <a:solidFill>
                  <a:srgbClr val="0033CC"/>
                </a:solidFill>
              </a:rPr>
              <a:t>2</a:t>
            </a:r>
            <a:r>
              <a:rPr lang="en-US" altLang="en-US" sz="2000" b="1"/>
              <a:t> TUs</a:t>
            </a:r>
          </a:p>
        </p:txBody>
      </p:sp>
      <p:sp>
        <p:nvSpPr>
          <p:cNvPr id="598021" name="Rectangle 5"/>
          <p:cNvSpPr>
            <a:spLocks noChangeArrowheads="1"/>
          </p:cNvSpPr>
          <p:nvPr/>
        </p:nvSpPr>
        <p:spPr bwMode="auto">
          <a:xfrm>
            <a:off x="3733800" y="2971800"/>
            <a:ext cx="1066800" cy="6096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solidFill>
                  <a:srgbClr val="9900CC"/>
                </a:solidFill>
              </a:rPr>
              <a:t>C</a:t>
            </a:r>
            <a:r>
              <a:rPr lang="en-US" altLang="en-US" sz="2000" b="1"/>
              <a:t>: </a:t>
            </a:r>
            <a:r>
              <a:rPr lang="en-US" altLang="en-US" sz="2000" b="1">
                <a:solidFill>
                  <a:srgbClr val="0033CC"/>
                </a:solidFill>
              </a:rPr>
              <a:t>2</a:t>
            </a:r>
            <a:r>
              <a:rPr lang="en-US" altLang="en-US" sz="2000" b="1"/>
              <a:t> TUs</a:t>
            </a:r>
          </a:p>
        </p:txBody>
      </p:sp>
      <p:grpSp>
        <p:nvGrpSpPr>
          <p:cNvPr id="598047" name="Group 31"/>
          <p:cNvGrpSpPr>
            <a:grpSpLocks/>
          </p:cNvGrpSpPr>
          <p:nvPr/>
        </p:nvGrpSpPr>
        <p:grpSpPr bwMode="auto">
          <a:xfrm>
            <a:off x="381000" y="1066800"/>
            <a:ext cx="8229600" cy="366713"/>
            <a:chOff x="624" y="2208"/>
            <a:chExt cx="4560" cy="231"/>
          </a:xfrm>
        </p:grpSpPr>
        <p:sp>
          <p:nvSpPr>
            <p:cNvPr id="598022" name="Text Box 6"/>
            <p:cNvSpPr txBox="1">
              <a:spLocks noChangeArrowheads="1"/>
            </p:cNvSpPr>
            <p:nvPr/>
          </p:nvSpPr>
          <p:spPr bwMode="auto">
            <a:xfrm>
              <a:off x="1776" y="2208"/>
              <a:ext cx="18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/>
                <a:t>Execution Timeline</a:t>
              </a:r>
            </a:p>
          </p:txBody>
        </p:sp>
        <p:sp>
          <p:nvSpPr>
            <p:cNvPr id="598045" name="Line 29"/>
            <p:cNvSpPr>
              <a:spLocks noChangeShapeType="1"/>
            </p:cNvSpPr>
            <p:nvPr/>
          </p:nvSpPr>
          <p:spPr bwMode="auto">
            <a:xfrm>
              <a:off x="624" y="2400"/>
              <a:ext cx="45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598046" name="Rectangle 30"/>
          <p:cNvSpPr>
            <a:spLocks noChangeArrowheads="1"/>
          </p:cNvSpPr>
          <p:nvPr/>
        </p:nvSpPr>
        <p:spPr bwMode="auto">
          <a:xfrm>
            <a:off x="533400" y="1752600"/>
            <a:ext cx="1066800" cy="6096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solidFill>
                  <a:srgbClr val="9900CC"/>
                </a:solidFill>
              </a:rPr>
              <a:t>A</a:t>
            </a:r>
            <a:r>
              <a:rPr lang="en-US" altLang="en-US" sz="2000" b="1"/>
              <a:t>: </a:t>
            </a:r>
            <a:r>
              <a:rPr lang="en-US" altLang="en-US" sz="2000" b="1">
                <a:solidFill>
                  <a:srgbClr val="0033CC"/>
                </a:solidFill>
              </a:rPr>
              <a:t>2</a:t>
            </a:r>
            <a:r>
              <a:rPr lang="en-US" altLang="en-US" sz="2000" b="1"/>
              <a:t> TUs</a:t>
            </a:r>
          </a:p>
        </p:txBody>
      </p:sp>
      <p:sp>
        <p:nvSpPr>
          <p:cNvPr id="598048" name="Rectangle 32"/>
          <p:cNvSpPr>
            <a:spLocks noChangeArrowheads="1"/>
          </p:cNvSpPr>
          <p:nvPr/>
        </p:nvSpPr>
        <p:spPr bwMode="auto">
          <a:xfrm>
            <a:off x="4800600" y="1752600"/>
            <a:ext cx="685800" cy="6096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400" b="1">
                <a:solidFill>
                  <a:srgbClr val="9900CC"/>
                </a:solidFill>
              </a:rPr>
              <a:t>A</a:t>
            </a:r>
            <a:r>
              <a:rPr lang="en-US" altLang="en-US" sz="1400" b="1"/>
              <a:t>: </a:t>
            </a:r>
            <a:r>
              <a:rPr lang="en-US" altLang="en-US" sz="1400" b="1">
                <a:solidFill>
                  <a:srgbClr val="0033CC"/>
                </a:solidFill>
              </a:rPr>
              <a:t>1</a:t>
            </a:r>
            <a:r>
              <a:rPr lang="en-US" altLang="en-US" sz="1400" b="1"/>
              <a:t> TU</a:t>
            </a:r>
          </a:p>
        </p:txBody>
      </p:sp>
      <p:sp>
        <p:nvSpPr>
          <p:cNvPr id="598049" name="Rectangle 33"/>
          <p:cNvSpPr>
            <a:spLocks noChangeArrowheads="1"/>
          </p:cNvSpPr>
          <p:nvPr/>
        </p:nvSpPr>
        <p:spPr bwMode="auto">
          <a:xfrm>
            <a:off x="5486400" y="2362200"/>
            <a:ext cx="1066800" cy="6096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solidFill>
                  <a:srgbClr val="9900CC"/>
                </a:solidFill>
              </a:rPr>
              <a:t>B</a:t>
            </a:r>
            <a:r>
              <a:rPr lang="en-US" altLang="en-US" sz="2000" b="1"/>
              <a:t>: </a:t>
            </a:r>
            <a:r>
              <a:rPr lang="en-US" altLang="en-US" sz="2000" b="1">
                <a:solidFill>
                  <a:srgbClr val="0033CC"/>
                </a:solidFill>
              </a:rPr>
              <a:t>2</a:t>
            </a:r>
            <a:r>
              <a:rPr lang="en-US" altLang="en-US" sz="2000" b="1"/>
              <a:t> TUs</a:t>
            </a:r>
          </a:p>
        </p:txBody>
      </p:sp>
      <p:sp>
        <p:nvSpPr>
          <p:cNvPr id="598050" name="Rectangle 34"/>
          <p:cNvSpPr>
            <a:spLocks noChangeArrowheads="1"/>
          </p:cNvSpPr>
          <p:nvPr/>
        </p:nvSpPr>
        <p:spPr bwMode="auto">
          <a:xfrm>
            <a:off x="6553200" y="2971800"/>
            <a:ext cx="685800" cy="6096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400" b="1">
                <a:solidFill>
                  <a:srgbClr val="9900CC"/>
                </a:solidFill>
              </a:rPr>
              <a:t>C</a:t>
            </a:r>
            <a:r>
              <a:rPr lang="en-US" altLang="en-US" sz="1400" b="1"/>
              <a:t>: </a:t>
            </a:r>
            <a:r>
              <a:rPr lang="en-US" altLang="en-US" sz="1400" b="1">
                <a:solidFill>
                  <a:srgbClr val="0033CC"/>
                </a:solidFill>
              </a:rPr>
              <a:t>1</a:t>
            </a:r>
            <a:r>
              <a:rPr lang="en-US" altLang="en-US" sz="1400" b="1"/>
              <a:t> TUs</a:t>
            </a:r>
          </a:p>
        </p:txBody>
      </p:sp>
      <p:sp>
        <p:nvSpPr>
          <p:cNvPr id="598051" name="Rectangle 35"/>
          <p:cNvSpPr>
            <a:spLocks noChangeArrowheads="1"/>
          </p:cNvSpPr>
          <p:nvPr/>
        </p:nvSpPr>
        <p:spPr bwMode="auto">
          <a:xfrm>
            <a:off x="7239000" y="2362200"/>
            <a:ext cx="1066800" cy="6096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solidFill>
                  <a:srgbClr val="9900CC"/>
                </a:solidFill>
              </a:rPr>
              <a:t>B</a:t>
            </a:r>
            <a:r>
              <a:rPr lang="en-US" altLang="en-US" sz="2000" b="1"/>
              <a:t>: </a:t>
            </a:r>
            <a:r>
              <a:rPr lang="en-US" altLang="en-US" sz="2000" b="1">
                <a:solidFill>
                  <a:srgbClr val="0033CC"/>
                </a:solidFill>
              </a:rPr>
              <a:t>2</a:t>
            </a:r>
            <a:r>
              <a:rPr lang="en-US" altLang="en-US" sz="2000" b="1"/>
              <a:t> TUs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98019" grpId="0" animBg="1"/>
      <p:bldP spid="598020" grpId="0" animBg="1"/>
      <p:bldP spid="598021" grpId="0" animBg="1"/>
      <p:bldP spid="598048" grpId="0" animBg="1"/>
      <p:bldP spid="598049" grpId="0" animBg="1"/>
      <p:bldP spid="598050" grpId="0" animBg="1"/>
      <p:bldP spid="59805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577989-AD5A-4022-9510-1AA9E8510D3B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Priority Scheduling</a:t>
            </a:r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Some processes are more important than others</a:t>
            </a:r>
          </a:p>
          <a:p>
            <a:pPr lvl="2"/>
            <a:r>
              <a:rPr lang="en-US" altLang="en-US" dirty="0"/>
              <a:t>Cannot treat all process as equal</a:t>
            </a:r>
          </a:p>
          <a:p>
            <a:pPr lvl="1"/>
            <a:r>
              <a:rPr lang="en-US" altLang="en-US" dirty="0"/>
              <a:t>Assign a </a:t>
            </a:r>
            <a:r>
              <a:rPr lang="en-US" altLang="en-US" b="1" dirty="0">
                <a:solidFill>
                  <a:srgbClr val="0033CC"/>
                </a:solidFill>
              </a:rPr>
              <a:t>priority value</a:t>
            </a:r>
            <a:r>
              <a:rPr lang="en-US" altLang="en-US" dirty="0"/>
              <a:t> to all tasks</a:t>
            </a:r>
          </a:p>
          <a:p>
            <a:pPr lvl="1"/>
            <a:r>
              <a:rPr lang="en-US" altLang="en-US" dirty="0"/>
              <a:t>Select task with </a:t>
            </a:r>
            <a:r>
              <a:rPr lang="en-US" altLang="en-US" b="1" dirty="0">
                <a:solidFill>
                  <a:schemeClr val="tx2"/>
                </a:solidFill>
              </a:rPr>
              <a:t>highest priority value</a:t>
            </a:r>
          </a:p>
          <a:p>
            <a:r>
              <a:rPr lang="en-US" altLang="en-US" dirty="0"/>
              <a:t>Variants: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Preemptive version: </a:t>
            </a:r>
          </a:p>
          <a:p>
            <a:pPr lvl="2"/>
            <a:r>
              <a:rPr lang="en-US" altLang="en-US" dirty="0"/>
              <a:t>Higher priority process can preempts running process with lower priority</a:t>
            </a:r>
          </a:p>
          <a:p>
            <a:pPr lvl="1"/>
            <a:r>
              <a:rPr lang="en-US" altLang="en-US" b="1" dirty="0">
                <a:solidFill>
                  <a:srgbClr val="008000"/>
                </a:solidFill>
              </a:rPr>
              <a:t>Non-preemptive version: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</a:p>
          <a:p>
            <a:pPr lvl="2"/>
            <a:r>
              <a:rPr lang="en-US" altLang="en-US" dirty="0"/>
              <a:t>Late coming high priority process has to wait for next round of scheduling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12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1B12D-0D46-4C07-B6A0-FCA5D36A0CB8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Priority Scheduling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602115" name="Rectangle 3"/>
          <p:cNvSpPr>
            <a:spLocks noChangeArrowheads="1"/>
          </p:cNvSpPr>
          <p:nvPr/>
        </p:nvSpPr>
        <p:spPr bwMode="auto">
          <a:xfrm>
            <a:off x="685800" y="1295400"/>
            <a:ext cx="3429000" cy="60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>
                <a:solidFill>
                  <a:srgbClr val="9900CC"/>
                </a:solidFill>
              </a:rPr>
              <a:t>A</a:t>
            </a:r>
            <a:r>
              <a:rPr lang="en-US" altLang="en-US" sz="2400" b="1"/>
              <a:t>: </a:t>
            </a:r>
            <a:r>
              <a:rPr lang="en-US" altLang="en-US" sz="2400" b="1">
                <a:solidFill>
                  <a:srgbClr val="0033CC"/>
                </a:solidFill>
              </a:rPr>
              <a:t>8</a:t>
            </a:r>
            <a:r>
              <a:rPr lang="en-US" altLang="en-US" sz="2400" b="1"/>
              <a:t> TUs</a:t>
            </a:r>
          </a:p>
        </p:txBody>
      </p:sp>
      <p:sp>
        <p:nvSpPr>
          <p:cNvPr id="602118" name="Text Box 6"/>
          <p:cNvSpPr txBox="1">
            <a:spLocks noChangeArrowheads="1"/>
          </p:cNvSpPr>
          <p:nvPr/>
        </p:nvSpPr>
        <p:spPr bwMode="auto">
          <a:xfrm>
            <a:off x="1524000" y="914400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Tasks </a:t>
            </a:r>
          </a:p>
        </p:txBody>
      </p:sp>
      <p:sp>
        <p:nvSpPr>
          <p:cNvPr id="602143" name="Text Box 31"/>
          <p:cNvSpPr txBox="1">
            <a:spLocks noChangeArrowheads="1"/>
          </p:cNvSpPr>
          <p:nvPr/>
        </p:nvSpPr>
        <p:spPr bwMode="auto">
          <a:xfrm>
            <a:off x="4648200" y="13716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Time </a:t>
            </a:r>
            <a:r>
              <a:rPr lang="en-US" altLang="en-US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</a:p>
        </p:txBody>
      </p:sp>
      <p:sp>
        <p:nvSpPr>
          <p:cNvPr id="602144" name="Text Box 32"/>
          <p:cNvSpPr txBox="1">
            <a:spLocks noChangeArrowheads="1"/>
          </p:cNvSpPr>
          <p:nvPr/>
        </p:nvSpPr>
        <p:spPr bwMode="auto">
          <a:xfrm>
            <a:off x="4495800" y="838200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Arrival Time</a:t>
            </a:r>
          </a:p>
        </p:txBody>
      </p:sp>
      <p:sp>
        <p:nvSpPr>
          <p:cNvPr id="602147" name="Text Box 35"/>
          <p:cNvSpPr txBox="1">
            <a:spLocks noChangeArrowheads="1"/>
          </p:cNvSpPr>
          <p:nvPr/>
        </p:nvSpPr>
        <p:spPr bwMode="auto">
          <a:xfrm>
            <a:off x="6553200" y="13716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602148" name="Text Box 36"/>
          <p:cNvSpPr txBox="1">
            <a:spLocks noChangeArrowheads="1"/>
          </p:cNvSpPr>
          <p:nvPr/>
        </p:nvSpPr>
        <p:spPr bwMode="auto">
          <a:xfrm>
            <a:off x="6400800" y="838200"/>
            <a:ext cx="236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Priority (1=highest)</a:t>
            </a:r>
          </a:p>
        </p:txBody>
      </p:sp>
      <p:grpSp>
        <p:nvGrpSpPr>
          <p:cNvPr id="602151" name="Group 39"/>
          <p:cNvGrpSpPr>
            <a:grpSpLocks/>
          </p:cNvGrpSpPr>
          <p:nvPr/>
        </p:nvGrpSpPr>
        <p:grpSpPr bwMode="auto">
          <a:xfrm>
            <a:off x="2514600" y="2018325"/>
            <a:ext cx="5486400" cy="609600"/>
            <a:chOff x="1584" y="1296"/>
            <a:chExt cx="3456" cy="384"/>
          </a:xfrm>
        </p:grpSpPr>
        <p:sp>
          <p:nvSpPr>
            <p:cNvPr id="602117" name="Rectangle 5"/>
            <p:cNvSpPr>
              <a:spLocks noChangeArrowheads="1"/>
            </p:cNvSpPr>
            <p:nvPr/>
          </p:nvSpPr>
          <p:spPr bwMode="auto">
            <a:xfrm>
              <a:off x="1584" y="1296"/>
              <a:ext cx="1008" cy="3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9900CC"/>
                  </a:solidFill>
                </a:rPr>
                <a:t>C</a:t>
              </a:r>
              <a:r>
                <a:rPr lang="en-US" altLang="en-US" sz="2400" b="1"/>
                <a:t>: </a:t>
              </a:r>
              <a:r>
                <a:rPr lang="en-US" altLang="en-US" sz="2400" b="1">
                  <a:solidFill>
                    <a:srgbClr val="0033CC"/>
                  </a:solidFill>
                </a:rPr>
                <a:t>3</a:t>
              </a:r>
              <a:r>
                <a:rPr lang="en-US" altLang="en-US" sz="2400" b="1"/>
                <a:t> TUs</a:t>
              </a:r>
            </a:p>
          </p:txBody>
        </p:sp>
        <p:sp>
          <p:nvSpPr>
            <p:cNvPr id="602145" name="Text Box 33"/>
            <p:cNvSpPr txBox="1">
              <a:spLocks noChangeArrowheads="1"/>
            </p:cNvSpPr>
            <p:nvPr/>
          </p:nvSpPr>
          <p:spPr bwMode="auto">
            <a:xfrm>
              <a:off x="2928" y="1296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/>
                <a:t>Time </a:t>
              </a:r>
              <a:r>
                <a:rPr lang="en-US" altLang="en-US" sz="2400" b="1" dirty="0">
                  <a:solidFill>
                    <a:srgbClr val="0033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  <p:sp>
          <p:nvSpPr>
            <p:cNvPr id="602149" name="Text Box 37"/>
            <p:cNvSpPr txBox="1">
              <a:spLocks noChangeArrowheads="1"/>
            </p:cNvSpPr>
            <p:nvPr/>
          </p:nvSpPr>
          <p:spPr bwMode="auto">
            <a:xfrm>
              <a:off x="4128" y="1296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4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602152" name="Group 40"/>
          <p:cNvGrpSpPr>
            <a:grpSpLocks/>
          </p:cNvGrpSpPr>
          <p:nvPr/>
        </p:nvGrpSpPr>
        <p:grpSpPr bwMode="auto">
          <a:xfrm>
            <a:off x="1752600" y="2743200"/>
            <a:ext cx="6248400" cy="609600"/>
            <a:chOff x="1104" y="1728"/>
            <a:chExt cx="3936" cy="384"/>
          </a:xfrm>
        </p:grpSpPr>
        <p:sp>
          <p:nvSpPr>
            <p:cNvPr id="602116" name="Rectangle 4"/>
            <p:cNvSpPr>
              <a:spLocks noChangeArrowheads="1"/>
            </p:cNvSpPr>
            <p:nvPr/>
          </p:nvSpPr>
          <p:spPr bwMode="auto">
            <a:xfrm>
              <a:off x="1104" y="1728"/>
              <a:ext cx="1488" cy="38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9900CC"/>
                  </a:solidFill>
                </a:rPr>
                <a:t>B</a:t>
              </a:r>
              <a:r>
                <a:rPr lang="en-US" altLang="en-US" sz="2400" b="1"/>
                <a:t>: </a:t>
              </a:r>
              <a:r>
                <a:rPr lang="en-US" altLang="en-US" sz="2400" b="1">
                  <a:solidFill>
                    <a:srgbClr val="0033CC"/>
                  </a:solidFill>
                </a:rPr>
                <a:t>5</a:t>
              </a:r>
              <a:r>
                <a:rPr lang="en-US" altLang="en-US" sz="2400" b="1"/>
                <a:t> TUs</a:t>
              </a:r>
            </a:p>
          </p:txBody>
        </p:sp>
        <p:sp>
          <p:nvSpPr>
            <p:cNvPr id="602146" name="Text Box 34"/>
            <p:cNvSpPr txBox="1">
              <a:spLocks noChangeArrowheads="1"/>
            </p:cNvSpPr>
            <p:nvPr/>
          </p:nvSpPr>
          <p:spPr bwMode="auto">
            <a:xfrm>
              <a:off x="2928" y="1776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/>
                <a:t>Time </a:t>
              </a:r>
              <a:r>
                <a:rPr lang="en-US" altLang="en-US" sz="2400" b="1" dirty="0">
                  <a:solidFill>
                    <a:srgbClr val="0033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  <p:sp>
          <p:nvSpPr>
            <p:cNvPr id="602150" name="Text Box 38"/>
            <p:cNvSpPr txBox="1">
              <a:spLocks noChangeArrowheads="1"/>
            </p:cNvSpPr>
            <p:nvPr/>
          </p:nvSpPr>
          <p:spPr bwMode="auto">
            <a:xfrm>
              <a:off x="4128" y="1776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4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</p:grpSp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2565474"/>
              </p:ext>
            </p:extLst>
          </p:nvPr>
        </p:nvGraphicFramePr>
        <p:xfrm>
          <a:off x="547687" y="3733800"/>
          <a:ext cx="7896226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2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2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02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2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2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3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0" grpId="0" uiExpand="1">
        <p:bldSub>
          <a:bldChart bld="seriesEl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ACF11-4E84-466E-8533-DE9B4684BBB4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Priority Scheduling: </a:t>
            </a:r>
            <a:r>
              <a:rPr lang="en-US" altLang="en-US" sz="3800" b="1" dirty="0">
                <a:solidFill>
                  <a:srgbClr val="660066"/>
                </a:solidFill>
              </a:rPr>
              <a:t>Shortcomings </a:t>
            </a:r>
          </a:p>
        </p:txBody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Low priority process can </a:t>
            </a:r>
            <a:r>
              <a:rPr lang="en-US" altLang="en-US" b="1" dirty="0">
                <a:solidFill>
                  <a:srgbClr val="C00000"/>
                </a:solidFill>
              </a:rPr>
              <a:t>starve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High priority process keep hogging the CPU</a:t>
            </a:r>
          </a:p>
          <a:p>
            <a:pPr lvl="1"/>
            <a:r>
              <a:rPr lang="en-US" altLang="en-US" dirty="0"/>
              <a:t>Worse in preemptive variant</a:t>
            </a:r>
          </a:p>
          <a:p>
            <a:pPr lvl="1"/>
            <a:endParaRPr lang="en-US" altLang="en-US" sz="800" dirty="0"/>
          </a:p>
          <a:p>
            <a:r>
              <a:rPr lang="en-US" altLang="en-US" dirty="0"/>
              <a:t>Possible solutions:</a:t>
            </a:r>
          </a:p>
          <a:p>
            <a:pPr lvl="1"/>
            <a:r>
              <a:rPr lang="en-US" altLang="en-US" dirty="0"/>
              <a:t>Decrease the priority of currently running process after every time quantum</a:t>
            </a:r>
          </a:p>
          <a:p>
            <a:pPr lvl="1"/>
            <a:r>
              <a:rPr lang="en-US" altLang="en-US" dirty="0"/>
              <a:t>Give the current running process a time quantum</a:t>
            </a:r>
          </a:p>
          <a:p>
            <a:pPr marL="344487" lvl="1" indent="0">
              <a:buNone/>
            </a:pPr>
            <a:endParaRPr lang="en-US" altLang="en-US" sz="800" dirty="0"/>
          </a:p>
          <a:p>
            <a:r>
              <a:rPr lang="en-US" altLang="en-US" dirty="0"/>
              <a:t>Hard to guarantee or control the exact amount of CPU time given to a process using priority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39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80A53-21E4-4A50-77D6-D284BE4BA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8" name="Rectangle 4">
            <a:extLst>
              <a:ext uri="{FF2B5EF4-FFF2-40B4-BE49-F238E27FC236}">
                <a16:creationId xmlns:a16="http://schemas.microsoft.com/office/drawing/2014/main" id="{762E17E0-B83D-1A51-4B5C-F18EDCD86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Scheduling for </a:t>
            </a:r>
            <a:br>
              <a:rPr lang="en-US" altLang="en-US" dirty="0"/>
            </a:br>
            <a:r>
              <a:rPr lang="en-US" altLang="en-US" dirty="0">
                <a:solidFill>
                  <a:srgbClr val="C00000"/>
                </a:solidFill>
              </a:rPr>
              <a:t>real-time systems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6AF435-2E3E-BD11-BCB4-B4BC5C58B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3E0F1-6DDF-BD2B-241D-6A03DB16A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F8A55-3AFC-4F89-BFA5-45FA70D316E5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1671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08F36-C863-5B7A-A54E-38E16CA2F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465D8-86D9-3466-944B-40501C4DFE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EB3CA-ED35-4EE3-8875-D4913D1D8678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498690" name="Rectangle 2">
            <a:extLst>
              <a:ext uri="{FF2B5EF4-FFF2-40B4-BE49-F238E27FC236}">
                <a16:creationId xmlns:a16="http://schemas.microsoft.com/office/drawing/2014/main" id="{C4ACF31C-44B5-D7CE-68F0-12083C60A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Scheduling Algorithms:</a:t>
            </a:r>
          </a:p>
        </p:txBody>
      </p:sp>
      <p:sp>
        <p:nvSpPr>
          <p:cNvPr id="498691" name="Rectangle 3">
            <a:extLst>
              <a:ext uri="{FF2B5EF4-FFF2-40B4-BE49-F238E27FC236}">
                <a16:creationId xmlns:a16="http://schemas.microsoft.com/office/drawing/2014/main" id="{B8B7AE75-E102-D971-97A8-F851FB7894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/>
          </a:bodyPr>
          <a:lstStyle/>
          <a:p>
            <a:r>
              <a:rPr lang="en-US" altLang="en-US" dirty="0"/>
              <a:t>Algorithms covered: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sz="2800" b="1" dirty="0"/>
              <a:t>Fixed Priority Scheduling</a:t>
            </a:r>
          </a:p>
          <a:p>
            <a:pPr marL="858837" lvl="1" indent="-514350">
              <a:buFont typeface="+mj-lt"/>
              <a:buAutoNum type="arabicPeriod"/>
            </a:pPr>
            <a:endParaRPr lang="en-US" altLang="en-US" sz="2800" b="1" dirty="0">
              <a:solidFill>
                <a:srgbClr val="660066"/>
              </a:solidFill>
            </a:endParaRPr>
          </a:p>
          <a:p>
            <a:pPr marL="858837" lvl="1" indent="-514350">
              <a:buFont typeface="+mj-lt"/>
              <a:buAutoNum type="arabicPeriod"/>
            </a:pPr>
            <a:r>
              <a:rPr lang="en-US" altLang="en-US" sz="2800" b="1" dirty="0">
                <a:solidFill>
                  <a:srgbClr val="660066"/>
                </a:solidFill>
              </a:rPr>
              <a:t>R</a:t>
            </a:r>
            <a:r>
              <a:rPr lang="en-US" altLang="en-US" sz="2800" b="1" dirty="0"/>
              <a:t>ate</a:t>
            </a:r>
            <a:r>
              <a:rPr lang="en-US" altLang="en-US" sz="2800" b="1" dirty="0">
                <a:solidFill>
                  <a:srgbClr val="660066"/>
                </a:solidFill>
              </a:rPr>
              <a:t> M</a:t>
            </a:r>
            <a:r>
              <a:rPr lang="en-US" altLang="en-US" sz="2800" b="1" dirty="0"/>
              <a:t>onotonic</a:t>
            </a:r>
            <a:r>
              <a:rPr lang="en-US" altLang="en-US" sz="2800" b="1" dirty="0">
                <a:solidFill>
                  <a:srgbClr val="660066"/>
                </a:solidFill>
              </a:rPr>
              <a:t> S</a:t>
            </a:r>
            <a:r>
              <a:rPr lang="en-US" altLang="en-US" sz="2800" b="1" dirty="0"/>
              <a:t>cheduling (RMS)</a:t>
            </a:r>
            <a:endParaRPr lang="en-US" altLang="en-US" sz="2800" dirty="0"/>
          </a:p>
          <a:p>
            <a:pPr marL="858837" lvl="1" indent="-514350">
              <a:buFont typeface="+mj-lt"/>
              <a:buAutoNum type="arabicPeriod"/>
            </a:pPr>
            <a:endParaRPr lang="en-US" altLang="en-US" sz="2800" dirty="0"/>
          </a:p>
          <a:p>
            <a:pPr marL="858837" lvl="1" indent="-514350">
              <a:buFont typeface="+mj-lt"/>
              <a:buAutoNum type="arabicPeriod"/>
            </a:pPr>
            <a:r>
              <a:rPr lang="en-US" altLang="en-US" sz="2800" b="1" dirty="0">
                <a:solidFill>
                  <a:srgbClr val="660066"/>
                </a:solidFill>
              </a:rPr>
              <a:t>E</a:t>
            </a:r>
            <a:r>
              <a:rPr lang="en-US" altLang="en-US" sz="2800" b="1" dirty="0"/>
              <a:t>arliest</a:t>
            </a:r>
            <a:r>
              <a:rPr lang="en-US" altLang="en-US" sz="2800" b="1" dirty="0">
                <a:solidFill>
                  <a:srgbClr val="660066"/>
                </a:solidFill>
              </a:rPr>
              <a:t> D</a:t>
            </a:r>
            <a:r>
              <a:rPr lang="en-US" altLang="en-US" sz="2800" b="1" dirty="0"/>
              <a:t>eadline</a:t>
            </a:r>
            <a:r>
              <a:rPr lang="en-US" altLang="en-US" sz="2800" b="1" dirty="0">
                <a:solidFill>
                  <a:srgbClr val="660066"/>
                </a:solidFill>
              </a:rPr>
              <a:t> F</a:t>
            </a:r>
            <a:r>
              <a:rPr lang="en-US" altLang="en-US" sz="2800" b="1" dirty="0"/>
              <a:t>irst Scheduling (EDF)</a:t>
            </a:r>
            <a:endParaRPr lang="en-US" altLang="en-US" sz="2800" dirty="0"/>
          </a:p>
          <a:p>
            <a:pPr marL="858837" lvl="1" indent="-514350">
              <a:buFont typeface="+mj-lt"/>
              <a:buAutoNum type="arabicPeriod"/>
            </a:pPr>
            <a:endParaRPr lang="en-US" altLang="en-US" sz="2800" dirty="0"/>
          </a:p>
          <a:p>
            <a:pPr marL="858837" lvl="1" indent="-514350">
              <a:buFont typeface="+mj-lt"/>
              <a:buAutoNum type="arabicPeriod"/>
            </a:pPr>
            <a:endParaRPr lang="en-US" altLang="en-US" sz="2800" dirty="0"/>
          </a:p>
          <a:p>
            <a:pPr marL="858837" lvl="1" indent="-514350">
              <a:buFont typeface="+mj-lt"/>
              <a:buAutoNum type="arabicPeriod"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3849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1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1C9E2-1386-876C-BB4A-4EA6C8189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9CEDD-5CDD-B481-2520-F895933D47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ACF11-4E84-466E-8533-DE9B4684BBB4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603138" name="Rectangle 2">
            <a:extLst>
              <a:ext uri="{FF2B5EF4-FFF2-40B4-BE49-F238E27FC236}">
                <a16:creationId xmlns:a16="http://schemas.microsoft.com/office/drawing/2014/main" id="{772F5737-A755-7892-EF43-3497CA8E6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Real-Time Systems: </a:t>
            </a:r>
            <a:r>
              <a:rPr lang="en-US" altLang="en-US" sz="3600" b="1" dirty="0">
                <a:solidFill>
                  <a:srgbClr val="660066"/>
                </a:solidFill>
              </a:rPr>
              <a:t>Special Characteristics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3139" name="Rectangle 3">
                <a:extLst>
                  <a:ext uri="{FF2B5EF4-FFF2-40B4-BE49-F238E27FC236}">
                    <a16:creationId xmlns:a16="http://schemas.microsoft.com/office/drawing/2014/main" id="{E3D1646E-2867-7CF8-713A-634E3E6C7E1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Processes (Called “tasks” in RT systems) in real-time systems are often periodic:</a:t>
                </a:r>
              </a:p>
              <a:p>
                <a:pPr lvl="1"/>
                <a:r>
                  <a:rPr lang="en-US" altLang="en-US" dirty="0"/>
                  <a:t>GPS produces a reading 10 times per second. So we read every 0.1 seconds.</a:t>
                </a:r>
              </a:p>
              <a:p>
                <a:pPr lvl="1"/>
                <a:r>
                  <a:rPr lang="en-US" altLang="en-US" dirty="0"/>
                  <a:t>Serial data operates at 9600 bps or 960 cps. So we get one character every 0.001 seconds.</a:t>
                </a:r>
              </a:p>
              <a:p>
                <a:pPr lvl="1"/>
                <a:r>
                  <a:rPr lang="en-US" altLang="en-US" dirty="0"/>
                  <a:t>We read accelerometers at fixed intervals </a:t>
                </a:r>
                <a:r>
                  <a:rPr lang="en-US" altLang="en-US" dirty="0" err="1"/>
                  <a:t>Δt</a:t>
                </a:r>
                <a:r>
                  <a:rPr lang="en-US" altLang="en-US" dirty="0"/>
                  <a:t>, so we can integrate it to get velocity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.∆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SG" dirty="0"/>
              </a:p>
              <a:p>
                <a:r>
                  <a:rPr lang="en-SG" dirty="0"/>
                  <a:t>Tasks will only run for a limited time before it suspends until the next reading, calculation, etc.</a:t>
                </a:r>
              </a:p>
              <a:p>
                <a:pPr lvl="1"/>
                <a:endParaRPr lang="en-US" altLang="en-US" dirty="0"/>
              </a:p>
              <a:p>
                <a:pPr lvl="1"/>
                <a:endParaRPr lang="en-US" altLang="en-US" dirty="0"/>
              </a:p>
              <a:p>
                <a:pPr lvl="1"/>
                <a:endParaRPr lang="en-US" altLang="en-US" dirty="0"/>
              </a:p>
              <a:p>
                <a:pPr lvl="1"/>
                <a:endParaRPr lang="en-US" altLang="en-US" dirty="0"/>
              </a:p>
            </p:txBody>
          </p:sp>
        </mc:Choice>
        <mc:Fallback xmlns="">
          <p:sp>
            <p:nvSpPr>
              <p:cNvPr id="603139" name="Rectangle 3">
                <a:extLst>
                  <a:ext uri="{FF2B5EF4-FFF2-40B4-BE49-F238E27FC236}">
                    <a16:creationId xmlns:a16="http://schemas.microsoft.com/office/drawing/2014/main" id="{E3D1646E-2867-7CF8-713A-634E3E6C7E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17" t="-1386" r="-463" b="-30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974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39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29C88-C55F-BA4E-C0AB-BD56C997C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9E077-EC03-59EE-3688-21319175F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CACF11-4E84-466E-8533-DE9B4684BBB4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603138" name="Rectangle 2">
            <a:extLst>
              <a:ext uri="{FF2B5EF4-FFF2-40B4-BE49-F238E27FC236}">
                <a16:creationId xmlns:a16="http://schemas.microsoft.com/office/drawing/2014/main" id="{4C15A729-536D-21E1-B66E-FDBCA7EF5F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Real-Time Systems: </a:t>
            </a:r>
            <a:r>
              <a:rPr lang="en-US" altLang="en-US" sz="3600" b="1" dirty="0">
                <a:solidFill>
                  <a:srgbClr val="660066"/>
                </a:solidFill>
              </a:rPr>
              <a:t>Special Characteristics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3139" name="Rectangle 3">
                <a:extLst>
                  <a:ext uri="{FF2B5EF4-FFF2-40B4-BE49-F238E27FC236}">
                    <a16:creationId xmlns:a16="http://schemas.microsoft.com/office/drawing/2014/main" id="{1EABFC02-7CC3-8B6D-11BB-08A84B2E0EC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Therefore, a task </a:t>
                </a:r>
                <a:r>
                  <a:rPr lang="en-US" altLang="en-US" i="1" dirty="0" err="1"/>
                  <a:t>i</a:t>
                </a:r>
                <a:r>
                  <a:rPr lang="en-US" altLang="en-US" dirty="0"/>
                  <a:t> in real-time systems can be characterized by two parameters:</a:t>
                </a:r>
              </a:p>
              <a:p>
                <a:pPr lvl="1"/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dirty="0"/>
                  <a:t>: The period of the task.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dirty="0"/>
                  <a:t>: The running time of the task before it is blocked again waiting for the next event.</a:t>
                </a:r>
              </a:p>
              <a:p>
                <a:pPr lvl="2"/>
                <a:r>
                  <a:rPr lang="en-SG" dirty="0"/>
                  <a:t>Note: If a task execution time is unknown we use the worst-case execution time WCET.</a:t>
                </a:r>
              </a:p>
              <a:p>
                <a:r>
                  <a:rPr lang="en-SG" dirty="0"/>
                  <a:t>For convenience we usually work in terms of CPU cycles rather than actual time:</a:t>
                </a:r>
              </a:p>
              <a:p>
                <a:pPr lvl="1"/>
                <a:r>
                  <a:rPr lang="en-SG" dirty="0"/>
                  <a:t>Easily convertible: </a:t>
                </a:r>
              </a:p>
              <a:p>
                <a:pPr marL="344487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𝑃𝑈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𝐶𝑦𝑐𝑙𝑒𝑠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i="1">
                            <a:latin typeface="Cambria Math" panose="02040503050406030204" pitchFamily="18" charset="0"/>
                          </a:rPr>
                          <m:t>𝑟𝑢𝑛𝑛𝑖𝑛𝑔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𝑡𝑖𝑚𝑒</m:t>
                        </m:r>
                      </m:num>
                      <m:den>
                        <m:r>
                          <a:rPr lang="en-SG" i="1">
                            <a:latin typeface="Cambria Math" panose="02040503050406030204" pitchFamily="18" charset="0"/>
                          </a:rPr>
                          <m:t>𝑡𝑖𝑚𝑒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𝑐𝑦𝑐𝑙𝑒</m:t>
                        </m:r>
                      </m:den>
                    </m:f>
                  </m:oMath>
                </a14:m>
                <a:r>
                  <a:rPr lang="en-SG" dirty="0">
                    <a:effectLst/>
                  </a:rPr>
                  <a:t> </a:t>
                </a:r>
                <a:endParaRPr lang="en-SG" dirty="0"/>
              </a:p>
              <a:p>
                <a:pPr lvl="1"/>
                <a:endParaRPr lang="en-SG" dirty="0"/>
              </a:p>
              <a:p>
                <a:pPr lvl="1"/>
                <a:endParaRPr lang="en-SG" dirty="0"/>
              </a:p>
              <a:p>
                <a:pPr lvl="1"/>
                <a:endParaRPr lang="en-US" altLang="en-US" dirty="0"/>
              </a:p>
              <a:p>
                <a:pPr lvl="1"/>
                <a:endParaRPr lang="en-US" altLang="en-US" dirty="0"/>
              </a:p>
              <a:p>
                <a:pPr lvl="1"/>
                <a:endParaRPr lang="en-US" altLang="en-US" dirty="0"/>
              </a:p>
              <a:p>
                <a:pPr lvl="1"/>
                <a:endParaRPr lang="en-US" altLang="en-US" dirty="0"/>
              </a:p>
            </p:txBody>
          </p:sp>
        </mc:Choice>
        <mc:Fallback xmlns="">
          <p:sp>
            <p:nvSpPr>
              <p:cNvPr id="603139" name="Rectangle 3">
                <a:extLst>
                  <a:ext uri="{FF2B5EF4-FFF2-40B4-BE49-F238E27FC236}">
                    <a16:creationId xmlns:a16="http://schemas.microsoft.com/office/drawing/2014/main" id="{1EABFC02-7CC3-8B6D-11BB-08A84B2E0E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17" t="-1386" r="-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392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39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E686A-827C-26AC-B4F9-E833BB8AC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0C6D8-931E-723F-3E91-2DE4C8FD45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8E28F-D53B-44A1-A573-95061D79B417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595970" name="Rectangle 2">
            <a:extLst>
              <a:ext uri="{FF2B5EF4-FFF2-40B4-BE49-F238E27FC236}">
                <a16:creationId xmlns:a16="http://schemas.microsoft.com/office/drawing/2014/main" id="{B746EC4A-883B-E21D-A170-2CC0E630CB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Fixed Priority Scheduling</a:t>
            </a:r>
          </a:p>
        </p:txBody>
      </p:sp>
      <p:sp>
        <p:nvSpPr>
          <p:cNvPr id="595971" name="Rectangle 3">
            <a:extLst>
              <a:ext uri="{FF2B5EF4-FFF2-40B4-BE49-F238E27FC236}">
                <a16:creationId xmlns:a16="http://schemas.microsoft.com/office/drawing/2014/main" id="{036556B4-2D2E-125A-4339-A29CD1316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85825"/>
            <a:ext cx="8229600" cy="5486400"/>
          </a:xfrm>
        </p:spPr>
        <p:txBody>
          <a:bodyPr/>
          <a:lstStyle/>
          <a:p>
            <a:r>
              <a:rPr lang="en-US" altLang="en-US" sz="2900" dirty="0"/>
              <a:t>In Fixed Priority, each task is manually assigned a priority.</a:t>
            </a:r>
          </a:p>
          <a:p>
            <a:pPr lvl="1"/>
            <a:r>
              <a:rPr lang="en-US" altLang="en-US" sz="2500" dirty="0"/>
              <a:t>Higher priority tasks are picked first.</a:t>
            </a:r>
          </a:p>
          <a:p>
            <a:pPr lvl="1"/>
            <a:r>
              <a:rPr lang="en-US" altLang="en-US" sz="2500" dirty="0"/>
              <a:t>If a higher priority task becomes ready, it pre-empts the lower-priority task.</a:t>
            </a:r>
          </a:p>
          <a:p>
            <a:pPr lvl="2"/>
            <a:r>
              <a:rPr lang="en-US" altLang="en-US" sz="2100" dirty="0"/>
              <a:t>Works the same way that we saw earlier, except that tasks are periodic, and run for a fixed time before becoming blocked until the next period.</a:t>
            </a:r>
          </a:p>
          <a:p>
            <a:pPr lvl="2"/>
            <a:r>
              <a:rPr lang="en-US" altLang="en-US" sz="2100" dirty="0"/>
              <a:t>All tasks are ready at time t0.</a:t>
            </a:r>
          </a:p>
          <a:p>
            <a:r>
              <a:rPr lang="en-US" altLang="en-US" sz="2900" dirty="0"/>
              <a:t>Note: In all cases we assume that the scheduler is pre-emptive.</a:t>
            </a:r>
          </a:p>
          <a:p>
            <a:pPr lvl="1"/>
            <a:endParaRPr lang="en-US" altLang="en-US" sz="2500" dirty="0"/>
          </a:p>
        </p:txBody>
      </p:sp>
    </p:spTree>
    <p:extLst>
      <p:ext uri="{BB962C8B-B14F-4D97-AF65-F5344CB8AC3E}">
        <p14:creationId xmlns:p14="http://schemas.microsoft.com/office/powerpoint/2010/main" val="32517460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A60FD-07B2-7569-31E0-DF9A17C6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Priority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E396C-6ACE-133B-B649-E9D1861FA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the following set of 3 tasks with the periods and running times shown in CPU cycles.</a:t>
            </a:r>
          </a:p>
          <a:p>
            <a:pPr lvl="1"/>
            <a:r>
              <a:rPr lang="en-US" dirty="0"/>
              <a:t>Lower priority number = higher priority.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07B2A-1396-C186-11E9-E6E14CFA0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30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F8A2D5-545F-53A8-ED3C-FAF8B4CF9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048000"/>
            <a:ext cx="525399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7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495F-35C6-713D-38E7-AD9BCA140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Priority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47A04-4B30-08EF-DB86-80CE50C26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712787"/>
          </a:xfrm>
        </p:spPr>
        <p:txBody>
          <a:bodyPr/>
          <a:lstStyle/>
          <a:p>
            <a:r>
              <a:rPr lang="en-US" dirty="0"/>
              <a:t>We can get the schedule as shown: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61F8A-4AA0-DD05-1521-CE36CB16DF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31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E86607-4324-FFBF-88E1-D19539910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85383"/>
            <a:ext cx="3581400" cy="515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726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BCAE6-0F06-51AB-8085-AE0B557A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77AEA-1C2C-EE3C-46F8-4F2D7EF55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Deadlines are important in real-time scheduling:</a:t>
            </a:r>
          </a:p>
          <a:p>
            <a:pPr lvl="1"/>
            <a:r>
              <a:rPr lang="en-US" dirty="0"/>
              <a:t>A task must generally finish running before it is due to run again.</a:t>
            </a:r>
          </a:p>
          <a:p>
            <a:pPr lvl="2"/>
            <a:r>
              <a:rPr lang="en-US" sz="2000" dirty="0"/>
              <a:t>Remember: The periods correspond to when new data arrives.</a:t>
            </a:r>
          </a:p>
          <a:p>
            <a:pPr lvl="2"/>
            <a:r>
              <a:rPr lang="en-US" sz="2000" dirty="0"/>
              <a:t>We assume that we lose the previous data if we don’t finish running before the next data comes.</a:t>
            </a:r>
          </a:p>
          <a:p>
            <a:pPr lvl="3"/>
            <a:r>
              <a:rPr lang="en-US" sz="1800" dirty="0"/>
              <a:t>Deadline for T2 shown below. Deadlines for T1 and T3 follow the same idea.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382B5-E0C3-6D2D-282D-DED0817BB1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32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FB085C-14C0-C758-D109-BE6E79C84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838700"/>
            <a:ext cx="2781300" cy="1714500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147E6130-7F6D-C60D-80C0-F5E8D75EF9D6}"/>
              </a:ext>
            </a:extLst>
          </p:cNvPr>
          <p:cNvSpPr/>
          <p:nvPr/>
        </p:nvSpPr>
        <p:spPr>
          <a:xfrm rot="10800000">
            <a:off x="4076700" y="5905500"/>
            <a:ext cx="838200" cy="76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0A948E-B210-4A88-8450-7B88A4CDF8B7}"/>
              </a:ext>
            </a:extLst>
          </p:cNvPr>
          <p:cNvSpPr txBox="1"/>
          <p:nvPr/>
        </p:nvSpPr>
        <p:spPr>
          <a:xfrm>
            <a:off x="4887191" y="5782017"/>
            <a:ext cx="3505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Deadline for previous run of T2</a:t>
            </a:r>
          </a:p>
        </p:txBody>
      </p:sp>
    </p:spTree>
    <p:extLst>
      <p:ext uri="{BB962C8B-B14F-4D97-AF65-F5344CB8AC3E}">
        <p14:creationId xmlns:p14="http://schemas.microsoft.com/office/powerpoint/2010/main" val="23525662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A7FBD-8164-2261-0B94-6F7E261BA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Missed Deadlines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22EC-FA8B-7E9D-6575-06AE43EA3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task characteristics.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get the following schedule: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B65A4-D789-658D-A403-A51F209D6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33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FBD9A-C75A-4C4D-E151-5AC90E13D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673570"/>
            <a:ext cx="3429000" cy="10215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5C097C-6E9D-230D-6C72-B927AAB2E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276600"/>
            <a:ext cx="4717774" cy="231074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CA6D42-24B8-C99A-620A-2B36ECDE9421}"/>
              </a:ext>
            </a:extLst>
          </p:cNvPr>
          <p:cNvCxnSpPr/>
          <p:nvPr/>
        </p:nvCxnSpPr>
        <p:spPr>
          <a:xfrm flipH="1">
            <a:off x="3276600" y="3581400"/>
            <a:ext cx="3505200" cy="121920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AB9FC7-8965-01F7-F1B7-E2898B7314AF}"/>
              </a:ext>
            </a:extLst>
          </p:cNvPr>
          <p:cNvSpPr txBox="1"/>
          <p:nvPr/>
        </p:nvSpPr>
        <p:spPr>
          <a:xfrm>
            <a:off x="6781800" y="2895600"/>
            <a:ext cx="144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This is from the first run of T2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5A1C82-0A6C-611E-651D-9898CD9907B5}"/>
              </a:ext>
            </a:extLst>
          </p:cNvPr>
          <p:cNvSpPr txBox="1"/>
          <p:nvPr/>
        </p:nvSpPr>
        <p:spPr>
          <a:xfrm>
            <a:off x="6515100" y="4654381"/>
            <a:ext cx="2400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The run of T2 cannot complete before the next time it is due to run. Missed deadline!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2D684D-01BE-6DA3-78E5-6ED22955E857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4495800" y="5105400"/>
            <a:ext cx="2019300" cy="287645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3073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BD5A7-5DAB-9EFA-120E-4CB129305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Missed Deadlines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2AB11-6B24-B4D2-5070-F2CCFFB46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can schedule a series of tasks so that they can all meet their deadlines, we say that the tasks are “schedulable”.</a:t>
            </a:r>
          </a:p>
          <a:p>
            <a:pPr lvl="1"/>
            <a:r>
              <a:rPr lang="en-US" dirty="0"/>
              <a:t>In our earlier example, there </a:t>
            </a:r>
            <a:r>
              <a:rPr lang="en-US" b="1" dirty="0"/>
              <a:t>may</a:t>
            </a:r>
            <a:r>
              <a:rPr lang="en-US" dirty="0"/>
              <a:t> be a different ordering of priorities where all tasks meet their deadlines.</a:t>
            </a:r>
          </a:p>
          <a:p>
            <a:r>
              <a:rPr lang="en-US" dirty="0"/>
              <a:t>Challenge: How do we find this optimal assignment of priorities?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2B4EC-30CA-D1C4-C99D-B5A011F2F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36366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8FE28-A2E5-44BB-1EC2-CE437AAA1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60086-C1E5-0D15-5661-235A66ADF9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8E28F-D53B-44A1-A573-95061D79B417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595970" name="Rectangle 2">
            <a:extLst>
              <a:ext uri="{FF2B5EF4-FFF2-40B4-BE49-F238E27FC236}">
                <a16:creationId xmlns:a16="http://schemas.microsoft.com/office/drawing/2014/main" id="{4577BB02-2F42-CCE4-474C-51DC7B1FE9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Rate Monotonic Scheduling: </a:t>
            </a:r>
            <a:r>
              <a:rPr lang="en-US" altLang="en-US" b="1" dirty="0">
                <a:solidFill>
                  <a:srgbClr val="C00000"/>
                </a:solidFill>
              </a:rPr>
              <a:t>RMS</a:t>
            </a:r>
            <a:endParaRPr lang="en-US" altLang="en-US" dirty="0"/>
          </a:p>
        </p:txBody>
      </p:sp>
      <p:sp>
        <p:nvSpPr>
          <p:cNvPr id="595971" name="Rectangle 3">
            <a:extLst>
              <a:ext uri="{FF2B5EF4-FFF2-40B4-BE49-F238E27FC236}">
                <a16:creationId xmlns:a16="http://schemas.microsoft.com/office/drawing/2014/main" id="{935B0634-CE13-45F5-7B57-F86DA8831A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85825"/>
            <a:ext cx="8229600" cy="5486400"/>
          </a:xfrm>
        </p:spPr>
        <p:txBody>
          <a:bodyPr/>
          <a:lstStyle/>
          <a:p>
            <a:r>
              <a:rPr lang="en-US" altLang="en-US" sz="2900" dirty="0"/>
              <a:t>One solution:</a:t>
            </a:r>
          </a:p>
          <a:p>
            <a:pPr lvl="1"/>
            <a:r>
              <a:rPr lang="en-US" altLang="en-US" sz="2500" dirty="0"/>
              <a:t>Prioritize according to period.</a:t>
            </a:r>
          </a:p>
          <a:p>
            <a:pPr lvl="2"/>
            <a:r>
              <a:rPr lang="en-US" altLang="en-US" sz="2100" dirty="0"/>
              <a:t>Shorter period = higher priority.</a:t>
            </a:r>
          </a:p>
          <a:p>
            <a:pPr lvl="1"/>
            <a:r>
              <a:rPr lang="en-US" altLang="en-US" sz="2500" dirty="0"/>
              <a:t>Rationale:</a:t>
            </a:r>
          </a:p>
          <a:p>
            <a:pPr lvl="2"/>
            <a:r>
              <a:rPr lang="en-US" altLang="en-US" sz="2100" dirty="0"/>
              <a:t>Tasks with shorter periods are likelier to miss their deadlines</a:t>
            </a:r>
          </a:p>
          <a:p>
            <a:pPr lvl="2"/>
            <a:r>
              <a:rPr lang="en-US" altLang="en-US" sz="2100" dirty="0"/>
              <a:t>Thus, we let them run first.</a:t>
            </a:r>
          </a:p>
          <a:p>
            <a:r>
              <a:rPr lang="en-US" altLang="en-US" sz="2900" dirty="0"/>
              <a:t>This way of scheduling is called “Rate Monotonic Scheduling”</a:t>
            </a:r>
          </a:p>
          <a:p>
            <a:pPr lvl="1"/>
            <a:r>
              <a:rPr lang="en-US" altLang="en-US" sz="2500" dirty="0"/>
              <a:t>RMS produces the optimal assignment of priorities.</a:t>
            </a:r>
          </a:p>
          <a:p>
            <a:pPr marL="344487" lvl="1" indent="0">
              <a:buNone/>
            </a:pPr>
            <a:endParaRPr lang="en-US" altLang="en-US" sz="2500" dirty="0"/>
          </a:p>
          <a:p>
            <a:pPr marL="0" indent="0">
              <a:buNone/>
            </a:pPr>
            <a:br>
              <a:rPr lang="en-US" altLang="en-US" sz="2900" dirty="0"/>
            </a:br>
            <a:endParaRPr lang="en-US" altLang="en-US" sz="2900" dirty="0"/>
          </a:p>
        </p:txBody>
      </p:sp>
    </p:spTree>
    <p:extLst>
      <p:ext uri="{BB962C8B-B14F-4D97-AF65-F5344CB8AC3E}">
        <p14:creationId xmlns:p14="http://schemas.microsoft.com/office/powerpoint/2010/main" val="19263689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70E14-E5F0-7BA7-727C-14067475D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RMS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F7360-3817-B611-A9B0-A39592D6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4699000" cy="5486400"/>
          </a:xfrm>
        </p:spPr>
        <p:txBody>
          <a:bodyPr/>
          <a:lstStyle/>
          <a:p>
            <a:r>
              <a:rPr lang="en-US" dirty="0"/>
              <a:t>We consider the schedule for this set of tasks: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09C66-A67A-E353-B97F-CE58098DF4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36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CC325D-0391-C4D2-C1ED-DC3D6F2D5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00300"/>
            <a:ext cx="4042522" cy="1409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94D3FB-A24B-5E3D-8B90-507ED9DD3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00" y="283487"/>
            <a:ext cx="3835400" cy="629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392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BDD9F-FE5A-E90B-F89B-33E1845E5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3391-6E61-8A63-5A7B-244913CE1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RMS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96BD6-24C2-8E81-E70E-2D712E3E3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4699000" cy="5486400"/>
          </a:xfrm>
        </p:spPr>
        <p:txBody>
          <a:bodyPr/>
          <a:lstStyle/>
          <a:p>
            <a:r>
              <a:rPr lang="en-US" dirty="0"/>
              <a:t>Since RMS is optimal, does this mean that tasks (at least those that don’t overload the CPU) are always schedulable?</a:t>
            </a:r>
          </a:p>
          <a:p>
            <a:r>
              <a:rPr lang="en-US" dirty="0"/>
              <a:t>Consider the case that T2 now takes 3 cycles instead of 2: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F2F85-BEF2-929D-1D0E-E5BFF62CFF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37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C278DA-0B8F-FAFA-AC7C-7255FFAF6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4927600"/>
            <a:ext cx="4166630" cy="15494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8D9A954-485A-D571-6FEB-D4DCF73AC37B}"/>
              </a:ext>
            </a:extLst>
          </p:cNvPr>
          <p:cNvSpPr/>
          <p:nvPr/>
        </p:nvSpPr>
        <p:spPr>
          <a:xfrm>
            <a:off x="914399" y="5562600"/>
            <a:ext cx="4166630" cy="5334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F340B1-DDC9-CB3E-6CEC-24D1026F8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099" y="634206"/>
            <a:ext cx="4122936" cy="2947194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6AC16-A778-A9C2-7C00-DB2FE50B1C51}"/>
              </a:ext>
            </a:extLst>
          </p:cNvPr>
          <p:cNvSpPr/>
          <p:nvPr/>
        </p:nvSpPr>
        <p:spPr>
          <a:xfrm>
            <a:off x="5156200" y="3048000"/>
            <a:ext cx="3835400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6DA14B-5DB0-3CAE-0FCD-B70BB1EEFF19}"/>
              </a:ext>
            </a:extLst>
          </p:cNvPr>
          <p:cNvCxnSpPr/>
          <p:nvPr/>
        </p:nvCxnSpPr>
        <p:spPr>
          <a:xfrm>
            <a:off x="6858000" y="3429000"/>
            <a:ext cx="0" cy="106680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3F1B091-5397-A4AF-2626-7EAA8C98D0CF}"/>
              </a:ext>
            </a:extLst>
          </p:cNvPr>
          <p:cNvSpPr txBox="1"/>
          <p:nvPr/>
        </p:nvSpPr>
        <p:spPr>
          <a:xfrm>
            <a:off x="5867400" y="46482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Missed Deadline</a:t>
            </a:r>
          </a:p>
        </p:txBody>
      </p:sp>
    </p:spTree>
    <p:extLst>
      <p:ext uri="{BB962C8B-B14F-4D97-AF65-F5344CB8AC3E}">
        <p14:creationId xmlns:p14="http://schemas.microsoft.com/office/powerpoint/2010/main" val="22803478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60573-5CD1-8EDB-28DA-6C953E07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</a:t>
            </a:r>
            <a:r>
              <a:rPr lang="en-US" dirty="0" err="1"/>
              <a:t>Schedulability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80BC1-0FFE-4B16-8A3D-31DE02A1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obvious way: “unroll” the schedule until it repeats.</a:t>
            </a:r>
          </a:p>
          <a:p>
            <a:pPr lvl="1"/>
            <a:r>
              <a:rPr lang="en-US" dirty="0"/>
              <a:t>The schedule will repeat after the ”hyper-period”, which is the lowest-common-multiple of all the periods.</a:t>
            </a:r>
          </a:p>
          <a:p>
            <a:pPr lvl="1"/>
            <a:r>
              <a:rPr lang="en-US" dirty="0"/>
              <a:t>In our example:</a:t>
            </a:r>
          </a:p>
          <a:p>
            <a:pPr lvl="2"/>
            <a:r>
              <a:rPr lang="en-US" dirty="0"/>
              <a:t>LCM(4, 6, 8)  = 24</a:t>
            </a:r>
          </a:p>
          <a:p>
            <a:pPr lvl="2"/>
            <a:r>
              <a:rPr lang="en-US" dirty="0"/>
              <a:t>So, our unrolling is complete. First example is schedulable.</a:t>
            </a:r>
          </a:p>
          <a:p>
            <a:r>
              <a:rPr lang="en-US" dirty="0"/>
              <a:t>Tedious, and sometimes impractical.</a:t>
            </a:r>
          </a:p>
          <a:p>
            <a:pPr lvl="1"/>
            <a:r>
              <a:rPr lang="en-US" dirty="0"/>
              <a:t>E.g. LCM(3, 7, 11) = 231 – Need to compute 231 rows!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C9371-BA4B-72F3-51C1-8EA7F88A4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38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B32DBC-06C5-513C-4ADD-DA84ED0EA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199" y="3028950"/>
            <a:ext cx="3072653" cy="107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907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69656-D4DE-FE37-EB1A-844AFE247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Utilization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A71D7-28BB-55E3-1B45-B1E27D4BA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CPU Utilization is the percentage of time that the CPU is being used. </a:t>
            </a:r>
          </a:p>
          <a:p>
            <a:r>
              <a:rPr lang="en-US" dirty="0"/>
              <a:t>For periodic processes, this is given by: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CPU utilization of our two RMS examples:</a:t>
            </a:r>
          </a:p>
          <a:p>
            <a:pPr lvl="1"/>
            <a:r>
              <a:rPr lang="en-US" dirty="0"/>
              <a:t>Example 1 = 2/6 + 2/8 + 1/4 = 0.83</a:t>
            </a:r>
          </a:p>
          <a:p>
            <a:pPr lvl="1"/>
            <a:r>
              <a:rPr lang="en-US" dirty="0"/>
              <a:t>Example 2 = 2/6 + 3/8 + 1/4 = 0.96</a:t>
            </a:r>
          </a:p>
          <a:p>
            <a:r>
              <a:rPr lang="en-US" dirty="0"/>
              <a:t>In all scheduling algorithms, it is necessary that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82510-8167-8B03-E1EF-30BF34AEFD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39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A4538A-341F-1F3E-39C7-3C17B9E55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607050"/>
            <a:ext cx="1072029" cy="520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B6F56C-5B98-1AF6-B6F9-A1FFDA6F6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500" y="2429203"/>
            <a:ext cx="10795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839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243FF-7A50-A16E-C286-F27CCBA9D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Utilization Bound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3B52E-1711-0F9A-2F43-AD410EC85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test RMS </a:t>
            </a:r>
            <a:r>
              <a:rPr lang="en-US" dirty="0" err="1"/>
              <a:t>schedulability</a:t>
            </a:r>
            <a:r>
              <a:rPr lang="en-US" dirty="0"/>
              <a:t> by using the Liu and Leyland bound:</a:t>
            </a:r>
          </a:p>
          <a:p>
            <a:pPr lvl="1"/>
            <a:r>
              <a:rPr lang="en-US" dirty="0"/>
              <a:t>A set of tasks is schedulable under RMS if: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In our example, n = 3, so we need: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Note how RMS example 1 U = 0.83 &gt; 0.78, but it is schedulable.</a:t>
            </a:r>
          </a:p>
          <a:p>
            <a:pPr lvl="2"/>
            <a:r>
              <a:rPr lang="en-US" dirty="0"/>
              <a:t>Liu and Leyland is a sufficient but not necessary condition.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6C032-5F00-DFDE-46CD-43616018DD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40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3EAF25-9C23-24D8-8131-2D81704B3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729" y="2504515"/>
            <a:ext cx="2490471" cy="696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9EE5C0-063A-596D-7B72-E39FC7554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650" y="4025900"/>
            <a:ext cx="2938779" cy="89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715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F52EB-287D-1D57-7371-B581D911A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09F40-B7F6-EC8E-7CB3-BD52A9E56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Utilization Bound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2CC58-8AC9-B3AE-E190-61EF73F2B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Liu and Leyland bounds: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U is less than or equal to the bound for the number of tasks, we do not need further testing.</a:t>
            </a:r>
          </a:p>
          <a:p>
            <a:pPr lvl="1"/>
            <a:r>
              <a:rPr lang="en-US" dirty="0"/>
              <a:t>However, if U is larger, the tasks may still be schedulable and we need to do further testing.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6B9DF-F678-A79A-ACDD-9C5F649EF7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41</a:t>
            </a:fld>
            <a:endParaRPr lang="en-US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05F611D-084A-6A86-0999-EF7BB9C6F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4943" y="1623060"/>
            <a:ext cx="7754113" cy="2072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965075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0CBFB-6261-8DA2-0921-E6A60695E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Instance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35E02-75DB-2742-3C54-8A6DE638AD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42</a:t>
            </a:fld>
            <a:endParaRPr lang="en-US" altLang="en-US"/>
          </a:p>
        </p:txBody>
      </p:sp>
      <p:pic>
        <p:nvPicPr>
          <p:cNvPr id="5" name="Picture 18">
            <a:extLst>
              <a:ext uri="{FF2B5EF4-FFF2-40B4-BE49-F238E27FC236}">
                <a16:creationId xmlns:a16="http://schemas.microsoft.com/office/drawing/2014/main" id="{187486B1-9A5D-FE42-09C6-5CC32685D7A0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99375"/>
            <a:ext cx="8153400" cy="5087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81329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F3D10-CD5D-EA74-03A0-44F6CDDF0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Instance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BD23-C0DD-6455-2F62-E597E3B30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RMS Example 1:</a:t>
            </a:r>
          </a:p>
          <a:p>
            <a:pPr lvl="2"/>
            <a:endParaRPr lang="en-US" dirty="0"/>
          </a:p>
          <a:p>
            <a:pPr marL="671512" lvl="2" indent="0">
              <a:buNone/>
            </a:pPr>
            <a:endParaRPr lang="en-US" dirty="0"/>
          </a:p>
          <a:p>
            <a:pPr lvl="2"/>
            <a:r>
              <a:rPr lang="en-US" dirty="0"/>
              <a:t>T3 is schedulable.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T1 is schedulable.</a:t>
            </a:r>
          </a:p>
          <a:p>
            <a:pPr marL="671512" lvl="2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344487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32A84-230D-4881-A81D-58CAF0FB5C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43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FC01A-5369-77D2-792F-E746FEA28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49" y="990600"/>
            <a:ext cx="3714751" cy="1295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E18111-F537-026D-8908-EE77C23FC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447800"/>
            <a:ext cx="1465263" cy="990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AE5951-63D2-2162-AE5D-96643C67C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2895600"/>
            <a:ext cx="2851150" cy="156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705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CF9E7-8962-E18C-E892-11DBFF579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76A2-CA16-CADD-7A9A-84A303069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Instance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BEF2C-D9AC-F99E-531E-919AC8F71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RMS Example 1: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2"/>
            <a:r>
              <a:rPr lang="en-US" dirty="0"/>
              <a:t>T2 is schedulable.</a:t>
            </a:r>
          </a:p>
          <a:p>
            <a:r>
              <a:rPr lang="en-US" dirty="0"/>
              <a:t>Since T3, T1 and T2 are schedulable, all will meet their deadlines.</a:t>
            </a:r>
          </a:p>
          <a:p>
            <a:pPr lvl="2"/>
            <a:endParaRPr lang="en-US" dirty="0"/>
          </a:p>
          <a:p>
            <a:pPr marL="671512" lvl="2" indent="0">
              <a:buNone/>
            </a:pPr>
            <a:endParaRPr lang="en-US" dirty="0"/>
          </a:p>
          <a:p>
            <a:pPr marL="671512" lvl="2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344487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149C7-7211-547E-5055-91303896F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44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0B3AE-6038-B01D-A1F8-DAF1D9D6F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49" y="2147777"/>
            <a:ext cx="3714751" cy="1295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3ED467-B887-8679-0B35-427261385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33" y="1524000"/>
            <a:ext cx="2956719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664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01F6F-2982-EC1A-EEC7-F6C878DFE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Instance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B0730-3078-E446-8075-F7BBCC08C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RMS Example 2</a:t>
            </a:r>
          </a:p>
          <a:p>
            <a:pPr lvl="1"/>
            <a:r>
              <a:rPr lang="en-US" dirty="0"/>
              <a:t>T3 and T1 are the same as before, so we will only work on T2.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r>
              <a:rPr lang="en-US" dirty="0"/>
              <a:t>We see that T2 is not schedulable.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E63CF-DBAD-BE40-B369-D1C0ADAF54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45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32A8D-98A4-80D9-BA2D-4D7A459A6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314" y="2689632"/>
            <a:ext cx="3346965" cy="124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622212-E204-92E6-4B47-4704A09C0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87" y="2476581"/>
            <a:ext cx="4813300" cy="190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352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98D00-1541-96C1-5D41-FC57CE975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Earliest Deadline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91D4-4429-5C74-B555-083311949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RMS is a fixed priority scheme:</a:t>
            </a:r>
          </a:p>
          <a:p>
            <a:pPr lvl="1"/>
            <a:r>
              <a:rPr lang="en-US" dirty="0"/>
              <a:t>Issue: Even as we approach the deadline of a task, it can be pre-empted by higher priority tasks.</a:t>
            </a:r>
          </a:p>
          <a:p>
            <a:pPr lvl="1"/>
            <a:r>
              <a:rPr lang="en-US" dirty="0"/>
              <a:t>What if we change the schedule so that as a task approaches its deadline, its priority is upgraded?</a:t>
            </a:r>
          </a:p>
          <a:p>
            <a:r>
              <a:rPr lang="en-US" dirty="0"/>
              <a:t>This is Earliest Deadline First (EDF) scheduling.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AF417-68CC-B6FF-CD8D-AFDE06C0C0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8419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B661-BC69-6703-1C40-A151B27A2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EDF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41A0D-FB05-D713-019B-9DEC8AC2C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3733800" cy="5486400"/>
          </a:xfrm>
        </p:spPr>
        <p:txBody>
          <a:bodyPr/>
          <a:lstStyle/>
          <a:p>
            <a:r>
              <a:rPr lang="en-US" dirty="0"/>
              <a:t>Let’s consider RMS Example 2, but scheduled it under EDF instead.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67D2A-298A-4E1C-53A6-1B92E0BAC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83CB8A-1DC7-449C-A2BB-F0554F246700}" type="slidenum">
              <a:rPr lang="en-US" altLang="en-US" smtClean="0"/>
              <a:pPr/>
              <a:t>47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2D6EE3-CA46-E3DB-1263-3426A1A8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08400"/>
            <a:ext cx="3276600" cy="12184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294FFF-6AFB-8A57-11C3-16D19C11A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322" y="990600"/>
            <a:ext cx="5139678" cy="443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4752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4722A-D9A6-452B-A09A-65A80D900D00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Scheduling in OS:</a:t>
            </a:r>
          </a:p>
          <a:p>
            <a:pPr lvl="1"/>
            <a:r>
              <a:rPr lang="en-US" altLang="en-US" dirty="0"/>
              <a:t>Basic definition</a:t>
            </a:r>
          </a:p>
          <a:p>
            <a:pPr lvl="1"/>
            <a:r>
              <a:rPr lang="en-US" altLang="en-US" dirty="0"/>
              <a:t>Factors that affect scheduling</a:t>
            </a:r>
          </a:p>
          <a:p>
            <a:pPr lvl="2"/>
            <a:r>
              <a:rPr lang="en-US" altLang="en-US" dirty="0"/>
              <a:t>Process, Environment</a:t>
            </a:r>
          </a:p>
          <a:p>
            <a:pPr lvl="1"/>
            <a:r>
              <a:rPr lang="en-US" altLang="en-US" dirty="0"/>
              <a:t>Criteria of good scheduling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Scheduling Algorithms:</a:t>
            </a:r>
          </a:p>
          <a:p>
            <a:pPr lvl="1"/>
            <a:r>
              <a:rPr lang="en-US" altLang="en-US" dirty="0"/>
              <a:t>RR, Priority scheduling for Interactive System</a:t>
            </a:r>
          </a:p>
          <a:p>
            <a:pPr lvl="1"/>
            <a:r>
              <a:rPr lang="en-US" altLang="en-US" dirty="0"/>
              <a:t>Priority, RMS and EDF scheduling for Real </a:t>
            </a:r>
            <a:r>
              <a:rPr lang="en-US" altLang="en-US"/>
              <a:t>Time Systems.</a:t>
            </a:r>
            <a:endParaRPr lang="en-US" altLang="en-US" dirty="0"/>
          </a:p>
          <a:p>
            <a:pPr lvl="1">
              <a:buFont typeface="Wingdings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B439F4-75D2-470E-9463-0D74CED73CAB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617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Reference</a:t>
            </a:r>
          </a:p>
        </p:txBody>
      </p:sp>
      <p:sp>
        <p:nvSpPr>
          <p:cNvPr id="617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Modern Operating System (3</a:t>
            </a:r>
            <a:r>
              <a:rPr lang="en-US" altLang="en-US" baseline="30000" dirty="0"/>
              <a:t>rd</a:t>
            </a:r>
            <a:r>
              <a:rPr lang="en-US" altLang="en-US" dirty="0"/>
              <a:t> Edition)</a:t>
            </a:r>
          </a:p>
          <a:p>
            <a:pPr lvl="1"/>
            <a:r>
              <a:rPr lang="en-US" altLang="en-US" dirty="0"/>
              <a:t>Chapter 2.4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Operating System Concepts</a:t>
            </a:r>
            <a:r>
              <a:rPr lang="en-US" altLang="en-US" i="1" dirty="0"/>
              <a:t> </a:t>
            </a:r>
            <a:r>
              <a:rPr lang="en-US" altLang="en-US" dirty="0"/>
              <a:t>(7</a:t>
            </a:r>
            <a:r>
              <a:rPr lang="en-US" altLang="en-US" baseline="30000" dirty="0"/>
              <a:t>th</a:t>
            </a:r>
            <a:r>
              <a:rPr lang="en-US" altLang="en-US" dirty="0"/>
              <a:t>  Edition)</a:t>
            </a:r>
          </a:p>
          <a:p>
            <a:pPr lvl="1"/>
            <a:r>
              <a:rPr lang="en-US" altLang="en-US" dirty="0"/>
              <a:t>Chapter 5</a:t>
            </a:r>
          </a:p>
          <a:p>
            <a:pPr lvl="1"/>
            <a:endParaRPr lang="en-US" altLang="en-US" dirty="0"/>
          </a:p>
          <a:p>
            <a:r>
              <a:rPr lang="en-SG" dirty="0"/>
              <a:t>Operating Systems: Three Easy Pieces</a:t>
            </a:r>
          </a:p>
          <a:p>
            <a:pPr lvl="1"/>
            <a:r>
              <a:rPr lang="en-US" dirty="0"/>
              <a:t>By </a:t>
            </a:r>
            <a:r>
              <a:rPr lang="fr-FR" dirty="0" err="1">
                <a:solidFill>
                  <a:schemeClr val="tx1"/>
                </a:solidFill>
                <a:latin typeface="+mn-lt"/>
              </a:rPr>
              <a:t>Arpaci-Dusseau</a:t>
            </a:r>
            <a:r>
              <a:rPr lang="fr-FR" dirty="0">
                <a:solidFill>
                  <a:schemeClr val="tx1"/>
                </a:solidFill>
                <a:latin typeface="+mn-lt"/>
              </a:rPr>
              <a:t> and </a:t>
            </a:r>
            <a:r>
              <a:rPr lang="fr-FR" dirty="0" err="1">
                <a:solidFill>
                  <a:schemeClr val="tx1"/>
                </a:solidFill>
                <a:latin typeface="+mn-lt"/>
              </a:rPr>
              <a:t>Arpaci-Dusseau</a:t>
            </a:r>
            <a:endParaRPr lang="fr-FR" dirty="0">
              <a:solidFill>
                <a:schemeClr val="tx1"/>
              </a:solidFill>
              <a:latin typeface="+mn-lt"/>
            </a:endParaRPr>
          </a:p>
          <a:p>
            <a:pPr lvl="1"/>
            <a:r>
              <a:rPr lang="en-SG" dirty="0">
                <a:hlinkClick r:id="rId2"/>
              </a:rPr>
              <a:t>http://pages.cs.wisc.edu/~remzi/OSTEP/</a:t>
            </a:r>
            <a:endParaRPr lang="en-SG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FviB2FzQHJ7PxbCc1c1tQ"/>
</p:tagLst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12725</TotalTime>
  <Words>2253</Words>
  <Application>Microsoft Macintosh PowerPoint</Application>
  <PresentationFormat>On-screen Show (4:3)</PresentationFormat>
  <Paragraphs>482</Paragraphs>
  <Slides>49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  <vt:variant>
        <vt:lpstr>Custom Shows</vt:lpstr>
      </vt:variant>
      <vt:variant>
        <vt:i4>1</vt:i4>
      </vt:variant>
    </vt:vector>
  </HeadingPairs>
  <TitlesOfParts>
    <vt:vector size="57" baseType="lpstr">
      <vt:lpstr>Arial</vt:lpstr>
      <vt:lpstr>Calibri</vt:lpstr>
      <vt:lpstr>Cambria Math</vt:lpstr>
      <vt:lpstr>Courier New</vt:lpstr>
      <vt:lpstr>Garamond</vt:lpstr>
      <vt:lpstr>Wingdings</vt:lpstr>
      <vt:lpstr>Edge</vt:lpstr>
      <vt:lpstr>Process Management Process Scheduling</vt:lpstr>
      <vt:lpstr>Overview</vt:lpstr>
      <vt:lpstr>Concurrent Execution</vt:lpstr>
      <vt:lpstr>Concurrency Example (Simplistic)</vt:lpstr>
      <vt:lpstr>Interleaved Execution (context switch)</vt:lpstr>
      <vt:lpstr>Multitasking OS</vt:lpstr>
      <vt:lpstr>Scheduling in OS: A definition </vt:lpstr>
      <vt:lpstr>Scheduling: Illustration</vt:lpstr>
      <vt:lpstr>3 Types of Processing Environment</vt:lpstr>
      <vt:lpstr>Criteria for Scheduling Algorithms</vt:lpstr>
      <vt:lpstr>When to perform scheduling?</vt:lpstr>
      <vt:lpstr>Scheduling a Process: Step-by-Step</vt:lpstr>
      <vt:lpstr>Scheduling for  Interactive Systems</vt:lpstr>
      <vt:lpstr>Criteria for interactive environment</vt:lpstr>
      <vt:lpstr>Ensuring Periodic Scheduler</vt:lpstr>
      <vt:lpstr>Terminology: Timer &amp; Time Quantum</vt:lpstr>
      <vt:lpstr>Illustration: ITI vs Time Quantum</vt:lpstr>
      <vt:lpstr>Scheduling Algorithms:</vt:lpstr>
      <vt:lpstr>Round Robin: RR</vt:lpstr>
      <vt:lpstr>Round Robin: RR                   (cont)</vt:lpstr>
      <vt:lpstr>Round Robin: Illustration</vt:lpstr>
      <vt:lpstr>Priority Scheduling</vt:lpstr>
      <vt:lpstr>Priority Scheduling: Illustration</vt:lpstr>
      <vt:lpstr>Priority Scheduling: Shortcomings </vt:lpstr>
      <vt:lpstr>Scheduling for  real-time systems</vt:lpstr>
      <vt:lpstr>Scheduling Algorithms:</vt:lpstr>
      <vt:lpstr>Real-Time Systems: Special Characteristics</vt:lpstr>
      <vt:lpstr>Real-Time Systems: Special Characteristics</vt:lpstr>
      <vt:lpstr>Fixed Priority Scheduling</vt:lpstr>
      <vt:lpstr>Fixed Priority Scheduling</vt:lpstr>
      <vt:lpstr>Fixed Priority Scheduling</vt:lpstr>
      <vt:lpstr>Deadlines</vt:lpstr>
      <vt:lpstr>Missed Deadlines</vt:lpstr>
      <vt:lpstr>Missed Deadlines</vt:lpstr>
      <vt:lpstr>Rate Monotonic Scheduling: RMS</vt:lpstr>
      <vt:lpstr>RMS Example 1</vt:lpstr>
      <vt:lpstr>RMS Example 2</vt:lpstr>
      <vt:lpstr>Testing Schedulability</vt:lpstr>
      <vt:lpstr>CPU Utilization</vt:lpstr>
      <vt:lpstr>Utilization Bound</vt:lpstr>
      <vt:lpstr>Utilization Bound</vt:lpstr>
      <vt:lpstr>Critical Instance Analysis</vt:lpstr>
      <vt:lpstr>Critical Instance Analysis</vt:lpstr>
      <vt:lpstr>Critical Instance Analysis</vt:lpstr>
      <vt:lpstr>Critical Instance Analysis</vt:lpstr>
      <vt:lpstr>Earliest Deadline First</vt:lpstr>
      <vt:lpstr>EDF Example</vt:lpstr>
      <vt:lpstr>Summary</vt:lpstr>
      <vt:lpstr>Reference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582</cp:revision>
  <cp:lastPrinted>1601-01-01T00:00:00Z</cp:lastPrinted>
  <dcterms:created xsi:type="dcterms:W3CDTF">1601-01-01T00:00:00Z</dcterms:created>
  <dcterms:modified xsi:type="dcterms:W3CDTF">2025-09-05T04:00:37Z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MSIP_Label_3a1cbd45-6d41-45e2-b480-1999be9cf844_Enabled">
    <vt:lpwstr>true</vt:lpwstr>
  </property>
  <property fmtid="{D5CDD505-2E9C-101B-9397-08002B2CF9AE}" pid="4" name="MSIP_Label_3a1cbd45-6d41-45e2-b480-1999be9cf844_SetDate">
    <vt:lpwstr>2024-03-04T09:09:32Z</vt:lpwstr>
  </property>
  <property fmtid="{D5CDD505-2E9C-101B-9397-08002B2CF9AE}" pid="5" name="MSIP_Label_3a1cbd45-6d41-45e2-b480-1999be9cf844_Method">
    <vt:lpwstr>Standard</vt:lpwstr>
  </property>
  <property fmtid="{D5CDD505-2E9C-101B-9397-08002B2CF9AE}" pid="6" name="MSIP_Label_3a1cbd45-6d41-45e2-b480-1999be9cf844_Name">
    <vt:lpwstr>NUS Restricted</vt:lpwstr>
  </property>
  <property fmtid="{D5CDD505-2E9C-101B-9397-08002B2CF9AE}" pid="7" name="MSIP_Label_3a1cbd45-6d41-45e2-b480-1999be9cf844_SiteId">
    <vt:lpwstr>5ba5ef5e-3109-4e77-85bd-cfeb0d347e82</vt:lpwstr>
  </property>
  <property fmtid="{D5CDD505-2E9C-101B-9397-08002B2CF9AE}" pid="8" name="MSIP_Label_3a1cbd45-6d41-45e2-b480-1999be9cf844_ActionId">
    <vt:lpwstr>9356d11e-3757-45b2-96d5-18bdd4e88a21</vt:lpwstr>
  </property>
  <property fmtid="{D5CDD505-2E9C-101B-9397-08002B2CF9AE}" pid="9" name="MSIP_Label_3a1cbd45-6d41-45e2-b480-1999be9cf844_ContentBits">
    <vt:lpwstr>2</vt:lpwstr>
  </property>
  <property fmtid="{D5CDD505-2E9C-101B-9397-08002B2CF9AE}" pid="10" name="ClassificationContentMarkingFooterLocations">
    <vt:lpwstr>Edge:3</vt:lpwstr>
  </property>
  <property fmtid="{D5CDD505-2E9C-101B-9397-08002B2CF9AE}" pid="11" name="ClassificationContentMarkingFooterText">
    <vt:lpwstr>## NUS Restricted ##</vt:lpwstr>
  </property>
</Properties>
</file>